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76" r:id="rId4"/>
    <p:sldId id="258" r:id="rId5"/>
    <p:sldId id="270" r:id="rId6"/>
    <p:sldId id="277" r:id="rId7"/>
    <p:sldId id="278" r:id="rId8"/>
    <p:sldId id="279" r:id="rId9"/>
    <p:sldId id="280" r:id="rId10"/>
    <p:sldId id="281" r:id="rId11"/>
    <p:sldId id="282" r:id="rId12"/>
    <p:sldId id="283" r:id="rId13"/>
    <p:sldId id="268" r:id="rId14"/>
    <p:sldId id="269" r:id="rId15"/>
    <p:sldId id="272" r:id="rId16"/>
    <p:sldId id="262" r:id="rId17"/>
    <p:sldId id="273" r:id="rId18"/>
    <p:sldId id="263" r:id="rId19"/>
    <p:sldId id="274" r:id="rId20"/>
    <p:sldId id="275" r:id="rId21"/>
    <p:sldId id="284"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senza titolo" id="{D353D032-D7F5-414C-878B-B0179CE92F68}">
          <p14:sldIdLst>
            <p14:sldId id="256"/>
            <p14:sldId id="257"/>
            <p14:sldId id="276"/>
            <p14:sldId id="258"/>
            <p14:sldId id="270"/>
            <p14:sldId id="277"/>
            <p14:sldId id="278"/>
            <p14:sldId id="279"/>
            <p14:sldId id="280"/>
            <p14:sldId id="281"/>
            <p14:sldId id="282"/>
            <p14:sldId id="283"/>
            <p14:sldId id="268"/>
            <p14:sldId id="269"/>
            <p14:sldId id="272"/>
            <p14:sldId id="262"/>
            <p14:sldId id="273"/>
            <p14:sldId id="263"/>
            <p14:sldId id="274"/>
            <p14:sldId id="275"/>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5954" autoAdjust="0"/>
  </p:normalViewPr>
  <p:slideViewPr>
    <p:cSldViewPr snapToGrid="0" snapToObjects="1">
      <p:cViewPr varScale="1">
        <p:scale>
          <a:sx n="41" d="100"/>
          <a:sy n="41" d="100"/>
        </p:scale>
        <p:origin x="160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Payoff</c:v>
                </c:pt>
              </c:strCache>
            </c:strRef>
          </c:tx>
          <c:spPr>
            <a:solidFill>
              <a:srgbClr val="21295C"/>
            </a:solidFill>
          </c:spPr>
          <c:invertIfNegative val="0"/>
          <c:dPt>
            <c:idx val="0"/>
            <c:invertIfNegative val="1"/>
            <c:bubble3D val="0"/>
            <c:extLst>
              <c:ext xmlns:c16="http://schemas.microsoft.com/office/drawing/2014/chart" uri="{C3380CC4-5D6E-409C-BE32-E72D297353CC}">
                <c16:uniqueId val="{00000001-1C7B-4633-90B1-A338B997B004}"/>
              </c:ext>
            </c:extLst>
          </c:dPt>
          <c:dPt>
            <c:idx val="1"/>
            <c:invertIfNegative val="1"/>
            <c:bubble3D val="0"/>
            <c:extLst>
              <c:ext xmlns:c16="http://schemas.microsoft.com/office/drawing/2014/chart" uri="{C3380CC4-5D6E-409C-BE32-E72D297353CC}">
                <c16:uniqueId val="{00000003-1C7B-4633-90B1-A338B997B004}"/>
              </c:ext>
            </c:extLst>
          </c:dPt>
          <c:dPt>
            <c:idx val="2"/>
            <c:invertIfNegative val="1"/>
            <c:bubble3D val="0"/>
            <c:extLst>
              <c:ext xmlns:c16="http://schemas.microsoft.com/office/drawing/2014/chart" uri="{C3380CC4-5D6E-409C-BE32-E72D297353CC}">
                <c16:uniqueId val="{00000005-1C7B-4633-90B1-A338B997B004}"/>
              </c:ext>
            </c:extLst>
          </c:dPt>
          <c:dPt>
            <c:idx val="3"/>
            <c:invertIfNegative val="1"/>
            <c:bubble3D val="0"/>
            <c:spPr>
              <a:solidFill>
                <a:srgbClr val="9DB0C2"/>
              </a:solidFill>
            </c:spPr>
            <c:extLst>
              <c:ext xmlns:c16="http://schemas.microsoft.com/office/drawing/2014/chart" uri="{C3380CC4-5D6E-409C-BE32-E72D297353CC}">
                <c16:uniqueId val="{00000007-1C7B-4633-90B1-A338B997B004}"/>
              </c:ext>
            </c:extLst>
          </c:dPt>
          <c:dPt>
            <c:idx val="4"/>
            <c:invertIfNegative val="1"/>
            <c:bubble3D val="0"/>
            <c:spPr>
              <a:solidFill>
                <a:srgbClr val="9DB0C2"/>
              </a:solidFill>
            </c:spPr>
            <c:extLst>
              <c:ext xmlns:c16="http://schemas.microsoft.com/office/drawing/2014/chart" uri="{C3380CC4-5D6E-409C-BE32-E72D297353CC}">
                <c16:uniqueId val="{00000009-1C7B-4633-90B1-A338B997B004}"/>
              </c:ext>
            </c:extLst>
          </c:dPt>
          <c:dPt>
            <c:idx val="5"/>
            <c:invertIfNegative val="1"/>
            <c:bubble3D val="0"/>
            <c:extLst>
              <c:ext xmlns:c16="http://schemas.microsoft.com/office/drawing/2014/chart" uri="{C3380CC4-5D6E-409C-BE32-E72D297353CC}">
                <c16:uniqueId val="{0000000B-1C7B-4633-90B1-A338B997B004}"/>
              </c:ext>
            </c:extLst>
          </c:dPt>
          <c:dPt>
            <c:idx val="6"/>
            <c:invertIfNegative val="1"/>
            <c:bubble3D val="0"/>
            <c:extLst>
              <c:ext xmlns:c16="http://schemas.microsoft.com/office/drawing/2014/chart" uri="{C3380CC4-5D6E-409C-BE32-E72D297353CC}">
                <c16:uniqueId val="{0000000D-1C7B-4633-90B1-A338B997B004}"/>
              </c:ext>
            </c:extLst>
          </c:dPt>
          <c:dPt>
            <c:idx val="7"/>
            <c:invertIfNegative val="1"/>
            <c:bubble3D val="0"/>
            <c:spPr>
              <a:solidFill>
                <a:srgbClr val="9DB0C2"/>
              </a:solidFill>
            </c:spPr>
            <c:extLst>
              <c:ext xmlns:c16="http://schemas.microsoft.com/office/drawing/2014/chart" uri="{C3380CC4-5D6E-409C-BE32-E72D297353CC}">
                <c16:uniqueId val="{0000000F-1C7B-4633-90B1-A338B997B004}"/>
              </c:ext>
            </c:extLst>
          </c:dPt>
          <c:dPt>
            <c:idx val="8"/>
            <c:invertIfNegative val="1"/>
            <c:bubble3D val="0"/>
            <c:extLst>
              <c:ext xmlns:c16="http://schemas.microsoft.com/office/drawing/2014/chart" uri="{C3380CC4-5D6E-409C-BE32-E72D297353CC}">
                <c16:uniqueId val="{00000011-1C7B-4633-90B1-A338B997B004}"/>
              </c:ext>
            </c:extLst>
          </c:dPt>
          <c:dPt>
            <c:idx val="9"/>
            <c:invertIfNegative val="1"/>
            <c:bubble3D val="0"/>
            <c:extLst>
              <c:ext xmlns:c16="http://schemas.microsoft.com/office/drawing/2014/chart" uri="{C3380CC4-5D6E-409C-BE32-E72D297353CC}">
                <c16:uniqueId val="{00000013-1C7B-4633-90B1-A338B997B004}"/>
              </c:ext>
            </c:extLst>
          </c:dPt>
          <c:dLbls>
            <c:numFmt formatCode="\+0.0;\−0.0"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Sheet1!$B$2:$B$11</c:f>
              <c:numCache>
                <c:formatCode>General</c:formatCode>
                <c:ptCount val="10"/>
                <c:pt idx="0">
                  <c:v>8.48</c:v>
                </c:pt>
                <c:pt idx="1">
                  <c:v>0.09</c:v>
                </c:pt>
                <c:pt idx="2">
                  <c:v>16.03</c:v>
                </c:pt>
                <c:pt idx="3">
                  <c:v>-6.98</c:v>
                </c:pt>
                <c:pt idx="4">
                  <c:v>-17.66</c:v>
                </c:pt>
                <c:pt idx="5">
                  <c:v>3.6</c:v>
                </c:pt>
                <c:pt idx="6">
                  <c:v>5.82</c:v>
                </c:pt>
                <c:pt idx="7">
                  <c:v>-11.35</c:v>
                </c:pt>
                <c:pt idx="8">
                  <c:v>6.56</c:v>
                </c:pt>
                <c:pt idx="9">
                  <c:v>18.850000000000001</c:v>
                </c:pt>
              </c:numCache>
            </c:numRef>
          </c:val>
          <c:extLst>
            <c:ext xmlns:c16="http://schemas.microsoft.com/office/drawing/2014/chart" uri="{C3380CC4-5D6E-409C-BE32-E72D297353CC}">
              <c16:uniqueId val="{00000014-1C7B-4633-90B1-A338B997B004}"/>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30"/>
          <c:min val="-20"/>
        </c:scaling>
        <c:delete val="0"/>
        <c:axPos val="l"/>
        <c:majorGridlines>
          <c:spPr>
            <a:ln w="9525">
              <a:solidFill>
                <a:srgbClr val="E1E8EE"/>
              </a:solidFill>
            </a:ln>
          </c:spPr>
        </c:majorGridlines>
        <c:numFmt formatCode="\+0;\−0;0" sourceLinked="0"/>
        <c:majorTickMark val="none"/>
        <c:minorTickMark val="none"/>
        <c:tickLblPos val="nextTo"/>
        <c:spPr>
          <a:ln>
            <a:noFill/>
          </a:ln>
        </c:spPr>
        <c:txPr>
          <a:bodyPr/>
          <a:lstStyle/>
          <a:p>
            <a:pPr>
              <a:defRPr sz="1000"/>
            </a:pPr>
            <a:endParaRPr lang="it-IT"/>
          </a:p>
        </c:txPr>
        <c:crossAx val="-2068027336"/>
        <c:crosses val="autoZero"/>
        <c:crossBetween val="between"/>
        <c:majorUnit val="10"/>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Strike</c:v>
                </c:pt>
              </c:strCache>
            </c:strRef>
          </c:tx>
          <c:spPr>
            <a:solidFill>
              <a:srgbClr val="21295C"/>
            </a:solidFill>
          </c:spPr>
          <c:invertIfNegative val="0"/>
          <c:dPt>
            <c:idx val="0"/>
            <c:invertIfNegative val="1"/>
            <c:bubble3D val="0"/>
            <c:extLst>
              <c:ext xmlns:c16="http://schemas.microsoft.com/office/drawing/2014/chart" uri="{C3380CC4-5D6E-409C-BE32-E72D297353CC}">
                <c16:uniqueId val="{00000001-A364-4728-BF1B-BD37C6E4C4A3}"/>
              </c:ext>
            </c:extLst>
          </c:dPt>
          <c:dPt>
            <c:idx val="1"/>
            <c:invertIfNegative val="1"/>
            <c:bubble3D val="0"/>
            <c:spPr>
              <a:solidFill>
                <a:srgbClr val="1C7293"/>
              </a:solidFill>
            </c:spPr>
            <c:extLst>
              <c:ext xmlns:c16="http://schemas.microsoft.com/office/drawing/2014/chart" uri="{C3380CC4-5D6E-409C-BE32-E72D297353CC}">
                <c16:uniqueId val="{00000003-A364-4728-BF1B-BD37C6E4C4A3}"/>
              </c:ext>
            </c:extLst>
          </c:dPt>
          <c:dPt>
            <c:idx val="2"/>
            <c:invertIfNegative val="1"/>
            <c:bubble3D val="0"/>
            <c:spPr>
              <a:solidFill>
                <a:srgbClr val="1C7293"/>
              </a:solidFill>
            </c:spPr>
            <c:extLst>
              <c:ext xmlns:c16="http://schemas.microsoft.com/office/drawing/2014/chart" uri="{C3380CC4-5D6E-409C-BE32-E72D297353CC}">
                <c16:uniqueId val="{00000005-A364-4728-BF1B-BD37C6E4C4A3}"/>
              </c:ext>
            </c:extLst>
          </c:dPt>
          <c:dPt>
            <c:idx val="3"/>
            <c:invertIfNegative val="1"/>
            <c:bubble3D val="0"/>
            <c:spPr>
              <a:solidFill>
                <a:srgbClr val="1C7293"/>
              </a:solidFill>
            </c:spPr>
            <c:extLst>
              <c:ext xmlns:c16="http://schemas.microsoft.com/office/drawing/2014/chart" uri="{C3380CC4-5D6E-409C-BE32-E72D297353CC}">
                <c16:uniqueId val="{00000007-A364-4728-BF1B-BD37C6E4C4A3}"/>
              </c:ext>
            </c:extLst>
          </c:dPt>
          <c:dPt>
            <c:idx val="4"/>
            <c:invertIfNegative val="1"/>
            <c:bubble3D val="0"/>
            <c:spPr>
              <a:solidFill>
                <a:srgbClr val="C8791A"/>
              </a:solidFill>
            </c:spPr>
            <c:extLst>
              <c:ext xmlns:c16="http://schemas.microsoft.com/office/drawing/2014/chart" uri="{C3380CC4-5D6E-409C-BE32-E72D297353CC}">
                <c16:uniqueId val="{00000009-A364-4728-BF1B-BD37C6E4C4A3}"/>
              </c:ext>
            </c:extLst>
          </c:dPt>
          <c:dPt>
            <c:idx val="5"/>
            <c:invertIfNegative val="1"/>
            <c:bubble3D val="0"/>
            <c:spPr>
              <a:solidFill>
                <a:srgbClr val="56606B"/>
              </a:solidFill>
            </c:spPr>
            <c:extLst>
              <c:ext xmlns:c16="http://schemas.microsoft.com/office/drawing/2014/chart" uri="{C3380CC4-5D6E-409C-BE32-E72D297353CC}">
                <c16:uniqueId val="{0000000B-A364-4728-BF1B-BD37C6E4C4A3}"/>
              </c:ext>
            </c:extLst>
          </c:dPt>
          <c:dLbls>
            <c:dLbl>
              <c:idx val="0"/>
              <c:tx>
                <c:rich>
                  <a:bodyPr/>
                  <a:lstStyle/>
                  <a:p>
                    <a:r>
                      <a:rPr lang="en-US" sz="1100" b="1">
                        <a:solidFill>
                          <a:srgbClr val="21295C"/>
                        </a:solidFill>
                      </a:rPr>
                      <a:t> </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A364-4728-BF1B-BD37C6E4C4A3}"/>
                </c:ext>
              </c:extLst>
            </c:dLbl>
            <c:dLbl>
              <c:idx val="1"/>
              <c:tx>
                <c:rich>
                  <a:bodyPr/>
                  <a:lstStyle/>
                  <a:p>
                    <a:r>
                      <a:rPr lang="en-US" sz="1100" b="1">
                        <a:solidFill>
                          <a:srgbClr val="21295C"/>
                        </a:solidFill>
                      </a:rPr>
                      <a:t>7.05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364-4728-BF1B-BD37C6E4C4A3}"/>
                </c:ext>
              </c:extLst>
            </c:dLbl>
            <c:dLbl>
              <c:idx val="2"/>
              <c:tx>
                <c:rich>
                  <a:bodyPr/>
                  <a:lstStyle/>
                  <a:p>
                    <a:r>
                      <a:rPr lang="en-US" sz="1100" b="1">
                        <a:solidFill>
                          <a:srgbClr val="21295C"/>
                        </a:solidFill>
                      </a:rPr>
                      <a:t>9.43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A364-4728-BF1B-BD37C6E4C4A3}"/>
                </c:ext>
              </c:extLst>
            </c:dLbl>
            <c:dLbl>
              <c:idx val="3"/>
              <c:tx>
                <c:rich>
                  <a:bodyPr/>
                  <a:lstStyle/>
                  <a:p>
                    <a:r>
                      <a:rPr lang="en-US" sz="1100" b="1">
                        <a:solidFill>
                          <a:srgbClr val="21295C"/>
                        </a:solidFill>
                      </a:rPr>
                      <a:t>1.30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A364-4728-BF1B-BD37C6E4C4A3}"/>
                </c:ext>
              </c:extLst>
            </c:dLbl>
            <c:dLbl>
              <c:idx val="4"/>
              <c:tx>
                <c:rich>
                  <a:bodyPr/>
                  <a:lstStyle/>
                  <a:p>
                    <a:r>
                      <a:rPr lang="en-US" sz="1100" b="1">
                        <a:solidFill>
                          <a:srgbClr val="21295C"/>
                        </a:solidFill>
                      </a:rPr>
                      <a:t>328.8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A364-4728-BF1B-BD37C6E4C4A3}"/>
                </c:ext>
              </c:extLst>
            </c:dLbl>
            <c:dLbl>
              <c:idx val="5"/>
              <c:tx>
                <c:rich>
                  <a:bodyPr/>
                  <a:lstStyle/>
                  <a:p>
                    <a:r>
                      <a:rPr lang="en-US" sz="1100" b="1">
                        <a:solidFill>
                          <a:srgbClr val="21295C"/>
                        </a:solidFill>
                      </a:rPr>
                      <a:t>113.1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A364-4728-BF1B-BD37C6E4C4A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h(t₀)·C₀ = 0.873</c:v>
                </c:pt>
                <c:pt idx="1">
                  <c:v>× Box–Cox</c:v>
                </c:pt>
                <c:pt idx="2">
                  <c:v>× innovation</c:v>
                </c:pt>
                <c:pt idx="3">
                  <c:v>× power curve</c:v>
                </c:pt>
                <c:pt idx="4">
                  <c:v>× 252</c:v>
                </c:pt>
                <c:pt idx="5">
                  <c:v>Market (A)</c:v>
                </c:pt>
              </c:strCache>
            </c:strRef>
          </c:cat>
          <c:val>
            <c:numRef>
              <c:f>Sheet1!$B$2:$B$7</c:f>
              <c:numCache>
                <c:formatCode>General</c:formatCode>
                <c:ptCount val="6"/>
                <c:pt idx="0">
                  <c:v>0.87336000000000003</c:v>
                </c:pt>
                <c:pt idx="1">
                  <c:v>7.0462684800000002</c:v>
                </c:pt>
                <c:pt idx="2">
                  <c:v>9.4349534947200002</c:v>
                </c:pt>
                <c:pt idx="3">
                  <c:v>1.3044766701799873</c:v>
                </c:pt>
                <c:pt idx="4">
                  <c:v>328.72812088535682</c:v>
                </c:pt>
                <c:pt idx="5">
                  <c:v>113.145</c:v>
                </c:pt>
              </c:numCache>
            </c:numRef>
          </c:val>
          <c:extLst>
            <c:ext xmlns:c16="http://schemas.microsoft.com/office/drawing/2014/chart" uri="{C3380CC4-5D6E-409C-BE32-E72D297353CC}">
              <c16:uniqueId val="{0000000C-A364-4728-BF1B-BD37C6E4C4A3}"/>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100"/>
            </a:pPr>
            <a:endParaRPr lang="it-IT"/>
          </a:p>
        </c:txPr>
        <c:crossAx val="-2113994440"/>
        <c:crossesAt val="0.1"/>
        <c:auto val="1"/>
        <c:lblAlgn val="ctr"/>
        <c:lblOffset val="100"/>
        <c:noMultiLvlLbl val="0"/>
      </c:catAx>
      <c:valAx>
        <c:axId val="-2113994440"/>
        <c:scaling>
          <c:logBase val="10"/>
          <c:orientation val="minMax"/>
          <c:max val="1000"/>
          <c:min val="0.1"/>
        </c:scaling>
        <c:delete val="0"/>
        <c:axPos val="l"/>
        <c:majorGridlines>
          <c:spPr>
            <a:ln w="9525">
              <a:solidFill>
                <a:srgbClr val="E1E8EE"/>
              </a:solidFill>
            </a:ln>
          </c:spPr>
        </c:majorGridlines>
        <c:numFmt formatCode="General" sourceLinked="0"/>
        <c:majorTickMark val="none"/>
        <c:minorTickMark val="none"/>
        <c:tickLblPos val="nextTo"/>
        <c:spPr>
          <a:ln>
            <a:noFill/>
          </a:ln>
        </c:spPr>
        <c:txPr>
          <a:bodyPr/>
          <a:lstStyle/>
          <a:p>
            <a:pPr>
              <a:defRPr sz="1000"/>
            </a:pPr>
            <a:endParaRPr lang="it-IT"/>
          </a:p>
        </c:txPr>
        <c:crossAx val="-2068027336"/>
        <c:crosses val="autoZero"/>
        <c:crossBetween val="between"/>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Dataset A — Bologna 10 m (n = 4)</c:v>
                </c:pt>
              </c:strCache>
            </c:strRef>
          </c:tx>
          <c:spPr>
            <a:solidFill>
              <a:srgbClr val="C8791A"/>
            </a:solidFill>
          </c:spPr>
          <c:invertIfNegative val="0"/>
          <c:dLbls>
            <c:numFmt formatCode="\+0.0;\−0.0" sourceLinked="0"/>
            <c:spPr>
              <a:noFill/>
              <a:ln>
                <a:noFill/>
              </a:ln>
              <a:effectLst/>
            </c:spPr>
            <c:txPr>
              <a:bodyPr/>
              <a:lstStyle/>
              <a:p>
                <a:pPr>
                  <a:defRPr sz="9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Sheet1!$B$2:$B$11</c:f>
              <c:numCache>
                <c:formatCode>General</c:formatCode>
                <c:ptCount val="10"/>
                <c:pt idx="0">
                  <c:v>-0.92517448466158103</c:v>
                </c:pt>
                <c:pt idx="1">
                  <c:v>-1.6109397825028404</c:v>
                </c:pt>
                <c:pt idx="2">
                  <c:v>6.6953416653140723</c:v>
                </c:pt>
                <c:pt idx="3">
                  <c:v>-4.9058594384028567</c:v>
                </c:pt>
              </c:numCache>
            </c:numRef>
          </c:val>
          <c:extLst>
            <c:ext xmlns:c16="http://schemas.microsoft.com/office/drawing/2014/chart" uri="{C3380CC4-5D6E-409C-BE32-E72D297353CC}">
              <c16:uniqueId val="{00000000-E9D7-4013-BEAE-EBA84B2ED656}"/>
            </c:ext>
          </c:extLst>
        </c:ser>
        <c:ser>
          <c:idx val="1"/>
          <c:order val="1"/>
          <c:tx>
            <c:strRef>
              <c:f>Sheet1!$C$1</c:f>
              <c:strCache>
                <c:ptCount val="1"/>
                <c:pt idx="0">
                  <c:v>Dataset B — Nordfriesland 100 m (n = 10)</c:v>
                </c:pt>
              </c:strCache>
            </c:strRef>
          </c:tx>
          <c:spPr>
            <a:solidFill>
              <a:srgbClr val="1C7293"/>
            </a:solidFill>
          </c:spPr>
          <c:invertIfNegative val="0"/>
          <c:dLbls>
            <c:numFmt formatCode="\+0.0;\−0.0" sourceLinked="0"/>
            <c:spPr>
              <a:noFill/>
              <a:ln>
                <a:noFill/>
              </a:ln>
              <a:effectLst/>
            </c:spPr>
            <c:txPr>
              <a:bodyPr/>
              <a:lstStyle/>
              <a:p>
                <a:pPr>
                  <a:defRPr sz="9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Sheet1!$C$2:$C$11</c:f>
              <c:numCache>
                <c:formatCode>General</c:formatCode>
                <c:ptCount val="10"/>
                <c:pt idx="0">
                  <c:v>-6.3267561560144534</c:v>
                </c:pt>
                <c:pt idx="1">
                  <c:v>4.1834821373135807</c:v>
                </c:pt>
                <c:pt idx="2">
                  <c:v>-0.43088996783847211</c:v>
                </c:pt>
                <c:pt idx="3">
                  <c:v>2.6511529721473712</c:v>
                </c:pt>
                <c:pt idx="4">
                  <c:v>-2.477306875613118</c:v>
                </c:pt>
                <c:pt idx="5">
                  <c:v>-2.8548012566589258</c:v>
                </c:pt>
                <c:pt idx="6">
                  <c:v>4.9893829705330859</c:v>
                </c:pt>
                <c:pt idx="7">
                  <c:v>-0.66061516683016464</c:v>
                </c:pt>
                <c:pt idx="8">
                  <c:v>-1.098955681662962</c:v>
                </c:pt>
                <c:pt idx="9">
                  <c:v>0.15025269771889085</c:v>
                </c:pt>
              </c:numCache>
            </c:numRef>
          </c:val>
          <c:extLst>
            <c:ext xmlns:c16="http://schemas.microsoft.com/office/drawing/2014/chart" uri="{C3380CC4-5D6E-409C-BE32-E72D297353CC}">
              <c16:uniqueId val="{00000001-E9D7-4013-BEAE-EBA84B2ED656}"/>
            </c:ext>
          </c:extLst>
        </c:ser>
        <c:dLbls>
          <c:dLblPos val="outEnd"/>
          <c:showLegendKey val="0"/>
          <c:showVal val="1"/>
          <c:showCatName val="0"/>
          <c:showSerName val="0"/>
          <c:showPercent val="0"/>
          <c:showBubbleSize val="0"/>
        </c:dLbls>
        <c:gapWidth val="50"/>
        <c:overlap val="-5"/>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B8C4CF"/>
            </a:solidFill>
          </a:ln>
        </c:spPr>
        <c:txPr>
          <a:bodyPr/>
          <a:lstStyle/>
          <a:p>
            <a:pPr>
              <a:defRPr sz="1050"/>
            </a:pPr>
            <a:endParaRPr lang="it-IT"/>
          </a:p>
        </c:txPr>
        <c:crossAx val="-2113994440"/>
        <c:crosses val="autoZero"/>
        <c:auto val="1"/>
        <c:lblAlgn val="ctr"/>
        <c:lblOffset val="100"/>
        <c:noMultiLvlLbl val="0"/>
      </c:catAx>
      <c:valAx>
        <c:axId val="-2113994440"/>
        <c:scaling>
          <c:orientation val="minMax"/>
          <c:max val="8"/>
          <c:min val="-8"/>
        </c:scaling>
        <c:delete val="0"/>
        <c:axPos val="l"/>
        <c:majorGridlines>
          <c:spPr>
            <a:ln w="9525">
              <a:solidFill>
                <a:srgbClr val="E1E8EE"/>
              </a:solidFill>
            </a:ln>
          </c:spPr>
        </c:majorGridlines>
        <c:numFmt formatCode="\+0&quot;%&quot;;\−0&quot;%&quot;;0&quot;%&quot;" sourceLinked="0"/>
        <c:majorTickMark val="none"/>
        <c:minorTickMark val="none"/>
        <c:tickLblPos val="nextTo"/>
        <c:spPr>
          <a:ln>
            <a:noFill/>
          </a:ln>
        </c:spPr>
        <c:txPr>
          <a:bodyPr/>
          <a:lstStyle/>
          <a:p>
            <a:pPr>
              <a:defRPr sz="950"/>
            </a:pPr>
            <a:endParaRPr lang="it-IT"/>
          </a:p>
        </c:txPr>
        <c:crossAx val="-2068027336"/>
        <c:crosses val="autoZero"/>
        <c:crossBetween val="between"/>
        <c:majorUnit val="2"/>
      </c:valAx>
    </c:plotArea>
    <c:legend>
      <c:legendPos val="b"/>
      <c:overlay val="0"/>
      <c:txPr>
        <a:bodyPr/>
        <a:lstStyle/>
        <a:p>
          <a:pPr>
            <a:defRPr sz="1050"/>
          </a:pPr>
          <a:endParaRPr lang="it-IT"/>
        </a:p>
      </c:txPr>
    </c:legend>
    <c:plotVisOnly val="1"/>
    <c:dispBlanksAs val="gap"/>
    <c:showDLblsOverMax val="1"/>
  </c:chart>
  <c:spPr>
    <a:noFill/>
    <a:ln>
      <a:noFill/>
    </a:ln>
  </c:spPr>
  <c:txPr>
    <a:bodyPr/>
    <a:lstStyle/>
    <a:p>
      <a:pPr>
        <a:defRPr sz="1050">
          <a:solidFill>
            <a:srgbClr val="56606B"/>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K</c:v>
                </c:pt>
              </c:strCache>
            </c:strRef>
          </c:tx>
          <c:spPr>
            <a:solidFill>
              <a:srgbClr val="21295C"/>
            </a:solidFill>
          </c:spPr>
          <c:invertIfNegative val="0"/>
          <c:dPt>
            <c:idx val="0"/>
            <c:invertIfNegative val="1"/>
            <c:bubble3D val="0"/>
            <c:spPr>
              <a:solidFill>
                <a:srgbClr val="C8791A"/>
              </a:solidFill>
            </c:spPr>
            <c:extLst>
              <c:ext xmlns:c16="http://schemas.microsoft.com/office/drawing/2014/chart" uri="{C3380CC4-5D6E-409C-BE32-E72D297353CC}">
                <c16:uniqueId val="{00000001-53EE-4DA2-BFEF-7C229CBA4940}"/>
              </c:ext>
            </c:extLst>
          </c:dPt>
          <c:dPt>
            <c:idx val="1"/>
            <c:invertIfNegative val="1"/>
            <c:bubble3D val="0"/>
            <c:spPr>
              <a:solidFill>
                <a:srgbClr val="E8A33D"/>
              </a:solidFill>
            </c:spPr>
            <c:extLst>
              <c:ext xmlns:c16="http://schemas.microsoft.com/office/drawing/2014/chart" uri="{C3380CC4-5D6E-409C-BE32-E72D297353CC}">
                <c16:uniqueId val="{00000003-53EE-4DA2-BFEF-7C229CBA4940}"/>
              </c:ext>
            </c:extLst>
          </c:dPt>
          <c:dPt>
            <c:idx val="2"/>
            <c:invertIfNegative val="1"/>
            <c:bubble3D val="0"/>
            <c:spPr>
              <a:solidFill>
                <a:srgbClr val="1C7293"/>
              </a:solidFill>
            </c:spPr>
            <c:extLst>
              <c:ext xmlns:c16="http://schemas.microsoft.com/office/drawing/2014/chart" uri="{C3380CC4-5D6E-409C-BE32-E72D297353CC}">
                <c16:uniqueId val="{00000005-53EE-4DA2-BFEF-7C229CBA4940}"/>
              </c:ext>
            </c:extLst>
          </c:dPt>
          <c:dLbls>
            <c:dLbl>
              <c:idx val="0"/>
              <c:tx>
                <c:rich>
                  <a:bodyPr/>
                  <a:lstStyle/>
                  <a:p>
                    <a:r>
                      <a:rPr lang="en-US" sz="1100" b="1">
                        <a:solidFill>
                          <a:srgbClr val="21295C"/>
                        </a:solidFill>
                      </a:rPr>
                      <a:t>0.0544  (−93.8%)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3EE-4DA2-BFEF-7C229CBA4940}"/>
                </c:ext>
              </c:extLst>
            </c:dLbl>
            <c:dLbl>
              <c:idx val="1"/>
              <c:tx>
                <c:rich>
                  <a:bodyPr/>
                  <a:lstStyle/>
                  <a:p>
                    <a:r>
                      <a:rPr lang="en-US" sz="1100" b="1">
                        <a:solidFill>
                          <a:srgbClr val="21295C"/>
                        </a:solidFill>
                      </a:rPr>
                      <a:t>0.1049  (−88.0%)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3EE-4DA2-BFEF-7C229CBA4940}"/>
                </c:ext>
              </c:extLst>
            </c:dLbl>
            <c:dLbl>
              <c:idx val="2"/>
              <c:tx>
                <c:rich>
                  <a:bodyPr/>
                  <a:lstStyle/>
                  <a:p>
                    <a:r>
                      <a:rPr lang="en-US" sz="1100" b="1">
                        <a:solidFill>
                          <a:srgbClr val="21295C"/>
                        </a:solidFill>
                      </a:rPr>
                      <a:t>0.8734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3EE-4DA2-BFEF-7C229CBA494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 · proxy, raw</c:v>
                </c:pt>
                <c:pt idx="1">
                  <c:v>A · ×1.931 height</c:v>
                </c:pt>
                <c:pt idx="2">
                  <c:v>B · reference</c:v>
                </c:pt>
              </c:strCache>
            </c:strRef>
          </c:cat>
          <c:val>
            <c:numRef>
              <c:f>Sheet1!$B$2:$B$4</c:f>
              <c:numCache>
                <c:formatCode>General</c:formatCode>
                <c:ptCount val="3"/>
                <c:pt idx="0">
                  <c:v>5.4351905999999998E-2</c:v>
                </c:pt>
                <c:pt idx="1">
                  <c:v>0.104937101</c:v>
                </c:pt>
                <c:pt idx="2">
                  <c:v>0.87336000000000003</c:v>
                </c:pt>
              </c:numCache>
            </c:numRef>
          </c:val>
          <c:extLst>
            <c:ext xmlns:c16="http://schemas.microsoft.com/office/drawing/2014/chart" uri="{C3380CC4-5D6E-409C-BE32-E72D297353CC}">
              <c16:uniqueId val="{00000006-53EE-4DA2-BFEF-7C229CBA4940}"/>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1"/>
          <c:min val="0"/>
        </c:scaling>
        <c:delete val="0"/>
        <c:axPos val="l"/>
        <c:majorGridlines>
          <c:spPr>
            <a:ln w="9525">
              <a:solidFill>
                <a:srgbClr val="E1E8EE"/>
              </a:solidFill>
            </a:ln>
          </c:spPr>
        </c:majorGridlines>
        <c:numFmt formatCode="0.00" sourceLinked="0"/>
        <c:majorTickMark val="none"/>
        <c:minorTickMark val="none"/>
        <c:tickLblPos val="nextTo"/>
        <c:spPr>
          <a:ln>
            <a:noFill/>
          </a:ln>
        </c:spPr>
        <c:txPr>
          <a:bodyPr/>
          <a:lstStyle/>
          <a:p>
            <a:pPr>
              <a:defRPr sz="1000"/>
            </a:pPr>
            <a:endParaRPr lang="it-IT"/>
          </a:p>
        </c:txPr>
        <c:crossAx val="-2068027336"/>
        <c:crosses val="autoZero"/>
        <c:crossBetween val="between"/>
        <c:majorUnit val="0.25"/>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Mispricing</c:v>
                </c:pt>
              </c:strCache>
            </c:strRef>
          </c:tx>
          <c:spPr>
            <a:solidFill>
              <a:srgbClr val="21295C"/>
            </a:solidFill>
          </c:spPr>
          <c:invertIfNegative val="0"/>
          <c:dPt>
            <c:idx val="0"/>
            <c:invertIfNegative val="1"/>
            <c:bubble3D val="0"/>
            <c:spPr>
              <a:solidFill>
                <a:srgbClr val="1C7293"/>
              </a:solidFill>
            </c:spPr>
            <c:extLst>
              <c:ext xmlns:c16="http://schemas.microsoft.com/office/drawing/2014/chart" uri="{C3380CC4-5D6E-409C-BE32-E72D297353CC}">
                <c16:uniqueId val="{00000001-7799-42CD-AD36-D9B1336DF6A9}"/>
              </c:ext>
            </c:extLst>
          </c:dPt>
          <c:dPt>
            <c:idx val="1"/>
            <c:invertIfNegative val="1"/>
            <c:bubble3D val="0"/>
            <c:spPr>
              <a:solidFill>
                <a:srgbClr val="C8791A"/>
              </a:solidFill>
            </c:spPr>
            <c:extLst>
              <c:ext xmlns:c16="http://schemas.microsoft.com/office/drawing/2014/chart" uri="{C3380CC4-5D6E-409C-BE32-E72D297353CC}">
                <c16:uniqueId val="{00000003-7799-42CD-AD36-D9B1336DF6A9}"/>
              </c:ext>
            </c:extLst>
          </c:dPt>
          <c:dPt>
            <c:idx val="2"/>
            <c:invertIfNegative val="1"/>
            <c:bubble3D val="0"/>
            <c:spPr>
              <a:solidFill>
                <a:srgbClr val="1C7293"/>
              </a:solidFill>
            </c:spPr>
            <c:extLst>
              <c:ext xmlns:c16="http://schemas.microsoft.com/office/drawing/2014/chart" uri="{C3380CC4-5D6E-409C-BE32-E72D297353CC}">
                <c16:uniqueId val="{00000005-7799-42CD-AD36-D9B1336DF6A9}"/>
              </c:ext>
            </c:extLst>
          </c:dPt>
          <c:dPt>
            <c:idx val="3"/>
            <c:invertIfNegative val="1"/>
            <c:bubble3D val="0"/>
            <c:spPr>
              <a:solidFill>
                <a:srgbClr val="1C7293"/>
              </a:solidFill>
            </c:spPr>
            <c:extLst>
              <c:ext xmlns:c16="http://schemas.microsoft.com/office/drawing/2014/chart" uri="{C3380CC4-5D6E-409C-BE32-E72D297353CC}">
                <c16:uniqueId val="{00000007-7799-42CD-AD36-D9B1336DF6A9}"/>
              </c:ext>
            </c:extLst>
          </c:dPt>
          <c:dPt>
            <c:idx val="4"/>
            <c:invertIfNegative val="1"/>
            <c:bubble3D val="0"/>
            <c:spPr>
              <a:solidFill>
                <a:srgbClr val="1C7293"/>
              </a:solidFill>
            </c:spPr>
            <c:extLst>
              <c:ext xmlns:c16="http://schemas.microsoft.com/office/drawing/2014/chart" uri="{C3380CC4-5D6E-409C-BE32-E72D297353CC}">
                <c16:uniqueId val="{00000009-7799-42CD-AD36-D9B1336DF6A9}"/>
              </c:ext>
            </c:extLst>
          </c:dPt>
          <c:dLbls>
            <c:numFmt formatCode="0.0&quot;%&quot;"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1/10</c:v>
                </c:pt>
                <c:pt idx="1">
                  <c:v>1/7 (adopted)</c:v>
                </c:pt>
                <c:pt idx="2">
                  <c:v>0.168</c:v>
                </c:pt>
                <c:pt idx="3">
                  <c:v>0.20</c:v>
                </c:pt>
                <c:pt idx="4">
                  <c:v>0.25</c:v>
                </c:pt>
              </c:strCache>
            </c:strRef>
          </c:cat>
          <c:val>
            <c:numRef>
              <c:f>Sheet1!$B$2:$B$6</c:f>
              <c:numCache>
                <c:formatCode>General</c:formatCode>
                <c:ptCount val="5"/>
                <c:pt idx="0">
                  <c:v>90.1</c:v>
                </c:pt>
                <c:pt idx="1">
                  <c:v>88</c:v>
                </c:pt>
                <c:pt idx="2">
                  <c:v>86.5</c:v>
                </c:pt>
                <c:pt idx="3">
                  <c:v>84.4</c:v>
                </c:pt>
                <c:pt idx="4">
                  <c:v>80.3</c:v>
                </c:pt>
              </c:numCache>
            </c:numRef>
          </c:val>
          <c:extLst>
            <c:ext xmlns:c16="http://schemas.microsoft.com/office/drawing/2014/chart" uri="{C3380CC4-5D6E-409C-BE32-E72D297353CC}">
              <c16:uniqueId val="{0000000A-7799-42CD-AD36-D9B1336DF6A9}"/>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100"/>
          <c:min val="0"/>
        </c:scaling>
        <c:delete val="0"/>
        <c:axPos val="l"/>
        <c:majorGridlines>
          <c:spPr>
            <a:ln w="9525">
              <a:solidFill>
                <a:srgbClr val="E1E8EE"/>
              </a:solidFill>
            </a:ln>
          </c:spPr>
        </c:majorGridlines>
        <c:numFmt formatCode="0&quot;%&quot;" sourceLinked="0"/>
        <c:majorTickMark val="none"/>
        <c:minorTickMark val="none"/>
        <c:tickLblPos val="nextTo"/>
        <c:spPr>
          <a:ln>
            <a:noFill/>
          </a:ln>
        </c:spPr>
        <c:txPr>
          <a:bodyPr/>
          <a:lstStyle/>
          <a:p>
            <a:pPr>
              <a:defRPr sz="1000"/>
            </a:pPr>
            <a:endParaRPr lang="it-IT"/>
          </a:p>
        </c:txPr>
        <c:crossAx val="-2068027336"/>
        <c:crosses val="autoZero"/>
        <c:crossBetween val="between"/>
        <c:majorUnit val="25"/>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Ratio</c:v>
                </c:pt>
              </c:strCache>
            </c:strRef>
          </c:tx>
          <c:spPr>
            <a:solidFill>
              <a:srgbClr val="21295C"/>
            </a:solidFill>
          </c:spPr>
          <c:invertIfNegative val="0"/>
          <c:dPt>
            <c:idx val="0"/>
            <c:invertIfNegative val="1"/>
            <c:bubble3D val="0"/>
            <c:extLst>
              <c:ext xmlns:c16="http://schemas.microsoft.com/office/drawing/2014/chart" uri="{C3380CC4-5D6E-409C-BE32-E72D297353CC}">
                <c16:uniqueId val="{00000001-3181-4806-B473-94BB078BDC9B}"/>
              </c:ext>
            </c:extLst>
          </c:dPt>
          <c:dPt>
            <c:idx val="1"/>
            <c:invertIfNegative val="1"/>
            <c:bubble3D val="0"/>
            <c:spPr>
              <a:solidFill>
                <a:srgbClr val="1C7293"/>
              </a:solidFill>
            </c:spPr>
            <c:extLst>
              <c:ext xmlns:c16="http://schemas.microsoft.com/office/drawing/2014/chart" uri="{C3380CC4-5D6E-409C-BE32-E72D297353CC}">
                <c16:uniqueId val="{00000003-3181-4806-B473-94BB078BDC9B}"/>
              </c:ext>
            </c:extLst>
          </c:dPt>
          <c:dPt>
            <c:idx val="2"/>
            <c:invertIfNegative val="1"/>
            <c:bubble3D val="0"/>
            <c:spPr>
              <a:solidFill>
                <a:srgbClr val="1C7293"/>
              </a:solidFill>
            </c:spPr>
            <c:extLst>
              <c:ext xmlns:c16="http://schemas.microsoft.com/office/drawing/2014/chart" uri="{C3380CC4-5D6E-409C-BE32-E72D297353CC}">
                <c16:uniqueId val="{00000005-3181-4806-B473-94BB078BDC9B}"/>
              </c:ext>
            </c:extLst>
          </c:dPt>
          <c:dLbls>
            <c:dLbl>
              <c:idx val="0"/>
              <c:tx>
                <c:rich>
                  <a:bodyPr/>
                  <a:lstStyle/>
                  <a:p>
                    <a:r>
                      <a:rPr lang="en-US" sz="1100" b="1">
                        <a:solidFill>
                          <a:srgbClr val="21295C"/>
                        </a:solidFill>
                      </a:rPr>
                      <a:t>16.07×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181-4806-B473-94BB078BDC9B}"/>
                </c:ext>
              </c:extLst>
            </c:dLbl>
            <c:dLbl>
              <c:idx val="1"/>
              <c:tx>
                <c:rich>
                  <a:bodyPr/>
                  <a:lstStyle/>
                  <a:p>
                    <a:r>
                      <a:rPr lang="en-US" sz="1100" b="1">
                        <a:solidFill>
                          <a:srgbClr val="21295C"/>
                        </a:solidFill>
                      </a:rPr>
                      <a:t>≈ 2.5×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181-4806-B473-94BB078BDC9B}"/>
                </c:ext>
              </c:extLst>
            </c:dLbl>
            <c:dLbl>
              <c:idx val="2"/>
              <c:tx>
                <c:rich>
                  <a:bodyPr/>
                  <a:lstStyle/>
                  <a:p>
                    <a:r>
                      <a:rPr lang="en-US" sz="1100" b="1">
                        <a:solidFill>
                          <a:srgbClr val="21295C"/>
                        </a:solidFill>
                      </a:rPr>
                      <a:t>≈ 1.36×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181-4806-B473-94BB078BDC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Raw strikes</c:v>
                </c:pt>
                <c:pt idx="1">
                  <c:v>Common scale</c:v>
                </c:pt>
                <c:pt idx="2">
                  <c:v>Climatology only (h = 1)</c:v>
                </c:pt>
              </c:strCache>
            </c:strRef>
          </c:cat>
          <c:val>
            <c:numRef>
              <c:f>Sheet1!$B$2:$B$4</c:f>
              <c:numCache>
                <c:formatCode>General</c:formatCode>
                <c:ptCount val="3"/>
                <c:pt idx="0">
                  <c:v>16.07</c:v>
                </c:pt>
                <c:pt idx="1">
                  <c:v>2.4740406320541761</c:v>
                </c:pt>
                <c:pt idx="2">
                  <c:v>1.3622782446311856</c:v>
                </c:pt>
              </c:numCache>
            </c:numRef>
          </c:val>
          <c:extLst>
            <c:ext xmlns:c16="http://schemas.microsoft.com/office/drawing/2014/chart" uri="{C3380CC4-5D6E-409C-BE32-E72D297353CC}">
              <c16:uniqueId val="{00000006-3181-4806-B473-94BB078BDC9B}"/>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20"/>
          <c:min val="0"/>
        </c:scaling>
        <c:delete val="0"/>
        <c:axPos val="l"/>
        <c:majorGridlines>
          <c:spPr>
            <a:ln w="9525">
              <a:solidFill>
                <a:srgbClr val="E1E8EE"/>
              </a:solidFill>
            </a:ln>
          </c:spPr>
        </c:majorGridlines>
        <c:numFmt formatCode="0&quot;×&quot;" sourceLinked="0"/>
        <c:majorTickMark val="none"/>
        <c:minorTickMark val="none"/>
        <c:tickLblPos val="nextTo"/>
        <c:spPr>
          <a:ln>
            <a:noFill/>
          </a:ln>
        </c:spPr>
        <c:txPr>
          <a:bodyPr/>
          <a:lstStyle/>
          <a:p>
            <a:pPr>
              <a:defRPr sz="1000"/>
            </a:pPr>
            <a:endParaRPr lang="it-IT"/>
          </a:p>
        </c:txPr>
        <c:crossAx val="-2068027336"/>
        <c:crosses val="autoZero"/>
        <c:crossBetween val="between"/>
        <c:majorUnit val="5"/>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at h(t₀)</c:v>
                </c:pt>
              </c:strCache>
            </c:strRef>
          </c:tx>
          <c:spPr>
            <a:solidFill>
              <a:srgbClr val="21295C"/>
            </a:solidFill>
          </c:spPr>
          <c:invertIfNegative val="0"/>
          <c:dLbls>
            <c:numFmt formatCode="0.00&quot;×&quot;"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Dataset A · proxy</c:v>
                </c:pt>
                <c:pt idx="1">
                  <c:v>Dataset B · reference</c:v>
                </c:pt>
              </c:strCache>
            </c:strRef>
          </c:cat>
          <c:val>
            <c:numRef>
              <c:f>Sheet1!$B$2:$B$3</c:f>
              <c:numCache>
                <c:formatCode>General</c:formatCode>
                <c:ptCount val="2"/>
                <c:pt idx="0">
                  <c:v>1.17</c:v>
                </c:pt>
                <c:pt idx="1">
                  <c:v>2.91</c:v>
                </c:pt>
              </c:numCache>
            </c:numRef>
          </c:val>
          <c:extLst>
            <c:ext xmlns:c16="http://schemas.microsoft.com/office/drawing/2014/chart" uri="{C3380CC4-5D6E-409C-BE32-E72D297353CC}">
              <c16:uniqueId val="{00000000-740C-4883-9B68-247D0E570539}"/>
            </c:ext>
          </c:extLst>
        </c:ser>
        <c:ser>
          <c:idx val="1"/>
          <c:order val="1"/>
          <c:tx>
            <c:strRef>
              <c:f>Sheet1!$C$1</c:f>
              <c:strCache>
                <c:ptCount val="1"/>
                <c:pt idx="0">
                  <c:v>at h = 1</c:v>
                </c:pt>
              </c:strCache>
            </c:strRef>
          </c:tx>
          <c:spPr>
            <a:solidFill>
              <a:srgbClr val="9DB0C2"/>
            </a:solidFill>
          </c:spPr>
          <c:invertIfNegative val="0"/>
          <c:dLbls>
            <c:numFmt formatCode="0.00&quot;×&quot;"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Dataset A · proxy</c:v>
                </c:pt>
                <c:pt idx="1">
                  <c:v>Dataset B · reference</c:v>
                </c:pt>
              </c:strCache>
            </c:strRef>
          </c:cat>
          <c:val>
            <c:numRef>
              <c:f>Sheet1!$C$2:$C$3</c:f>
              <c:numCache>
                <c:formatCode>General</c:formatCode>
                <c:ptCount val="2"/>
                <c:pt idx="0">
                  <c:v>2.82</c:v>
                </c:pt>
                <c:pt idx="1">
                  <c:v>3.87</c:v>
                </c:pt>
              </c:numCache>
            </c:numRef>
          </c:val>
          <c:extLst>
            <c:ext xmlns:c16="http://schemas.microsoft.com/office/drawing/2014/chart" uri="{C3380CC4-5D6E-409C-BE32-E72D297353CC}">
              <c16:uniqueId val="{00000001-740C-4883-9B68-247D0E570539}"/>
            </c:ext>
          </c:extLst>
        </c:ser>
        <c:dLbls>
          <c:dLblPos val="outEnd"/>
          <c:showLegendKey val="0"/>
          <c:showVal val="1"/>
          <c:showCatName val="0"/>
          <c:showSerName val="0"/>
          <c:showPercent val="0"/>
          <c:showBubbleSize val="0"/>
        </c:dLbls>
        <c:gapWidth val="80"/>
        <c:overlap val="-1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5"/>
          <c:min val="0"/>
        </c:scaling>
        <c:delete val="0"/>
        <c:axPos val="l"/>
        <c:majorGridlines>
          <c:spPr>
            <a:ln w="9525">
              <a:solidFill>
                <a:srgbClr val="E1E8EE"/>
              </a:solidFill>
            </a:ln>
          </c:spPr>
        </c:majorGridlines>
        <c:numFmt formatCode="0&quot;×&quot;" sourceLinked="0"/>
        <c:majorTickMark val="none"/>
        <c:minorTickMark val="none"/>
        <c:tickLblPos val="nextTo"/>
        <c:spPr>
          <a:ln>
            <a:noFill/>
          </a:ln>
        </c:spPr>
        <c:txPr>
          <a:bodyPr/>
          <a:lstStyle/>
          <a:p>
            <a:pPr>
              <a:defRPr sz="1000"/>
            </a:pPr>
            <a:endParaRPr lang="it-IT"/>
          </a:p>
        </c:txPr>
        <c:crossAx val="-2068027336"/>
        <c:crosses val="autoZero"/>
        <c:crossBetween val="between"/>
        <c:majorUnit val="1"/>
      </c:valAx>
    </c:plotArea>
    <c:legend>
      <c:legendPos val="b"/>
      <c:overlay val="0"/>
      <c:txPr>
        <a:bodyPr/>
        <a:lstStyle/>
        <a:p>
          <a:pPr>
            <a:defRPr sz="1100"/>
          </a:pPr>
          <a:endParaRPr lang="it-IT"/>
        </a:p>
      </c:txPr>
    </c:legend>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755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Good </a:t>
            </a:r>
            <a:r>
              <a:rPr lang="it-IT" dirty="0" err="1"/>
              <a:t>morning</a:t>
            </a:r>
            <a:r>
              <a:rPr lang="it-IT" dirty="0"/>
              <a:t> </a:t>
            </a:r>
            <a:r>
              <a:rPr lang="it-IT" dirty="0" err="1"/>
              <a:t>members</a:t>
            </a:r>
            <a:r>
              <a:rPr lang="it-IT" dirty="0"/>
              <a:t> of the Committee. The </a:t>
            </a:r>
            <a:r>
              <a:rPr lang="it-IT" dirty="0" err="1"/>
              <a:t>thesis</a:t>
            </a:r>
            <a:r>
              <a:rPr lang="it-IT" dirty="0"/>
              <a:t> I </a:t>
            </a:r>
            <a:r>
              <a:rPr lang="it-IT" dirty="0" err="1"/>
              <a:t>present</a:t>
            </a:r>
            <a:r>
              <a:rPr lang="it-IT" dirty="0"/>
              <a:t> </a:t>
            </a:r>
            <a:r>
              <a:rPr lang="it-IT" dirty="0" err="1"/>
              <a:t>today</a:t>
            </a:r>
            <a:r>
              <a:rPr lang="it-IT" dirty="0"/>
              <a:t>, </a:t>
            </a:r>
            <a:r>
              <a:rPr lang="it-IT" dirty="0" err="1"/>
              <a:t>entitled</a:t>
            </a:r>
            <a:r>
              <a:rPr lang="it-IT" dirty="0"/>
              <a:t> </a:t>
            </a:r>
            <a:r>
              <a:rPr lang="it-IT" i="1" dirty="0"/>
              <a:t>Wind Speed </a:t>
            </a:r>
            <a:r>
              <a:rPr lang="it-IT" i="1" dirty="0" err="1"/>
              <a:t>Modelling</a:t>
            </a:r>
            <a:r>
              <a:rPr lang="it-IT" i="1" dirty="0"/>
              <a:t> for </a:t>
            </a:r>
            <a:r>
              <a:rPr lang="it-IT" i="1" dirty="0" err="1"/>
              <a:t>Derivatives</a:t>
            </a:r>
            <a:r>
              <a:rPr lang="it-IT" i="1" dirty="0"/>
              <a:t> Pricing</a:t>
            </a:r>
            <a:r>
              <a:rPr lang="it-IT" dirty="0"/>
              <a:t>, </a:t>
            </a:r>
            <a:r>
              <a:rPr lang="it-IT" dirty="0" err="1"/>
              <a:t>belongs</a:t>
            </a:r>
            <a:r>
              <a:rPr lang="it-IT" dirty="0"/>
              <a:t> to the </a:t>
            </a:r>
            <a:r>
              <a:rPr lang="it-IT" dirty="0" err="1"/>
              <a:t>context</a:t>
            </a:r>
            <a:r>
              <a:rPr lang="it-IT" dirty="0"/>
              <a:t> of the energy </a:t>
            </a:r>
            <a:r>
              <a:rPr lang="it-IT" dirty="0" err="1"/>
              <a:t>transition</a:t>
            </a:r>
            <a:r>
              <a:rPr lang="it-IT" dirty="0"/>
              <a:t>. </a:t>
            </a:r>
            <a:r>
              <a:rPr lang="it-IT" dirty="0" err="1"/>
              <a:t>It</a:t>
            </a:r>
            <a:r>
              <a:rPr lang="it-IT" dirty="0"/>
              <a:t> </a:t>
            </a:r>
            <a:r>
              <a:rPr lang="it-IT" dirty="0" err="1"/>
              <a:t>addresses</a:t>
            </a:r>
            <a:r>
              <a:rPr lang="it-IT" dirty="0"/>
              <a:t> a </a:t>
            </a:r>
            <a:r>
              <a:rPr lang="it-IT" dirty="0" err="1"/>
              <a:t>central</a:t>
            </a:r>
            <a:r>
              <a:rPr lang="it-IT" dirty="0"/>
              <a:t> </a:t>
            </a:r>
            <a:r>
              <a:rPr lang="it-IT" dirty="0" err="1"/>
              <a:t>problem</a:t>
            </a:r>
            <a:r>
              <a:rPr lang="it-IT" dirty="0"/>
              <a:t> in the risk management of </a:t>
            </a:r>
            <a:r>
              <a:rPr lang="it-IT" dirty="0" err="1"/>
              <a:t>renewable</a:t>
            </a:r>
            <a:r>
              <a:rPr lang="it-IT" dirty="0"/>
              <a:t> producers: </a:t>
            </a:r>
            <a:r>
              <a:rPr lang="it-IT" dirty="0" err="1"/>
              <a:t>how</a:t>
            </a:r>
            <a:r>
              <a:rPr lang="it-IT" dirty="0"/>
              <a:t> to price hedging </a:t>
            </a:r>
            <a:r>
              <a:rPr lang="it-IT" dirty="0" err="1"/>
              <a:t>instruments</a:t>
            </a:r>
            <a:r>
              <a:rPr lang="it-IT" dirty="0"/>
              <a:t> </a:t>
            </a:r>
            <a:r>
              <a:rPr lang="it-IT" dirty="0" err="1"/>
              <a:t>written</a:t>
            </a:r>
            <a:r>
              <a:rPr lang="it-IT" dirty="0"/>
              <a:t> on an </a:t>
            </a:r>
            <a:r>
              <a:rPr lang="it-IT" dirty="0" err="1"/>
              <a:t>underlying</a:t>
            </a:r>
            <a:r>
              <a:rPr lang="it-IT" dirty="0"/>
              <a:t> </a:t>
            </a:r>
            <a:r>
              <a:rPr lang="it-IT" dirty="0" err="1"/>
              <a:t>that</a:t>
            </a:r>
            <a:r>
              <a:rPr lang="it-IT" dirty="0"/>
              <a:t> </a:t>
            </a:r>
            <a:r>
              <a:rPr lang="it-IT" dirty="0" err="1"/>
              <a:t>cannot</a:t>
            </a:r>
            <a:r>
              <a:rPr lang="it-IT" dirty="0"/>
              <a:t> be </a:t>
            </a:r>
            <a:r>
              <a:rPr lang="it-IT" dirty="0" err="1"/>
              <a:t>traded</a:t>
            </a:r>
            <a:r>
              <a:rPr lang="it-IT" dirty="0"/>
              <a:t>, </a:t>
            </a:r>
            <a:r>
              <a:rPr lang="it-IT" dirty="0" err="1"/>
              <a:t>namely</a:t>
            </a:r>
            <a:r>
              <a:rPr lang="it-IT" dirty="0"/>
              <a:t> the wind.</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Wind can be </a:t>
            </a:r>
            <a:r>
              <a:rPr lang="it-IT" dirty="0" err="1"/>
              <a:t>neither</a:t>
            </a:r>
            <a:r>
              <a:rPr lang="it-IT" dirty="0"/>
              <a:t> </a:t>
            </a:r>
            <a:r>
              <a:rPr lang="it-IT" dirty="0" err="1"/>
              <a:t>stored</a:t>
            </a:r>
            <a:r>
              <a:rPr lang="it-IT" dirty="0"/>
              <a:t> </a:t>
            </a:r>
            <a:r>
              <a:rPr lang="it-IT" dirty="0" err="1"/>
              <a:t>nor</a:t>
            </a:r>
            <a:r>
              <a:rPr lang="it-IT" dirty="0"/>
              <a:t> </a:t>
            </a:r>
            <a:r>
              <a:rPr lang="it-IT" dirty="0" err="1"/>
              <a:t>traded</a:t>
            </a:r>
            <a:r>
              <a:rPr lang="it-IT" dirty="0"/>
              <a:t>. A German onshore producer </a:t>
            </a:r>
            <a:r>
              <a:rPr lang="it-IT" dirty="0" err="1"/>
              <a:t>is</a:t>
            </a:r>
            <a:r>
              <a:rPr lang="it-IT" dirty="0"/>
              <a:t> </a:t>
            </a:r>
            <a:r>
              <a:rPr lang="it-IT" dirty="0" err="1"/>
              <a:t>therefore</a:t>
            </a:r>
            <a:r>
              <a:rPr lang="it-IT" dirty="0"/>
              <a:t> </a:t>
            </a:r>
            <a:r>
              <a:rPr lang="it-IT" dirty="0" err="1"/>
              <a:t>exposed</a:t>
            </a:r>
            <a:r>
              <a:rPr lang="it-IT" dirty="0"/>
              <a:t> on </a:t>
            </a:r>
            <a:r>
              <a:rPr lang="it-IT" dirty="0" err="1"/>
              <a:t>two</a:t>
            </a:r>
            <a:r>
              <a:rPr lang="it-IT" dirty="0"/>
              <a:t> </a:t>
            </a:r>
            <a:r>
              <a:rPr lang="it-IT" dirty="0" err="1"/>
              <a:t>legs</a:t>
            </a:r>
            <a:r>
              <a:rPr lang="it-IT" dirty="0"/>
              <a:t>. The first </a:t>
            </a:r>
            <a:r>
              <a:rPr lang="it-IT" dirty="0" err="1"/>
              <a:t>is</a:t>
            </a:r>
            <a:r>
              <a:rPr lang="it-IT" dirty="0"/>
              <a:t> </a:t>
            </a:r>
            <a:r>
              <a:rPr lang="it-IT" dirty="0" err="1"/>
              <a:t>volumetric</a:t>
            </a:r>
            <a:r>
              <a:rPr lang="it-IT" dirty="0"/>
              <a:t>: </a:t>
            </a:r>
            <a:r>
              <a:rPr lang="it-IT" dirty="0" err="1"/>
              <a:t>prolonged</a:t>
            </a:r>
            <a:r>
              <a:rPr lang="it-IT" dirty="0"/>
              <a:t> </a:t>
            </a:r>
            <a:r>
              <a:rPr lang="it-IT" dirty="0" err="1"/>
              <a:t>calms</a:t>
            </a:r>
            <a:r>
              <a:rPr lang="it-IT" dirty="0"/>
              <a:t> </a:t>
            </a:r>
            <a:r>
              <a:rPr lang="it-IT" dirty="0" err="1"/>
              <a:t>cut</a:t>
            </a:r>
            <a:r>
              <a:rPr lang="it-IT" dirty="0"/>
              <a:t> generation </a:t>
            </a:r>
            <a:r>
              <a:rPr lang="it-IT" dirty="0" err="1"/>
              <a:t>directly</a:t>
            </a:r>
            <a:r>
              <a:rPr lang="it-IT" dirty="0"/>
              <a:t>, and </a:t>
            </a:r>
            <a:r>
              <a:rPr lang="it-IT" dirty="0" err="1"/>
              <a:t>because</a:t>
            </a:r>
            <a:r>
              <a:rPr lang="it-IT" dirty="0"/>
              <a:t> wind </a:t>
            </a:r>
            <a:r>
              <a:rPr lang="it-IT" dirty="0" err="1"/>
              <a:t>is</a:t>
            </a:r>
            <a:r>
              <a:rPr lang="it-IT" dirty="0"/>
              <a:t> </a:t>
            </a:r>
            <a:r>
              <a:rPr lang="it-IT" dirty="0" err="1"/>
              <a:t>autocorrelated</a:t>
            </a:r>
            <a:r>
              <a:rPr lang="it-IT" dirty="0"/>
              <a:t>, </a:t>
            </a:r>
            <a:r>
              <a:rPr lang="it-IT" dirty="0" err="1"/>
              <a:t>they</a:t>
            </a:r>
            <a:r>
              <a:rPr lang="it-IT" dirty="0"/>
              <a:t> are </a:t>
            </a:r>
            <a:r>
              <a:rPr lang="it-IT" dirty="0" err="1"/>
              <a:t>not</a:t>
            </a:r>
            <a:r>
              <a:rPr lang="it-IT" dirty="0"/>
              <a:t> </a:t>
            </a:r>
            <a:r>
              <a:rPr lang="it-IT" dirty="0" err="1"/>
              <a:t>diversified</a:t>
            </a:r>
            <a:r>
              <a:rPr lang="it-IT" dirty="0"/>
              <a:t> </a:t>
            </a:r>
            <a:r>
              <a:rPr lang="it-IT" dirty="0" err="1"/>
              <a:t>away</a:t>
            </a:r>
            <a:r>
              <a:rPr lang="it-IT" dirty="0"/>
              <a:t>. The second </a:t>
            </a:r>
            <a:r>
              <a:rPr lang="it-IT" dirty="0" err="1"/>
              <a:t>is</a:t>
            </a:r>
            <a:r>
              <a:rPr lang="it-IT" dirty="0"/>
              <a:t> price: </a:t>
            </a:r>
            <a:r>
              <a:rPr lang="it-IT" dirty="0" err="1"/>
              <a:t>through</a:t>
            </a:r>
            <a:r>
              <a:rPr lang="it-IT" dirty="0"/>
              <a:t> the </a:t>
            </a:r>
            <a:r>
              <a:rPr lang="it-IT" dirty="0" err="1"/>
              <a:t>merit-order</a:t>
            </a:r>
            <a:r>
              <a:rPr lang="it-IT" dirty="0"/>
              <a:t> </a:t>
            </a:r>
            <a:r>
              <a:rPr lang="it-IT" dirty="0" err="1"/>
              <a:t>effect</a:t>
            </a:r>
            <a:r>
              <a:rPr lang="it-IT" dirty="0"/>
              <a:t>, strong wind </a:t>
            </a:r>
            <a:r>
              <a:rPr lang="it-IT" dirty="0" err="1"/>
              <a:t>depresses</a:t>
            </a:r>
            <a:r>
              <a:rPr lang="it-IT" dirty="0"/>
              <a:t> the day-</a:t>
            </a:r>
            <a:r>
              <a:rPr lang="it-IT" dirty="0" err="1"/>
              <a:t>ahead</a:t>
            </a:r>
            <a:r>
              <a:rPr lang="it-IT" dirty="0"/>
              <a:t> price </a:t>
            </a:r>
            <a:r>
              <a:rPr lang="it-IT" dirty="0" err="1"/>
              <a:t>exactly</a:t>
            </a:r>
            <a:r>
              <a:rPr lang="it-IT" dirty="0"/>
              <a:t> </a:t>
            </a:r>
            <a:r>
              <a:rPr lang="it-IT" dirty="0" err="1"/>
              <a:t>when</a:t>
            </a:r>
            <a:r>
              <a:rPr lang="it-IT" dirty="0"/>
              <a:t> the producer </a:t>
            </a:r>
            <a:r>
              <a:rPr lang="it-IT" dirty="0" err="1"/>
              <a:t>generates</a:t>
            </a:r>
            <a:r>
              <a:rPr lang="it-IT" dirty="0"/>
              <a:t> </a:t>
            </a:r>
            <a:r>
              <a:rPr lang="it-IT" dirty="0" err="1"/>
              <a:t>most</a:t>
            </a:r>
            <a:r>
              <a:rPr lang="it-IT" dirty="0"/>
              <a:t>. </a:t>
            </a:r>
            <a:r>
              <a:rPr lang="it-IT" dirty="0" err="1"/>
              <a:t>This</a:t>
            </a:r>
            <a:r>
              <a:rPr lang="it-IT" dirty="0"/>
              <a:t> negative </a:t>
            </a:r>
            <a:r>
              <a:rPr lang="it-IT" dirty="0" err="1"/>
              <a:t>correlation</a:t>
            </a:r>
            <a:r>
              <a:rPr lang="it-IT" dirty="0"/>
              <a:t> </a:t>
            </a:r>
            <a:r>
              <a:rPr lang="it-IT" dirty="0" err="1"/>
              <a:t>dampens</a:t>
            </a:r>
            <a:r>
              <a:rPr lang="it-IT" dirty="0"/>
              <a:t> revenue </a:t>
            </a:r>
            <a:r>
              <a:rPr lang="it-IT" dirty="0" err="1"/>
              <a:t>variance</a:t>
            </a:r>
            <a:r>
              <a:rPr lang="it-IT" dirty="0"/>
              <a:t>, </a:t>
            </a:r>
            <a:r>
              <a:rPr lang="it-IT" dirty="0" err="1"/>
              <a:t>but</a:t>
            </a:r>
            <a:r>
              <a:rPr lang="it-IT" dirty="0"/>
              <a:t> </a:t>
            </a:r>
            <a:r>
              <a:rPr lang="it-IT" dirty="0" err="1"/>
              <a:t>it</a:t>
            </a:r>
            <a:r>
              <a:rPr lang="it-IT" dirty="0"/>
              <a:t> </a:t>
            </a:r>
            <a:r>
              <a:rPr lang="it-IT" dirty="0" err="1"/>
              <a:t>is</a:t>
            </a:r>
            <a:r>
              <a:rPr lang="it-IT" dirty="0"/>
              <a:t> </a:t>
            </a:r>
            <a:r>
              <a:rPr lang="it-IT" dirty="0" err="1"/>
              <a:t>weak</a:t>
            </a:r>
            <a:r>
              <a:rPr lang="it-IT" dirty="0"/>
              <a:t>, </a:t>
            </a:r>
            <a:r>
              <a:rPr lang="it-IT" dirty="0" err="1"/>
              <a:t>minus</a:t>
            </a:r>
            <a:r>
              <a:rPr lang="it-IT" dirty="0"/>
              <a:t> 0.16 over 2015 to 2024, and </a:t>
            </a:r>
            <a:r>
              <a:rPr lang="it-IT" dirty="0" err="1"/>
              <a:t>asymmetric</a:t>
            </a:r>
            <a:r>
              <a:rPr lang="it-IT" dirty="0"/>
              <a:t>: </a:t>
            </a:r>
            <a:r>
              <a:rPr lang="it-IT" dirty="0" err="1"/>
              <a:t>it</a:t>
            </a:r>
            <a:r>
              <a:rPr lang="it-IT" dirty="0"/>
              <a:t> </a:t>
            </a:r>
            <a:r>
              <a:rPr lang="it-IT" dirty="0" err="1"/>
              <a:t>cuts</a:t>
            </a:r>
            <a:r>
              <a:rPr lang="it-IT" dirty="0"/>
              <a:t> the </a:t>
            </a:r>
            <a:r>
              <a:rPr lang="it-IT" dirty="0" err="1"/>
              <a:t>upside</a:t>
            </a:r>
            <a:r>
              <a:rPr lang="it-IT" dirty="0"/>
              <a:t> </a:t>
            </a:r>
            <a:r>
              <a:rPr lang="it-IT" dirty="0" err="1"/>
              <a:t>without</a:t>
            </a:r>
            <a:r>
              <a:rPr lang="it-IT" dirty="0"/>
              <a:t> a </a:t>
            </a:r>
            <a:r>
              <a:rPr lang="it-IT" dirty="0" err="1"/>
              <a:t>floor</a:t>
            </a:r>
            <a:r>
              <a:rPr lang="it-IT" dirty="0"/>
              <a:t> under a </a:t>
            </a:r>
            <a:r>
              <a:rPr lang="it-IT" dirty="0" err="1"/>
              <a:t>prolonged</a:t>
            </a:r>
            <a:r>
              <a:rPr lang="it-IT" dirty="0"/>
              <a:t> </a:t>
            </a:r>
            <a:r>
              <a:rPr lang="it-IT" dirty="0" err="1"/>
              <a:t>calm</a:t>
            </a:r>
            <a:r>
              <a:rPr lang="it-IT" dirty="0"/>
              <a:t>. </a:t>
            </a:r>
            <a:r>
              <a:rPr lang="it-IT" dirty="0" err="1"/>
              <a:t>As</a:t>
            </a:r>
            <a:r>
              <a:rPr lang="it-IT" dirty="0"/>
              <a:t> an </a:t>
            </a:r>
            <a:r>
              <a:rPr lang="it-IT" dirty="0" err="1"/>
              <a:t>order</a:t>
            </a:r>
            <a:r>
              <a:rPr lang="it-IT" dirty="0"/>
              <a:t> of </a:t>
            </a:r>
            <a:r>
              <a:rPr lang="it-IT" dirty="0" err="1"/>
              <a:t>magnitude</a:t>
            </a:r>
            <a:r>
              <a:rPr lang="it-IT" dirty="0"/>
              <a:t>, a 100-megawatt farm </a:t>
            </a:r>
            <a:r>
              <a:rPr lang="it-IT" dirty="0" err="1"/>
              <a:t>at</a:t>
            </a:r>
            <a:r>
              <a:rPr lang="it-IT" dirty="0"/>
              <a:t> a 25.7 per cent </a:t>
            </a:r>
            <a:r>
              <a:rPr lang="it-IT" dirty="0" err="1"/>
              <a:t>capacity</a:t>
            </a:r>
            <a:r>
              <a:rPr lang="it-IT" dirty="0"/>
              <a:t> </a:t>
            </a:r>
            <a:r>
              <a:rPr lang="it-IT" dirty="0" err="1"/>
              <a:t>factor</a:t>
            </a:r>
            <a:r>
              <a:rPr lang="it-IT" dirty="0"/>
              <a:t> </a:t>
            </a:r>
            <a:r>
              <a:rPr lang="it-IT" dirty="0" err="1"/>
              <a:t>generates</a:t>
            </a:r>
            <a:r>
              <a:rPr lang="it-IT" dirty="0"/>
              <a:t> </a:t>
            </a:r>
            <a:r>
              <a:rPr lang="it-IT" dirty="0" err="1"/>
              <a:t>about</a:t>
            </a:r>
            <a:r>
              <a:rPr lang="it-IT" dirty="0"/>
              <a:t> 225,000 megawatt-hours a </a:t>
            </a:r>
            <a:r>
              <a:rPr lang="it-IT" dirty="0" err="1"/>
              <a:t>year</a:t>
            </a:r>
            <a:r>
              <a:rPr lang="it-IT" dirty="0"/>
              <a:t>, </a:t>
            </a:r>
            <a:r>
              <a:rPr lang="it-IT" dirty="0" err="1"/>
              <a:t>roughly</a:t>
            </a:r>
            <a:r>
              <a:rPr lang="it-IT" dirty="0"/>
              <a:t> 16 </a:t>
            </a:r>
            <a:r>
              <a:rPr lang="it-IT" dirty="0" err="1"/>
              <a:t>million</a:t>
            </a:r>
            <a:r>
              <a:rPr lang="it-IT" dirty="0"/>
              <a:t> </a:t>
            </a:r>
            <a:r>
              <a:rPr lang="it-IT" dirty="0" err="1"/>
              <a:t>euros</a:t>
            </a:r>
            <a:r>
              <a:rPr lang="it-IT" dirty="0"/>
              <a:t> of </a:t>
            </a:r>
            <a:r>
              <a:rPr lang="it-IT" dirty="0" err="1"/>
              <a:t>gross</a:t>
            </a:r>
            <a:r>
              <a:rPr lang="it-IT" dirty="0"/>
              <a:t> revenue </a:t>
            </a:r>
            <a:r>
              <a:rPr lang="it-IT" dirty="0" err="1"/>
              <a:t>at</a:t>
            </a:r>
            <a:r>
              <a:rPr lang="it-IT" dirty="0"/>
              <a:t> the </a:t>
            </a:r>
            <a:r>
              <a:rPr lang="it-IT" dirty="0" err="1"/>
              <a:t>mean</a:t>
            </a:r>
            <a:r>
              <a:rPr lang="it-IT" dirty="0"/>
              <a:t> price. The figure </a:t>
            </a:r>
            <a:r>
              <a:rPr lang="it-IT" dirty="0" err="1"/>
              <a:t>is</a:t>
            </a:r>
            <a:r>
              <a:rPr lang="it-IT" dirty="0"/>
              <a:t> illustrative, </a:t>
            </a:r>
            <a:r>
              <a:rPr lang="it-IT" dirty="0" err="1"/>
              <a:t>but</a:t>
            </a:r>
            <a:r>
              <a:rPr lang="it-IT" dirty="0"/>
              <a:t> </a:t>
            </a:r>
            <a:r>
              <a:rPr lang="it-IT" dirty="0" err="1"/>
              <a:t>it</a:t>
            </a:r>
            <a:r>
              <a:rPr lang="it-IT" dirty="0"/>
              <a:t> shows </a:t>
            </a:r>
            <a:r>
              <a:rPr lang="it-IT" dirty="0" err="1"/>
              <a:t>why</a:t>
            </a:r>
            <a:r>
              <a:rPr lang="it-IT" dirty="0"/>
              <a:t> the </a:t>
            </a:r>
            <a:r>
              <a:rPr lang="it-IT" dirty="0" err="1"/>
              <a:t>residual</a:t>
            </a:r>
            <a:r>
              <a:rPr lang="it-IT" dirty="0"/>
              <a:t> </a:t>
            </a:r>
            <a:r>
              <a:rPr lang="it-IT" dirty="0" err="1"/>
              <a:t>volumetric</a:t>
            </a:r>
            <a:r>
              <a:rPr lang="it-IT" dirty="0"/>
              <a:t> risk </a:t>
            </a:r>
            <a:r>
              <a:rPr lang="it-IT" dirty="0" err="1"/>
              <a:t>needs</a:t>
            </a:r>
            <a:r>
              <a:rPr lang="it-IT" dirty="0"/>
              <a:t> a </a:t>
            </a:r>
            <a:r>
              <a:rPr lang="it-IT" dirty="0" err="1"/>
              <a:t>dedicated</a:t>
            </a:r>
            <a:r>
              <a:rPr lang="it-IT" dirty="0"/>
              <a:t> </a:t>
            </a:r>
            <a:r>
              <a:rPr lang="it-IT" dirty="0" err="1"/>
              <a:t>instrument</a:t>
            </a:r>
            <a:r>
              <a:rPr lang="it-IT" dirty="0"/>
              <a:t>.</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The </a:t>
            </a:r>
            <a:r>
              <a:rPr lang="it-IT" dirty="0" err="1"/>
              <a:t>thesis</a:t>
            </a:r>
            <a:r>
              <a:rPr lang="it-IT" dirty="0"/>
              <a:t> </a:t>
            </a:r>
            <a:r>
              <a:rPr lang="it-IT" dirty="0" err="1"/>
              <a:t>answers</a:t>
            </a:r>
            <a:r>
              <a:rPr lang="it-IT" dirty="0"/>
              <a:t> </a:t>
            </a:r>
            <a:r>
              <a:rPr lang="it-IT" dirty="0" err="1"/>
              <a:t>three</a:t>
            </a:r>
            <a:r>
              <a:rPr lang="it-IT" dirty="0"/>
              <a:t> </a:t>
            </a:r>
            <a:r>
              <a:rPr lang="it-IT" dirty="0" err="1"/>
              <a:t>research</a:t>
            </a:r>
            <a:r>
              <a:rPr lang="it-IT" dirty="0"/>
              <a:t> </a:t>
            </a:r>
            <a:r>
              <a:rPr lang="it-IT" dirty="0" err="1"/>
              <a:t>questions</a:t>
            </a:r>
            <a:r>
              <a:rPr lang="it-IT" dirty="0"/>
              <a:t>. First: can a </a:t>
            </a:r>
            <a:r>
              <a:rPr lang="it-IT" dirty="0" err="1"/>
              <a:t>continuous</a:t>
            </a:r>
            <a:r>
              <a:rPr lang="it-IT" dirty="0"/>
              <a:t>-time wind model </a:t>
            </a:r>
            <a:r>
              <a:rPr lang="it-IT" dirty="0" err="1"/>
              <a:t>deliver</a:t>
            </a:r>
            <a:r>
              <a:rPr lang="it-IT" dirty="0"/>
              <a:t> a </a:t>
            </a:r>
            <a:r>
              <a:rPr lang="it-IT" dirty="0" err="1"/>
              <a:t>closed</a:t>
            </a:r>
            <a:r>
              <a:rPr lang="it-IT" dirty="0"/>
              <a:t>-form fair strike for a </a:t>
            </a:r>
            <a:r>
              <a:rPr lang="it-IT" dirty="0" err="1"/>
              <a:t>synthetic</a:t>
            </a:r>
            <a:r>
              <a:rPr lang="it-IT" dirty="0"/>
              <a:t> </a:t>
            </a:r>
            <a:r>
              <a:rPr lang="it-IT" dirty="0" err="1"/>
              <a:t>variance</a:t>
            </a:r>
            <a:r>
              <a:rPr lang="it-IT" dirty="0"/>
              <a:t> swap on German onshore wind generation? Second: </a:t>
            </a:r>
            <a:r>
              <a:rPr lang="it-IT" dirty="0" err="1"/>
              <a:t>how</a:t>
            </a:r>
            <a:r>
              <a:rPr lang="it-IT" dirty="0"/>
              <a:t> can </a:t>
            </a:r>
            <a:r>
              <a:rPr lang="it-IT" dirty="0" err="1"/>
              <a:t>we</a:t>
            </a:r>
            <a:r>
              <a:rPr lang="it-IT" dirty="0"/>
              <a:t> cover the </a:t>
            </a:r>
            <a:r>
              <a:rPr lang="it-IT" dirty="0" err="1"/>
              <a:t>left</a:t>
            </a:r>
            <a:r>
              <a:rPr lang="it-IT" dirty="0"/>
              <a:t> </a:t>
            </a:r>
            <a:r>
              <a:rPr lang="it-IT" dirty="0" err="1"/>
              <a:t>tail</a:t>
            </a:r>
            <a:r>
              <a:rPr lang="it-IT" dirty="0"/>
              <a:t>, the </a:t>
            </a:r>
            <a:r>
              <a:rPr lang="it-IT" dirty="0" err="1"/>
              <a:t>prolonged</a:t>
            </a:r>
            <a:r>
              <a:rPr lang="it-IT" dirty="0"/>
              <a:t> </a:t>
            </a:r>
            <a:r>
              <a:rPr lang="it-IT" dirty="0" err="1"/>
              <a:t>calms</a:t>
            </a:r>
            <a:r>
              <a:rPr lang="it-IT" dirty="0"/>
              <a:t> to </a:t>
            </a:r>
            <a:r>
              <a:rPr lang="it-IT" dirty="0" err="1"/>
              <a:t>which</a:t>
            </a:r>
            <a:r>
              <a:rPr lang="it-IT" dirty="0"/>
              <a:t> a </a:t>
            </a:r>
            <a:r>
              <a:rPr lang="it-IT" dirty="0" err="1"/>
              <a:t>variance</a:t>
            </a:r>
            <a:r>
              <a:rPr lang="it-IT" dirty="0"/>
              <a:t> swap </a:t>
            </a:r>
            <a:r>
              <a:rPr lang="it-IT" dirty="0" err="1"/>
              <a:t>is</a:t>
            </a:r>
            <a:r>
              <a:rPr lang="it-IT" dirty="0"/>
              <a:t> blind, with a CAWS </a:t>
            </a:r>
            <a:r>
              <a:rPr lang="it-IT" dirty="0" err="1"/>
              <a:t>contract</a:t>
            </a:r>
            <a:r>
              <a:rPr lang="it-IT" dirty="0"/>
              <a:t>, the Cumulative </a:t>
            </a:r>
            <a:r>
              <a:rPr lang="it-IT" dirty="0" err="1"/>
              <a:t>Accumulated</a:t>
            </a:r>
            <a:r>
              <a:rPr lang="it-IT" dirty="0"/>
              <a:t> Wind Speed? Third, and </a:t>
            </a:r>
            <a:r>
              <a:rPr lang="it-IT" dirty="0" err="1"/>
              <a:t>most</a:t>
            </a:r>
            <a:r>
              <a:rPr lang="it-IT" dirty="0"/>
              <a:t> </a:t>
            </a:r>
            <a:r>
              <a:rPr lang="it-IT" dirty="0" err="1"/>
              <a:t>relevant</a:t>
            </a:r>
            <a:r>
              <a:rPr lang="it-IT" dirty="0"/>
              <a:t>: </a:t>
            </a:r>
            <a:r>
              <a:rPr lang="it-IT" dirty="0" err="1"/>
              <a:t>what</a:t>
            </a:r>
            <a:r>
              <a:rPr lang="it-IT" dirty="0"/>
              <a:t> </a:t>
            </a:r>
            <a:r>
              <a:rPr lang="it-IT" dirty="0" err="1"/>
              <a:t>is</a:t>
            </a:r>
            <a:r>
              <a:rPr lang="it-IT" dirty="0"/>
              <a:t> the Value of Information, </a:t>
            </a:r>
            <a:r>
              <a:rPr lang="it-IT" dirty="0" err="1"/>
              <a:t>that</a:t>
            </a:r>
            <a:r>
              <a:rPr lang="it-IT" dirty="0"/>
              <a:t> </a:t>
            </a:r>
            <a:r>
              <a:rPr lang="it-IT" dirty="0" err="1"/>
              <a:t>is</a:t>
            </a:r>
            <a:r>
              <a:rPr lang="it-IT" dirty="0"/>
              <a:t>, the pricing cost of </a:t>
            </a:r>
            <a:r>
              <a:rPr lang="it-IT" dirty="0" err="1"/>
              <a:t>calibrating</a:t>
            </a:r>
            <a:r>
              <a:rPr lang="it-IT" dirty="0"/>
              <a:t> the </a:t>
            </a:r>
            <a:r>
              <a:rPr lang="it-IT" dirty="0" err="1"/>
              <a:t>same</a:t>
            </a:r>
            <a:r>
              <a:rPr lang="it-IT" dirty="0"/>
              <a:t> model on an </a:t>
            </a:r>
            <a:r>
              <a:rPr lang="it-IT" dirty="0" err="1"/>
              <a:t>imperfect</a:t>
            </a:r>
            <a:r>
              <a:rPr lang="it-IT" dirty="0"/>
              <a:t> proxy </a:t>
            </a:r>
            <a:r>
              <a:rPr lang="it-IT" dirty="0" err="1"/>
              <a:t>rather</a:t>
            </a:r>
            <a:r>
              <a:rPr lang="it-IT" dirty="0"/>
              <a:t> </a:t>
            </a:r>
            <a:r>
              <a:rPr lang="it-IT" dirty="0" err="1"/>
              <a:t>than</a:t>
            </a:r>
            <a:r>
              <a:rPr lang="it-IT" dirty="0"/>
              <a:t> on data </a:t>
            </a:r>
            <a:r>
              <a:rPr lang="it-IT" dirty="0" err="1"/>
              <a:t>aligned</a:t>
            </a:r>
            <a:r>
              <a:rPr lang="it-IT" dirty="0"/>
              <a:t> in </a:t>
            </a:r>
            <a:r>
              <a:rPr lang="it-IT" dirty="0" err="1"/>
              <a:t>height</a:t>
            </a:r>
            <a:r>
              <a:rPr lang="it-IT" dirty="0"/>
              <a:t> and </a:t>
            </a:r>
            <a:r>
              <a:rPr lang="it-IT" dirty="0" err="1"/>
              <a:t>geography</a:t>
            </a:r>
            <a:r>
              <a:rPr lang="it-IT" dirty="0"/>
              <a:t>? One framing point from the </a:t>
            </a:r>
            <a:r>
              <a:rPr lang="it-IT" dirty="0" err="1"/>
              <a:t>outset</a:t>
            </a:r>
            <a:r>
              <a:rPr lang="it-IT" dirty="0"/>
              <a:t>: θ = 0 </a:t>
            </a:r>
            <a:r>
              <a:rPr lang="it-IT" dirty="0" err="1"/>
              <a:t>is</a:t>
            </a:r>
            <a:r>
              <a:rPr lang="it-IT" dirty="0"/>
              <a:t> </a:t>
            </a:r>
            <a:r>
              <a:rPr lang="it-IT" dirty="0" err="1"/>
              <a:t>adopted</a:t>
            </a:r>
            <a:r>
              <a:rPr lang="it-IT" dirty="0"/>
              <a:t> </a:t>
            </a:r>
            <a:r>
              <a:rPr lang="it-IT" dirty="0" err="1"/>
              <a:t>throughout</a:t>
            </a:r>
            <a:r>
              <a:rPr lang="it-IT" dirty="0"/>
              <a:t> </a:t>
            </a:r>
            <a:r>
              <a:rPr lang="it-IT" dirty="0" err="1"/>
              <a:t>as</a:t>
            </a:r>
            <a:r>
              <a:rPr lang="it-IT" dirty="0"/>
              <a:t> a benchmark </a:t>
            </a:r>
            <a:r>
              <a:rPr lang="it-IT" dirty="0" err="1"/>
              <a:t>assumption</a:t>
            </a:r>
            <a:r>
              <a:rPr lang="it-IT" dirty="0"/>
              <a:t>, in the </a:t>
            </a:r>
            <a:r>
              <a:rPr lang="it-IT" dirty="0" err="1"/>
              <a:t>absence</a:t>
            </a:r>
            <a:r>
              <a:rPr lang="it-IT" dirty="0"/>
              <a:t> of option-</a:t>
            </a:r>
            <a:r>
              <a:rPr lang="it-IT" dirty="0" err="1"/>
              <a:t>implied</a:t>
            </a:r>
            <a:r>
              <a:rPr lang="it-IT" dirty="0"/>
              <a:t> data from EEX. Every strike </a:t>
            </a:r>
            <a:r>
              <a:rPr lang="it-IT" dirty="0" err="1"/>
              <a:t>is</a:t>
            </a:r>
            <a:r>
              <a:rPr lang="it-IT" dirty="0"/>
              <a:t> </a:t>
            </a:r>
            <a:r>
              <a:rPr lang="it-IT" dirty="0" err="1"/>
              <a:t>therefore</a:t>
            </a:r>
            <a:r>
              <a:rPr lang="it-IT" dirty="0"/>
              <a:t> a </a:t>
            </a:r>
            <a:r>
              <a:rPr lang="it-IT" dirty="0" err="1"/>
              <a:t>physical-measure</a:t>
            </a:r>
            <a:r>
              <a:rPr lang="it-IT" dirty="0"/>
              <a:t> </a:t>
            </a:r>
            <a:r>
              <a:rPr lang="it-IT" dirty="0" err="1"/>
              <a:t>expectation</a:t>
            </a:r>
            <a:r>
              <a:rPr lang="it-IT" dirty="0"/>
              <a:t>.</a:t>
            </a:r>
          </a:p>
          <a:p>
            <a:endParaRPr lang="it-IT"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The study </a:t>
            </a:r>
            <a:r>
              <a:rPr lang="it-IT" dirty="0" err="1"/>
              <a:t>rests</a:t>
            </a:r>
            <a:r>
              <a:rPr lang="it-IT" dirty="0"/>
              <a:t> on </a:t>
            </a:r>
            <a:r>
              <a:rPr lang="it-IT" dirty="0" err="1"/>
              <a:t>two</a:t>
            </a:r>
            <a:r>
              <a:rPr lang="it-IT" dirty="0"/>
              <a:t> datasets </a:t>
            </a:r>
            <a:r>
              <a:rPr lang="it-IT" dirty="0" err="1"/>
              <a:t>processed</a:t>
            </a:r>
            <a:r>
              <a:rPr lang="it-IT" dirty="0"/>
              <a:t> by one </a:t>
            </a:r>
            <a:r>
              <a:rPr lang="it-IT" dirty="0" err="1"/>
              <a:t>identical</a:t>
            </a:r>
            <a:r>
              <a:rPr lang="it-IT" dirty="0"/>
              <a:t> pipeline. Dataset A </a:t>
            </a:r>
            <a:r>
              <a:rPr lang="it-IT" dirty="0" err="1"/>
              <a:t>is</a:t>
            </a:r>
            <a:r>
              <a:rPr lang="it-IT" dirty="0"/>
              <a:t> a proxy: </a:t>
            </a:r>
            <a:r>
              <a:rPr lang="it-IT" dirty="0" err="1"/>
              <a:t>ten-metre</a:t>
            </a:r>
            <a:r>
              <a:rPr lang="it-IT" dirty="0"/>
              <a:t> wind speed for Bologna from </a:t>
            </a:r>
            <a:r>
              <a:rPr lang="it-IT" dirty="0" err="1"/>
              <a:t>OpenWeatherMap</a:t>
            </a:r>
            <a:r>
              <a:rPr lang="it-IT" dirty="0"/>
              <a:t>, </a:t>
            </a:r>
            <a:r>
              <a:rPr lang="it-IT" dirty="0" err="1"/>
              <a:t>four</a:t>
            </a:r>
            <a:r>
              <a:rPr lang="it-IT" dirty="0"/>
              <a:t> </a:t>
            </a:r>
            <a:r>
              <a:rPr lang="it-IT" dirty="0" err="1"/>
              <a:t>years</a:t>
            </a:r>
            <a:r>
              <a:rPr lang="it-IT" dirty="0"/>
              <a:t>, 1,462 </a:t>
            </a:r>
            <a:r>
              <a:rPr lang="it-IT" dirty="0" err="1"/>
              <a:t>daily</a:t>
            </a:r>
            <a:r>
              <a:rPr lang="it-IT" dirty="0"/>
              <a:t> </a:t>
            </a:r>
            <a:r>
              <a:rPr lang="it-IT" dirty="0" err="1"/>
              <a:t>observations</a:t>
            </a:r>
            <a:r>
              <a:rPr lang="it-IT" dirty="0"/>
              <a:t>. </a:t>
            </a:r>
            <a:r>
              <a:rPr lang="it-IT" dirty="0" err="1"/>
              <a:t>It</a:t>
            </a:r>
            <a:r>
              <a:rPr lang="it-IT" dirty="0"/>
              <a:t> </a:t>
            </a:r>
            <a:r>
              <a:rPr lang="it-IT" dirty="0" err="1"/>
              <a:t>is</a:t>
            </a:r>
            <a:r>
              <a:rPr lang="it-IT" dirty="0"/>
              <a:t> </a:t>
            </a:r>
            <a:r>
              <a:rPr lang="it-IT" dirty="0" err="1"/>
              <a:t>where</a:t>
            </a:r>
            <a:r>
              <a:rPr lang="it-IT" dirty="0"/>
              <a:t> the </a:t>
            </a:r>
            <a:r>
              <a:rPr lang="it-IT" dirty="0" err="1"/>
              <a:t>methodology</a:t>
            </a:r>
            <a:r>
              <a:rPr lang="it-IT" dirty="0"/>
              <a:t> </a:t>
            </a:r>
            <a:r>
              <a:rPr lang="it-IT" dirty="0" err="1"/>
              <a:t>was</a:t>
            </a:r>
            <a:r>
              <a:rPr lang="it-IT" dirty="0"/>
              <a:t> </a:t>
            </a:r>
            <a:r>
              <a:rPr lang="it-IT" dirty="0" err="1"/>
              <a:t>built</a:t>
            </a:r>
            <a:r>
              <a:rPr lang="it-IT" dirty="0"/>
              <a:t> and </a:t>
            </a:r>
            <a:r>
              <a:rPr lang="it-IT" dirty="0" err="1"/>
              <a:t>validated</a:t>
            </a:r>
            <a:r>
              <a:rPr lang="it-IT" dirty="0"/>
              <a:t>. Dataset B </a:t>
            </a:r>
            <a:r>
              <a:rPr lang="it-IT" dirty="0" err="1"/>
              <a:t>is</a:t>
            </a:r>
            <a:r>
              <a:rPr lang="it-IT" dirty="0"/>
              <a:t> the </a:t>
            </a:r>
            <a:r>
              <a:rPr lang="it-IT" dirty="0" err="1"/>
              <a:t>reference</a:t>
            </a:r>
            <a:r>
              <a:rPr lang="it-IT" dirty="0"/>
              <a:t>: ERA5 </a:t>
            </a:r>
            <a:r>
              <a:rPr lang="it-IT" dirty="0" err="1"/>
              <a:t>reanalysis</a:t>
            </a:r>
            <a:r>
              <a:rPr lang="it-IT" dirty="0"/>
              <a:t> </a:t>
            </a:r>
            <a:r>
              <a:rPr lang="it-IT" dirty="0" err="1"/>
              <a:t>at</a:t>
            </a:r>
            <a:r>
              <a:rPr lang="it-IT" dirty="0"/>
              <a:t> 100 </a:t>
            </a:r>
            <a:r>
              <a:rPr lang="it-IT" dirty="0" err="1"/>
              <a:t>metres</a:t>
            </a:r>
            <a:r>
              <a:rPr lang="it-IT" dirty="0"/>
              <a:t>, the hub </a:t>
            </a:r>
            <a:r>
              <a:rPr lang="it-IT" dirty="0" err="1"/>
              <a:t>height</a:t>
            </a:r>
            <a:r>
              <a:rPr lang="it-IT" dirty="0"/>
              <a:t>, for </a:t>
            </a:r>
            <a:r>
              <a:rPr lang="it-IT" dirty="0" err="1"/>
              <a:t>Nordfriesland</a:t>
            </a:r>
            <a:r>
              <a:rPr lang="it-IT" dirty="0"/>
              <a:t>, in </a:t>
            </a:r>
            <a:r>
              <a:rPr lang="it-IT" dirty="0" err="1"/>
              <a:t>Germany’s</a:t>
            </a:r>
            <a:r>
              <a:rPr lang="it-IT" dirty="0"/>
              <a:t> </a:t>
            </a:r>
            <a:r>
              <a:rPr lang="it-IT" dirty="0" err="1"/>
              <a:t>densest</a:t>
            </a:r>
            <a:r>
              <a:rPr lang="it-IT" dirty="0"/>
              <a:t> onshore wind </a:t>
            </a:r>
            <a:r>
              <a:rPr lang="it-IT" dirty="0" err="1"/>
              <a:t>corridor</a:t>
            </a:r>
            <a:r>
              <a:rPr lang="it-IT" dirty="0"/>
              <a:t>, </a:t>
            </a:r>
            <a:r>
              <a:rPr lang="it-IT" dirty="0" err="1"/>
              <a:t>ten</a:t>
            </a:r>
            <a:r>
              <a:rPr lang="it-IT" dirty="0"/>
              <a:t> </a:t>
            </a:r>
            <a:r>
              <a:rPr lang="it-IT" dirty="0" err="1"/>
              <a:t>years</a:t>
            </a:r>
            <a:r>
              <a:rPr lang="it-IT" dirty="0"/>
              <a:t>, 3,653 </a:t>
            </a:r>
            <a:r>
              <a:rPr lang="it-IT" dirty="0" err="1"/>
              <a:t>daily</a:t>
            </a:r>
            <a:r>
              <a:rPr lang="it-IT" dirty="0"/>
              <a:t> </a:t>
            </a:r>
            <a:r>
              <a:rPr lang="it-IT" dirty="0" err="1"/>
              <a:t>observations</a:t>
            </a:r>
            <a:r>
              <a:rPr lang="it-IT" dirty="0"/>
              <a:t>, </a:t>
            </a:r>
            <a:r>
              <a:rPr lang="it-IT" dirty="0" err="1"/>
              <a:t>mean</a:t>
            </a:r>
            <a:r>
              <a:rPr lang="it-IT" dirty="0"/>
              <a:t> 8.07. The derivative </a:t>
            </a:r>
            <a:r>
              <a:rPr lang="it-IT" dirty="0" err="1"/>
              <a:t>itself</a:t>
            </a:r>
            <a:r>
              <a:rPr lang="it-IT" dirty="0"/>
              <a:t> </a:t>
            </a:r>
            <a:r>
              <a:rPr lang="it-IT" dirty="0" err="1"/>
              <a:t>is</a:t>
            </a:r>
            <a:r>
              <a:rPr lang="it-IT" dirty="0"/>
              <a:t> </a:t>
            </a:r>
            <a:r>
              <a:rPr lang="it-IT" dirty="0" err="1"/>
              <a:t>written</a:t>
            </a:r>
            <a:r>
              <a:rPr lang="it-IT" dirty="0"/>
              <a:t> on SMARD generation for 2015 to 2024. </a:t>
            </a:r>
            <a:r>
              <a:rPr lang="it-IT" dirty="0" err="1"/>
              <a:t>Because</a:t>
            </a:r>
            <a:r>
              <a:rPr lang="it-IT" dirty="0"/>
              <a:t> the </a:t>
            </a:r>
            <a:r>
              <a:rPr lang="it-IT" dirty="0" err="1"/>
              <a:t>functional</a:t>
            </a:r>
            <a:r>
              <a:rPr lang="it-IT" dirty="0"/>
              <a:t> form </a:t>
            </a:r>
            <a:r>
              <a:rPr lang="it-IT" dirty="0" err="1"/>
              <a:t>is</a:t>
            </a:r>
            <a:r>
              <a:rPr lang="it-IT" dirty="0"/>
              <a:t> </a:t>
            </a:r>
            <a:r>
              <a:rPr lang="it-IT" dirty="0" err="1"/>
              <a:t>identical</a:t>
            </a:r>
            <a:r>
              <a:rPr lang="it-IT" dirty="0"/>
              <a:t>, </a:t>
            </a:r>
            <a:r>
              <a:rPr lang="it-IT" dirty="0" err="1"/>
              <a:t>any</a:t>
            </a:r>
            <a:r>
              <a:rPr lang="it-IT" dirty="0"/>
              <a:t> </a:t>
            </a:r>
            <a:r>
              <a:rPr lang="it-IT" dirty="0" err="1"/>
              <a:t>difference</a:t>
            </a:r>
            <a:r>
              <a:rPr lang="it-IT" dirty="0"/>
              <a:t> in the </a:t>
            </a:r>
            <a:r>
              <a:rPr lang="it-IT" dirty="0" err="1"/>
              <a:t>resulting</a:t>
            </a:r>
            <a:r>
              <a:rPr lang="it-IT" dirty="0"/>
              <a:t> price </a:t>
            </a:r>
            <a:r>
              <a:rPr lang="it-IT" dirty="0" err="1"/>
              <a:t>is</a:t>
            </a:r>
            <a:r>
              <a:rPr lang="it-IT" dirty="0"/>
              <a:t> </a:t>
            </a:r>
            <a:r>
              <a:rPr lang="it-IT" dirty="0" err="1"/>
              <a:t>attributable</a:t>
            </a:r>
            <a:r>
              <a:rPr lang="it-IT" dirty="0"/>
              <a:t> to the data. One caveat, to </a:t>
            </a:r>
            <a:r>
              <a:rPr lang="it-IT" dirty="0" err="1"/>
              <a:t>which</a:t>
            </a:r>
            <a:r>
              <a:rPr lang="it-IT" dirty="0"/>
              <a:t> I </a:t>
            </a:r>
            <a:r>
              <a:rPr lang="it-IT" dirty="0" err="1"/>
              <a:t>return</a:t>
            </a:r>
            <a:r>
              <a:rPr lang="it-IT" dirty="0"/>
              <a:t> in </a:t>
            </a:r>
            <a:r>
              <a:rPr lang="it-IT" dirty="0" err="1"/>
              <a:t>Chapter</a:t>
            </a:r>
            <a:r>
              <a:rPr lang="it-IT" dirty="0"/>
              <a:t> 3: the Box–Cox </a:t>
            </a:r>
            <a:r>
              <a:rPr lang="it-IT" dirty="0" err="1"/>
              <a:t>parameter</a:t>
            </a:r>
            <a:r>
              <a:rPr lang="it-IT" dirty="0"/>
              <a:t> </a:t>
            </a:r>
            <a:r>
              <a:rPr lang="it-IT" dirty="0" err="1"/>
              <a:t>is</a:t>
            </a:r>
            <a:r>
              <a:rPr lang="it-IT" dirty="0"/>
              <a:t> set per dataset, 0.1 and 0.5, so </a:t>
            </a:r>
            <a:r>
              <a:rPr lang="it-IT" dirty="0" err="1"/>
              <a:t>raw</a:t>
            </a:r>
            <a:r>
              <a:rPr lang="it-IT" dirty="0"/>
              <a:t> strikes </a:t>
            </a:r>
            <a:r>
              <a:rPr lang="it-IT" dirty="0" err="1"/>
              <a:t>sit</a:t>
            </a:r>
            <a:r>
              <a:rPr lang="it-IT" dirty="0"/>
              <a:t> on </a:t>
            </a:r>
            <a:r>
              <a:rPr lang="it-IT" dirty="0" err="1"/>
              <a:t>different</a:t>
            </a:r>
            <a:r>
              <a:rPr lang="it-IT" dirty="0"/>
              <a:t> </a:t>
            </a:r>
            <a:r>
              <a:rPr lang="it-IT" dirty="0" err="1"/>
              <a:t>measurement</a:t>
            </a:r>
            <a:r>
              <a:rPr lang="it-IT" dirty="0"/>
              <a:t> </a:t>
            </a:r>
            <a:r>
              <a:rPr lang="it-IT" dirty="0" err="1"/>
              <a:t>scales</a:t>
            </a:r>
            <a:r>
              <a:rPr lang="it-IT" dirty="0"/>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dirty="0"/>
              <a:t>The </a:t>
            </a:r>
            <a:r>
              <a:rPr lang="it-IT" dirty="0" err="1"/>
              <a:t>modelling</a:t>
            </a:r>
            <a:r>
              <a:rPr lang="it-IT" dirty="0"/>
              <a:t> </a:t>
            </a:r>
            <a:r>
              <a:rPr lang="it-IT" dirty="0" err="1"/>
              <a:t>proceeds</a:t>
            </a:r>
            <a:r>
              <a:rPr lang="it-IT" dirty="0"/>
              <a:t> in </a:t>
            </a:r>
            <a:r>
              <a:rPr lang="it-IT" dirty="0" err="1"/>
              <a:t>five</a:t>
            </a:r>
            <a:r>
              <a:rPr lang="it-IT" dirty="0"/>
              <a:t> stages. First, a Box–Cox </a:t>
            </a:r>
            <a:r>
              <a:rPr lang="it-IT" dirty="0" err="1"/>
              <a:t>transformation</a:t>
            </a:r>
            <a:r>
              <a:rPr lang="it-IT" dirty="0"/>
              <a:t> and a Fourier </a:t>
            </a:r>
            <a:r>
              <a:rPr lang="it-IT" dirty="0" err="1"/>
              <a:t>decomposition</a:t>
            </a:r>
            <a:r>
              <a:rPr lang="it-IT" dirty="0"/>
              <a:t> </a:t>
            </a:r>
            <a:r>
              <a:rPr lang="it-IT" dirty="0" err="1"/>
              <a:t>remove</a:t>
            </a:r>
            <a:r>
              <a:rPr lang="it-IT" dirty="0"/>
              <a:t> </a:t>
            </a:r>
            <a:r>
              <a:rPr lang="it-IT" dirty="0" err="1"/>
              <a:t>seasonality</a:t>
            </a:r>
            <a:r>
              <a:rPr lang="it-IT" dirty="0"/>
              <a:t> in the </a:t>
            </a:r>
            <a:r>
              <a:rPr lang="it-IT" dirty="0" err="1"/>
              <a:t>mean</a:t>
            </a:r>
            <a:r>
              <a:rPr lang="it-IT" dirty="0"/>
              <a:t> and the </a:t>
            </a:r>
            <a:r>
              <a:rPr lang="it-IT" dirty="0" err="1"/>
              <a:t>variance</a:t>
            </a:r>
            <a:r>
              <a:rPr lang="it-IT" dirty="0"/>
              <a:t>. Lambda </a:t>
            </a:r>
            <a:r>
              <a:rPr lang="it-IT" dirty="0" err="1"/>
              <a:t>is</a:t>
            </a:r>
            <a:r>
              <a:rPr lang="it-IT" dirty="0"/>
              <a:t> set to 0.1 and 0.5, </a:t>
            </a:r>
            <a:r>
              <a:rPr lang="it-IT" dirty="0" err="1"/>
              <a:t>rather</a:t>
            </a:r>
            <a:r>
              <a:rPr lang="it-IT" dirty="0"/>
              <a:t> </a:t>
            </a:r>
            <a:r>
              <a:rPr lang="it-IT" dirty="0" err="1"/>
              <a:t>than</a:t>
            </a:r>
            <a:r>
              <a:rPr lang="it-IT" dirty="0"/>
              <a:t> to the </a:t>
            </a:r>
            <a:r>
              <a:rPr lang="it-IT" dirty="0" err="1"/>
              <a:t>likelihood</a:t>
            </a:r>
            <a:r>
              <a:rPr lang="it-IT" dirty="0"/>
              <a:t> optima, so </a:t>
            </a:r>
            <a:r>
              <a:rPr lang="it-IT" dirty="0" err="1"/>
              <a:t>that</a:t>
            </a:r>
            <a:r>
              <a:rPr lang="it-IT" dirty="0"/>
              <a:t> </a:t>
            </a:r>
            <a:r>
              <a:rPr lang="it-IT" dirty="0" err="1"/>
              <a:t>its</a:t>
            </a:r>
            <a:r>
              <a:rPr lang="it-IT" dirty="0"/>
              <a:t> inverse </a:t>
            </a:r>
            <a:r>
              <a:rPr lang="it-IT" dirty="0" err="1"/>
              <a:t>is</a:t>
            </a:r>
            <a:r>
              <a:rPr lang="it-IT" dirty="0"/>
              <a:t> a positive </a:t>
            </a:r>
            <a:r>
              <a:rPr lang="it-IT" dirty="0" err="1"/>
              <a:t>integer</a:t>
            </a:r>
            <a:r>
              <a:rPr lang="it-IT" dirty="0"/>
              <a:t>, </a:t>
            </a:r>
            <a:r>
              <a:rPr lang="it-IT" dirty="0" err="1"/>
              <a:t>as</a:t>
            </a:r>
            <a:r>
              <a:rPr lang="it-IT" dirty="0"/>
              <a:t> the </a:t>
            </a:r>
            <a:r>
              <a:rPr lang="it-IT" dirty="0" err="1"/>
              <a:t>closed</a:t>
            </a:r>
            <a:r>
              <a:rPr lang="it-IT" dirty="0"/>
              <a:t>-form moments </a:t>
            </a:r>
            <a:r>
              <a:rPr lang="it-IT" dirty="0" err="1"/>
              <a:t>require</a:t>
            </a:r>
            <a:r>
              <a:rPr lang="it-IT" dirty="0"/>
              <a:t>. </a:t>
            </a:r>
            <a:r>
              <a:rPr lang="it-IT" dirty="0" err="1"/>
              <a:t>This</a:t>
            </a:r>
            <a:r>
              <a:rPr lang="it-IT" dirty="0"/>
              <a:t> stage </a:t>
            </a:r>
            <a:r>
              <a:rPr lang="it-IT" dirty="0" err="1"/>
              <a:t>delivers</a:t>
            </a:r>
            <a:r>
              <a:rPr lang="it-IT" dirty="0"/>
              <a:t> the </a:t>
            </a:r>
            <a:r>
              <a:rPr lang="it-IT" dirty="0" err="1"/>
              <a:t>standardised</a:t>
            </a:r>
            <a:r>
              <a:rPr lang="it-IT" dirty="0"/>
              <a:t> </a:t>
            </a:r>
            <a:r>
              <a:rPr lang="it-IT" dirty="0" err="1"/>
              <a:t>series</a:t>
            </a:r>
            <a:r>
              <a:rPr lang="it-IT" dirty="0"/>
              <a:t> and the </a:t>
            </a:r>
            <a:r>
              <a:rPr lang="it-IT" dirty="0" err="1"/>
              <a:t>seasonal</a:t>
            </a:r>
            <a:r>
              <a:rPr lang="it-IT" dirty="0"/>
              <a:t> </a:t>
            </a:r>
            <a:r>
              <a:rPr lang="it-IT" dirty="0" err="1"/>
              <a:t>variance</a:t>
            </a:r>
            <a:r>
              <a:rPr lang="it-IT" dirty="0"/>
              <a:t> </a:t>
            </a:r>
            <a:r>
              <a:rPr lang="it-IT" dirty="0" err="1"/>
              <a:t>level</a:t>
            </a:r>
            <a:r>
              <a:rPr lang="it-IT" dirty="0"/>
              <a:t> C₀. Second, an AR(4) models the </a:t>
            </a:r>
            <a:r>
              <a:rPr lang="it-IT" dirty="0" err="1"/>
              <a:t>conditional</a:t>
            </a:r>
            <a:r>
              <a:rPr lang="it-IT" dirty="0"/>
              <a:t> </a:t>
            </a:r>
            <a:r>
              <a:rPr lang="it-IT" dirty="0" err="1"/>
              <a:t>mean</a:t>
            </a:r>
            <a:r>
              <a:rPr lang="it-IT" dirty="0"/>
              <a:t> and </a:t>
            </a:r>
            <a:r>
              <a:rPr lang="it-IT" dirty="0" err="1"/>
              <a:t>improves</a:t>
            </a:r>
            <a:r>
              <a:rPr lang="it-IT" dirty="0"/>
              <a:t> on </a:t>
            </a:r>
            <a:r>
              <a:rPr lang="it-IT" dirty="0" err="1"/>
              <a:t>persistence</a:t>
            </a:r>
            <a:r>
              <a:rPr lang="it-IT" dirty="0"/>
              <a:t> by </a:t>
            </a:r>
            <a:r>
              <a:rPr lang="it-IT" dirty="0" err="1"/>
              <a:t>roughly</a:t>
            </a:r>
            <a:r>
              <a:rPr lang="it-IT" dirty="0"/>
              <a:t> 12 to 14 per cent in RMSE. Third, a GARCH(1,1) models the </a:t>
            </a:r>
            <a:r>
              <a:rPr lang="it-IT" dirty="0" err="1"/>
              <a:t>conditional</a:t>
            </a:r>
            <a:r>
              <a:rPr lang="it-IT" dirty="0"/>
              <a:t> </a:t>
            </a:r>
            <a:r>
              <a:rPr lang="it-IT" dirty="0" err="1"/>
              <a:t>variance</a:t>
            </a:r>
            <a:r>
              <a:rPr lang="it-IT" dirty="0"/>
              <a:t> and </a:t>
            </a:r>
            <a:r>
              <a:rPr lang="it-IT" dirty="0" err="1"/>
              <a:t>delivers</a:t>
            </a:r>
            <a:r>
              <a:rPr lang="it-IT" dirty="0"/>
              <a:t> the </a:t>
            </a:r>
            <a:r>
              <a:rPr lang="it-IT" dirty="0" err="1"/>
              <a:t>volatility</a:t>
            </a:r>
            <a:r>
              <a:rPr lang="it-IT" dirty="0"/>
              <a:t> state </a:t>
            </a:r>
            <a:r>
              <a:rPr lang="it-IT" dirty="0" err="1"/>
              <a:t>at</a:t>
            </a:r>
            <a:r>
              <a:rPr lang="it-IT" dirty="0"/>
              <a:t> the pricing date, h(t₀). </a:t>
            </a:r>
            <a:r>
              <a:rPr lang="it-IT" dirty="0" err="1"/>
              <a:t>Fourth</a:t>
            </a:r>
            <a:r>
              <a:rPr lang="it-IT" dirty="0"/>
              <a:t>, the CAR(4) </a:t>
            </a:r>
            <a:r>
              <a:rPr lang="it-IT" dirty="0" err="1"/>
              <a:t>embedding</a:t>
            </a:r>
            <a:r>
              <a:rPr lang="it-IT" dirty="0"/>
              <a:t> </a:t>
            </a:r>
            <a:r>
              <a:rPr lang="it-IT" dirty="0" err="1"/>
              <a:t>moves</a:t>
            </a:r>
            <a:r>
              <a:rPr lang="it-IT" dirty="0"/>
              <a:t> the model to </a:t>
            </a:r>
            <a:r>
              <a:rPr lang="it-IT" dirty="0" err="1"/>
              <a:t>continuous</a:t>
            </a:r>
            <a:r>
              <a:rPr lang="it-IT" dirty="0"/>
              <a:t> time, so </a:t>
            </a:r>
            <a:r>
              <a:rPr lang="it-IT" dirty="0" err="1"/>
              <a:t>that</a:t>
            </a:r>
            <a:r>
              <a:rPr lang="it-IT" dirty="0"/>
              <a:t> a </a:t>
            </a:r>
            <a:r>
              <a:rPr lang="it-IT" dirty="0" err="1"/>
              <a:t>contract</a:t>
            </a:r>
            <a:r>
              <a:rPr lang="it-IT" dirty="0"/>
              <a:t> can be </a:t>
            </a:r>
            <a:r>
              <a:rPr lang="it-IT" dirty="0" err="1"/>
              <a:t>priced</a:t>
            </a:r>
            <a:r>
              <a:rPr lang="it-IT" dirty="0"/>
              <a:t> </a:t>
            </a:r>
            <a:r>
              <a:rPr lang="it-IT" dirty="0" err="1"/>
              <a:t>at</a:t>
            </a:r>
            <a:r>
              <a:rPr lang="it-IT" dirty="0"/>
              <a:t> </a:t>
            </a:r>
            <a:r>
              <a:rPr lang="it-IT" dirty="0" err="1"/>
              <a:t>any</a:t>
            </a:r>
            <a:r>
              <a:rPr lang="it-IT" dirty="0"/>
              <a:t> </a:t>
            </a:r>
            <a:r>
              <a:rPr lang="it-IT" dirty="0" err="1"/>
              <a:t>maturity</a:t>
            </a:r>
            <a:r>
              <a:rPr lang="it-IT" dirty="0"/>
              <a:t>. Fifth, Heston–CIR </a:t>
            </a:r>
            <a:r>
              <a:rPr lang="it-IT" dirty="0" err="1"/>
              <a:t>stochastic</a:t>
            </a:r>
            <a:r>
              <a:rPr lang="it-IT" dirty="0"/>
              <a:t> </a:t>
            </a:r>
            <a:r>
              <a:rPr lang="it-IT" dirty="0" err="1"/>
              <a:t>volatility</a:t>
            </a:r>
            <a:r>
              <a:rPr lang="it-IT" dirty="0"/>
              <a:t> </a:t>
            </a:r>
            <a:r>
              <a:rPr lang="it-IT" dirty="0" err="1"/>
              <a:t>is</a:t>
            </a:r>
            <a:r>
              <a:rPr lang="it-IT" dirty="0"/>
              <a:t> </a:t>
            </a:r>
            <a:r>
              <a:rPr lang="it-IT" dirty="0" err="1"/>
              <a:t>purely</a:t>
            </a:r>
            <a:r>
              <a:rPr lang="it-IT" dirty="0"/>
              <a:t> </a:t>
            </a:r>
            <a:r>
              <a:rPr lang="it-IT" dirty="0" err="1"/>
              <a:t>theoretical</a:t>
            </a:r>
            <a:r>
              <a:rPr lang="it-IT" dirty="0"/>
              <a:t>: </a:t>
            </a:r>
            <a:r>
              <a:rPr lang="it-IT" dirty="0" err="1"/>
              <a:t>daily</a:t>
            </a:r>
            <a:r>
              <a:rPr lang="it-IT" dirty="0"/>
              <a:t> data </a:t>
            </a:r>
            <a:r>
              <a:rPr lang="it-IT" dirty="0" err="1"/>
              <a:t>cannot</a:t>
            </a:r>
            <a:r>
              <a:rPr lang="it-IT" dirty="0"/>
              <a:t> </a:t>
            </a:r>
            <a:r>
              <a:rPr lang="it-IT" dirty="0" err="1"/>
              <a:t>identify</a:t>
            </a:r>
            <a:r>
              <a:rPr lang="it-IT" dirty="0"/>
              <a:t> </a:t>
            </a:r>
            <a:r>
              <a:rPr lang="it-IT" dirty="0" err="1"/>
              <a:t>its</a:t>
            </a:r>
            <a:r>
              <a:rPr lang="it-IT" dirty="0"/>
              <a:t> </a:t>
            </a:r>
            <a:r>
              <a:rPr lang="it-IT" dirty="0" err="1"/>
              <a:t>parameters</a:t>
            </a:r>
            <a:r>
              <a:rPr lang="it-IT" dirty="0"/>
              <a:t>, so </a:t>
            </a:r>
            <a:r>
              <a:rPr lang="it-IT" dirty="0" err="1"/>
              <a:t>it</a:t>
            </a:r>
            <a:r>
              <a:rPr lang="it-IT" dirty="0"/>
              <a:t> </a:t>
            </a:r>
            <a:r>
              <a:rPr lang="it-IT" dirty="0" err="1"/>
              <a:t>does</a:t>
            </a:r>
            <a:r>
              <a:rPr lang="it-IT" dirty="0"/>
              <a:t> </a:t>
            </a:r>
            <a:r>
              <a:rPr lang="it-IT" dirty="0" err="1"/>
              <a:t>not</a:t>
            </a:r>
            <a:r>
              <a:rPr lang="it-IT" dirty="0"/>
              <a:t> </a:t>
            </a:r>
            <a:r>
              <a:rPr lang="it-IT" dirty="0" err="1"/>
              <a:t>enter</a:t>
            </a:r>
            <a:r>
              <a:rPr lang="it-IT" dirty="0"/>
              <a:t> the price. The </a:t>
            </a:r>
            <a:r>
              <a:rPr lang="it-IT" dirty="0" err="1"/>
              <a:t>whole</a:t>
            </a:r>
            <a:r>
              <a:rPr lang="it-IT" dirty="0"/>
              <a:t> pricing </a:t>
            </a:r>
            <a:r>
              <a:rPr lang="it-IT" dirty="0" err="1"/>
              <a:t>structure</a:t>
            </a:r>
            <a:r>
              <a:rPr lang="it-IT" dirty="0"/>
              <a:t> </a:t>
            </a:r>
            <a:r>
              <a:rPr lang="it-IT" dirty="0" err="1"/>
              <a:t>therefore</a:t>
            </a:r>
            <a:r>
              <a:rPr lang="it-IT" dirty="0"/>
              <a:t> </a:t>
            </a:r>
            <a:r>
              <a:rPr lang="it-IT" dirty="0" err="1"/>
              <a:t>reduces</a:t>
            </a:r>
            <a:r>
              <a:rPr lang="it-IT" dirty="0"/>
              <a:t> to </a:t>
            </a:r>
            <a:r>
              <a:rPr lang="it-IT" dirty="0" err="1"/>
              <a:t>two</a:t>
            </a:r>
            <a:r>
              <a:rPr lang="it-IT" dirty="0"/>
              <a:t> </a:t>
            </a:r>
            <a:r>
              <a:rPr lang="it-IT" dirty="0" err="1"/>
              <a:t>numbers</a:t>
            </a:r>
            <a:r>
              <a:rPr lang="it-IT" dirty="0"/>
              <a:t>. Under a </a:t>
            </a:r>
            <a:r>
              <a:rPr lang="it-IT" dirty="0" err="1"/>
              <a:t>piecewise-constant</a:t>
            </a:r>
            <a:r>
              <a:rPr lang="it-IT" dirty="0"/>
              <a:t> h, following Tol 1997, and the θ = 0 benchmark, the fair strike </a:t>
            </a:r>
            <a:r>
              <a:rPr lang="it-IT" dirty="0" err="1"/>
              <a:t>is</a:t>
            </a:r>
            <a:r>
              <a:rPr lang="it-IT" dirty="0"/>
              <a:t> h(t₀) times C₀, </a:t>
            </a:r>
            <a:r>
              <a:rPr lang="it-IT" dirty="0" err="1"/>
              <a:t>because</a:t>
            </a:r>
            <a:r>
              <a:rPr lang="it-IT" dirty="0"/>
              <a:t> the Fourier </a:t>
            </a:r>
            <a:r>
              <a:rPr lang="it-IT" dirty="0" err="1"/>
              <a:t>harmonics</a:t>
            </a:r>
            <a:r>
              <a:rPr lang="it-IT" dirty="0"/>
              <a:t> integrate to zero over a </a:t>
            </a:r>
            <a:r>
              <a:rPr lang="it-IT" dirty="0" err="1"/>
              <a:t>year</a:t>
            </a:r>
            <a:r>
              <a:rPr lang="it-IT" dirty="0"/>
              <a:t>: 0.054 for Bologna, 0.873 for </a:t>
            </a:r>
            <a:r>
              <a:rPr lang="it-IT" dirty="0" err="1"/>
              <a:t>Nordfriesland</a:t>
            </a:r>
            <a:r>
              <a:rPr lang="it-IT"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dirty="0" err="1"/>
              <a:t>Moving</a:t>
            </a:r>
            <a:r>
              <a:rPr lang="it-IT" dirty="0"/>
              <a:t> to the </a:t>
            </a:r>
            <a:r>
              <a:rPr lang="it-IT" dirty="0" err="1"/>
              <a:t>application</a:t>
            </a:r>
            <a:r>
              <a:rPr lang="it-IT" dirty="0"/>
              <a:t>, </a:t>
            </a:r>
            <a:r>
              <a:rPr lang="it-IT" dirty="0" err="1"/>
              <a:t>we</a:t>
            </a:r>
            <a:r>
              <a:rPr lang="it-IT" dirty="0"/>
              <a:t> </a:t>
            </a:r>
            <a:r>
              <a:rPr lang="it-IT" dirty="0" err="1"/>
              <a:t>define</a:t>
            </a:r>
            <a:r>
              <a:rPr lang="it-IT" dirty="0"/>
              <a:t> a </a:t>
            </a:r>
            <a:r>
              <a:rPr lang="it-IT" dirty="0" err="1"/>
              <a:t>synthetic</a:t>
            </a:r>
            <a:r>
              <a:rPr lang="it-IT" dirty="0"/>
              <a:t> </a:t>
            </a:r>
            <a:r>
              <a:rPr lang="it-IT" dirty="0" err="1"/>
              <a:t>variance</a:t>
            </a:r>
            <a:r>
              <a:rPr lang="it-IT" dirty="0"/>
              <a:t> swap on German onshore wind generation from SMARD. The payoff </a:t>
            </a:r>
            <a:r>
              <a:rPr lang="it-IT" dirty="0" err="1"/>
              <a:t>is</a:t>
            </a:r>
            <a:r>
              <a:rPr lang="it-IT" dirty="0"/>
              <a:t> </a:t>
            </a:r>
            <a:r>
              <a:rPr lang="it-IT" dirty="0" err="1"/>
              <a:t>realised</a:t>
            </a:r>
            <a:r>
              <a:rPr lang="it-IT" dirty="0"/>
              <a:t> </a:t>
            </a:r>
            <a:r>
              <a:rPr lang="it-IT" dirty="0" err="1"/>
              <a:t>variance</a:t>
            </a:r>
            <a:r>
              <a:rPr lang="it-IT" dirty="0"/>
              <a:t> </a:t>
            </a:r>
            <a:r>
              <a:rPr lang="it-IT" dirty="0" err="1"/>
              <a:t>minus</a:t>
            </a:r>
            <a:r>
              <a:rPr lang="it-IT" dirty="0"/>
              <a:t> a </a:t>
            </a:r>
            <a:r>
              <a:rPr lang="it-IT" dirty="0" err="1"/>
              <a:t>fixed</a:t>
            </a:r>
            <a:r>
              <a:rPr lang="it-IT" dirty="0"/>
              <a:t> strike, with </a:t>
            </a:r>
            <a:r>
              <a:rPr lang="it-IT" dirty="0" err="1"/>
              <a:t>realised</a:t>
            </a:r>
            <a:r>
              <a:rPr lang="it-IT" dirty="0"/>
              <a:t> </a:t>
            </a:r>
            <a:r>
              <a:rPr lang="it-IT" dirty="0" err="1"/>
              <a:t>variance</a:t>
            </a:r>
            <a:r>
              <a:rPr lang="it-IT" dirty="0"/>
              <a:t> </a:t>
            </a:r>
            <a:r>
              <a:rPr lang="it-IT" dirty="0" err="1"/>
              <a:t>annualised</a:t>
            </a:r>
            <a:r>
              <a:rPr lang="it-IT" dirty="0"/>
              <a:t> by 252. The producer, long volume and so short </a:t>
            </a:r>
            <a:r>
              <a:rPr lang="it-IT" dirty="0" err="1"/>
              <a:t>its</a:t>
            </a:r>
            <a:r>
              <a:rPr lang="it-IT" dirty="0"/>
              <a:t> </a:t>
            </a:r>
            <a:r>
              <a:rPr lang="it-IT" dirty="0" err="1"/>
              <a:t>stability</a:t>
            </a:r>
            <a:r>
              <a:rPr lang="it-IT" dirty="0"/>
              <a:t>, takes the short side. The payoff </a:t>
            </a:r>
            <a:r>
              <a:rPr lang="it-IT" dirty="0" err="1"/>
              <a:t>is</a:t>
            </a:r>
            <a:r>
              <a:rPr lang="it-IT" dirty="0"/>
              <a:t> linear in </a:t>
            </a:r>
            <a:r>
              <a:rPr lang="it-IT" dirty="0" err="1"/>
              <a:t>variance</a:t>
            </a:r>
            <a:r>
              <a:rPr lang="it-IT" dirty="0"/>
              <a:t>: no gamma, no </a:t>
            </a:r>
            <a:r>
              <a:rPr lang="it-IT" dirty="0" err="1"/>
              <a:t>path-dependent</a:t>
            </a:r>
            <a:r>
              <a:rPr lang="it-IT" dirty="0"/>
              <a:t> </a:t>
            </a:r>
            <a:r>
              <a:rPr lang="it-IT" dirty="0" err="1"/>
              <a:t>convexity</a:t>
            </a:r>
            <a:r>
              <a:rPr lang="it-IT" dirty="0"/>
              <a:t>. Track A </a:t>
            </a:r>
            <a:r>
              <a:rPr lang="it-IT" dirty="0" err="1"/>
              <a:t>is</a:t>
            </a:r>
            <a:r>
              <a:rPr lang="it-IT" dirty="0"/>
              <a:t> the </a:t>
            </a:r>
            <a:r>
              <a:rPr lang="it-IT" dirty="0" err="1"/>
              <a:t>empirical</a:t>
            </a:r>
            <a:r>
              <a:rPr lang="it-IT" dirty="0"/>
              <a:t> fair strike: 252 times the </a:t>
            </a:r>
            <a:r>
              <a:rPr lang="it-IT" dirty="0" err="1"/>
              <a:t>rolling</a:t>
            </a:r>
            <a:r>
              <a:rPr lang="it-IT" dirty="0"/>
              <a:t> </a:t>
            </a:r>
            <a:r>
              <a:rPr lang="it-IT" dirty="0" err="1"/>
              <a:t>mean</a:t>
            </a:r>
            <a:r>
              <a:rPr lang="it-IT" dirty="0"/>
              <a:t> of </a:t>
            </a:r>
            <a:r>
              <a:rPr lang="it-IT" dirty="0" err="1"/>
              <a:t>squared</a:t>
            </a:r>
            <a:r>
              <a:rPr lang="it-IT" dirty="0"/>
              <a:t> </a:t>
            </a:r>
            <a:r>
              <a:rPr lang="it-IT" dirty="0" err="1"/>
              <a:t>daily</a:t>
            </a:r>
            <a:r>
              <a:rPr lang="it-IT" dirty="0"/>
              <a:t> log-</a:t>
            </a:r>
            <a:r>
              <a:rPr lang="it-IT" dirty="0" err="1"/>
              <a:t>returns</a:t>
            </a:r>
            <a:r>
              <a:rPr lang="it-IT" dirty="0"/>
              <a:t> of generation, </a:t>
            </a:r>
            <a:r>
              <a:rPr lang="it-IT" dirty="0" err="1"/>
              <a:t>which</a:t>
            </a:r>
            <a:r>
              <a:rPr lang="it-IT" dirty="0"/>
              <a:t> </a:t>
            </a:r>
            <a:r>
              <a:rPr lang="it-IT" dirty="0" err="1"/>
              <a:t>gives</a:t>
            </a:r>
            <a:r>
              <a:rPr lang="it-IT" dirty="0"/>
              <a:t> 113.1 over 2015 to 2024. </a:t>
            </a:r>
            <a:r>
              <a:rPr lang="it-IT" dirty="0" err="1"/>
              <a:t>It</a:t>
            </a:r>
            <a:r>
              <a:rPr lang="it-IT" dirty="0"/>
              <a:t> </a:t>
            </a:r>
            <a:r>
              <a:rPr lang="it-IT" dirty="0" err="1"/>
              <a:t>is</a:t>
            </a:r>
            <a:r>
              <a:rPr lang="it-IT" dirty="0"/>
              <a:t> a </a:t>
            </a:r>
            <a:r>
              <a:rPr lang="it-IT" dirty="0" err="1"/>
              <a:t>realised</a:t>
            </a:r>
            <a:r>
              <a:rPr lang="it-IT" dirty="0"/>
              <a:t> </a:t>
            </a:r>
            <a:r>
              <a:rPr lang="it-IT" dirty="0" err="1"/>
              <a:t>quantity</a:t>
            </a:r>
            <a:r>
              <a:rPr lang="it-IT" dirty="0"/>
              <a:t>: </a:t>
            </a:r>
            <a:r>
              <a:rPr lang="it-IT" dirty="0" err="1"/>
              <a:t>nothing</a:t>
            </a:r>
            <a:r>
              <a:rPr lang="it-IT" dirty="0"/>
              <a:t> </a:t>
            </a:r>
            <a:r>
              <a:rPr lang="it-IT" dirty="0" err="1"/>
              <a:t>is</a:t>
            </a:r>
            <a:r>
              <a:rPr lang="it-IT" dirty="0"/>
              <a:t> </a:t>
            </a:r>
            <a:r>
              <a:rPr lang="it-IT" dirty="0" err="1"/>
              <a:t>backed</a:t>
            </a:r>
            <a:r>
              <a:rPr lang="it-IT" dirty="0"/>
              <a:t> out of a </a:t>
            </a:r>
            <a:r>
              <a:rPr lang="it-IT" dirty="0" err="1"/>
              <a:t>traded</a:t>
            </a:r>
            <a:r>
              <a:rPr lang="it-IT" dirty="0"/>
              <a:t> price, and no model </a:t>
            </a:r>
            <a:r>
              <a:rPr lang="it-IT" dirty="0" err="1"/>
              <a:t>is</a:t>
            </a:r>
            <a:r>
              <a:rPr lang="it-IT" dirty="0"/>
              <a:t> </a:t>
            </a:r>
            <a:r>
              <a:rPr lang="it-IT" dirty="0" err="1"/>
              <a:t>involved</a:t>
            </a:r>
            <a:r>
              <a:rPr lang="it-IT" dirty="0"/>
              <a:t>. The </a:t>
            </a:r>
            <a:r>
              <a:rPr lang="it-IT" dirty="0" err="1"/>
              <a:t>level</a:t>
            </a:r>
            <a:r>
              <a:rPr lang="it-IT" dirty="0"/>
              <a:t> </a:t>
            </a:r>
            <a:r>
              <a:rPr lang="it-IT" dirty="0" err="1"/>
              <a:t>is</a:t>
            </a:r>
            <a:r>
              <a:rPr lang="it-IT" dirty="0"/>
              <a:t> high </a:t>
            </a:r>
            <a:r>
              <a:rPr lang="it-IT" dirty="0" err="1"/>
              <a:t>because</a:t>
            </a:r>
            <a:r>
              <a:rPr lang="it-IT" dirty="0"/>
              <a:t> the </a:t>
            </a:r>
            <a:r>
              <a:rPr lang="it-IT" dirty="0" err="1"/>
              <a:t>underlying</a:t>
            </a:r>
            <a:r>
              <a:rPr lang="it-IT" dirty="0"/>
              <a:t> </a:t>
            </a:r>
            <a:r>
              <a:rPr lang="it-IT" dirty="0" err="1"/>
              <a:t>is</a:t>
            </a:r>
            <a:r>
              <a:rPr lang="it-IT" dirty="0"/>
              <a:t>: German output can </a:t>
            </a:r>
            <a:r>
              <a:rPr lang="it-IT" dirty="0" err="1"/>
              <a:t>change</a:t>
            </a:r>
            <a:r>
              <a:rPr lang="it-IT" dirty="0"/>
              <a:t> by a </a:t>
            </a:r>
            <a:r>
              <a:rPr lang="it-IT" dirty="0" err="1"/>
              <a:t>factor</a:t>
            </a:r>
            <a:r>
              <a:rPr lang="it-IT" dirty="0"/>
              <a:t> of </a:t>
            </a:r>
            <a:r>
              <a:rPr lang="it-IT" dirty="0" err="1"/>
              <a:t>two</a:t>
            </a:r>
            <a:r>
              <a:rPr lang="it-IT" dirty="0"/>
              <a:t> from one day to the </a:t>
            </a:r>
            <a:r>
              <a:rPr lang="it-IT" dirty="0" err="1"/>
              <a:t>next</a:t>
            </a:r>
            <a:r>
              <a:rPr lang="it-IT" dirty="0"/>
              <a:t>, a </a:t>
            </a:r>
            <a:r>
              <a:rPr lang="it-IT" dirty="0" err="1"/>
              <a:t>daily</a:t>
            </a:r>
            <a:r>
              <a:rPr lang="it-IT" dirty="0"/>
              <a:t> standard </a:t>
            </a:r>
            <a:r>
              <a:rPr lang="it-IT" dirty="0" err="1"/>
              <a:t>deviation</a:t>
            </a:r>
            <a:r>
              <a:rPr lang="it-IT" dirty="0"/>
              <a:t> of log-</a:t>
            </a:r>
            <a:r>
              <a:rPr lang="it-IT" dirty="0" err="1"/>
              <a:t>returns</a:t>
            </a:r>
            <a:r>
              <a:rPr lang="it-IT" dirty="0"/>
              <a:t> </a:t>
            </a:r>
            <a:r>
              <a:rPr lang="it-IT" dirty="0" err="1"/>
              <a:t>near</a:t>
            </a:r>
            <a:r>
              <a:rPr lang="it-IT" dirty="0"/>
              <a:t> 67 per cent. </a:t>
            </a:r>
            <a:r>
              <a:rPr lang="it-IT" dirty="0" err="1"/>
              <a:t>Annual</a:t>
            </a:r>
            <a:r>
              <a:rPr lang="it-IT" dirty="0"/>
              <a:t> </a:t>
            </a:r>
            <a:r>
              <a:rPr lang="it-IT" dirty="0" err="1"/>
              <a:t>realised</a:t>
            </a:r>
            <a:r>
              <a:rPr lang="it-IT" dirty="0"/>
              <a:t> </a:t>
            </a:r>
            <a:r>
              <a:rPr lang="it-IT" dirty="0" err="1"/>
              <a:t>variance</a:t>
            </a:r>
            <a:r>
              <a:rPr lang="it-IT" dirty="0"/>
              <a:t> </a:t>
            </a:r>
            <a:r>
              <a:rPr lang="it-IT" dirty="0" err="1"/>
              <a:t>ranged</a:t>
            </a:r>
            <a:r>
              <a:rPr lang="it-IT" dirty="0"/>
              <a:t> from 95.5 in 2019 to 132.0 in 2024. A long swap </a:t>
            </a:r>
            <a:r>
              <a:rPr lang="it-IT" dirty="0" err="1"/>
              <a:t>struck</a:t>
            </a:r>
            <a:r>
              <a:rPr lang="it-IT" dirty="0"/>
              <a:t> </a:t>
            </a:r>
            <a:r>
              <a:rPr lang="it-IT" dirty="0" err="1"/>
              <a:t>at</a:t>
            </a:r>
            <a:r>
              <a:rPr lang="it-IT" dirty="0"/>
              <a:t> 113.1 </a:t>
            </a:r>
            <a:r>
              <a:rPr lang="it-IT" dirty="0" err="1"/>
              <a:t>would</a:t>
            </a:r>
            <a:r>
              <a:rPr lang="it-IT" dirty="0"/>
              <a:t> </a:t>
            </a:r>
            <a:r>
              <a:rPr lang="it-IT" dirty="0" err="1"/>
              <a:t>have</a:t>
            </a:r>
            <a:r>
              <a:rPr lang="it-IT" dirty="0"/>
              <a:t> </a:t>
            </a:r>
            <a:r>
              <a:rPr lang="it-IT" dirty="0" err="1"/>
              <a:t>paid</a:t>
            </a:r>
            <a:r>
              <a:rPr lang="it-IT" dirty="0"/>
              <a:t> plus 2.34 on </a:t>
            </a:r>
            <a:r>
              <a:rPr lang="it-IT" dirty="0" err="1"/>
              <a:t>average</a:t>
            </a:r>
            <a:r>
              <a:rPr lang="it-IT" dirty="0"/>
              <a:t>, so the strike </a:t>
            </a:r>
            <a:r>
              <a:rPr lang="it-IT" dirty="0" err="1"/>
              <a:t>was</a:t>
            </a:r>
            <a:r>
              <a:rPr lang="it-IT" dirty="0"/>
              <a:t> close to fair, with a </a:t>
            </a:r>
            <a:r>
              <a:rPr lang="it-IT" dirty="0" err="1"/>
              <a:t>fifth</a:t>
            </a:r>
            <a:r>
              <a:rPr lang="it-IT" dirty="0"/>
              <a:t>-percentile </a:t>
            </a:r>
            <a:r>
              <a:rPr lang="it-IT" dirty="0" err="1"/>
              <a:t>year</a:t>
            </a:r>
            <a:r>
              <a:rPr lang="it-IT" dirty="0"/>
              <a:t> of </a:t>
            </a:r>
            <a:r>
              <a:rPr lang="it-IT" dirty="0" err="1"/>
              <a:t>minus</a:t>
            </a:r>
            <a:r>
              <a:rPr lang="it-IT" dirty="0"/>
              <a:t> 14.8, </a:t>
            </a:r>
            <a:r>
              <a:rPr lang="it-IT" dirty="0" err="1"/>
              <a:t>about</a:t>
            </a:r>
            <a:r>
              <a:rPr lang="it-IT" dirty="0"/>
              <a:t> 13 per cent of the strike.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dirty="0"/>
              <a:t>Track B </a:t>
            </a:r>
            <a:r>
              <a:rPr lang="it-IT" dirty="0" err="1"/>
              <a:t>is</a:t>
            </a:r>
            <a:r>
              <a:rPr lang="it-IT" dirty="0"/>
              <a:t> the model-</a:t>
            </a:r>
            <a:r>
              <a:rPr lang="it-IT" dirty="0" err="1"/>
              <a:t>implied</a:t>
            </a:r>
            <a:r>
              <a:rPr lang="it-IT" dirty="0"/>
              <a:t> strike, h(t₀) times C₀. </a:t>
            </a:r>
            <a:r>
              <a:rPr lang="it-IT" dirty="0" err="1"/>
              <a:t>Its</a:t>
            </a:r>
            <a:r>
              <a:rPr lang="it-IT" dirty="0"/>
              <a:t> </a:t>
            </a:r>
            <a:r>
              <a:rPr lang="it-IT" dirty="0" err="1"/>
              <a:t>raw</a:t>
            </a:r>
            <a:r>
              <a:rPr lang="it-IT" dirty="0"/>
              <a:t> </a:t>
            </a:r>
            <a:r>
              <a:rPr lang="it-IT" dirty="0" err="1"/>
              <a:t>value</a:t>
            </a:r>
            <a:r>
              <a:rPr lang="it-IT" dirty="0"/>
              <a:t> for </a:t>
            </a:r>
            <a:r>
              <a:rPr lang="it-IT" dirty="0" err="1"/>
              <a:t>Nordfriesland</a:t>
            </a:r>
            <a:r>
              <a:rPr lang="it-IT" dirty="0"/>
              <a:t>, 0.87, </a:t>
            </a:r>
            <a:r>
              <a:rPr lang="it-IT" dirty="0" err="1"/>
              <a:t>differs</a:t>
            </a:r>
            <a:r>
              <a:rPr lang="it-IT" dirty="0"/>
              <a:t> from the market by a </a:t>
            </a:r>
            <a:r>
              <a:rPr lang="it-IT" dirty="0" err="1"/>
              <a:t>factor</a:t>
            </a:r>
            <a:r>
              <a:rPr lang="it-IT" dirty="0"/>
              <a:t> of </a:t>
            </a:r>
            <a:r>
              <a:rPr lang="it-IT" dirty="0" err="1"/>
              <a:t>about</a:t>
            </a:r>
            <a:r>
              <a:rPr lang="it-IT" dirty="0"/>
              <a:t> 130. </a:t>
            </a:r>
            <a:r>
              <a:rPr lang="it-IT" dirty="0" err="1"/>
              <a:t>This</a:t>
            </a:r>
            <a:r>
              <a:rPr lang="it-IT" dirty="0"/>
              <a:t> </a:t>
            </a:r>
            <a:r>
              <a:rPr lang="it-IT" dirty="0" err="1"/>
              <a:t>is</a:t>
            </a:r>
            <a:r>
              <a:rPr lang="it-IT" dirty="0"/>
              <a:t> </a:t>
            </a:r>
            <a:r>
              <a:rPr lang="it-IT" dirty="0" err="1"/>
              <a:t>not</a:t>
            </a:r>
            <a:r>
              <a:rPr lang="it-IT" dirty="0"/>
              <a:t> a model </a:t>
            </a:r>
            <a:r>
              <a:rPr lang="it-IT" dirty="0" err="1"/>
              <a:t>error</a:t>
            </a:r>
            <a:r>
              <a:rPr lang="it-IT" dirty="0"/>
              <a:t> </a:t>
            </a:r>
            <a:r>
              <a:rPr lang="it-IT" dirty="0" err="1"/>
              <a:t>but</a:t>
            </a:r>
            <a:r>
              <a:rPr lang="it-IT" dirty="0"/>
              <a:t> a </a:t>
            </a:r>
            <a:r>
              <a:rPr lang="it-IT" dirty="0" err="1"/>
              <a:t>units</a:t>
            </a:r>
            <a:r>
              <a:rPr lang="it-IT" dirty="0"/>
              <a:t> </a:t>
            </a:r>
            <a:r>
              <a:rPr lang="it-IT" dirty="0" err="1"/>
              <a:t>artefact</a:t>
            </a:r>
            <a:r>
              <a:rPr lang="it-IT" dirty="0"/>
              <a:t>: Track B </a:t>
            </a:r>
            <a:r>
              <a:rPr lang="it-IT" dirty="0" err="1"/>
              <a:t>is</a:t>
            </a:r>
            <a:r>
              <a:rPr lang="it-IT" dirty="0"/>
              <a:t> un-</a:t>
            </a:r>
            <a:r>
              <a:rPr lang="it-IT" dirty="0" err="1"/>
              <a:t>annualised</a:t>
            </a:r>
            <a:r>
              <a:rPr lang="it-IT" dirty="0"/>
              <a:t>, </a:t>
            </a:r>
            <a:r>
              <a:rPr lang="it-IT" dirty="0" err="1"/>
              <a:t>expressed</a:t>
            </a:r>
            <a:r>
              <a:rPr lang="it-IT" dirty="0"/>
              <a:t> in Box–Cox </a:t>
            </a:r>
            <a:r>
              <a:rPr lang="it-IT" dirty="0" err="1"/>
              <a:t>units</a:t>
            </a:r>
            <a:r>
              <a:rPr lang="it-IT" dirty="0"/>
              <a:t>, and </a:t>
            </a:r>
            <a:r>
              <a:rPr lang="it-IT" dirty="0" err="1"/>
              <a:t>measures</a:t>
            </a:r>
            <a:r>
              <a:rPr lang="it-IT" dirty="0"/>
              <a:t> the </a:t>
            </a:r>
            <a:r>
              <a:rPr lang="it-IT" dirty="0" err="1"/>
              <a:t>variance</a:t>
            </a:r>
            <a:r>
              <a:rPr lang="it-IT" dirty="0"/>
              <a:t> of a wind </a:t>
            </a:r>
            <a:r>
              <a:rPr lang="it-IT" dirty="0" err="1"/>
              <a:t>innovation</a:t>
            </a:r>
            <a:r>
              <a:rPr lang="it-IT" dirty="0"/>
              <a:t> </a:t>
            </a:r>
            <a:r>
              <a:rPr lang="it-IT" dirty="0" err="1"/>
              <a:t>rather</a:t>
            </a:r>
            <a:r>
              <a:rPr lang="it-IT" dirty="0"/>
              <a:t> </a:t>
            </a:r>
            <a:r>
              <a:rPr lang="it-IT" dirty="0" err="1"/>
              <a:t>than</a:t>
            </a:r>
            <a:r>
              <a:rPr lang="it-IT" dirty="0"/>
              <a:t> of a generation log-</a:t>
            </a:r>
            <a:r>
              <a:rPr lang="it-IT" dirty="0" err="1"/>
              <a:t>return</a:t>
            </a:r>
            <a:r>
              <a:rPr lang="it-IT" dirty="0"/>
              <a:t>. </a:t>
            </a:r>
            <a:r>
              <a:rPr lang="it-IT" dirty="0" err="1"/>
              <a:t>Four</a:t>
            </a:r>
            <a:r>
              <a:rPr lang="it-IT" dirty="0"/>
              <a:t> conventions separate the </a:t>
            </a:r>
            <a:r>
              <a:rPr lang="it-IT" dirty="0" err="1"/>
              <a:t>two</a:t>
            </a:r>
            <a:r>
              <a:rPr lang="it-IT" dirty="0"/>
              <a:t> tracks: the Box–Cox scale, </a:t>
            </a:r>
            <a:r>
              <a:rPr lang="it-IT" dirty="0" err="1"/>
              <a:t>innovation</a:t>
            </a:r>
            <a:r>
              <a:rPr lang="it-IT" dirty="0"/>
              <a:t> versus first </a:t>
            </a:r>
            <a:r>
              <a:rPr lang="it-IT" dirty="0" err="1"/>
              <a:t>difference</a:t>
            </a:r>
            <a:r>
              <a:rPr lang="it-IT" dirty="0"/>
              <a:t>, the </a:t>
            </a:r>
            <a:r>
              <a:rPr lang="it-IT" dirty="0" err="1"/>
              <a:t>cubic</a:t>
            </a:r>
            <a:r>
              <a:rPr lang="it-IT" dirty="0"/>
              <a:t> power curve, and </a:t>
            </a:r>
            <a:r>
              <a:rPr lang="it-IT" dirty="0" err="1"/>
              <a:t>annualisation</a:t>
            </a:r>
            <a:r>
              <a:rPr lang="it-IT" dirty="0"/>
              <a:t>. </a:t>
            </a:r>
            <a:r>
              <a:rPr lang="it-IT" dirty="0" err="1"/>
              <a:t>Applying</a:t>
            </a:r>
            <a:r>
              <a:rPr lang="it-IT" dirty="0"/>
              <a:t> </a:t>
            </a:r>
            <a:r>
              <a:rPr lang="it-IT" dirty="0" err="1"/>
              <a:t>them</a:t>
            </a:r>
            <a:r>
              <a:rPr lang="it-IT" dirty="0"/>
              <a:t> in </a:t>
            </a:r>
            <a:r>
              <a:rPr lang="it-IT" dirty="0" err="1"/>
              <a:t>sequence</a:t>
            </a:r>
            <a:r>
              <a:rPr lang="it-IT" dirty="0"/>
              <a:t>, </a:t>
            </a:r>
            <a:r>
              <a:rPr lang="it-IT" dirty="0" err="1"/>
              <a:t>through</a:t>
            </a:r>
            <a:r>
              <a:rPr lang="it-IT" dirty="0"/>
              <a:t> first-</a:t>
            </a:r>
            <a:r>
              <a:rPr lang="it-IT" dirty="0" err="1"/>
              <a:t>order</a:t>
            </a:r>
            <a:r>
              <a:rPr lang="it-IT" dirty="0"/>
              <a:t> delta-</a:t>
            </a:r>
            <a:r>
              <a:rPr lang="it-IT" dirty="0" err="1"/>
              <a:t>method</a:t>
            </a:r>
            <a:r>
              <a:rPr lang="it-IT" dirty="0"/>
              <a:t> </a:t>
            </a:r>
            <a:r>
              <a:rPr lang="it-IT" dirty="0" err="1"/>
              <a:t>approximations</a:t>
            </a:r>
            <a:r>
              <a:rPr lang="it-IT" dirty="0"/>
              <a:t>, the </a:t>
            </a:r>
            <a:r>
              <a:rPr lang="it-IT" dirty="0" err="1"/>
              <a:t>Nordfriesland</a:t>
            </a:r>
            <a:r>
              <a:rPr lang="it-IT" dirty="0"/>
              <a:t> strike </a:t>
            </a:r>
            <a:r>
              <a:rPr lang="it-IT" dirty="0" err="1"/>
              <a:t>reconciles</a:t>
            </a:r>
            <a:r>
              <a:rPr lang="it-IT" dirty="0"/>
              <a:t> to 328.8 </a:t>
            </a:r>
            <a:r>
              <a:rPr lang="it-IT" dirty="0" err="1"/>
              <a:t>against</a:t>
            </a:r>
            <a:r>
              <a:rPr lang="it-IT" dirty="0"/>
              <a:t> 113.1 for the market: the </a:t>
            </a:r>
            <a:r>
              <a:rPr lang="it-IT" dirty="0" err="1"/>
              <a:t>same</a:t>
            </a:r>
            <a:r>
              <a:rPr lang="it-IT" dirty="0"/>
              <a:t> </a:t>
            </a:r>
            <a:r>
              <a:rPr lang="it-IT" dirty="0" err="1"/>
              <a:t>order</a:t>
            </a:r>
            <a:r>
              <a:rPr lang="it-IT" dirty="0"/>
              <a:t> of </a:t>
            </a:r>
            <a:r>
              <a:rPr lang="it-IT" dirty="0" err="1"/>
              <a:t>magnitude</a:t>
            </a:r>
            <a:r>
              <a:rPr lang="it-IT" dirty="0"/>
              <a:t>, with the model </a:t>
            </a:r>
            <a:r>
              <a:rPr lang="it-IT" dirty="0" err="1"/>
              <a:t>about</a:t>
            </a:r>
            <a:r>
              <a:rPr lang="it-IT" dirty="0"/>
              <a:t> 2.9 times </a:t>
            </a:r>
            <a:r>
              <a:rPr lang="it-IT" dirty="0" err="1"/>
              <a:t>higher</a:t>
            </a:r>
            <a:r>
              <a:rPr lang="it-IT" dirty="0"/>
              <a:t>. </a:t>
            </a:r>
            <a:r>
              <a:rPr lang="it-IT" dirty="0" err="1"/>
              <a:t>This</a:t>
            </a:r>
            <a:r>
              <a:rPr lang="it-IT" dirty="0"/>
              <a:t> </a:t>
            </a:r>
            <a:r>
              <a:rPr lang="it-IT" dirty="0" err="1"/>
              <a:t>is</a:t>
            </a:r>
            <a:r>
              <a:rPr lang="it-IT" dirty="0"/>
              <a:t> </a:t>
            </a:r>
            <a:r>
              <a:rPr lang="it-IT" dirty="0" err="1"/>
              <a:t>expected</a:t>
            </a:r>
            <a:r>
              <a:rPr lang="it-IT" dirty="0"/>
              <a:t>, </a:t>
            </a:r>
            <a:r>
              <a:rPr lang="it-IT" dirty="0" err="1"/>
              <a:t>since</a:t>
            </a:r>
            <a:r>
              <a:rPr lang="it-IT" dirty="0"/>
              <a:t> a single </a:t>
            </a:r>
            <a:r>
              <a:rPr lang="it-IT" dirty="0" err="1"/>
              <a:t>grid</a:t>
            </a:r>
            <a:r>
              <a:rPr lang="it-IT" dirty="0"/>
              <a:t> point stands in for </a:t>
            </a:r>
            <a:r>
              <a:rPr lang="it-IT" dirty="0" err="1"/>
              <a:t>thousands</a:t>
            </a:r>
            <a:r>
              <a:rPr lang="it-IT" dirty="0"/>
              <a:t> of </a:t>
            </a:r>
            <a:r>
              <a:rPr lang="it-IT" dirty="0" err="1"/>
              <a:t>turbines</a:t>
            </a:r>
            <a:r>
              <a:rPr lang="it-IT" dirty="0"/>
              <a:t> </a:t>
            </a:r>
            <a:r>
              <a:rPr lang="it-IT" dirty="0" err="1"/>
              <a:t>across</a:t>
            </a:r>
            <a:r>
              <a:rPr lang="it-IT" dirty="0"/>
              <a:t> Germany, and </a:t>
            </a:r>
            <a:r>
              <a:rPr lang="it-IT" dirty="0" err="1"/>
              <a:t>spatial</a:t>
            </a:r>
            <a:r>
              <a:rPr lang="it-IT" dirty="0"/>
              <a:t> </a:t>
            </a:r>
            <a:r>
              <a:rPr lang="it-IT" dirty="0" err="1"/>
              <a:t>averaging</a:t>
            </a:r>
            <a:r>
              <a:rPr lang="it-IT" dirty="0"/>
              <a:t> </a:t>
            </a:r>
            <a:r>
              <a:rPr lang="it-IT" dirty="0" err="1"/>
              <a:t>removes</a:t>
            </a:r>
            <a:r>
              <a:rPr lang="it-IT" dirty="0"/>
              <a:t> </a:t>
            </a:r>
            <a:r>
              <a:rPr lang="it-IT" dirty="0" err="1"/>
              <a:t>variance</a:t>
            </a:r>
            <a:r>
              <a:rPr lang="it-IT"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err="1"/>
              <a:t>Because</a:t>
            </a:r>
            <a:r>
              <a:rPr lang="it-IT" dirty="0"/>
              <a:t> the </a:t>
            </a:r>
            <a:r>
              <a:rPr lang="it-IT" dirty="0" err="1"/>
              <a:t>variance</a:t>
            </a:r>
            <a:r>
              <a:rPr lang="it-IT" dirty="0"/>
              <a:t> swap </a:t>
            </a:r>
            <a:r>
              <a:rPr lang="it-IT" dirty="0" err="1"/>
              <a:t>is</a:t>
            </a:r>
            <a:r>
              <a:rPr lang="it-IT" dirty="0"/>
              <a:t> blind to </a:t>
            </a:r>
            <a:r>
              <a:rPr lang="it-IT" dirty="0" err="1"/>
              <a:t>direction</a:t>
            </a:r>
            <a:r>
              <a:rPr lang="it-IT" dirty="0"/>
              <a:t>, a </a:t>
            </a:r>
            <a:r>
              <a:rPr lang="it-IT" dirty="0" err="1"/>
              <a:t>prolonged</a:t>
            </a:r>
            <a:r>
              <a:rPr lang="it-IT" dirty="0"/>
              <a:t> </a:t>
            </a:r>
            <a:r>
              <a:rPr lang="it-IT" dirty="0" err="1"/>
              <a:t>calm</a:t>
            </a:r>
            <a:r>
              <a:rPr lang="it-IT" dirty="0"/>
              <a:t> </a:t>
            </a:r>
            <a:r>
              <a:rPr lang="it-IT" dirty="0" err="1"/>
              <a:t>registers</a:t>
            </a:r>
            <a:r>
              <a:rPr lang="it-IT" dirty="0"/>
              <a:t> </a:t>
            </a:r>
            <a:r>
              <a:rPr lang="it-IT" dirty="0" err="1"/>
              <a:t>as</a:t>
            </a:r>
            <a:r>
              <a:rPr lang="it-IT" dirty="0"/>
              <a:t> low </a:t>
            </a:r>
            <a:r>
              <a:rPr lang="it-IT" dirty="0" err="1"/>
              <a:t>variance</a:t>
            </a:r>
            <a:r>
              <a:rPr lang="it-IT" dirty="0"/>
              <a:t>, </a:t>
            </a:r>
            <a:r>
              <a:rPr lang="it-IT" dirty="0" err="1"/>
              <a:t>not</a:t>
            </a:r>
            <a:r>
              <a:rPr lang="it-IT" dirty="0"/>
              <a:t> </a:t>
            </a:r>
            <a:r>
              <a:rPr lang="it-IT" dirty="0" err="1"/>
              <a:t>as</a:t>
            </a:r>
            <a:r>
              <a:rPr lang="it-IT" dirty="0"/>
              <a:t> a </a:t>
            </a:r>
            <a:r>
              <a:rPr lang="it-IT" dirty="0" err="1"/>
              <a:t>loss</a:t>
            </a:r>
            <a:r>
              <a:rPr lang="it-IT" dirty="0"/>
              <a:t>. </a:t>
            </a:r>
            <a:r>
              <a:rPr lang="it-IT" dirty="0" err="1"/>
              <a:t>We</a:t>
            </a:r>
            <a:r>
              <a:rPr lang="it-IT" dirty="0"/>
              <a:t> </a:t>
            </a:r>
            <a:r>
              <a:rPr lang="it-IT" dirty="0" err="1"/>
              <a:t>therefore</a:t>
            </a:r>
            <a:r>
              <a:rPr lang="it-IT" dirty="0"/>
              <a:t> introduce CAWS, in </a:t>
            </a:r>
            <a:r>
              <a:rPr lang="it-IT" dirty="0" err="1"/>
              <a:t>normalised</a:t>
            </a:r>
            <a:r>
              <a:rPr lang="it-IT" dirty="0"/>
              <a:t> </a:t>
            </a:r>
            <a:r>
              <a:rPr lang="it-IT" dirty="0" err="1"/>
              <a:t>rolling-annual-mean</a:t>
            </a:r>
            <a:r>
              <a:rPr lang="it-IT" dirty="0"/>
              <a:t> form, </a:t>
            </a:r>
            <a:r>
              <a:rPr lang="it-IT" dirty="0" err="1"/>
              <a:t>struck</a:t>
            </a:r>
            <a:r>
              <a:rPr lang="it-IT" dirty="0"/>
              <a:t> </a:t>
            </a:r>
            <a:r>
              <a:rPr lang="it-IT" dirty="0" err="1"/>
              <a:t>at</a:t>
            </a:r>
            <a:r>
              <a:rPr lang="it-IT" dirty="0"/>
              <a:t> the full-sample </a:t>
            </a:r>
            <a:r>
              <a:rPr lang="it-IT" dirty="0" err="1"/>
              <a:t>mean</a:t>
            </a:r>
            <a:r>
              <a:rPr lang="it-IT" dirty="0"/>
              <a:t>. The payoff </a:t>
            </a:r>
            <a:r>
              <a:rPr lang="it-IT" dirty="0" err="1"/>
              <a:t>is</a:t>
            </a:r>
            <a:r>
              <a:rPr lang="it-IT" dirty="0"/>
              <a:t> the strike </a:t>
            </a:r>
            <a:r>
              <a:rPr lang="it-IT" dirty="0" err="1"/>
              <a:t>minus</a:t>
            </a:r>
            <a:r>
              <a:rPr lang="it-IT" dirty="0"/>
              <a:t> the </a:t>
            </a:r>
            <a:r>
              <a:rPr lang="it-IT" dirty="0" err="1"/>
              <a:t>realised</a:t>
            </a:r>
            <a:r>
              <a:rPr lang="it-IT" dirty="0"/>
              <a:t> index, so </a:t>
            </a:r>
            <a:r>
              <a:rPr lang="it-IT" dirty="0" err="1"/>
              <a:t>it</a:t>
            </a:r>
            <a:r>
              <a:rPr lang="it-IT" dirty="0"/>
              <a:t> </a:t>
            </a:r>
            <a:r>
              <a:rPr lang="it-IT" dirty="0" err="1"/>
              <a:t>is</a:t>
            </a:r>
            <a:r>
              <a:rPr lang="it-IT" dirty="0"/>
              <a:t> positive in </a:t>
            </a:r>
            <a:r>
              <a:rPr lang="it-IT" dirty="0" err="1"/>
              <a:t>calm</a:t>
            </a:r>
            <a:r>
              <a:rPr lang="it-IT" dirty="0"/>
              <a:t> </a:t>
            </a:r>
            <a:r>
              <a:rPr lang="it-IT" dirty="0" err="1"/>
              <a:t>years</a:t>
            </a:r>
            <a:r>
              <a:rPr lang="it-IT" dirty="0"/>
              <a:t>. All </a:t>
            </a:r>
            <a:r>
              <a:rPr lang="it-IT" dirty="0" err="1"/>
              <a:t>metrics</a:t>
            </a:r>
            <a:r>
              <a:rPr lang="it-IT" dirty="0"/>
              <a:t> use non-</a:t>
            </a:r>
            <a:r>
              <a:rPr lang="it-IT" dirty="0" err="1"/>
              <a:t>overlapping</a:t>
            </a:r>
            <a:r>
              <a:rPr lang="it-IT" dirty="0"/>
              <a:t> </a:t>
            </a:r>
            <a:r>
              <a:rPr lang="it-IT" dirty="0" err="1"/>
              <a:t>calendar</a:t>
            </a:r>
            <a:r>
              <a:rPr lang="it-IT" dirty="0"/>
              <a:t> </a:t>
            </a:r>
            <a:r>
              <a:rPr lang="it-IT" dirty="0" err="1"/>
              <a:t>years</a:t>
            </a:r>
            <a:r>
              <a:rPr lang="it-IT" dirty="0"/>
              <a:t>, </a:t>
            </a:r>
            <a:r>
              <a:rPr lang="it-IT" dirty="0" err="1"/>
              <a:t>four</a:t>
            </a:r>
            <a:r>
              <a:rPr lang="it-IT" dirty="0"/>
              <a:t> for Bologna and </a:t>
            </a:r>
            <a:r>
              <a:rPr lang="it-IT" dirty="0" err="1"/>
              <a:t>ten</a:t>
            </a:r>
            <a:r>
              <a:rPr lang="it-IT" dirty="0"/>
              <a:t> for </a:t>
            </a:r>
            <a:r>
              <a:rPr lang="it-IT" dirty="0" err="1"/>
              <a:t>Nordfriesland</a:t>
            </a:r>
            <a:r>
              <a:rPr lang="it-IT" dirty="0"/>
              <a:t>, </a:t>
            </a:r>
            <a:r>
              <a:rPr lang="it-IT" dirty="0" err="1"/>
              <a:t>since</a:t>
            </a:r>
            <a:r>
              <a:rPr lang="it-IT" dirty="0"/>
              <a:t> consecutive </a:t>
            </a:r>
            <a:r>
              <a:rPr lang="it-IT" dirty="0" err="1"/>
              <a:t>rolling</a:t>
            </a:r>
            <a:r>
              <a:rPr lang="it-IT" dirty="0"/>
              <a:t> windows share 251 of 252 </a:t>
            </a:r>
            <a:r>
              <a:rPr lang="it-IT" dirty="0" err="1"/>
              <a:t>observations</a:t>
            </a:r>
            <a:r>
              <a:rPr lang="it-IT" dirty="0"/>
              <a:t>. The cost of </a:t>
            </a:r>
            <a:r>
              <a:rPr lang="it-IT" dirty="0" err="1"/>
              <a:t>that</a:t>
            </a:r>
            <a:r>
              <a:rPr lang="it-IT" dirty="0"/>
              <a:t> </a:t>
            </a:r>
            <a:r>
              <a:rPr lang="it-IT" dirty="0" err="1"/>
              <a:t>choice</a:t>
            </a:r>
            <a:r>
              <a:rPr lang="it-IT" dirty="0"/>
              <a:t> </a:t>
            </a:r>
            <a:r>
              <a:rPr lang="it-IT" dirty="0" err="1"/>
              <a:t>is</a:t>
            </a:r>
            <a:r>
              <a:rPr lang="it-IT" dirty="0"/>
              <a:t> </a:t>
            </a:r>
            <a:r>
              <a:rPr lang="it-IT" dirty="0" err="1"/>
              <a:t>that</a:t>
            </a:r>
            <a:r>
              <a:rPr lang="it-IT" dirty="0"/>
              <a:t> </a:t>
            </a:r>
            <a:r>
              <a:rPr lang="it-IT" dirty="0" err="1"/>
              <a:t>tail</a:t>
            </a:r>
            <a:r>
              <a:rPr lang="it-IT" dirty="0"/>
              <a:t> </a:t>
            </a:r>
            <a:r>
              <a:rPr lang="it-IT" dirty="0" err="1"/>
              <a:t>statistics</a:t>
            </a:r>
            <a:r>
              <a:rPr lang="it-IT" dirty="0"/>
              <a:t> are </a:t>
            </a:r>
            <a:r>
              <a:rPr lang="it-IT" dirty="0" err="1"/>
              <a:t>descriptive</a:t>
            </a:r>
            <a:r>
              <a:rPr lang="it-IT" dirty="0"/>
              <a:t>, </a:t>
            </a:r>
            <a:r>
              <a:rPr lang="it-IT" dirty="0" err="1"/>
              <a:t>not</a:t>
            </a:r>
            <a:r>
              <a:rPr lang="it-IT" dirty="0"/>
              <a:t> </a:t>
            </a:r>
            <a:r>
              <a:rPr lang="it-IT" dirty="0" err="1"/>
              <a:t>inferential</a:t>
            </a:r>
            <a:r>
              <a:rPr lang="it-IT" dirty="0"/>
              <a:t>; the CVaR in the </a:t>
            </a:r>
            <a:r>
              <a:rPr lang="it-IT" dirty="0" err="1"/>
              <a:t>table</a:t>
            </a:r>
            <a:r>
              <a:rPr lang="it-IT" dirty="0"/>
              <a:t> </a:t>
            </a:r>
            <a:r>
              <a:rPr lang="it-IT" dirty="0" err="1"/>
              <a:t>describes</a:t>
            </a:r>
            <a:r>
              <a:rPr lang="it-IT" dirty="0"/>
              <a:t> the </a:t>
            </a:r>
            <a:r>
              <a:rPr lang="it-IT" dirty="0" err="1"/>
              <a:t>windy</a:t>
            </a:r>
            <a:r>
              <a:rPr lang="it-IT" dirty="0"/>
              <a:t> </a:t>
            </a:r>
            <a:r>
              <a:rPr lang="it-IT" dirty="0" err="1"/>
              <a:t>years</a:t>
            </a:r>
            <a:r>
              <a:rPr lang="it-IT" dirty="0"/>
              <a:t>, </a:t>
            </a:r>
            <a:r>
              <a:rPr lang="it-IT" dirty="0" err="1"/>
              <a:t>where</a:t>
            </a:r>
            <a:r>
              <a:rPr lang="it-IT" dirty="0"/>
              <a:t> the producer </a:t>
            </a:r>
            <a:r>
              <a:rPr lang="it-IT" dirty="0" err="1"/>
              <a:t>pays</a:t>
            </a:r>
            <a:r>
              <a:rPr lang="it-IT" dirty="0"/>
              <a:t> the premium </a:t>
            </a:r>
            <a:r>
              <a:rPr lang="it-IT" dirty="0" err="1"/>
              <a:t>leg</a:t>
            </a:r>
            <a:r>
              <a:rPr lang="it-IT" dirty="0"/>
              <a:t>. </a:t>
            </a:r>
            <a:r>
              <a:rPr lang="it-IT" dirty="0" err="1"/>
              <a:t>Consider</a:t>
            </a:r>
            <a:r>
              <a:rPr lang="it-IT" dirty="0"/>
              <a:t> the </a:t>
            </a:r>
            <a:r>
              <a:rPr lang="it-IT" dirty="0" err="1"/>
              <a:t>calmest</a:t>
            </a:r>
            <a:r>
              <a:rPr lang="it-IT" dirty="0"/>
              <a:t> </a:t>
            </a:r>
            <a:r>
              <a:rPr lang="it-IT" dirty="0" err="1"/>
              <a:t>year</a:t>
            </a:r>
            <a:r>
              <a:rPr lang="it-IT" dirty="0"/>
              <a:t> </a:t>
            </a:r>
            <a:r>
              <a:rPr lang="it-IT" dirty="0" err="1"/>
              <a:t>at</a:t>
            </a:r>
            <a:r>
              <a:rPr lang="it-IT" dirty="0"/>
              <a:t> </a:t>
            </a:r>
            <a:r>
              <a:rPr lang="it-IT" dirty="0" err="1"/>
              <a:t>Nordfriesland</a:t>
            </a:r>
            <a:r>
              <a:rPr lang="it-IT" dirty="0"/>
              <a:t>, 2021: wind </a:t>
            </a:r>
            <a:r>
              <a:rPr lang="it-IT" dirty="0" err="1"/>
              <a:t>was</a:t>
            </a:r>
            <a:r>
              <a:rPr lang="it-IT" dirty="0"/>
              <a:t> 4.99 per cent </a:t>
            </a:r>
            <a:r>
              <a:rPr lang="it-IT" dirty="0" err="1"/>
              <a:t>below</a:t>
            </a:r>
            <a:r>
              <a:rPr lang="it-IT" dirty="0"/>
              <a:t> the strike, and the </a:t>
            </a:r>
            <a:r>
              <a:rPr lang="it-IT" dirty="0" err="1"/>
              <a:t>contract</a:t>
            </a:r>
            <a:r>
              <a:rPr lang="it-IT" dirty="0"/>
              <a:t> </a:t>
            </a:r>
            <a:r>
              <a:rPr lang="it-IT" dirty="0" err="1"/>
              <a:t>would</a:t>
            </a:r>
            <a:r>
              <a:rPr lang="it-IT" dirty="0"/>
              <a:t> </a:t>
            </a:r>
            <a:r>
              <a:rPr lang="it-IT" dirty="0" err="1"/>
              <a:t>have</a:t>
            </a:r>
            <a:r>
              <a:rPr lang="it-IT" dirty="0"/>
              <a:t> </a:t>
            </a:r>
            <a:r>
              <a:rPr lang="it-IT" dirty="0" err="1"/>
              <a:t>paid</a:t>
            </a:r>
            <a:r>
              <a:rPr lang="it-IT" dirty="0"/>
              <a:t> 0.40 </a:t>
            </a:r>
            <a:r>
              <a:rPr lang="it-IT" dirty="0" err="1"/>
              <a:t>metres</a:t>
            </a:r>
            <a:r>
              <a:rPr lang="it-IT" dirty="0"/>
              <a:t> per second per </a:t>
            </a:r>
            <a:r>
              <a:rPr lang="it-IT" dirty="0" err="1"/>
              <a:t>unit</a:t>
            </a:r>
            <a:r>
              <a:rPr lang="it-IT" dirty="0"/>
              <a:t> of </a:t>
            </a:r>
            <a:r>
              <a:rPr lang="it-IT" dirty="0" err="1"/>
              <a:t>notional</a:t>
            </a:r>
            <a:r>
              <a:rPr lang="it-IT" dirty="0"/>
              <a:t>. </a:t>
            </a:r>
            <a:r>
              <a:rPr lang="it-IT" dirty="0" err="1"/>
              <a:t>Through</a:t>
            </a:r>
            <a:r>
              <a:rPr lang="it-IT" dirty="0"/>
              <a:t> the </a:t>
            </a:r>
            <a:r>
              <a:rPr lang="it-IT" dirty="0" err="1"/>
              <a:t>cubic</a:t>
            </a:r>
            <a:r>
              <a:rPr lang="it-IT" dirty="0"/>
              <a:t> power relation, </a:t>
            </a:r>
            <a:r>
              <a:rPr lang="it-IT" dirty="0" err="1"/>
              <a:t>that</a:t>
            </a:r>
            <a:r>
              <a:rPr lang="it-IT" dirty="0"/>
              <a:t> deficit </a:t>
            </a:r>
            <a:r>
              <a:rPr lang="it-IT" dirty="0" err="1"/>
              <a:t>means</a:t>
            </a:r>
            <a:r>
              <a:rPr lang="it-IT" dirty="0"/>
              <a:t> </a:t>
            </a:r>
            <a:r>
              <a:rPr lang="it-IT" dirty="0" err="1"/>
              <a:t>roughly</a:t>
            </a:r>
            <a:r>
              <a:rPr lang="it-IT" dirty="0"/>
              <a:t> 14 per cent </a:t>
            </a:r>
            <a:r>
              <a:rPr lang="it-IT" dirty="0" err="1"/>
              <a:t>less</a:t>
            </a:r>
            <a:r>
              <a:rPr lang="it-IT" dirty="0"/>
              <a:t> generation: </a:t>
            </a:r>
            <a:r>
              <a:rPr lang="it-IT" dirty="0" err="1"/>
              <a:t>about</a:t>
            </a:r>
            <a:r>
              <a:rPr lang="it-IT" dirty="0"/>
              <a:t> 32,000 megawatt-hours, or some 2.3 </a:t>
            </a:r>
            <a:r>
              <a:rPr lang="it-IT" dirty="0" err="1"/>
              <a:t>million</a:t>
            </a:r>
            <a:r>
              <a:rPr lang="it-IT" dirty="0"/>
              <a:t> </a:t>
            </a:r>
            <a:r>
              <a:rPr lang="it-IT" dirty="0" err="1"/>
              <a:t>euros</a:t>
            </a:r>
            <a:r>
              <a:rPr lang="it-IT" dirty="0"/>
              <a:t> of </a:t>
            </a:r>
            <a:r>
              <a:rPr lang="it-IT" dirty="0" err="1"/>
              <a:t>gross</a:t>
            </a:r>
            <a:r>
              <a:rPr lang="it-IT" dirty="0"/>
              <a:t> revenue on the illustrative farm. </a:t>
            </a:r>
            <a:r>
              <a:rPr lang="it-IT" dirty="0" err="1"/>
              <a:t>This</a:t>
            </a:r>
            <a:r>
              <a:rPr lang="it-IT" dirty="0"/>
              <a:t> sizes the </a:t>
            </a:r>
            <a:r>
              <a:rPr lang="it-IT" dirty="0" err="1"/>
              <a:t>exposure</a:t>
            </a:r>
            <a:r>
              <a:rPr lang="it-IT" dirty="0"/>
              <a:t> the </a:t>
            </a:r>
            <a:r>
              <a:rPr lang="it-IT" dirty="0" err="1"/>
              <a:t>instrument</a:t>
            </a:r>
            <a:r>
              <a:rPr lang="it-IT" dirty="0"/>
              <a:t> </a:t>
            </a:r>
            <a:r>
              <a:rPr lang="it-IT" dirty="0" err="1"/>
              <a:t>addresses</a:t>
            </a:r>
            <a:r>
              <a:rPr lang="it-IT" dirty="0"/>
              <a:t>. </a:t>
            </a:r>
            <a:r>
              <a:rPr lang="it-IT" dirty="0" err="1"/>
              <a:t>It</a:t>
            </a:r>
            <a:r>
              <a:rPr lang="it-IT" dirty="0"/>
              <a:t> </a:t>
            </a:r>
            <a:r>
              <a:rPr lang="it-IT" dirty="0" err="1"/>
              <a:t>is</a:t>
            </a:r>
            <a:r>
              <a:rPr lang="it-IT" dirty="0"/>
              <a:t> </a:t>
            </a:r>
            <a:r>
              <a:rPr lang="it-IT" dirty="0" err="1"/>
              <a:t>neither</a:t>
            </a:r>
            <a:r>
              <a:rPr lang="it-IT" dirty="0"/>
              <a:t> the </a:t>
            </a:r>
            <a:r>
              <a:rPr lang="it-IT" dirty="0" err="1"/>
              <a:t>contract</a:t>
            </a:r>
            <a:r>
              <a:rPr lang="it-IT" dirty="0"/>
              <a:t> </a:t>
            </a:r>
            <a:r>
              <a:rPr lang="it-IT" dirty="0" err="1"/>
              <a:t>payout</a:t>
            </a:r>
            <a:r>
              <a:rPr lang="it-IT" dirty="0"/>
              <a:t> </a:t>
            </a:r>
            <a:r>
              <a:rPr lang="it-IT" dirty="0" err="1"/>
              <a:t>nor</a:t>
            </a:r>
            <a:r>
              <a:rPr lang="it-IT" dirty="0"/>
              <a:t> a 2021 profit and </a:t>
            </a:r>
            <a:r>
              <a:rPr lang="it-IT" dirty="0" err="1"/>
              <a:t>loss</a:t>
            </a:r>
            <a:r>
              <a:rPr lang="it-IT" dirty="0"/>
              <a:t>: </a:t>
            </a:r>
            <a:r>
              <a:rPr lang="it-IT" dirty="0" err="1"/>
              <a:t>that</a:t>
            </a:r>
            <a:r>
              <a:rPr lang="it-IT" dirty="0"/>
              <a:t> </a:t>
            </a:r>
            <a:r>
              <a:rPr lang="it-IT" dirty="0" err="1"/>
              <a:t>year’s</a:t>
            </a:r>
            <a:r>
              <a:rPr lang="it-IT" dirty="0"/>
              <a:t> price spike </a:t>
            </a:r>
            <a:r>
              <a:rPr lang="it-IT" dirty="0" err="1"/>
              <a:t>may</a:t>
            </a:r>
            <a:r>
              <a:rPr lang="it-IT" dirty="0"/>
              <a:t> </a:t>
            </a:r>
            <a:r>
              <a:rPr lang="it-IT" dirty="0" err="1"/>
              <a:t>well</a:t>
            </a:r>
            <a:r>
              <a:rPr lang="it-IT" dirty="0"/>
              <a:t> </a:t>
            </a:r>
            <a:r>
              <a:rPr lang="it-IT" dirty="0" err="1"/>
              <a:t>have</a:t>
            </a:r>
            <a:r>
              <a:rPr lang="it-IT" dirty="0"/>
              <a:t> offset </a:t>
            </a:r>
            <a:r>
              <a:rPr lang="it-IT" dirty="0" err="1"/>
              <a:t>it</a:t>
            </a:r>
            <a:r>
              <a:rPr lang="it-IT"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dirty="0" err="1"/>
              <a:t>We</a:t>
            </a:r>
            <a:r>
              <a:rPr lang="it-IT" dirty="0"/>
              <a:t> </a:t>
            </a:r>
            <a:r>
              <a:rPr lang="it-IT" dirty="0" err="1"/>
              <a:t>now</a:t>
            </a:r>
            <a:r>
              <a:rPr lang="it-IT" dirty="0"/>
              <a:t> </a:t>
            </a:r>
            <a:r>
              <a:rPr lang="it-IT" dirty="0" err="1"/>
              <a:t>reach</a:t>
            </a:r>
            <a:r>
              <a:rPr lang="it-IT" dirty="0"/>
              <a:t> the </a:t>
            </a:r>
            <a:r>
              <a:rPr lang="it-IT" dirty="0" err="1"/>
              <a:t>central</a:t>
            </a:r>
            <a:r>
              <a:rPr lang="it-IT" dirty="0"/>
              <a:t> </a:t>
            </a:r>
            <a:r>
              <a:rPr lang="it-IT" dirty="0" err="1"/>
              <a:t>contribution</a:t>
            </a:r>
            <a:r>
              <a:rPr lang="it-IT" dirty="0"/>
              <a:t>, the Value of Information: the relative gap </a:t>
            </a:r>
            <a:r>
              <a:rPr lang="it-IT" dirty="0" err="1"/>
              <a:t>between</a:t>
            </a:r>
            <a:r>
              <a:rPr lang="it-IT" dirty="0"/>
              <a:t> the strike </a:t>
            </a:r>
            <a:r>
              <a:rPr lang="it-IT" dirty="0" err="1"/>
              <a:t>quoted</a:t>
            </a:r>
            <a:r>
              <a:rPr lang="it-IT" dirty="0"/>
              <a:t> by the model </a:t>
            </a:r>
            <a:r>
              <a:rPr lang="it-IT" dirty="0" err="1"/>
              <a:t>calibrated</a:t>
            </a:r>
            <a:r>
              <a:rPr lang="it-IT" dirty="0"/>
              <a:t> on the proxy and the strike of the </a:t>
            </a:r>
            <a:r>
              <a:rPr lang="it-IT" dirty="0" err="1"/>
              <a:t>aligned</a:t>
            </a:r>
            <a:r>
              <a:rPr lang="it-IT" dirty="0"/>
              <a:t> model. Pricing on Bologna </a:t>
            </a:r>
            <a:r>
              <a:rPr lang="it-IT" dirty="0" err="1"/>
              <a:t>instead</a:t>
            </a:r>
            <a:r>
              <a:rPr lang="it-IT" dirty="0"/>
              <a:t> of </a:t>
            </a:r>
            <a:r>
              <a:rPr lang="it-IT" dirty="0" err="1"/>
              <a:t>Nordfriesland</a:t>
            </a:r>
            <a:r>
              <a:rPr lang="it-IT" dirty="0"/>
              <a:t> </a:t>
            </a:r>
            <a:r>
              <a:rPr lang="it-IT" dirty="0" err="1"/>
              <a:t>understates</a:t>
            </a:r>
            <a:r>
              <a:rPr lang="it-IT" dirty="0"/>
              <a:t> the fair strike by 93.8 per cent: 0.054 </a:t>
            </a:r>
            <a:r>
              <a:rPr lang="it-IT" dirty="0" err="1"/>
              <a:t>against</a:t>
            </a:r>
            <a:r>
              <a:rPr lang="it-IT" dirty="0"/>
              <a:t> 0.873, a ratio of 16.07. </a:t>
            </a:r>
            <a:r>
              <a:rPr lang="it-IT" dirty="0" err="1"/>
              <a:t>Is</a:t>
            </a:r>
            <a:r>
              <a:rPr lang="it-IT" dirty="0"/>
              <a:t> </a:t>
            </a:r>
            <a:r>
              <a:rPr lang="it-IT" dirty="0" err="1"/>
              <a:t>this</a:t>
            </a:r>
            <a:r>
              <a:rPr lang="it-IT" dirty="0"/>
              <a:t> a </a:t>
            </a:r>
            <a:r>
              <a:rPr lang="it-IT" dirty="0" err="1"/>
              <a:t>measurement-height</a:t>
            </a:r>
            <a:r>
              <a:rPr lang="it-IT" dirty="0"/>
              <a:t> </a:t>
            </a:r>
            <a:r>
              <a:rPr lang="it-IT" dirty="0" err="1"/>
              <a:t>effect</a:t>
            </a:r>
            <a:r>
              <a:rPr lang="it-IT" dirty="0"/>
              <a:t>? </a:t>
            </a:r>
            <a:r>
              <a:rPr lang="it-IT" dirty="0" err="1"/>
              <a:t>We</a:t>
            </a:r>
            <a:r>
              <a:rPr lang="it-IT" dirty="0"/>
              <a:t> </a:t>
            </a:r>
            <a:r>
              <a:rPr lang="it-IT" dirty="0" err="1"/>
              <a:t>apply</a:t>
            </a:r>
            <a:r>
              <a:rPr lang="it-IT" dirty="0"/>
              <a:t> the power-</a:t>
            </a:r>
            <a:r>
              <a:rPr lang="it-IT" dirty="0" err="1"/>
              <a:t>law</a:t>
            </a:r>
            <a:r>
              <a:rPr lang="it-IT" dirty="0"/>
              <a:t> </a:t>
            </a:r>
            <a:r>
              <a:rPr lang="it-IT" dirty="0" err="1"/>
              <a:t>profile</a:t>
            </a:r>
            <a:r>
              <a:rPr lang="it-IT" dirty="0"/>
              <a:t> </a:t>
            </a:r>
            <a:r>
              <a:rPr lang="it-IT" dirty="0" err="1"/>
              <a:t>correction</a:t>
            </a:r>
            <a:r>
              <a:rPr lang="it-IT" dirty="0"/>
              <a:t>, Hellmann </a:t>
            </a:r>
            <a:r>
              <a:rPr lang="it-IT" dirty="0" err="1"/>
              <a:t>exponent</a:t>
            </a:r>
            <a:r>
              <a:rPr lang="it-IT" dirty="0"/>
              <a:t> one-</a:t>
            </a:r>
            <a:r>
              <a:rPr lang="it-IT" dirty="0" err="1"/>
              <a:t>seventh</a:t>
            </a:r>
            <a:r>
              <a:rPr lang="it-IT" dirty="0"/>
              <a:t>, a </a:t>
            </a:r>
            <a:r>
              <a:rPr lang="it-IT" dirty="0" err="1"/>
              <a:t>factor</a:t>
            </a:r>
            <a:r>
              <a:rPr lang="it-IT" dirty="0"/>
              <a:t> of 1.931 on </a:t>
            </a:r>
            <a:r>
              <a:rPr lang="it-IT" dirty="0" err="1"/>
              <a:t>variance</a:t>
            </a:r>
            <a:r>
              <a:rPr lang="it-IT" dirty="0"/>
              <a:t>, to Dataset A </a:t>
            </a:r>
            <a:r>
              <a:rPr lang="it-IT" dirty="0" err="1"/>
              <a:t>only</a:t>
            </a:r>
            <a:r>
              <a:rPr lang="it-IT" dirty="0"/>
              <a:t> and in </a:t>
            </a:r>
            <a:r>
              <a:rPr lang="it-IT" dirty="0" err="1"/>
              <a:t>this</a:t>
            </a:r>
            <a:r>
              <a:rPr lang="it-IT" dirty="0"/>
              <a:t> </a:t>
            </a:r>
            <a:r>
              <a:rPr lang="it-IT" dirty="0" err="1"/>
              <a:t>comparison</a:t>
            </a:r>
            <a:r>
              <a:rPr lang="it-IT" dirty="0"/>
              <a:t> </a:t>
            </a:r>
            <a:r>
              <a:rPr lang="it-IT" dirty="0" err="1"/>
              <a:t>only</a:t>
            </a:r>
            <a:r>
              <a:rPr lang="it-IT" dirty="0"/>
              <a:t>. The proxy strike </a:t>
            </a:r>
            <a:r>
              <a:rPr lang="it-IT" dirty="0" err="1"/>
              <a:t>rises</a:t>
            </a:r>
            <a:r>
              <a:rPr lang="it-IT" dirty="0"/>
              <a:t> to 0.105 and 88.0 per cent </a:t>
            </a:r>
            <a:r>
              <a:rPr lang="it-IT" dirty="0" err="1"/>
              <a:t>mispricing</a:t>
            </a:r>
            <a:r>
              <a:rPr lang="it-IT" dirty="0"/>
              <a:t> </a:t>
            </a:r>
            <a:r>
              <a:rPr lang="it-IT" dirty="0" err="1"/>
              <a:t>remains</a:t>
            </a:r>
            <a:r>
              <a:rPr lang="it-IT" dirty="0"/>
              <a:t>: on a </a:t>
            </a:r>
            <a:r>
              <a:rPr lang="it-IT" dirty="0" err="1"/>
              <a:t>logarithmic</a:t>
            </a:r>
            <a:r>
              <a:rPr lang="it-IT" dirty="0"/>
              <a:t> scale, the </a:t>
            </a:r>
            <a:r>
              <a:rPr lang="it-IT" dirty="0" err="1"/>
              <a:t>correction</a:t>
            </a:r>
            <a:r>
              <a:rPr lang="it-IT" dirty="0"/>
              <a:t> </a:t>
            </a:r>
            <a:r>
              <a:rPr lang="it-IT" dirty="0" err="1"/>
              <a:t>closes</a:t>
            </a:r>
            <a:r>
              <a:rPr lang="it-IT" dirty="0"/>
              <a:t> </a:t>
            </a:r>
            <a:r>
              <a:rPr lang="it-IT" dirty="0" err="1"/>
              <a:t>less</a:t>
            </a:r>
            <a:r>
              <a:rPr lang="it-IT" dirty="0"/>
              <a:t> </a:t>
            </a:r>
            <a:r>
              <a:rPr lang="it-IT" dirty="0" err="1"/>
              <a:t>than</a:t>
            </a:r>
            <a:r>
              <a:rPr lang="it-IT" dirty="0"/>
              <a:t> a quarter of the gap. The </a:t>
            </a:r>
            <a:r>
              <a:rPr lang="it-IT" dirty="0" err="1"/>
              <a:t>conclusion</a:t>
            </a:r>
            <a:r>
              <a:rPr lang="it-IT" dirty="0"/>
              <a:t> </a:t>
            </a:r>
            <a:r>
              <a:rPr lang="it-IT" dirty="0" err="1"/>
              <a:t>does</a:t>
            </a:r>
            <a:r>
              <a:rPr lang="it-IT" dirty="0"/>
              <a:t> </a:t>
            </a:r>
            <a:r>
              <a:rPr lang="it-IT" dirty="0" err="1"/>
              <a:t>not</a:t>
            </a:r>
            <a:r>
              <a:rPr lang="it-IT" dirty="0"/>
              <a:t> </a:t>
            </a:r>
            <a:r>
              <a:rPr lang="it-IT" dirty="0" err="1"/>
              <a:t>hinge</a:t>
            </a:r>
            <a:r>
              <a:rPr lang="it-IT" dirty="0"/>
              <a:t> on the </a:t>
            </a:r>
            <a:r>
              <a:rPr lang="it-IT" dirty="0" err="1"/>
              <a:t>exponent</a:t>
            </a:r>
            <a:r>
              <a:rPr lang="it-IT" dirty="0"/>
              <a:t>. From one-</a:t>
            </a:r>
            <a:r>
              <a:rPr lang="it-IT" dirty="0" err="1"/>
              <a:t>tenth</a:t>
            </a:r>
            <a:r>
              <a:rPr lang="it-IT" dirty="0"/>
              <a:t>, open water, to 0.25, </a:t>
            </a:r>
            <a:r>
              <a:rPr lang="it-IT" dirty="0" err="1"/>
              <a:t>very</a:t>
            </a:r>
            <a:r>
              <a:rPr lang="it-IT" dirty="0"/>
              <a:t> rough </a:t>
            </a:r>
            <a:r>
              <a:rPr lang="it-IT" dirty="0" err="1"/>
              <a:t>terrain</a:t>
            </a:r>
            <a:r>
              <a:rPr lang="it-IT" dirty="0"/>
              <a:t>, the </a:t>
            </a:r>
            <a:r>
              <a:rPr lang="it-IT" dirty="0" err="1"/>
              <a:t>residual</a:t>
            </a:r>
            <a:r>
              <a:rPr lang="it-IT" dirty="0"/>
              <a:t> stays </a:t>
            </a:r>
            <a:r>
              <a:rPr lang="it-IT" dirty="0" err="1"/>
              <a:t>between</a:t>
            </a:r>
            <a:r>
              <a:rPr lang="it-IT" dirty="0"/>
              <a:t> 90.1 and 80.3 per cent, and closing the </a:t>
            </a:r>
            <a:r>
              <a:rPr lang="it-IT" dirty="0" err="1"/>
              <a:t>whole</a:t>
            </a:r>
            <a:r>
              <a:rPr lang="it-IT" dirty="0"/>
              <a:t> gap </a:t>
            </a:r>
            <a:r>
              <a:rPr lang="it-IT" dirty="0" err="1"/>
              <a:t>would</a:t>
            </a:r>
            <a:r>
              <a:rPr lang="it-IT" dirty="0"/>
              <a:t> </a:t>
            </a:r>
            <a:r>
              <a:rPr lang="it-IT" dirty="0" err="1"/>
              <a:t>require</a:t>
            </a:r>
            <a:r>
              <a:rPr lang="it-IT" dirty="0"/>
              <a:t> an </a:t>
            </a:r>
            <a:r>
              <a:rPr lang="it-IT" dirty="0" err="1"/>
              <a:t>exponent</a:t>
            </a:r>
            <a:r>
              <a:rPr lang="it-IT" dirty="0"/>
              <a:t> of 0.60, </a:t>
            </a:r>
            <a:r>
              <a:rPr lang="it-IT" dirty="0" err="1"/>
              <a:t>four</a:t>
            </a:r>
            <a:r>
              <a:rPr lang="it-IT" dirty="0"/>
              <a:t> times the Hellmann </a:t>
            </a:r>
            <a:r>
              <a:rPr lang="it-IT" dirty="0" err="1"/>
              <a:t>value</a:t>
            </a:r>
            <a:r>
              <a:rPr lang="it-IT" dirty="0"/>
              <a:t>. </a:t>
            </a:r>
            <a:r>
              <a:rPr lang="it-IT" dirty="0" err="1"/>
              <a:t>Bologna’s</a:t>
            </a:r>
            <a:r>
              <a:rPr lang="it-IT" dirty="0"/>
              <a:t> </a:t>
            </a:r>
            <a:r>
              <a:rPr lang="it-IT" dirty="0" err="1"/>
              <a:t>sheltered</a:t>
            </a:r>
            <a:r>
              <a:rPr lang="it-IT" dirty="0"/>
              <a:t> site </a:t>
            </a:r>
            <a:r>
              <a:rPr lang="it-IT" dirty="0" err="1"/>
              <a:t>probably</a:t>
            </a:r>
            <a:r>
              <a:rPr lang="it-IT" dirty="0"/>
              <a:t> </a:t>
            </a:r>
            <a:r>
              <a:rPr lang="it-IT" dirty="0" err="1"/>
              <a:t>has</a:t>
            </a:r>
            <a:r>
              <a:rPr lang="it-IT" dirty="0"/>
              <a:t> a </a:t>
            </a:r>
            <a:r>
              <a:rPr lang="it-IT" dirty="0" err="1"/>
              <a:t>higher</a:t>
            </a:r>
            <a:r>
              <a:rPr lang="it-IT" dirty="0"/>
              <a:t> </a:t>
            </a:r>
            <a:r>
              <a:rPr lang="it-IT" dirty="0" err="1"/>
              <a:t>exponent</a:t>
            </a:r>
            <a:r>
              <a:rPr lang="it-IT" dirty="0"/>
              <a:t> </a:t>
            </a:r>
            <a:r>
              <a:rPr lang="it-IT" dirty="0" err="1"/>
              <a:t>than</a:t>
            </a:r>
            <a:r>
              <a:rPr lang="it-IT" dirty="0"/>
              <a:t> one-</a:t>
            </a:r>
            <a:r>
              <a:rPr lang="it-IT" dirty="0" err="1"/>
              <a:t>seventh</a:t>
            </a:r>
            <a:r>
              <a:rPr lang="it-IT" dirty="0"/>
              <a:t>, so the operative </a:t>
            </a:r>
            <a:r>
              <a:rPr lang="it-IT" dirty="0" err="1"/>
              <a:t>result</a:t>
            </a:r>
            <a:r>
              <a:rPr lang="it-IT" dirty="0"/>
              <a:t> </a:t>
            </a:r>
            <a:r>
              <a:rPr lang="it-IT" dirty="0" err="1"/>
              <a:t>is</a:t>
            </a:r>
            <a:r>
              <a:rPr lang="it-IT" dirty="0"/>
              <a:t> the </a:t>
            </a:r>
            <a:r>
              <a:rPr lang="it-IT" dirty="0" err="1"/>
              <a:t>floor</a:t>
            </a:r>
            <a:r>
              <a:rPr lang="it-IT" dirty="0"/>
              <a:t> of 80 per cent. Whatever </a:t>
            </a:r>
            <a:r>
              <a:rPr lang="it-IT" dirty="0" err="1"/>
              <a:t>separates</a:t>
            </a:r>
            <a:r>
              <a:rPr lang="it-IT" dirty="0"/>
              <a:t> the </a:t>
            </a:r>
            <a:r>
              <a:rPr lang="it-IT" dirty="0" err="1"/>
              <a:t>two</a:t>
            </a:r>
            <a:r>
              <a:rPr lang="it-IT" dirty="0"/>
              <a:t> datasets, </a:t>
            </a:r>
            <a:r>
              <a:rPr lang="it-IT" dirty="0" err="1"/>
              <a:t>it</a:t>
            </a:r>
            <a:r>
              <a:rPr lang="it-IT" dirty="0"/>
              <a:t> </a:t>
            </a:r>
            <a:r>
              <a:rPr lang="it-IT" dirty="0" err="1"/>
              <a:t>is</a:t>
            </a:r>
            <a:r>
              <a:rPr lang="it-IT" dirty="0"/>
              <a:t> </a:t>
            </a:r>
            <a:r>
              <a:rPr lang="it-IT" dirty="0" err="1"/>
              <a:t>not</a:t>
            </a:r>
            <a:r>
              <a:rPr lang="it-IT" dirty="0"/>
              <a:t> </a:t>
            </a:r>
            <a:r>
              <a:rPr lang="it-IT" dirty="0" err="1"/>
              <a:t>measurement</a:t>
            </a:r>
            <a:r>
              <a:rPr lang="it-IT" dirty="0"/>
              <a:t> </a:t>
            </a:r>
            <a:r>
              <a:rPr lang="it-IT" dirty="0" err="1"/>
              <a:t>height</a:t>
            </a:r>
            <a:r>
              <a:rPr lang="it-IT"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err="1"/>
              <a:t>Decomposing</a:t>
            </a:r>
            <a:r>
              <a:rPr lang="it-IT" dirty="0"/>
              <a:t> the ratio of 16.07, </a:t>
            </a:r>
            <a:r>
              <a:rPr lang="it-IT" dirty="0" err="1"/>
              <a:t>we</a:t>
            </a:r>
            <a:r>
              <a:rPr lang="it-IT" dirty="0"/>
              <a:t> </a:t>
            </a:r>
            <a:r>
              <a:rPr lang="it-IT" dirty="0" err="1"/>
              <a:t>find</a:t>
            </a:r>
            <a:r>
              <a:rPr lang="it-IT" dirty="0"/>
              <a:t> 8.85 from the </a:t>
            </a:r>
            <a:r>
              <a:rPr lang="it-IT" dirty="0" err="1"/>
              <a:t>seasonal</a:t>
            </a:r>
            <a:r>
              <a:rPr lang="it-IT" dirty="0"/>
              <a:t> </a:t>
            </a:r>
            <a:r>
              <a:rPr lang="it-IT" dirty="0" err="1"/>
              <a:t>variance</a:t>
            </a:r>
            <a:r>
              <a:rPr lang="it-IT" dirty="0"/>
              <a:t> </a:t>
            </a:r>
            <a:r>
              <a:rPr lang="it-IT" dirty="0" err="1"/>
              <a:t>level</a:t>
            </a:r>
            <a:r>
              <a:rPr lang="it-IT" dirty="0"/>
              <a:t> C₀ and 1.82 from the GARCH state h(t₀): </a:t>
            </a:r>
            <a:r>
              <a:rPr lang="it-IT" dirty="0" err="1"/>
              <a:t>about</a:t>
            </a:r>
            <a:r>
              <a:rPr lang="it-IT" dirty="0"/>
              <a:t> </a:t>
            </a:r>
            <a:r>
              <a:rPr lang="it-IT" dirty="0" err="1"/>
              <a:t>four-fifths</a:t>
            </a:r>
            <a:r>
              <a:rPr lang="it-IT" dirty="0"/>
              <a:t> of the gap, on a </a:t>
            </a:r>
            <a:r>
              <a:rPr lang="it-IT" dirty="0" err="1"/>
              <a:t>logarithmic</a:t>
            </a:r>
            <a:r>
              <a:rPr lang="it-IT" dirty="0"/>
              <a:t> scale, </a:t>
            </a:r>
            <a:r>
              <a:rPr lang="it-IT" dirty="0" err="1"/>
              <a:t>sits</a:t>
            </a:r>
            <a:r>
              <a:rPr lang="it-IT" dirty="0"/>
              <a:t> in C₀. Two </a:t>
            </a:r>
            <a:r>
              <a:rPr lang="it-IT" dirty="0" err="1"/>
              <a:t>qualifications</a:t>
            </a:r>
            <a:r>
              <a:rPr lang="it-IT" dirty="0"/>
              <a:t> are </a:t>
            </a:r>
            <a:r>
              <a:rPr lang="it-IT" dirty="0" err="1"/>
              <a:t>needed</a:t>
            </a:r>
            <a:r>
              <a:rPr lang="it-IT" dirty="0"/>
              <a:t>. First, C₀ </a:t>
            </a:r>
            <a:r>
              <a:rPr lang="it-IT" dirty="0" err="1"/>
              <a:t>is</a:t>
            </a:r>
            <a:r>
              <a:rPr lang="it-IT" dirty="0"/>
              <a:t> a </a:t>
            </a:r>
            <a:r>
              <a:rPr lang="it-IT" dirty="0" err="1"/>
              <a:t>variance</a:t>
            </a:r>
            <a:r>
              <a:rPr lang="it-IT" dirty="0"/>
              <a:t> in Box–Cox </a:t>
            </a:r>
            <a:r>
              <a:rPr lang="it-IT" dirty="0" err="1"/>
              <a:t>units</a:t>
            </a:r>
            <a:r>
              <a:rPr lang="it-IT" dirty="0"/>
              <a:t>, with lambda 0.1 for Bologna and 0.5 for </a:t>
            </a:r>
            <a:r>
              <a:rPr lang="it-IT" dirty="0" err="1"/>
              <a:t>Nordfriesland</a:t>
            </a:r>
            <a:r>
              <a:rPr lang="it-IT" dirty="0"/>
              <a:t>, so the </a:t>
            </a:r>
            <a:r>
              <a:rPr lang="it-IT" dirty="0" err="1"/>
              <a:t>two</a:t>
            </a:r>
            <a:r>
              <a:rPr lang="it-IT" dirty="0"/>
              <a:t> strikes are </a:t>
            </a:r>
            <a:r>
              <a:rPr lang="it-IT" dirty="0" err="1"/>
              <a:t>not</a:t>
            </a:r>
            <a:r>
              <a:rPr lang="it-IT" dirty="0"/>
              <a:t> </a:t>
            </a:r>
            <a:r>
              <a:rPr lang="it-IT" dirty="0" err="1"/>
              <a:t>strictly</a:t>
            </a:r>
            <a:r>
              <a:rPr lang="it-IT" dirty="0"/>
              <a:t> the </a:t>
            </a:r>
            <a:r>
              <a:rPr lang="it-IT" dirty="0" err="1"/>
              <a:t>same</a:t>
            </a:r>
            <a:r>
              <a:rPr lang="it-IT" dirty="0"/>
              <a:t> </a:t>
            </a:r>
            <a:r>
              <a:rPr lang="it-IT" dirty="0" err="1"/>
              <a:t>kind</a:t>
            </a:r>
            <a:r>
              <a:rPr lang="it-IT" dirty="0"/>
              <a:t> of </a:t>
            </a:r>
            <a:r>
              <a:rPr lang="it-IT" dirty="0" err="1"/>
              <a:t>quantity</a:t>
            </a:r>
            <a:r>
              <a:rPr lang="it-IT" dirty="0"/>
              <a:t>. Second, the 1.82 </a:t>
            </a:r>
            <a:r>
              <a:rPr lang="it-IT" dirty="0" err="1"/>
              <a:t>compares</a:t>
            </a:r>
            <a:r>
              <a:rPr lang="it-IT" dirty="0"/>
              <a:t> </a:t>
            </a:r>
            <a:r>
              <a:rPr lang="it-IT" dirty="0" err="1"/>
              <a:t>two</a:t>
            </a:r>
            <a:r>
              <a:rPr lang="it-IT" dirty="0"/>
              <a:t> pricing </a:t>
            </a:r>
            <a:r>
              <a:rPr lang="it-IT" dirty="0" err="1"/>
              <a:t>dates</a:t>
            </a:r>
            <a:r>
              <a:rPr lang="it-IT" dirty="0"/>
              <a:t>, December 2018 and December 2024, </a:t>
            </a:r>
            <a:r>
              <a:rPr lang="it-IT" dirty="0" err="1"/>
              <a:t>rather</a:t>
            </a:r>
            <a:r>
              <a:rPr lang="it-IT" dirty="0"/>
              <a:t> </a:t>
            </a:r>
            <a:r>
              <a:rPr lang="it-IT" dirty="0" err="1"/>
              <a:t>than</a:t>
            </a:r>
            <a:r>
              <a:rPr lang="it-IT" dirty="0"/>
              <a:t> </a:t>
            </a:r>
            <a:r>
              <a:rPr lang="it-IT" dirty="0" err="1"/>
              <a:t>two</a:t>
            </a:r>
            <a:r>
              <a:rPr lang="it-IT" dirty="0"/>
              <a:t> </a:t>
            </a:r>
            <a:r>
              <a:rPr lang="it-IT" dirty="0" err="1"/>
              <a:t>sites</a:t>
            </a:r>
            <a:r>
              <a:rPr lang="it-IT" dirty="0"/>
              <a:t>. </a:t>
            </a:r>
            <a:r>
              <a:rPr lang="it-IT" dirty="0" err="1"/>
              <a:t>Mapped</a:t>
            </a:r>
            <a:r>
              <a:rPr lang="it-IT" dirty="0"/>
              <a:t> </a:t>
            </a:r>
            <a:r>
              <a:rPr lang="it-IT" dirty="0" err="1"/>
              <a:t>onto</a:t>
            </a:r>
            <a:r>
              <a:rPr lang="it-IT" dirty="0"/>
              <a:t> a common scale, the </a:t>
            </a:r>
            <a:r>
              <a:rPr lang="it-IT" dirty="0" err="1"/>
              <a:t>variance</a:t>
            </a:r>
            <a:r>
              <a:rPr lang="it-IT" dirty="0"/>
              <a:t> of generation log-</a:t>
            </a:r>
            <a:r>
              <a:rPr lang="it-IT" dirty="0" err="1"/>
              <a:t>returns</a:t>
            </a:r>
            <a:r>
              <a:rPr lang="it-IT" dirty="0"/>
              <a:t>, the ratio </a:t>
            </a:r>
            <a:r>
              <a:rPr lang="it-IT" dirty="0" err="1"/>
              <a:t>falls</a:t>
            </a:r>
            <a:r>
              <a:rPr lang="it-IT" dirty="0"/>
              <a:t> from 16 to </a:t>
            </a:r>
            <a:r>
              <a:rPr lang="it-IT" dirty="0" err="1"/>
              <a:t>about</a:t>
            </a:r>
            <a:r>
              <a:rPr lang="it-IT" dirty="0"/>
              <a:t> 2.5, and </a:t>
            </a:r>
            <a:r>
              <a:rPr lang="it-IT" dirty="0" err="1"/>
              <a:t>its</a:t>
            </a:r>
            <a:r>
              <a:rPr lang="it-IT" dirty="0"/>
              <a:t> </a:t>
            </a:r>
            <a:r>
              <a:rPr lang="it-IT" dirty="0" err="1"/>
              <a:t>climatological</a:t>
            </a:r>
            <a:r>
              <a:rPr lang="it-IT" dirty="0"/>
              <a:t> part to </a:t>
            </a:r>
            <a:r>
              <a:rPr lang="it-IT" dirty="0" err="1"/>
              <a:t>about</a:t>
            </a:r>
            <a:r>
              <a:rPr lang="it-IT" dirty="0"/>
              <a:t> 1.36. </a:t>
            </a:r>
            <a:r>
              <a:rPr lang="it-IT" dirty="0" err="1"/>
              <a:t>Consistently</a:t>
            </a:r>
            <a:r>
              <a:rPr lang="it-IT" dirty="0"/>
              <a:t>, the </a:t>
            </a:r>
            <a:r>
              <a:rPr lang="it-IT" dirty="0" err="1"/>
              <a:t>two</a:t>
            </a:r>
            <a:r>
              <a:rPr lang="it-IT" dirty="0"/>
              <a:t> </a:t>
            </a:r>
            <a:r>
              <a:rPr lang="it-IT" dirty="0" err="1"/>
              <a:t>sites</a:t>
            </a:r>
            <a:r>
              <a:rPr lang="it-IT" dirty="0"/>
              <a:t> </a:t>
            </a:r>
            <a:r>
              <a:rPr lang="it-IT" dirty="0" err="1"/>
              <a:t>have</a:t>
            </a:r>
            <a:r>
              <a:rPr lang="it-IT" dirty="0"/>
              <a:t> </a:t>
            </a:r>
            <a:r>
              <a:rPr lang="it-IT" dirty="0" err="1"/>
              <a:t>almost</a:t>
            </a:r>
            <a:r>
              <a:rPr lang="it-IT" dirty="0"/>
              <a:t> </a:t>
            </a:r>
            <a:r>
              <a:rPr lang="it-IT" dirty="0" err="1"/>
              <a:t>identical</a:t>
            </a:r>
            <a:r>
              <a:rPr lang="it-IT" dirty="0"/>
              <a:t> </a:t>
            </a:r>
            <a:r>
              <a:rPr lang="it-IT" dirty="0" err="1"/>
              <a:t>coefficients</a:t>
            </a:r>
            <a:r>
              <a:rPr lang="it-IT" dirty="0"/>
              <a:t> of </a:t>
            </a:r>
            <a:r>
              <a:rPr lang="it-IT" dirty="0" err="1"/>
              <a:t>variation</a:t>
            </a:r>
            <a:r>
              <a:rPr lang="it-IT" dirty="0"/>
              <a:t>: 0.384 for Bologna and 0.401 for </a:t>
            </a:r>
            <a:r>
              <a:rPr lang="it-IT" dirty="0" err="1"/>
              <a:t>Nordfriesland</a:t>
            </a:r>
            <a:r>
              <a:rPr lang="it-IT" dirty="0"/>
              <a:t>. </a:t>
            </a:r>
            <a:r>
              <a:rPr lang="it-IT" dirty="0" err="1"/>
              <a:t>Bologna’s</a:t>
            </a:r>
            <a:r>
              <a:rPr lang="it-IT" dirty="0"/>
              <a:t> </a:t>
            </a:r>
            <a:r>
              <a:rPr lang="it-IT" dirty="0" err="1"/>
              <a:t>problem</a:t>
            </a:r>
            <a:r>
              <a:rPr lang="it-IT" dirty="0"/>
              <a:t> </a:t>
            </a:r>
            <a:r>
              <a:rPr lang="it-IT" dirty="0" err="1"/>
              <a:t>is</a:t>
            </a:r>
            <a:r>
              <a:rPr lang="it-IT" dirty="0"/>
              <a:t> </a:t>
            </a:r>
            <a:r>
              <a:rPr lang="it-IT" dirty="0" err="1"/>
              <a:t>therefore</a:t>
            </a:r>
            <a:r>
              <a:rPr lang="it-IT" dirty="0"/>
              <a:t> </a:t>
            </a:r>
            <a:r>
              <a:rPr lang="it-IT" dirty="0" err="1"/>
              <a:t>not</a:t>
            </a:r>
            <a:r>
              <a:rPr lang="it-IT" dirty="0"/>
              <a:t> </a:t>
            </a:r>
            <a:r>
              <a:rPr lang="it-IT" dirty="0" err="1"/>
              <a:t>how</a:t>
            </a:r>
            <a:r>
              <a:rPr lang="it-IT" dirty="0"/>
              <a:t> </a:t>
            </a:r>
            <a:r>
              <a:rPr lang="it-IT" dirty="0" err="1"/>
              <a:t>variable</a:t>
            </a:r>
            <a:r>
              <a:rPr lang="it-IT" dirty="0"/>
              <a:t> </a:t>
            </a:r>
            <a:r>
              <a:rPr lang="it-IT" dirty="0" err="1"/>
              <a:t>its</a:t>
            </a:r>
            <a:r>
              <a:rPr lang="it-IT" dirty="0"/>
              <a:t> wind </a:t>
            </a:r>
            <a:r>
              <a:rPr lang="it-IT" dirty="0" err="1"/>
              <a:t>is</a:t>
            </a:r>
            <a:r>
              <a:rPr lang="it-IT" dirty="0"/>
              <a:t>, in relative </a:t>
            </a:r>
            <a:r>
              <a:rPr lang="it-IT" dirty="0" err="1"/>
              <a:t>terms</a:t>
            </a:r>
            <a:r>
              <a:rPr lang="it-IT" dirty="0"/>
              <a:t>. The headline </a:t>
            </a:r>
            <a:r>
              <a:rPr lang="it-IT" dirty="0" err="1"/>
              <a:t>figures</a:t>
            </a:r>
            <a:r>
              <a:rPr lang="it-IT" dirty="0"/>
              <a:t> </a:t>
            </a:r>
            <a:r>
              <a:rPr lang="it-IT" dirty="0" err="1"/>
              <a:t>describe</a:t>
            </a:r>
            <a:r>
              <a:rPr lang="it-IT" dirty="0"/>
              <a:t> </a:t>
            </a:r>
            <a:r>
              <a:rPr lang="it-IT" dirty="0" err="1"/>
              <a:t>what</a:t>
            </a:r>
            <a:r>
              <a:rPr lang="it-IT" dirty="0"/>
              <a:t> the </a:t>
            </a:r>
            <a:r>
              <a:rPr lang="it-IT" dirty="0" err="1"/>
              <a:t>two</a:t>
            </a:r>
            <a:r>
              <a:rPr lang="it-IT" dirty="0"/>
              <a:t> pipelines quote; </a:t>
            </a:r>
            <a:r>
              <a:rPr lang="it-IT" dirty="0" err="1"/>
              <a:t>they</a:t>
            </a:r>
            <a:r>
              <a:rPr lang="it-IT" dirty="0"/>
              <a:t> are </a:t>
            </a:r>
            <a:r>
              <a:rPr lang="it-IT" dirty="0" err="1"/>
              <a:t>not</a:t>
            </a:r>
            <a:r>
              <a:rPr lang="it-IT" dirty="0"/>
              <a:t> scale-free, and the </a:t>
            </a:r>
            <a:r>
              <a:rPr lang="it-IT" dirty="0" err="1"/>
              <a:t>evidence</a:t>
            </a:r>
            <a:r>
              <a:rPr lang="it-IT" dirty="0"/>
              <a:t> for </a:t>
            </a:r>
            <a:r>
              <a:rPr lang="it-IT" dirty="0" err="1"/>
              <a:t>alignment</a:t>
            </a:r>
            <a:r>
              <a:rPr lang="it-IT" dirty="0"/>
              <a:t> </a:t>
            </a:r>
            <a:r>
              <a:rPr lang="it-IT" dirty="0" err="1"/>
              <a:t>lies</a:t>
            </a:r>
            <a:r>
              <a:rPr lang="it-IT" dirty="0"/>
              <a:t> </a:t>
            </a:r>
            <a:r>
              <a:rPr lang="it-IT" dirty="0" err="1"/>
              <a:t>elsewhere</a:t>
            </a:r>
            <a:r>
              <a:rPr lang="it-IT"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The decisive </a:t>
            </a:r>
            <a:r>
              <a:rPr lang="it-IT" dirty="0" err="1"/>
              <a:t>evidence</a:t>
            </a:r>
            <a:r>
              <a:rPr lang="it-IT" dirty="0"/>
              <a:t> </a:t>
            </a:r>
            <a:r>
              <a:rPr lang="it-IT" dirty="0" err="1"/>
              <a:t>is</a:t>
            </a:r>
            <a:r>
              <a:rPr lang="it-IT" dirty="0"/>
              <a:t> the power curve. </a:t>
            </a:r>
            <a:r>
              <a:rPr lang="it-IT" dirty="0" err="1"/>
              <a:t>We</a:t>
            </a:r>
            <a:r>
              <a:rPr lang="it-IT" dirty="0"/>
              <a:t> </a:t>
            </a:r>
            <a:r>
              <a:rPr lang="it-IT" dirty="0" err="1"/>
              <a:t>regress</a:t>
            </a:r>
            <a:r>
              <a:rPr lang="it-IT" dirty="0"/>
              <a:t> </a:t>
            </a:r>
            <a:r>
              <a:rPr lang="it-IT" dirty="0" err="1"/>
              <a:t>daily</a:t>
            </a:r>
            <a:r>
              <a:rPr lang="it-IT" dirty="0"/>
              <a:t> SMARD generation on the cube of </a:t>
            </a:r>
            <a:r>
              <a:rPr lang="it-IT" dirty="0" err="1"/>
              <a:t>daily</a:t>
            </a:r>
            <a:r>
              <a:rPr lang="it-IT" dirty="0"/>
              <a:t> wind speed. At </a:t>
            </a:r>
            <a:r>
              <a:rPr lang="it-IT" dirty="0" err="1"/>
              <a:t>Nordfriesland</a:t>
            </a:r>
            <a:r>
              <a:rPr lang="it-IT" dirty="0"/>
              <a:t>, wind </a:t>
            </a:r>
            <a:r>
              <a:rPr lang="it-IT" dirty="0" err="1"/>
              <a:t>at</a:t>
            </a:r>
            <a:r>
              <a:rPr lang="it-IT" dirty="0"/>
              <a:t> 100 </a:t>
            </a:r>
            <a:r>
              <a:rPr lang="it-IT" dirty="0" err="1"/>
              <a:t>metres</a:t>
            </a:r>
            <a:r>
              <a:rPr lang="it-IT" dirty="0"/>
              <a:t> </a:t>
            </a:r>
            <a:r>
              <a:rPr lang="it-IT" dirty="0" err="1"/>
              <a:t>explains</a:t>
            </a:r>
            <a:r>
              <a:rPr lang="it-IT" dirty="0"/>
              <a:t> 58.7 per cent of the </a:t>
            </a:r>
            <a:r>
              <a:rPr lang="it-IT" dirty="0" err="1"/>
              <a:t>daily</a:t>
            </a:r>
            <a:r>
              <a:rPr lang="it-IT" dirty="0"/>
              <a:t> </a:t>
            </a:r>
            <a:r>
              <a:rPr lang="it-IT" dirty="0" err="1"/>
              <a:t>variation</a:t>
            </a:r>
            <a:r>
              <a:rPr lang="it-IT" dirty="0"/>
              <a:t> in German onshore generation. At Bologna, wind </a:t>
            </a:r>
            <a:r>
              <a:rPr lang="it-IT" dirty="0" err="1"/>
              <a:t>at</a:t>
            </a:r>
            <a:r>
              <a:rPr lang="it-IT" dirty="0"/>
              <a:t> </a:t>
            </a:r>
            <a:r>
              <a:rPr lang="it-IT" dirty="0" err="1"/>
              <a:t>ten</a:t>
            </a:r>
            <a:r>
              <a:rPr lang="it-IT" dirty="0"/>
              <a:t> </a:t>
            </a:r>
            <a:r>
              <a:rPr lang="it-IT" dirty="0" err="1"/>
              <a:t>metres</a:t>
            </a:r>
            <a:r>
              <a:rPr lang="it-IT" dirty="0"/>
              <a:t> </a:t>
            </a:r>
            <a:r>
              <a:rPr lang="it-IT" dirty="0" err="1"/>
              <a:t>explains</a:t>
            </a:r>
            <a:r>
              <a:rPr lang="it-IT" dirty="0"/>
              <a:t> 0.01 per cent: R-</a:t>
            </a:r>
            <a:r>
              <a:rPr lang="it-IT" dirty="0" err="1"/>
              <a:t>squared</a:t>
            </a:r>
            <a:r>
              <a:rPr lang="it-IT" dirty="0"/>
              <a:t> 0.0001, p-</a:t>
            </a:r>
            <a:r>
              <a:rPr lang="it-IT" dirty="0" err="1"/>
              <a:t>value</a:t>
            </a:r>
            <a:r>
              <a:rPr lang="it-IT" dirty="0"/>
              <a:t> 0.72, a </a:t>
            </a:r>
            <a:r>
              <a:rPr lang="it-IT" dirty="0" err="1"/>
              <a:t>slope</a:t>
            </a:r>
            <a:r>
              <a:rPr lang="it-IT" dirty="0"/>
              <a:t> </a:t>
            </a:r>
            <a:r>
              <a:rPr lang="it-IT" dirty="0" err="1"/>
              <a:t>statistically</a:t>
            </a:r>
            <a:r>
              <a:rPr lang="it-IT" dirty="0"/>
              <a:t> </a:t>
            </a:r>
            <a:r>
              <a:rPr lang="it-IT" dirty="0" err="1"/>
              <a:t>indistinguishable</a:t>
            </a:r>
            <a:r>
              <a:rPr lang="it-IT" dirty="0"/>
              <a:t> from zero. The </a:t>
            </a:r>
            <a:r>
              <a:rPr lang="it-IT" dirty="0" err="1"/>
              <a:t>right</a:t>
            </a:r>
            <a:r>
              <a:rPr lang="it-IT" dirty="0"/>
              <a:t> </a:t>
            </a:r>
            <a:r>
              <a:rPr lang="it-IT" dirty="0" err="1"/>
              <a:t>comparison</a:t>
            </a:r>
            <a:r>
              <a:rPr lang="it-IT" dirty="0"/>
              <a:t> </a:t>
            </a:r>
            <a:r>
              <a:rPr lang="it-IT" dirty="0" err="1"/>
              <a:t>is</a:t>
            </a:r>
            <a:r>
              <a:rPr lang="it-IT" dirty="0"/>
              <a:t> </a:t>
            </a:r>
            <a:r>
              <a:rPr lang="it-IT" dirty="0" err="1"/>
              <a:t>not</a:t>
            </a:r>
            <a:r>
              <a:rPr lang="it-IT" dirty="0"/>
              <a:t> with one, </a:t>
            </a:r>
            <a:r>
              <a:rPr lang="it-IT" dirty="0" err="1"/>
              <a:t>which</a:t>
            </a:r>
            <a:r>
              <a:rPr lang="it-IT" dirty="0"/>
              <a:t> no single </a:t>
            </a:r>
            <a:r>
              <a:rPr lang="it-IT" dirty="0" err="1"/>
              <a:t>grid</a:t>
            </a:r>
            <a:r>
              <a:rPr lang="it-IT" dirty="0"/>
              <a:t> point can </a:t>
            </a:r>
            <a:r>
              <a:rPr lang="it-IT" dirty="0" err="1"/>
              <a:t>reach</a:t>
            </a:r>
            <a:r>
              <a:rPr lang="it-IT" dirty="0"/>
              <a:t> </a:t>
            </a:r>
            <a:r>
              <a:rPr lang="it-IT" dirty="0" err="1"/>
              <a:t>against</a:t>
            </a:r>
            <a:r>
              <a:rPr lang="it-IT" dirty="0"/>
              <a:t> a national fleet, </a:t>
            </a:r>
            <a:r>
              <a:rPr lang="it-IT" dirty="0" err="1"/>
              <a:t>but</a:t>
            </a:r>
            <a:r>
              <a:rPr lang="it-IT" dirty="0"/>
              <a:t> 0.587 </a:t>
            </a:r>
            <a:r>
              <a:rPr lang="it-IT" dirty="0" err="1"/>
              <a:t>against</a:t>
            </a:r>
            <a:r>
              <a:rPr lang="it-IT" dirty="0"/>
              <a:t> 0.0001. </a:t>
            </a:r>
            <a:r>
              <a:rPr lang="it-IT" dirty="0" err="1"/>
              <a:t>There</a:t>
            </a:r>
            <a:r>
              <a:rPr lang="it-IT" dirty="0"/>
              <a:t> </a:t>
            </a:r>
            <a:r>
              <a:rPr lang="it-IT" dirty="0" err="1"/>
              <a:t>is</a:t>
            </a:r>
            <a:r>
              <a:rPr lang="it-IT" dirty="0"/>
              <a:t> a </a:t>
            </a:r>
            <a:r>
              <a:rPr lang="it-IT" dirty="0" err="1"/>
              <a:t>further</a:t>
            </a:r>
            <a:r>
              <a:rPr lang="it-IT" dirty="0"/>
              <a:t> warning. In </a:t>
            </a:r>
            <a:r>
              <a:rPr lang="it-IT" dirty="0" err="1"/>
              <a:t>reconciled</a:t>
            </a:r>
            <a:r>
              <a:rPr lang="it-IT" dirty="0"/>
              <a:t> </a:t>
            </a:r>
            <a:r>
              <a:rPr lang="it-IT" dirty="0" err="1"/>
              <a:t>units</a:t>
            </a:r>
            <a:r>
              <a:rPr lang="it-IT" dirty="0"/>
              <a:t>, the Bologna strike, 132.9, </a:t>
            </a:r>
            <a:r>
              <a:rPr lang="it-IT" dirty="0" err="1"/>
              <a:t>was</a:t>
            </a:r>
            <a:r>
              <a:rPr lang="it-IT" dirty="0"/>
              <a:t> </a:t>
            </a:r>
            <a:r>
              <a:rPr lang="it-IT" dirty="0" err="1"/>
              <a:t>closer</a:t>
            </a:r>
            <a:r>
              <a:rPr lang="it-IT" dirty="0"/>
              <a:t> to the market </a:t>
            </a:r>
            <a:r>
              <a:rPr lang="it-IT" dirty="0" err="1"/>
              <a:t>level</a:t>
            </a:r>
            <a:r>
              <a:rPr lang="it-IT" dirty="0"/>
              <a:t> </a:t>
            </a:r>
            <a:r>
              <a:rPr lang="it-IT" dirty="0" err="1"/>
              <a:t>than</a:t>
            </a:r>
            <a:r>
              <a:rPr lang="it-IT" dirty="0"/>
              <a:t> the </a:t>
            </a:r>
            <a:r>
              <a:rPr lang="it-IT" dirty="0" err="1"/>
              <a:t>Nordfriesland</a:t>
            </a:r>
            <a:r>
              <a:rPr lang="it-IT" dirty="0"/>
              <a:t> one, 328.8. </a:t>
            </a:r>
            <a:r>
              <a:rPr lang="it-IT" dirty="0" err="1"/>
              <a:t>That</a:t>
            </a:r>
            <a:r>
              <a:rPr lang="it-IT" dirty="0"/>
              <a:t> </a:t>
            </a:r>
            <a:r>
              <a:rPr lang="it-IT" dirty="0" err="1"/>
              <a:t>is</a:t>
            </a:r>
            <a:r>
              <a:rPr lang="it-IT" dirty="0"/>
              <a:t> a </a:t>
            </a:r>
            <a:r>
              <a:rPr lang="it-IT" dirty="0" err="1"/>
              <a:t>coincidence</a:t>
            </a:r>
            <a:r>
              <a:rPr lang="it-IT" dirty="0"/>
              <a:t> of </a:t>
            </a:r>
            <a:r>
              <a:rPr lang="it-IT" dirty="0" err="1"/>
              <a:t>level</a:t>
            </a:r>
            <a:r>
              <a:rPr lang="it-IT" dirty="0"/>
              <a:t> </a:t>
            </a:r>
            <a:r>
              <a:rPr lang="it-IT" dirty="0" err="1"/>
              <a:t>between</a:t>
            </a:r>
            <a:r>
              <a:rPr lang="it-IT" dirty="0"/>
              <a:t> </a:t>
            </a:r>
            <a:r>
              <a:rPr lang="it-IT" dirty="0" err="1"/>
              <a:t>unrelated</a:t>
            </a:r>
            <a:r>
              <a:rPr lang="it-IT" dirty="0"/>
              <a:t> </a:t>
            </a:r>
            <a:r>
              <a:rPr lang="it-IT" dirty="0" err="1"/>
              <a:t>series</a:t>
            </a:r>
            <a:r>
              <a:rPr lang="it-IT" dirty="0"/>
              <a:t>, and a </a:t>
            </a:r>
            <a:r>
              <a:rPr lang="it-IT" dirty="0" err="1"/>
              <a:t>level-based</a:t>
            </a:r>
            <a:r>
              <a:rPr lang="it-IT" dirty="0"/>
              <a:t> </a:t>
            </a:r>
            <a:r>
              <a:rPr lang="it-IT" dirty="0" err="1"/>
              <a:t>metric</a:t>
            </a:r>
            <a:r>
              <a:rPr lang="it-IT" dirty="0"/>
              <a:t> </a:t>
            </a:r>
            <a:r>
              <a:rPr lang="it-IT" dirty="0" err="1"/>
              <a:t>would</a:t>
            </a:r>
            <a:r>
              <a:rPr lang="it-IT" dirty="0"/>
              <a:t> </a:t>
            </a:r>
            <a:r>
              <a:rPr lang="it-IT" dirty="0" err="1"/>
              <a:t>have</a:t>
            </a:r>
            <a:r>
              <a:rPr lang="it-IT" dirty="0"/>
              <a:t> </a:t>
            </a:r>
            <a:r>
              <a:rPr lang="it-IT" dirty="0" err="1"/>
              <a:t>mistaken</a:t>
            </a:r>
            <a:r>
              <a:rPr lang="it-IT" dirty="0"/>
              <a:t> </a:t>
            </a:r>
            <a:r>
              <a:rPr lang="it-IT" dirty="0" err="1"/>
              <a:t>it</a:t>
            </a:r>
            <a:r>
              <a:rPr lang="it-IT" dirty="0"/>
              <a:t> for a </a:t>
            </a:r>
            <a:r>
              <a:rPr lang="it-IT" dirty="0" err="1"/>
              <a:t>successful</a:t>
            </a:r>
            <a:r>
              <a:rPr lang="it-IT" dirty="0"/>
              <a:t> </a:t>
            </a:r>
            <a:r>
              <a:rPr lang="it-IT" dirty="0" err="1"/>
              <a:t>calibration</a:t>
            </a:r>
            <a:r>
              <a:rPr lang="it-IT" dirty="0"/>
              <a:t>. A proxy </a:t>
            </a:r>
            <a:r>
              <a:rPr lang="it-IT" dirty="0" err="1"/>
              <a:t>that</a:t>
            </a:r>
            <a:r>
              <a:rPr lang="it-IT" dirty="0"/>
              <a:t> </a:t>
            </a:r>
            <a:r>
              <a:rPr lang="it-IT" dirty="0" err="1"/>
              <a:t>quotes</a:t>
            </a:r>
            <a:r>
              <a:rPr lang="it-IT" dirty="0"/>
              <a:t> a </a:t>
            </a:r>
            <a:r>
              <a:rPr lang="it-IT" dirty="0" err="1"/>
              <a:t>plausible</a:t>
            </a:r>
            <a:r>
              <a:rPr lang="it-IT" dirty="0"/>
              <a:t> </a:t>
            </a:r>
            <a:r>
              <a:rPr lang="it-IT" dirty="0" err="1"/>
              <a:t>number</a:t>
            </a:r>
            <a:r>
              <a:rPr lang="it-IT" dirty="0"/>
              <a:t> </a:t>
            </a:r>
            <a:r>
              <a:rPr lang="it-IT" dirty="0" err="1"/>
              <a:t>while</a:t>
            </a:r>
            <a:r>
              <a:rPr lang="it-IT" dirty="0"/>
              <a:t> </a:t>
            </a:r>
            <a:r>
              <a:rPr lang="it-IT" dirty="0" err="1"/>
              <a:t>carrying</a:t>
            </a:r>
            <a:r>
              <a:rPr lang="it-IT" dirty="0"/>
              <a:t> no information </a:t>
            </a:r>
            <a:r>
              <a:rPr lang="it-IT" dirty="0" err="1"/>
              <a:t>about</a:t>
            </a:r>
            <a:r>
              <a:rPr lang="it-IT" dirty="0"/>
              <a:t> the cash flow </a:t>
            </a:r>
            <a:r>
              <a:rPr lang="it-IT" dirty="0" err="1"/>
              <a:t>is</a:t>
            </a:r>
            <a:r>
              <a:rPr lang="it-IT" dirty="0"/>
              <a:t> more </a:t>
            </a:r>
            <a:r>
              <a:rPr lang="it-IT" dirty="0" err="1"/>
              <a:t>dangerous</a:t>
            </a:r>
            <a:r>
              <a:rPr lang="it-IT" dirty="0"/>
              <a:t> </a:t>
            </a:r>
            <a:r>
              <a:rPr lang="it-IT" dirty="0" err="1"/>
              <a:t>than</a:t>
            </a:r>
            <a:r>
              <a:rPr lang="it-IT" dirty="0"/>
              <a:t> an </a:t>
            </a:r>
            <a:r>
              <a:rPr lang="it-IT" dirty="0" err="1"/>
              <a:t>obviously</a:t>
            </a:r>
            <a:r>
              <a:rPr lang="it-IT" dirty="0"/>
              <a:t> </a:t>
            </a:r>
            <a:r>
              <a:rPr lang="it-IT" dirty="0" err="1"/>
              <a:t>wrong</a:t>
            </a:r>
            <a:r>
              <a:rPr lang="it-IT" dirty="0"/>
              <a:t> one, </a:t>
            </a:r>
            <a:r>
              <a:rPr lang="it-IT" dirty="0" err="1"/>
              <a:t>because</a:t>
            </a:r>
            <a:r>
              <a:rPr lang="it-IT" dirty="0"/>
              <a:t> </a:t>
            </a:r>
            <a:r>
              <a:rPr lang="it-IT" dirty="0" err="1"/>
              <a:t>only</a:t>
            </a:r>
            <a:r>
              <a:rPr lang="it-IT" dirty="0"/>
              <a:t> the second </a:t>
            </a:r>
            <a:r>
              <a:rPr lang="it-IT" dirty="0" err="1"/>
              <a:t>announces</a:t>
            </a:r>
            <a:r>
              <a:rPr lang="it-IT" dirty="0"/>
              <a:t> </a:t>
            </a:r>
            <a:r>
              <a:rPr lang="it-IT" dirty="0" err="1"/>
              <a:t>itself</a:t>
            </a:r>
            <a:r>
              <a:rPr lang="it-IT" dirty="0"/>
              <a:t>. The test costs a single </a:t>
            </a:r>
            <a:r>
              <a:rPr lang="it-IT" dirty="0" err="1"/>
              <a:t>regression</a:t>
            </a:r>
            <a:r>
              <a:rPr lang="it-IT" dirty="0"/>
              <a:t>, and </a:t>
            </a:r>
            <a:r>
              <a:rPr lang="it-IT" dirty="0" err="1"/>
              <a:t>it</a:t>
            </a:r>
            <a:r>
              <a:rPr lang="it-IT" dirty="0"/>
              <a:t> </a:t>
            </a:r>
            <a:r>
              <a:rPr lang="it-IT" dirty="0" err="1"/>
              <a:t>should</a:t>
            </a:r>
            <a:r>
              <a:rPr lang="it-IT" dirty="0"/>
              <a:t> come </a:t>
            </a:r>
            <a:r>
              <a:rPr lang="it-IT" dirty="0" err="1"/>
              <a:t>before</a:t>
            </a:r>
            <a:r>
              <a:rPr lang="it-IT" dirty="0"/>
              <a:t> </a:t>
            </a:r>
            <a:r>
              <a:rPr lang="it-IT" dirty="0" err="1"/>
              <a:t>any</a:t>
            </a:r>
            <a:r>
              <a:rPr lang="it-IT" dirty="0"/>
              <a:t> pricing.</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In </a:t>
            </a:r>
            <a:r>
              <a:rPr lang="it-IT" dirty="0" err="1"/>
              <a:t>conclusion</a:t>
            </a:r>
            <a:r>
              <a:rPr lang="it-IT" dirty="0"/>
              <a:t>, the </a:t>
            </a:r>
            <a:r>
              <a:rPr lang="it-IT" dirty="0" err="1"/>
              <a:t>three</a:t>
            </a:r>
            <a:r>
              <a:rPr lang="it-IT" dirty="0"/>
              <a:t> </a:t>
            </a:r>
            <a:r>
              <a:rPr lang="it-IT" dirty="0" err="1"/>
              <a:t>research</a:t>
            </a:r>
            <a:r>
              <a:rPr lang="it-IT" dirty="0"/>
              <a:t> </a:t>
            </a:r>
            <a:r>
              <a:rPr lang="it-IT" dirty="0" err="1"/>
              <a:t>questions</a:t>
            </a:r>
            <a:r>
              <a:rPr lang="it-IT" dirty="0"/>
              <a:t> can be </a:t>
            </a:r>
            <a:r>
              <a:rPr lang="it-IT" dirty="0" err="1"/>
              <a:t>answered</a:t>
            </a:r>
            <a:r>
              <a:rPr lang="it-IT" dirty="0"/>
              <a:t>. On pricing: yes, in </a:t>
            </a:r>
            <a:r>
              <a:rPr lang="it-IT" dirty="0" err="1"/>
              <a:t>closed</a:t>
            </a:r>
            <a:r>
              <a:rPr lang="it-IT" dirty="0"/>
              <a:t> form. Under the θ = 0 benchmark the strike </a:t>
            </a:r>
            <a:r>
              <a:rPr lang="it-IT" dirty="0" err="1"/>
              <a:t>is</a:t>
            </a:r>
            <a:r>
              <a:rPr lang="it-IT" dirty="0"/>
              <a:t> h(t₀) times C₀ and, </a:t>
            </a:r>
            <a:r>
              <a:rPr lang="it-IT" dirty="0" err="1"/>
              <a:t>reconciled</a:t>
            </a:r>
            <a:r>
              <a:rPr lang="it-IT" dirty="0"/>
              <a:t> to market </a:t>
            </a:r>
            <a:r>
              <a:rPr lang="it-IT" dirty="0" err="1"/>
              <a:t>units</a:t>
            </a:r>
            <a:r>
              <a:rPr lang="it-IT" dirty="0"/>
              <a:t>, the </a:t>
            </a:r>
            <a:r>
              <a:rPr lang="it-IT" dirty="0" err="1"/>
              <a:t>Nordfriesland</a:t>
            </a:r>
            <a:r>
              <a:rPr lang="it-IT" dirty="0"/>
              <a:t> strike </a:t>
            </a:r>
            <a:r>
              <a:rPr lang="it-IT" dirty="0" err="1"/>
              <a:t>is</a:t>
            </a:r>
            <a:r>
              <a:rPr lang="it-IT" dirty="0"/>
              <a:t> of the </a:t>
            </a:r>
            <a:r>
              <a:rPr lang="it-IT" dirty="0" err="1"/>
              <a:t>market’s</a:t>
            </a:r>
            <a:r>
              <a:rPr lang="it-IT" dirty="0"/>
              <a:t> </a:t>
            </a:r>
            <a:r>
              <a:rPr lang="it-IT" dirty="0" err="1"/>
              <a:t>order</a:t>
            </a:r>
            <a:r>
              <a:rPr lang="it-IT" dirty="0"/>
              <a:t> of </a:t>
            </a:r>
            <a:r>
              <a:rPr lang="it-IT" dirty="0" err="1"/>
              <a:t>magnitude</a:t>
            </a:r>
            <a:r>
              <a:rPr lang="it-IT" dirty="0"/>
              <a:t>, 328.8 </a:t>
            </a:r>
            <a:r>
              <a:rPr lang="it-IT" dirty="0" err="1"/>
              <a:t>against</a:t>
            </a:r>
            <a:r>
              <a:rPr lang="it-IT" dirty="0"/>
              <a:t> 113.1. The framework prices a </a:t>
            </a:r>
            <a:r>
              <a:rPr lang="it-IT" dirty="0" err="1"/>
              <a:t>variance</a:t>
            </a:r>
            <a:r>
              <a:rPr lang="it-IT" dirty="0"/>
              <a:t> swap, </a:t>
            </a:r>
            <a:r>
              <a:rPr lang="it-IT" dirty="0" err="1"/>
              <a:t>not</a:t>
            </a:r>
            <a:r>
              <a:rPr lang="it-IT" dirty="0"/>
              <a:t> an option on </a:t>
            </a:r>
            <a:r>
              <a:rPr lang="it-IT" dirty="0" err="1"/>
              <a:t>variance</a:t>
            </a:r>
            <a:r>
              <a:rPr lang="it-IT" dirty="0"/>
              <a:t>. On hedging: CAWS </a:t>
            </a:r>
            <a:r>
              <a:rPr lang="it-IT" dirty="0" err="1"/>
              <a:t>pays</a:t>
            </a:r>
            <a:r>
              <a:rPr lang="it-IT" dirty="0"/>
              <a:t> in </a:t>
            </a:r>
            <a:r>
              <a:rPr lang="it-IT" dirty="0" err="1"/>
              <a:t>precisely</a:t>
            </a:r>
            <a:r>
              <a:rPr lang="it-IT" dirty="0"/>
              <a:t> the </a:t>
            </a:r>
            <a:r>
              <a:rPr lang="it-IT" dirty="0" err="1"/>
              <a:t>calm</a:t>
            </a:r>
            <a:r>
              <a:rPr lang="it-IT" dirty="0"/>
              <a:t> </a:t>
            </a:r>
            <a:r>
              <a:rPr lang="it-IT" dirty="0" err="1"/>
              <a:t>years</a:t>
            </a:r>
            <a:r>
              <a:rPr lang="it-IT" dirty="0"/>
              <a:t> </a:t>
            </a:r>
            <a:r>
              <a:rPr lang="it-IT" dirty="0" err="1"/>
              <a:t>that</a:t>
            </a:r>
            <a:r>
              <a:rPr lang="it-IT" dirty="0"/>
              <a:t> </a:t>
            </a:r>
            <a:r>
              <a:rPr lang="it-IT" dirty="0" err="1"/>
              <a:t>depress</a:t>
            </a:r>
            <a:r>
              <a:rPr lang="it-IT" dirty="0"/>
              <a:t> revenue, </a:t>
            </a:r>
            <a:r>
              <a:rPr lang="it-IT" dirty="0" err="1"/>
              <a:t>although</a:t>
            </a:r>
            <a:r>
              <a:rPr lang="it-IT" dirty="0"/>
              <a:t> </a:t>
            </a:r>
            <a:r>
              <a:rPr lang="it-IT" dirty="0" err="1"/>
              <a:t>tail</a:t>
            </a:r>
            <a:r>
              <a:rPr lang="it-IT" dirty="0"/>
              <a:t> </a:t>
            </a:r>
            <a:r>
              <a:rPr lang="it-IT" dirty="0" err="1"/>
              <a:t>statistics</a:t>
            </a:r>
            <a:r>
              <a:rPr lang="it-IT" dirty="0"/>
              <a:t>, with </a:t>
            </a:r>
            <a:r>
              <a:rPr lang="it-IT" dirty="0" err="1"/>
              <a:t>four</a:t>
            </a:r>
            <a:r>
              <a:rPr lang="it-IT" dirty="0"/>
              <a:t> and </a:t>
            </a:r>
            <a:r>
              <a:rPr lang="it-IT" dirty="0" err="1"/>
              <a:t>ten</a:t>
            </a:r>
            <a:r>
              <a:rPr lang="it-IT" dirty="0"/>
              <a:t> </a:t>
            </a:r>
            <a:r>
              <a:rPr lang="it-IT" dirty="0" err="1"/>
              <a:t>observations</a:t>
            </a:r>
            <a:r>
              <a:rPr lang="it-IT" dirty="0"/>
              <a:t>, are </a:t>
            </a:r>
            <a:r>
              <a:rPr lang="it-IT" dirty="0" err="1"/>
              <a:t>descriptive</a:t>
            </a:r>
            <a:r>
              <a:rPr lang="it-IT" dirty="0"/>
              <a:t>. On data: </a:t>
            </a:r>
            <a:r>
              <a:rPr lang="it-IT" dirty="0" err="1"/>
              <a:t>alignment</a:t>
            </a:r>
            <a:r>
              <a:rPr lang="it-IT" dirty="0"/>
              <a:t> </a:t>
            </a:r>
            <a:r>
              <a:rPr lang="it-IT" dirty="0" err="1"/>
              <a:t>is</a:t>
            </a:r>
            <a:r>
              <a:rPr lang="it-IT" dirty="0"/>
              <a:t> decisive. The proxy </a:t>
            </a:r>
            <a:r>
              <a:rPr lang="it-IT" dirty="0" err="1"/>
              <a:t>understates</a:t>
            </a:r>
            <a:r>
              <a:rPr lang="it-IT" dirty="0"/>
              <a:t> the strike by 94 per cent, 88 per cent after </a:t>
            </a:r>
            <a:r>
              <a:rPr lang="it-IT" dirty="0" err="1"/>
              <a:t>height</a:t>
            </a:r>
            <a:r>
              <a:rPr lang="it-IT" dirty="0"/>
              <a:t> </a:t>
            </a:r>
            <a:r>
              <a:rPr lang="it-IT" dirty="0" err="1"/>
              <a:t>correction</a:t>
            </a:r>
            <a:r>
              <a:rPr lang="it-IT" dirty="0"/>
              <a:t>, and the </a:t>
            </a:r>
            <a:r>
              <a:rPr lang="it-IT" dirty="0" err="1"/>
              <a:t>evidence</a:t>
            </a:r>
            <a:r>
              <a:rPr lang="it-IT" dirty="0"/>
              <a:t> </a:t>
            </a:r>
            <a:r>
              <a:rPr lang="it-IT" dirty="0" err="1"/>
              <a:t>is</a:t>
            </a:r>
            <a:r>
              <a:rPr lang="it-IT" dirty="0"/>
              <a:t> the power curve, 58.7 </a:t>
            </a:r>
            <a:r>
              <a:rPr lang="it-IT" dirty="0" err="1"/>
              <a:t>against</a:t>
            </a:r>
            <a:r>
              <a:rPr lang="it-IT" dirty="0"/>
              <a:t> 0.01 per cent. Data </a:t>
            </a:r>
            <a:r>
              <a:rPr lang="it-IT" dirty="0" err="1"/>
              <a:t>alignment</a:t>
            </a:r>
            <a:r>
              <a:rPr lang="it-IT" dirty="0"/>
              <a:t> </a:t>
            </a:r>
            <a:r>
              <a:rPr lang="it-IT" dirty="0" err="1"/>
              <a:t>is</a:t>
            </a:r>
            <a:r>
              <a:rPr lang="it-IT" dirty="0"/>
              <a:t> </a:t>
            </a:r>
            <a:r>
              <a:rPr lang="it-IT" dirty="0" err="1"/>
              <a:t>not</a:t>
            </a:r>
            <a:r>
              <a:rPr lang="it-IT" dirty="0"/>
              <a:t> a </a:t>
            </a:r>
            <a:r>
              <a:rPr lang="it-IT" dirty="0" err="1"/>
              <a:t>refinement</a:t>
            </a:r>
            <a:r>
              <a:rPr lang="it-IT" dirty="0"/>
              <a:t> to be </a:t>
            </a:r>
            <a:r>
              <a:rPr lang="it-IT" dirty="0" err="1"/>
              <a:t>added</a:t>
            </a:r>
            <a:r>
              <a:rPr lang="it-IT" dirty="0"/>
              <a:t> once the model works; </a:t>
            </a:r>
            <a:r>
              <a:rPr lang="it-IT" dirty="0" err="1"/>
              <a:t>it</a:t>
            </a:r>
            <a:r>
              <a:rPr lang="it-IT" dirty="0"/>
              <a:t> </a:t>
            </a:r>
            <a:r>
              <a:rPr lang="it-IT" dirty="0" err="1"/>
              <a:t>is</a:t>
            </a:r>
            <a:r>
              <a:rPr lang="it-IT" dirty="0"/>
              <a:t> a </a:t>
            </a:r>
            <a:r>
              <a:rPr lang="it-IT" dirty="0" err="1"/>
              <a:t>precondition</a:t>
            </a:r>
            <a:r>
              <a:rPr lang="it-IT" dirty="0"/>
              <a:t> for the model </a:t>
            </a:r>
            <a:r>
              <a:rPr lang="it-IT" dirty="0" err="1"/>
              <a:t>meaning</a:t>
            </a:r>
            <a:r>
              <a:rPr lang="it-IT" dirty="0"/>
              <a:t> </a:t>
            </a:r>
            <a:r>
              <a:rPr lang="it-IT" dirty="0" err="1"/>
              <a:t>anything</a:t>
            </a:r>
            <a:r>
              <a:rPr lang="it-IT"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Let me state the </a:t>
            </a:r>
            <a:r>
              <a:rPr lang="it-IT" dirty="0" err="1"/>
              <a:t>limitations</a:t>
            </a:r>
            <a:r>
              <a:rPr lang="it-IT" dirty="0"/>
              <a:t> </a:t>
            </a:r>
            <a:r>
              <a:rPr lang="it-IT" dirty="0" err="1"/>
              <a:t>plainly</a:t>
            </a:r>
            <a:r>
              <a:rPr lang="it-IT" dirty="0"/>
              <a:t>. First, θ = 0 </a:t>
            </a:r>
            <a:r>
              <a:rPr lang="it-IT" dirty="0" err="1"/>
              <a:t>is</a:t>
            </a:r>
            <a:r>
              <a:rPr lang="it-IT" dirty="0"/>
              <a:t> a benchmark </a:t>
            </a:r>
            <a:r>
              <a:rPr lang="it-IT" dirty="0" err="1"/>
              <a:t>adopted</a:t>
            </a:r>
            <a:r>
              <a:rPr lang="it-IT" dirty="0"/>
              <a:t> in the </a:t>
            </a:r>
            <a:r>
              <a:rPr lang="it-IT" dirty="0" err="1"/>
              <a:t>absence</a:t>
            </a:r>
            <a:r>
              <a:rPr lang="it-IT" dirty="0"/>
              <a:t> of EEX option-</a:t>
            </a:r>
            <a:r>
              <a:rPr lang="it-IT" dirty="0" err="1"/>
              <a:t>implied</a:t>
            </a:r>
            <a:r>
              <a:rPr lang="it-IT" dirty="0"/>
              <a:t> data; </a:t>
            </a:r>
            <a:r>
              <a:rPr lang="it-IT" dirty="0" err="1"/>
              <a:t>it</a:t>
            </a:r>
            <a:r>
              <a:rPr lang="it-IT" dirty="0"/>
              <a:t> </a:t>
            </a:r>
            <a:r>
              <a:rPr lang="it-IT" dirty="0" err="1"/>
              <a:t>is</a:t>
            </a:r>
            <a:r>
              <a:rPr lang="it-IT" dirty="0"/>
              <a:t> </a:t>
            </a:r>
            <a:r>
              <a:rPr lang="it-IT" dirty="0" err="1"/>
              <a:t>not</a:t>
            </a:r>
            <a:r>
              <a:rPr lang="it-IT" dirty="0"/>
              <a:t> a </a:t>
            </a:r>
            <a:r>
              <a:rPr lang="it-IT" dirty="0" err="1"/>
              <a:t>claim</a:t>
            </a:r>
            <a:r>
              <a:rPr lang="it-IT" dirty="0"/>
              <a:t> </a:t>
            </a:r>
            <a:r>
              <a:rPr lang="it-IT" dirty="0" err="1"/>
              <a:t>that</a:t>
            </a:r>
            <a:r>
              <a:rPr lang="it-IT" dirty="0"/>
              <a:t> the risk premium </a:t>
            </a:r>
            <a:r>
              <a:rPr lang="it-IT" dirty="0" err="1"/>
              <a:t>is</a:t>
            </a:r>
            <a:r>
              <a:rPr lang="it-IT" dirty="0"/>
              <a:t> zero. Second, cross-dataset strikes </a:t>
            </a:r>
            <a:r>
              <a:rPr lang="it-IT" dirty="0" err="1"/>
              <a:t>sit</a:t>
            </a:r>
            <a:r>
              <a:rPr lang="it-IT" dirty="0"/>
              <a:t> on </a:t>
            </a:r>
            <a:r>
              <a:rPr lang="it-IT" dirty="0" err="1"/>
              <a:t>two</a:t>
            </a:r>
            <a:r>
              <a:rPr lang="it-IT" dirty="0"/>
              <a:t> Box–Cox </a:t>
            </a:r>
            <a:r>
              <a:rPr lang="it-IT" dirty="0" err="1"/>
              <a:t>scales</a:t>
            </a:r>
            <a:r>
              <a:rPr lang="it-IT" dirty="0"/>
              <a:t> and </a:t>
            </a:r>
            <a:r>
              <a:rPr lang="it-IT" dirty="0" err="1"/>
              <a:t>two</a:t>
            </a:r>
            <a:r>
              <a:rPr lang="it-IT" dirty="0"/>
              <a:t> pricing </a:t>
            </a:r>
            <a:r>
              <a:rPr lang="it-IT" dirty="0" err="1"/>
              <a:t>dates</a:t>
            </a:r>
            <a:r>
              <a:rPr lang="it-IT" dirty="0"/>
              <a:t>. Third, one </a:t>
            </a:r>
            <a:r>
              <a:rPr lang="it-IT" dirty="0" err="1"/>
              <a:t>grid</a:t>
            </a:r>
            <a:r>
              <a:rPr lang="it-IT" dirty="0"/>
              <a:t> point stands in for a national fleet. </a:t>
            </a:r>
            <a:r>
              <a:rPr lang="it-IT" dirty="0" err="1"/>
              <a:t>Fourth</a:t>
            </a:r>
            <a:r>
              <a:rPr lang="it-IT" dirty="0"/>
              <a:t>, </a:t>
            </a:r>
            <a:r>
              <a:rPr lang="it-IT" dirty="0" err="1"/>
              <a:t>daily</a:t>
            </a:r>
            <a:r>
              <a:rPr lang="it-IT" dirty="0"/>
              <a:t> data </a:t>
            </a:r>
            <a:r>
              <a:rPr lang="it-IT" dirty="0" err="1"/>
              <a:t>leave</a:t>
            </a:r>
            <a:r>
              <a:rPr lang="it-IT" dirty="0"/>
              <a:t> the </a:t>
            </a:r>
            <a:r>
              <a:rPr lang="it-IT" dirty="0" err="1"/>
              <a:t>stochastic-volatility</a:t>
            </a:r>
            <a:r>
              <a:rPr lang="it-IT" dirty="0"/>
              <a:t> </a:t>
            </a:r>
            <a:r>
              <a:rPr lang="it-IT" dirty="0" err="1"/>
              <a:t>parameters</a:t>
            </a:r>
            <a:r>
              <a:rPr lang="it-IT" dirty="0"/>
              <a:t> </a:t>
            </a:r>
            <a:r>
              <a:rPr lang="it-IT" dirty="0" err="1"/>
              <a:t>unidentified</a:t>
            </a:r>
            <a:r>
              <a:rPr lang="it-IT" dirty="0"/>
              <a:t>: the Feller </a:t>
            </a:r>
            <a:r>
              <a:rPr lang="it-IT" dirty="0" err="1"/>
              <a:t>condition</a:t>
            </a:r>
            <a:r>
              <a:rPr lang="it-IT" dirty="0"/>
              <a:t> </a:t>
            </a:r>
            <a:r>
              <a:rPr lang="it-IT" dirty="0" err="1"/>
              <a:t>holds</a:t>
            </a:r>
            <a:r>
              <a:rPr lang="it-IT" dirty="0"/>
              <a:t> for </a:t>
            </a:r>
            <a:r>
              <a:rPr lang="it-IT" dirty="0" err="1"/>
              <a:t>Nordfriesland</a:t>
            </a:r>
            <a:r>
              <a:rPr lang="it-IT" dirty="0"/>
              <a:t> </a:t>
            </a:r>
            <a:r>
              <a:rPr lang="it-IT" dirty="0" err="1"/>
              <a:t>but</a:t>
            </a:r>
            <a:r>
              <a:rPr lang="it-IT" dirty="0"/>
              <a:t> </a:t>
            </a:r>
            <a:r>
              <a:rPr lang="it-IT" dirty="0" err="1"/>
              <a:t>depends</a:t>
            </a:r>
            <a:r>
              <a:rPr lang="it-IT" dirty="0"/>
              <a:t> on the estimator for Bologna. </a:t>
            </a:r>
            <a:r>
              <a:rPr lang="it-IT" dirty="0" err="1"/>
              <a:t>Finally</a:t>
            </a:r>
            <a:r>
              <a:rPr lang="it-IT" dirty="0"/>
              <a:t>, </a:t>
            </a:r>
            <a:r>
              <a:rPr lang="it-IT" dirty="0" err="1"/>
              <a:t>four</a:t>
            </a:r>
            <a:r>
              <a:rPr lang="it-IT" dirty="0"/>
              <a:t> and </a:t>
            </a:r>
            <a:r>
              <a:rPr lang="it-IT" dirty="0" err="1"/>
              <a:t>ten</a:t>
            </a:r>
            <a:r>
              <a:rPr lang="it-IT" dirty="0"/>
              <a:t> </a:t>
            </a:r>
            <a:r>
              <a:rPr lang="it-IT" dirty="0" err="1"/>
              <a:t>annual</a:t>
            </a:r>
            <a:r>
              <a:rPr lang="it-IT" dirty="0"/>
              <a:t> </a:t>
            </a:r>
            <a:r>
              <a:rPr lang="it-IT" dirty="0" err="1"/>
              <a:t>observations</a:t>
            </a:r>
            <a:r>
              <a:rPr lang="it-IT" dirty="0"/>
              <a:t> make </a:t>
            </a:r>
            <a:r>
              <a:rPr lang="it-IT" dirty="0" err="1"/>
              <a:t>tail</a:t>
            </a:r>
            <a:r>
              <a:rPr lang="it-IT" dirty="0"/>
              <a:t> </a:t>
            </a:r>
            <a:r>
              <a:rPr lang="it-IT" dirty="0" err="1"/>
              <a:t>statistics</a:t>
            </a:r>
            <a:r>
              <a:rPr lang="it-IT" dirty="0"/>
              <a:t> </a:t>
            </a:r>
            <a:r>
              <a:rPr lang="it-IT" dirty="0" err="1"/>
              <a:t>descriptive</a:t>
            </a:r>
            <a:r>
              <a:rPr lang="it-IT" dirty="0"/>
              <a:t>. Future work follows </a:t>
            </a:r>
            <a:r>
              <a:rPr lang="it-IT" dirty="0" err="1"/>
              <a:t>directly</a:t>
            </a:r>
            <a:r>
              <a:rPr lang="it-IT" dirty="0"/>
              <a:t>: </a:t>
            </a:r>
            <a:r>
              <a:rPr lang="it-IT" dirty="0" err="1"/>
              <a:t>calibrating</a:t>
            </a:r>
            <a:r>
              <a:rPr lang="it-IT" dirty="0"/>
              <a:t> θ from EEX power options, </a:t>
            </a:r>
            <a:r>
              <a:rPr lang="it-IT" dirty="0" err="1"/>
              <a:t>which</a:t>
            </a:r>
            <a:r>
              <a:rPr lang="it-IT" dirty="0"/>
              <a:t> </a:t>
            </a:r>
            <a:r>
              <a:rPr lang="it-IT" dirty="0" err="1"/>
              <a:t>requires</a:t>
            </a:r>
            <a:r>
              <a:rPr lang="it-IT" dirty="0"/>
              <a:t> a joint price–generation model, with Carr and Lee </a:t>
            </a:r>
            <a:r>
              <a:rPr lang="it-IT" dirty="0" err="1"/>
              <a:t>as</a:t>
            </a:r>
            <a:r>
              <a:rPr lang="it-IT" dirty="0"/>
              <a:t> </a:t>
            </a:r>
            <a:r>
              <a:rPr lang="it-IT" dirty="0" err="1"/>
              <a:t>theoretical</a:t>
            </a:r>
            <a:r>
              <a:rPr lang="it-IT" dirty="0"/>
              <a:t> </a:t>
            </a:r>
            <a:r>
              <a:rPr lang="it-IT" dirty="0" err="1"/>
              <a:t>scaffolding</a:t>
            </a:r>
            <a:r>
              <a:rPr lang="it-IT" dirty="0"/>
              <a:t>; </a:t>
            </a:r>
            <a:r>
              <a:rPr lang="it-IT" dirty="0" err="1"/>
              <a:t>hourly</a:t>
            </a:r>
            <a:r>
              <a:rPr lang="it-IT" dirty="0"/>
              <a:t> ERA5 data, to </a:t>
            </a:r>
            <a:r>
              <a:rPr lang="it-IT" dirty="0" err="1"/>
              <a:t>identify</a:t>
            </a:r>
            <a:r>
              <a:rPr lang="it-IT" dirty="0"/>
              <a:t> the </a:t>
            </a:r>
            <a:r>
              <a:rPr lang="it-IT" dirty="0" err="1"/>
              <a:t>volatility</a:t>
            </a:r>
            <a:r>
              <a:rPr lang="it-IT" dirty="0"/>
              <a:t> of </a:t>
            </a:r>
            <a:r>
              <a:rPr lang="it-IT" dirty="0" err="1"/>
              <a:t>volatility</a:t>
            </a:r>
            <a:r>
              <a:rPr lang="it-IT" dirty="0"/>
              <a:t>; a </a:t>
            </a:r>
            <a:r>
              <a:rPr lang="it-IT" dirty="0" err="1"/>
              <a:t>capacity-weighted</a:t>
            </a:r>
            <a:r>
              <a:rPr lang="it-IT" dirty="0"/>
              <a:t>, </a:t>
            </a:r>
            <a:r>
              <a:rPr lang="it-IT" dirty="0" err="1"/>
              <a:t>spatially</a:t>
            </a:r>
            <a:r>
              <a:rPr lang="it-IT" dirty="0"/>
              <a:t> </a:t>
            </a:r>
            <a:r>
              <a:rPr lang="it-IT" dirty="0" err="1"/>
              <a:t>aggregated</a:t>
            </a:r>
            <a:r>
              <a:rPr lang="it-IT" dirty="0"/>
              <a:t> wind input; and screening </a:t>
            </a:r>
            <a:r>
              <a:rPr lang="it-IT" dirty="0" err="1"/>
              <a:t>any</a:t>
            </a:r>
            <a:r>
              <a:rPr lang="it-IT" dirty="0"/>
              <a:t> candidate wind </a:t>
            </a:r>
            <a:r>
              <a:rPr lang="it-IT" dirty="0" err="1"/>
              <a:t>series</a:t>
            </a:r>
            <a:r>
              <a:rPr lang="it-IT" dirty="0"/>
              <a:t> on power-curve R-</a:t>
            </a:r>
            <a:r>
              <a:rPr lang="it-IT" dirty="0" err="1"/>
              <a:t>squared</a:t>
            </a:r>
            <a:r>
              <a:rPr lang="it-IT" dirty="0"/>
              <a:t> </a:t>
            </a:r>
            <a:r>
              <a:rPr lang="it-IT" dirty="0" err="1"/>
              <a:t>before</a:t>
            </a:r>
            <a:r>
              <a:rPr lang="it-IT" dirty="0"/>
              <a:t> pricing.</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most uncomfortable, and most interesting, result, and it is stated rather than smoothed over. The Feller condition asks whether the CIR variance process stays strictly positive almost surely. For Dataset B it holds comfortably, at a margin of 28.1 times, on every estimator considered. For Dataset A, the full-sample estimator — the same one used for B — gives a margin of only 0.8, meaning the condition is violated; but 30-day rolling estimators give margins of 3.6 to 5.1, meaning it holds. The verdict flips depending on which estimator you trust. That sensitivity is itself the finding: xi, the volatility-of-volatility parameter, is the least identified of the four CIR parameters at daily sampling frequency. It also means an earlier project record of a 27.9-times margin is not reproducible under any estimator tested and needed correcting.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All four fitted specifications share the AR(4) conditional mean, so they are identical on one-step RMSE by construction and separable only on pricing and hedging criteria (or a proper scoring rule such as CRPS). All beat persistence decisively.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AR(4) kept over the AIC-preferred AR(3) (gaps 0.59 and 1.8 units, inside the 2-point band) because the CAR(4) embedding needs a 4-dimensional companion matrix. All eigenvalues in the open left half-plane: stationary. The complex pair makes the kernel peak at about 3.6 days in both datasets, breaking the monotone Samuelson effect (Benth &amp; Saltyte Benth 2009). NIG buys little: KS p 0.079 to 0.120 for A, none for B (alpha about 2,650). Dataset B's GARCH leaves short-lag structure (z^2 lag 5 p = 0.0167, ARCH-LM p = 0.0185): a GARCH(2,1) or two-component model would be the remedy; pricing uses only h(t0) and the unconditional level.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txBody>
          <a:bodyPr/>
          <a:lstStyle/>
          <a:p>
            <a:endParaRPr/>
          </a:p>
        </p:txBody>
      </p:sp>
      <p:sp>
        <p:nvSpPr>
          <p:cNvPr id="3" name="Shape 1"/>
          <p:cNvSpPr/>
          <p:nvPr/>
        </p:nvSpPr>
        <p:spPr>
          <a:xfrm>
            <a:off x="10634472" y="-640080"/>
            <a:ext cx="2743200" cy="2743200"/>
          </a:xfrm>
          <a:prstGeom prst="ellipse">
            <a:avLst/>
          </a:prstGeom>
          <a:solidFill>
            <a:srgbClr val="065A82">
              <a:alpha val="70000"/>
            </a:srgbClr>
          </a:solidFill>
          <a:ln/>
        </p:spPr>
        <p:txBody>
          <a:bodyPr/>
          <a:lstStyle/>
          <a:p>
            <a:endParaRPr/>
          </a:p>
        </p:txBody>
      </p:sp>
      <p:sp>
        <p:nvSpPr>
          <p:cNvPr id="4" name="Text 2"/>
          <p:cNvSpPr/>
          <p:nvPr/>
        </p:nvSpPr>
        <p:spPr>
          <a:xfrm>
            <a:off x="822960" y="1965960"/>
            <a:ext cx="9144000" cy="365760"/>
          </a:xfrm>
          <a:prstGeom prst="rect">
            <a:avLst/>
          </a:prstGeom>
          <a:noFill/>
          <a:ln/>
        </p:spPr>
        <p:txBody>
          <a:bodyPr wrap="square" lIns="0" tIns="0" rIns="0" bIns="0" rtlCol="0" anchor="ctr"/>
          <a:lstStyle/>
          <a:p>
            <a:pPr marL="0" indent="0" algn="l">
              <a:buNone/>
            </a:pPr>
            <a:r>
              <a:rPr lang="en-US" sz="1400" b="1" kern="0" spc="250" dirty="0">
                <a:solidFill>
                  <a:srgbClr val="E8A33D"/>
                </a:solidFill>
                <a:latin typeface="Calibri" pitchFamily="34" charset="0"/>
                <a:ea typeface="Calibri" pitchFamily="34" charset="-122"/>
                <a:cs typeface="Calibri" pitchFamily="34" charset="-120"/>
              </a:rPr>
              <a:t>MASTER'S THESIS · FINAL EXAMINATION</a:t>
            </a:r>
            <a:endParaRPr lang="en-US" sz="1400" dirty="0"/>
          </a:p>
        </p:txBody>
      </p:sp>
      <p:sp>
        <p:nvSpPr>
          <p:cNvPr id="5" name="Text 3"/>
          <p:cNvSpPr/>
          <p:nvPr/>
        </p:nvSpPr>
        <p:spPr>
          <a:xfrm>
            <a:off x="822960" y="2423160"/>
            <a:ext cx="10241280" cy="173736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a:ea typeface="Cambria"/>
                <a:cs typeface="Cambria"/>
              </a:rPr>
              <a:t>Wind Speed Modelling</a:t>
            </a:r>
          </a:p>
          <a:p>
            <a:pPr marL="0" indent="0" algn="l">
              <a:buNone/>
            </a:pPr>
            <a:r>
              <a:rPr lang="en-US" sz="3400" b="1" dirty="0">
                <a:solidFill>
                  <a:srgbClr val="FFFFFF"/>
                </a:solidFill>
                <a:latin typeface="Cambria"/>
                <a:ea typeface="Cambria"/>
                <a:cs typeface="Cambria"/>
              </a:rPr>
              <a:t>for Derivatives Pricing</a:t>
            </a:r>
          </a:p>
        </p:txBody>
      </p:sp>
      <p:sp>
        <p:nvSpPr>
          <p:cNvPr id="6" name="Text 4"/>
          <p:cNvSpPr/>
          <p:nvPr/>
        </p:nvSpPr>
        <p:spPr>
          <a:xfrm>
            <a:off x="822960" y="4343400"/>
            <a:ext cx="10058400" cy="365760"/>
          </a:xfrm>
          <a:prstGeom prst="rect">
            <a:avLst/>
          </a:prstGeom>
          <a:noFill/>
          <a:ln/>
        </p:spPr>
        <p:txBody>
          <a:bodyPr wrap="square" lIns="0" tIns="0" rIns="0" bIns="0" rtlCol="0" anchor="ctr"/>
          <a:lstStyle/>
          <a:p>
            <a:pPr marL="0" indent="0" algn="l">
              <a:buNone/>
            </a:pPr>
            <a:r>
              <a:rPr lang="en-US" sz="1500" b="0" i="1" dirty="0">
                <a:solidFill>
                  <a:srgbClr val="FFFFFF"/>
                </a:solidFill>
                <a:latin typeface="Calibri"/>
                <a:ea typeface="Calibri"/>
                <a:cs typeface="Calibri"/>
              </a:rPr>
              <a:t>Candidate: Enrico Butali</a:t>
            </a:r>
            <a:r>
              <a:rPr lang="en-US" sz="1500" b="0" i="1" dirty="0">
                <a:solidFill>
                  <a:srgbClr val="CADCFC"/>
                </a:solidFill>
                <a:latin typeface="Calibri"/>
                <a:ea typeface="Calibri"/>
                <a:cs typeface="Calibri"/>
              </a:rPr>
              <a:t>      Supervisor: Prof.ssa Silvia Romagnoli</a:t>
            </a:r>
          </a:p>
        </p:txBody>
      </p:sp>
      <p:sp>
        <p:nvSpPr>
          <p:cNvPr id="7" name="Text 5"/>
          <p:cNvSpPr/>
          <p:nvPr/>
        </p:nvSpPr>
        <p:spPr>
          <a:xfrm>
            <a:off x="822960" y="4800600"/>
            <a:ext cx="9144000" cy="640080"/>
          </a:xfrm>
          <a:prstGeom prst="rect">
            <a:avLst/>
          </a:prstGeom>
          <a:noFill/>
          <a:ln/>
        </p:spPr>
        <p:txBody>
          <a:bodyPr wrap="square" lIns="0" tIns="0" rIns="0" bIns="0" rtlCol="0" anchor="ctr"/>
          <a:lstStyle/>
          <a:p>
            <a:pPr marL="0" indent="0" algn="l">
              <a:lnSpc>
                <a:spcPct val="120000"/>
              </a:lnSpc>
              <a:buNone/>
            </a:pPr>
            <a:r>
              <a:rPr lang="en-US" sz="1250" dirty="0">
                <a:solidFill>
                  <a:srgbClr val="EEF3F7"/>
                </a:solidFill>
                <a:latin typeface="Calibri" pitchFamily="34" charset="0"/>
                <a:ea typeface="Calibri" pitchFamily="34" charset="-122"/>
                <a:cs typeface="Calibri" pitchFamily="34" charset="-120"/>
              </a:rPr>
              <a:t>Second Cycle Degree in Greening Energy Market and Finance (LM-16 R)</a:t>
            </a:r>
            <a:endParaRPr lang="en-US" sz="1250" dirty="0"/>
          </a:p>
          <a:p>
            <a:pPr marL="0" indent="0" algn="l">
              <a:lnSpc>
                <a:spcPct val="120000"/>
              </a:lnSpc>
              <a:buNone/>
            </a:pPr>
            <a:r>
              <a:rPr lang="en-US" sz="1250" dirty="0">
                <a:solidFill>
                  <a:srgbClr val="EEF3F7"/>
                </a:solidFill>
                <a:latin typeface="Calibri" pitchFamily="34" charset="0"/>
                <a:ea typeface="Calibri" pitchFamily="34" charset="-122"/>
                <a:cs typeface="Calibri" pitchFamily="34" charset="-120"/>
              </a:rPr>
              <a:t>Department of Statistical Sciences “Paolo Fortunati” · University of Bologna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1 · MOTIVATION</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Wind is free to generate — and impossible to store</a:t>
            </a:r>
            <a:endParaRPr lang="en-US" sz="2700" dirty="0"/>
          </a:p>
        </p:txBody>
      </p:sp>
      <p:sp>
        <p:nvSpPr>
          <p:cNvPr id="4" name="Shape 2"/>
          <p:cNvSpPr/>
          <p:nvPr/>
        </p:nvSpPr>
        <p:spPr>
          <a:xfrm>
            <a:off x="548640" y="1783080"/>
            <a:ext cx="6675120" cy="4297680"/>
          </a:xfrm>
          <a:prstGeom prst="roundRect">
            <a:avLst>
              <a:gd name="adj" fmla="val 1915"/>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11680"/>
            <a:ext cx="6080760" cy="3840480"/>
          </a:xfrm>
          <a:prstGeom prst="rect">
            <a:avLst/>
          </a:prstGeom>
          <a:noFill/>
          <a:ln/>
        </p:spPr>
        <p:txBody>
          <a:bodyPr wrap="square" lIns="0" tIns="0" rIns="0" bIns="0" rtlCol="0" anchor="ctr"/>
          <a:lstStyle/>
          <a:p>
            <a:pPr marL="0" indent="0" algn="l">
              <a:lnSpc>
                <a:spcPct val="118000"/>
              </a:lnSpc>
              <a:buNone/>
            </a:pPr>
            <a:r>
              <a:rPr lang="en-US" sz="1500" b="1" dirty="0">
                <a:solidFill>
                  <a:srgbClr val="21295C"/>
                </a:solidFill>
                <a:latin typeface="Calibri" pitchFamily="34" charset="0"/>
                <a:ea typeface="Calibri" pitchFamily="34" charset="-122"/>
                <a:cs typeface="Calibri" pitchFamily="34" charset="-120"/>
              </a:rPr>
              <a:t>Two legs of exposure for a wind producer
</a:t>
            </a:r>
            <a:endParaRPr lang="en-US" sz="1500" dirty="0"/>
          </a:p>
          <a:p>
            <a:pPr marL="0" indent="0" algn="l">
              <a:lnSpc>
                <a:spcPct val="118000"/>
              </a:lnSpc>
              <a:buNone/>
            </a:pPr>
            <a:r>
              <a:rPr lang="en-US" sz="1300" dirty="0">
                <a:solidFill>
                  <a:srgbClr val="56606B"/>
                </a:solidFill>
                <a:latin typeface="Calibri" pitchFamily="34" charset="0"/>
                <a:ea typeface="Calibri" pitchFamily="34" charset="-122"/>
                <a:cs typeface="Calibri" pitchFamily="34" charset="-120"/>
              </a:rPr>
              <a:t>Volumetric — calm days cut generation directly; the shortfall is autocorrelated and seasonally heteroskedastic, not diversified away.
</a:t>
            </a:r>
            <a:endParaRPr lang="en-US" sz="1500" dirty="0"/>
          </a:p>
          <a:p>
            <a:pPr marL="0" indent="0" algn="l">
              <a:lnSpc>
                <a:spcPct val="118000"/>
              </a:lnSpc>
              <a:buNone/>
            </a:pPr>
            <a:r>
              <a:rPr lang="en-US" sz="1300" dirty="0">
                <a:solidFill>
                  <a:srgbClr val="56606B"/>
                </a:solidFill>
                <a:latin typeface="Calibri" pitchFamily="34" charset="0"/>
                <a:ea typeface="Calibri" pitchFamily="34" charset="-122"/>
                <a:cs typeface="Calibri" pitchFamily="34" charset="-120"/>
              </a:rPr>
              <a:t>Price (merit order) — high wind output depresses the day-ahead clearing price; storm passages can push it to zero or below.
</a:t>
            </a:r>
            <a:endParaRPr lang="en-US" sz="1500" dirty="0"/>
          </a:p>
          <a:p>
            <a:pPr marL="0" indent="0" algn="l">
              <a:lnSpc>
                <a:spcPct val="118000"/>
              </a:lnSpc>
              <a:buNone/>
            </a:pPr>
            <a:r>
              <a:rPr lang="en-US" sz="1500" b="1" dirty="0">
                <a:solidFill>
                  <a:srgbClr val="21295C"/>
                </a:solidFill>
                <a:latin typeface="Calibri" pitchFamily="34" charset="0"/>
                <a:ea typeface="Calibri" pitchFamily="34" charset="-122"/>
                <a:cs typeface="Calibri" pitchFamily="34" charset="-120"/>
              </a:rPr>
              <a:t>A weak, asymmetric natural hedge
</a:t>
            </a:r>
            <a:endParaRPr lang="en-US" sz="1500" dirty="0"/>
          </a:p>
          <a:p>
            <a:pPr marL="0" indent="0" algn="l">
              <a:lnSpc>
                <a:spcPct val="118000"/>
              </a:lnSpc>
              <a:buNone/>
            </a:pPr>
            <a:r>
              <a:rPr lang="en-US" sz="1300" dirty="0">
                <a:solidFill>
                  <a:srgbClr val="56606B"/>
                </a:solidFill>
                <a:latin typeface="Calibri" pitchFamily="34" charset="0"/>
                <a:ea typeface="Calibri" pitchFamily="34" charset="-122"/>
                <a:cs typeface="Calibri" pitchFamily="34" charset="-120"/>
              </a:rPr>
              <a:t>ρ(generation, price) = −0.16 over 2015–2024 — real, but too weak and one-sided to substitute for a dedicated instrument. It cuts the upside without a floor under the downside.</a:t>
            </a:r>
            <a:endParaRPr lang="en-US" sz="1500" dirty="0"/>
          </a:p>
        </p:txBody>
      </p:sp>
      <p:sp>
        <p:nvSpPr>
          <p:cNvPr id="6" name="Shape 4"/>
          <p:cNvSpPr/>
          <p:nvPr/>
        </p:nvSpPr>
        <p:spPr>
          <a:xfrm>
            <a:off x="7452360" y="1783080"/>
            <a:ext cx="4206240" cy="4297680"/>
          </a:xfrm>
          <a:prstGeom prst="roundRect">
            <a:avLst>
              <a:gd name="adj" fmla="val 1957"/>
            </a:avLst>
          </a:prstGeom>
          <a:solidFill>
            <a:srgbClr val="21295C"/>
          </a:solidFill>
          <a:ln/>
          <a:effectLst>
            <a:outerShdw blurRad="88900" dist="25400" dir="5400000" algn="bl" rotWithShape="0">
              <a:srgbClr val="1C1C1C">
                <a:alpha val="16000"/>
              </a:srgbClr>
            </a:outerShdw>
          </a:effectLst>
        </p:spPr>
        <p:txBody>
          <a:bodyPr/>
          <a:lstStyle/>
          <a:p>
            <a:endParaRPr/>
          </a:p>
        </p:txBody>
      </p:sp>
      <p:sp>
        <p:nvSpPr>
          <p:cNvPr id="7" name="Text 5"/>
          <p:cNvSpPr/>
          <p:nvPr/>
        </p:nvSpPr>
        <p:spPr>
          <a:xfrm>
            <a:off x="7726680" y="2011680"/>
            <a:ext cx="3657600" cy="27432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ILLUSTRATIVE SCALE</a:t>
            </a:r>
            <a:endParaRPr lang="en-US" sz="1100" dirty="0"/>
          </a:p>
        </p:txBody>
      </p:sp>
      <p:sp>
        <p:nvSpPr>
          <p:cNvPr id="8" name="Text 6"/>
          <p:cNvSpPr/>
          <p:nvPr/>
        </p:nvSpPr>
        <p:spPr>
          <a:xfrm>
            <a:off x="7726680" y="2331720"/>
            <a:ext cx="36576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100 MW</a:t>
            </a:r>
            <a:endParaRPr lang="en-US" sz="4000" dirty="0"/>
          </a:p>
        </p:txBody>
      </p:sp>
      <p:sp>
        <p:nvSpPr>
          <p:cNvPr id="9" name="Text 7"/>
          <p:cNvSpPr/>
          <p:nvPr/>
        </p:nvSpPr>
        <p:spPr>
          <a:xfrm>
            <a:off x="7726680" y="3063240"/>
            <a:ext cx="3566160" cy="548640"/>
          </a:xfrm>
          <a:prstGeom prst="rect">
            <a:avLst/>
          </a:prstGeom>
          <a:noFill/>
          <a:ln/>
        </p:spPr>
        <p:txBody>
          <a:bodyPr wrap="square" lIns="0" tIns="0" rIns="0" bIns="0" rtlCol="0" anchor="ctr"/>
          <a:lstStyle/>
          <a:p>
            <a:pPr marL="0" indent="0" algn="l">
              <a:buNone/>
            </a:pPr>
            <a:r>
              <a:rPr lang="en-US" sz="1200" b="0" dirty="0">
                <a:solidFill>
                  <a:srgbClr val="EEF3F7"/>
                </a:solidFill>
                <a:latin typeface="Calibri"/>
                <a:ea typeface="Calibri"/>
                <a:cs typeface="Calibri"/>
              </a:rPr>
              <a:t>farm, 25.7% capacity factor → ≈225,100 MWh / yr</a:t>
            </a:r>
          </a:p>
        </p:txBody>
      </p:sp>
      <p:sp>
        <p:nvSpPr>
          <p:cNvPr id="10" name="Text 8"/>
          <p:cNvSpPr/>
          <p:nvPr/>
        </p:nvSpPr>
        <p:spPr>
          <a:xfrm>
            <a:off x="7726680" y="3794760"/>
            <a:ext cx="3657600" cy="548640"/>
          </a:xfrm>
          <a:prstGeom prst="rect">
            <a:avLst/>
          </a:prstGeom>
          <a:noFill/>
          <a:ln/>
        </p:spPr>
        <p:txBody>
          <a:bodyPr wrap="square" lIns="0" tIns="0" rIns="0" bIns="0"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 €16.1m</a:t>
            </a:r>
            <a:endParaRPr lang="en-US" sz="3000" dirty="0"/>
          </a:p>
        </p:txBody>
      </p:sp>
      <p:sp>
        <p:nvSpPr>
          <p:cNvPr id="11" name="Text 9"/>
          <p:cNvSpPr/>
          <p:nvPr/>
        </p:nvSpPr>
        <p:spPr>
          <a:xfrm>
            <a:off x="7726680" y="4343400"/>
            <a:ext cx="3566160" cy="1463040"/>
          </a:xfrm>
          <a:prstGeom prst="rect">
            <a:avLst/>
          </a:prstGeom>
          <a:noFill/>
          <a:ln/>
        </p:spPr>
        <p:txBody>
          <a:bodyPr wrap="square" lIns="0" tIns="0" rIns="0" bIns="0" rtlCol="0" anchor="ctr"/>
          <a:lstStyle/>
          <a:p>
            <a:pPr marL="0" indent="0">
              <a:lnSpc>
                <a:spcPct val="118000"/>
              </a:lnSpc>
              <a:buNone/>
            </a:pPr>
            <a:r>
              <a:rPr lang="en-US" sz="1150" dirty="0">
                <a:solidFill>
                  <a:srgbClr val="EEF3F7"/>
                </a:solidFill>
                <a:latin typeface="Calibri" pitchFamily="34" charset="0"/>
                <a:ea typeface="Calibri" pitchFamily="34" charset="-122"/>
                <a:cs typeface="Calibri" pitchFamily="34" charset="-120"/>
              </a:rPr>
              <a:t>annual revenue at the 2015–2024 mean SMARD price (€71.38/MWh) — gross, illustrative, not a project valuation.</a:t>
            </a:r>
            <a:endParaRPr lang="en-US" sz="115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1 · AIM AND SCOPE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What the thesis sets out to do</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3</a:t>
            </a:r>
            <a:endParaRPr lang="en-US" sz="900" dirty="0"/>
          </a:p>
        </p:txBody>
      </p:sp>
      <p:sp>
        <p:nvSpPr>
          <p:cNvPr id="14" name="Rounded Rectangle 13"/>
          <p:cNvSpPr/>
          <p:nvPr/>
        </p:nvSpPr>
        <p:spPr>
          <a:xfrm>
            <a:off x="548640" y="1783080"/>
            <a:ext cx="11109960" cy="1371600"/>
          </a:xfrm>
          <a:prstGeom prst="roundRect">
            <a:avLst>
              <a:gd name="adj" fmla="val 6000"/>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892807"/>
            <a:ext cx="5486400" cy="274320"/>
          </a:xfrm>
          <a:prstGeom prst="rect">
            <a:avLst/>
          </a:prstGeom>
          <a:noFill/>
        </p:spPr>
        <p:txBody>
          <a:bodyPr wrap="square" lIns="0" tIns="0" rIns="0" bIns="0" anchor="ctr">
            <a:spAutoFit/>
          </a:bodyPr>
          <a:lstStyle/>
          <a:p>
            <a:pPr algn="l"/>
            <a:r>
              <a:rPr sz="1200" b="1" i="0" spc="100">
                <a:solidFill>
                  <a:srgbClr val="E8A33D"/>
                </a:solidFill>
                <a:latin typeface="Calibri"/>
              </a:rPr>
              <a:t>THE QUESTION</a:t>
            </a:r>
          </a:p>
        </p:txBody>
      </p:sp>
      <p:sp>
        <p:nvSpPr>
          <p:cNvPr id="16" name="TextBox 15"/>
          <p:cNvSpPr txBox="1"/>
          <p:nvPr/>
        </p:nvSpPr>
        <p:spPr>
          <a:xfrm>
            <a:off x="868680" y="2194560"/>
            <a:ext cx="10469880" cy="868680"/>
          </a:xfrm>
          <a:prstGeom prst="rect">
            <a:avLst/>
          </a:prstGeom>
          <a:noFill/>
        </p:spPr>
        <p:txBody>
          <a:bodyPr wrap="square" lIns="0" tIns="0" rIns="0" bIns="0" anchor="ctr">
            <a:spAutoFit/>
          </a:bodyPr>
          <a:lstStyle/>
          <a:p>
            <a:pPr algn="l">
              <a:lnSpc>
                <a:spcPct val="105000"/>
              </a:lnSpc>
            </a:pPr>
            <a:r>
              <a:rPr sz="2000" b="1" i="0">
                <a:solidFill>
                  <a:srgbClr val="FFFFFF"/>
                </a:solidFill>
                <a:latin typeface="Cambria"/>
              </a:rPr>
              <a:t>Can a continuous-time wind-speed model price a German onshore producer’s volumetric risk — and how much does that price depend on calibrating it on the right wind data?</a:t>
            </a:r>
          </a:p>
        </p:txBody>
      </p:sp>
      <p:sp>
        <p:nvSpPr>
          <p:cNvPr id="17" name="Rounded Rectangle 16"/>
          <p:cNvSpPr/>
          <p:nvPr/>
        </p:nvSpPr>
        <p:spPr>
          <a:xfrm>
            <a:off x="548640" y="3383280"/>
            <a:ext cx="6766560" cy="2880360"/>
          </a:xfrm>
          <a:prstGeom prst="roundRect">
            <a:avLst>
              <a:gd name="adj" fmla="val 2857"/>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8" name="TextBox 17"/>
          <p:cNvSpPr txBox="1"/>
          <p:nvPr/>
        </p:nvSpPr>
        <p:spPr>
          <a:xfrm>
            <a:off x="868680" y="3493008"/>
            <a:ext cx="5486400" cy="274320"/>
          </a:xfrm>
          <a:prstGeom prst="rect">
            <a:avLst/>
          </a:prstGeom>
          <a:noFill/>
        </p:spPr>
        <p:txBody>
          <a:bodyPr wrap="square" lIns="0" tIns="0" rIns="0" bIns="0" anchor="ctr">
            <a:spAutoFit/>
          </a:bodyPr>
          <a:lstStyle/>
          <a:p>
            <a:pPr algn="l"/>
            <a:r>
              <a:rPr sz="1200" b="1" i="0" spc="100">
                <a:solidFill>
                  <a:srgbClr val="1C7293"/>
                </a:solidFill>
                <a:latin typeface="Calibri"/>
              </a:rPr>
              <a:t>SCOPE</a:t>
            </a:r>
          </a:p>
        </p:txBody>
      </p:sp>
      <p:sp>
        <p:nvSpPr>
          <p:cNvPr id="19" name="TextBox 18"/>
          <p:cNvSpPr txBox="1"/>
          <p:nvPr/>
        </p:nvSpPr>
        <p:spPr>
          <a:xfrm>
            <a:off x="868680" y="3794760"/>
            <a:ext cx="6172200" cy="2423160"/>
          </a:xfrm>
          <a:prstGeom prst="rect">
            <a:avLst/>
          </a:prstGeom>
          <a:noFill/>
        </p:spPr>
        <p:txBody>
          <a:bodyPr wrap="square" lIns="0" tIns="0" rIns="0" bIns="0" anchor="t">
            <a:spAutoFit/>
          </a:bodyPr>
          <a:lstStyle/>
          <a:p>
            <a:pPr algn="l">
              <a:lnSpc>
                <a:spcPct val="110000"/>
              </a:lnSpc>
              <a:spcAft>
                <a:spcPts val="600"/>
              </a:spcAft>
            </a:pPr>
            <a:r>
              <a:rPr sz="1350" b="1" i="0">
                <a:solidFill>
                  <a:srgbClr val="21295C"/>
                </a:solidFill>
                <a:latin typeface="Calibri"/>
              </a:rPr>
              <a:t>Starting point. </a:t>
            </a:r>
            <a:r>
              <a:rPr sz="1350" b="0" i="0">
                <a:solidFill>
                  <a:srgbClr val="56606B"/>
                </a:solidFill>
                <a:latin typeface="Calibri"/>
              </a:rPr>
              <a:t>After the weak merit-order hedge (ρ = −0.16) a producer keeps a volumetric risk, priced here on German onshore wind generation (SMARD, 2015–2024).</a:t>
            </a:r>
          </a:p>
          <a:p>
            <a:pPr algn="l">
              <a:lnSpc>
                <a:spcPct val="110000"/>
              </a:lnSpc>
              <a:spcAft>
                <a:spcPts val="600"/>
              </a:spcAft>
            </a:pPr>
            <a:r>
              <a:rPr sz="1350" b="1" i="0">
                <a:solidFill>
                  <a:srgbClr val="21295C"/>
                </a:solidFill>
                <a:latin typeface="Calibri"/>
              </a:rPr>
              <a:t>Method. </a:t>
            </a:r>
            <a:r>
              <a:rPr sz="1350" b="0" i="0">
                <a:solidFill>
                  <a:srgbClr val="56606B"/>
                </a:solidFill>
                <a:latin typeface="Calibri"/>
              </a:rPr>
              <a:t>One pipeline — Box–Cox and Fourier deseasonalisation, AR(4), GARCH(1,1), CAR(4) — yields a closed-form variance-swap fair strike.</a:t>
            </a:r>
          </a:p>
          <a:p>
            <a:pPr algn="l">
              <a:lnSpc>
                <a:spcPct val="110000"/>
              </a:lnSpc>
              <a:spcAft>
                <a:spcPts val="600"/>
              </a:spcAft>
            </a:pPr>
            <a:r>
              <a:rPr sz="1350" b="1" i="0">
                <a:solidFill>
                  <a:srgbClr val="21295C"/>
                </a:solidFill>
                <a:latin typeface="Calibri"/>
              </a:rPr>
              <a:t>Design. </a:t>
            </a:r>
            <a:r>
              <a:rPr sz="1350" b="0" i="0">
                <a:solidFill>
                  <a:srgbClr val="56606B"/>
                </a:solidFill>
                <a:latin typeface="Calibri"/>
              </a:rPr>
              <a:t>The identical pipeline runs on a misaligned proxy (Bologna, 10 m) and an aligned reference (Nordfriesland, 100 m): the gap between the two prices is the Value of Information.</a:t>
            </a:r>
          </a:p>
          <a:p>
            <a:pPr algn="l">
              <a:lnSpc>
                <a:spcPct val="110000"/>
              </a:lnSpc>
            </a:pPr>
            <a:r>
              <a:rPr sz="1200" b="0" i="1">
                <a:solidFill>
                  <a:srgbClr val="56606B"/>
                </a:solidFill>
                <a:latin typeface="Calibri"/>
              </a:rPr>
              <a:t>θ = 0 is adopted as a benchmark assumption in the absence of EEX option-implied data; all strikes are physical-measure expectations.</a:t>
            </a:r>
          </a:p>
        </p:txBody>
      </p:sp>
      <p:sp>
        <p:nvSpPr>
          <p:cNvPr id="20" name="Rounded Rectangle 19"/>
          <p:cNvSpPr/>
          <p:nvPr/>
        </p:nvSpPr>
        <p:spPr>
          <a:xfrm>
            <a:off x="7543800" y="3383280"/>
            <a:ext cx="4114800" cy="86868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1" name="Oval 20"/>
          <p:cNvSpPr/>
          <p:nvPr/>
        </p:nvSpPr>
        <p:spPr>
          <a:xfrm>
            <a:off x="7726679" y="3566160"/>
            <a:ext cx="502920" cy="502920"/>
          </a:xfrm>
          <a:prstGeom prst="ellipse">
            <a:avLst/>
          </a:prstGeom>
          <a:solidFill>
            <a:srgbClr val="1C7293"/>
          </a:solidFill>
          <a:ln>
            <a:noFill/>
          </a:ln>
        </p:spPr>
        <p:txBody>
          <a:bodyPr rtlCol="0" anchor="ctr"/>
          <a:lstStyle/>
          <a:p>
            <a:pPr algn="ctr"/>
            <a:endParaRPr/>
          </a:p>
        </p:txBody>
      </p:sp>
      <p:sp>
        <p:nvSpPr>
          <p:cNvPr id="22" name="TextBox 21"/>
          <p:cNvSpPr txBox="1"/>
          <p:nvPr/>
        </p:nvSpPr>
        <p:spPr>
          <a:xfrm>
            <a:off x="7726679" y="3566160"/>
            <a:ext cx="502920" cy="502920"/>
          </a:xfrm>
          <a:prstGeom prst="rect">
            <a:avLst/>
          </a:prstGeom>
          <a:noFill/>
        </p:spPr>
        <p:txBody>
          <a:bodyPr wrap="square" lIns="0" tIns="0" rIns="0" bIns="0" anchor="ctr">
            <a:spAutoFit/>
          </a:bodyPr>
          <a:lstStyle/>
          <a:p>
            <a:pPr algn="ctr"/>
            <a:r>
              <a:rPr sz="1500" b="1" i="0">
                <a:solidFill>
                  <a:srgbClr val="FFFFFF"/>
                </a:solidFill>
                <a:latin typeface="Calibri"/>
              </a:rPr>
              <a:t>1</a:t>
            </a:r>
          </a:p>
        </p:txBody>
      </p:sp>
      <p:sp>
        <p:nvSpPr>
          <p:cNvPr id="23" name="TextBox 22"/>
          <p:cNvSpPr txBox="1"/>
          <p:nvPr/>
        </p:nvSpPr>
        <p:spPr>
          <a:xfrm>
            <a:off x="8412480" y="3456432"/>
            <a:ext cx="3108960" cy="274320"/>
          </a:xfrm>
          <a:prstGeom prst="rect">
            <a:avLst/>
          </a:prstGeom>
          <a:noFill/>
        </p:spPr>
        <p:txBody>
          <a:bodyPr wrap="square" lIns="0" tIns="0" rIns="0" bIns="0" anchor="ctr">
            <a:spAutoFit/>
          </a:bodyPr>
          <a:lstStyle/>
          <a:p>
            <a:pPr algn="l"/>
            <a:r>
              <a:rPr sz="1150" b="1" i="0" spc="100">
                <a:solidFill>
                  <a:srgbClr val="C8791A"/>
                </a:solidFill>
                <a:latin typeface="Calibri"/>
              </a:rPr>
              <a:t>PRICE</a:t>
            </a:r>
          </a:p>
        </p:txBody>
      </p:sp>
      <p:sp>
        <p:nvSpPr>
          <p:cNvPr id="24" name="TextBox 23"/>
          <p:cNvSpPr txBox="1"/>
          <p:nvPr/>
        </p:nvSpPr>
        <p:spPr>
          <a:xfrm>
            <a:off x="8412480" y="3730752"/>
            <a:ext cx="3108960" cy="502920"/>
          </a:xfrm>
          <a:prstGeom prst="rect">
            <a:avLst/>
          </a:prstGeom>
          <a:noFill/>
        </p:spPr>
        <p:txBody>
          <a:bodyPr wrap="square" lIns="0" tIns="0" rIns="0" bIns="0" anchor="t">
            <a:spAutoFit/>
          </a:bodyPr>
          <a:lstStyle/>
          <a:p>
            <a:pPr algn="l">
              <a:lnSpc>
                <a:spcPct val="100000"/>
              </a:lnSpc>
            </a:pPr>
            <a:r>
              <a:rPr sz="1250" b="0" i="0">
                <a:solidFill>
                  <a:srgbClr val="56606B"/>
                </a:solidFill>
                <a:latin typeface="Calibri"/>
              </a:rPr>
              <a:t>A synthetic variance swap on wind generation — can it be priced in closed form?</a:t>
            </a:r>
          </a:p>
        </p:txBody>
      </p:sp>
      <p:sp>
        <p:nvSpPr>
          <p:cNvPr id="25" name="Rounded Rectangle 24"/>
          <p:cNvSpPr/>
          <p:nvPr/>
        </p:nvSpPr>
        <p:spPr>
          <a:xfrm>
            <a:off x="7543800" y="4370832"/>
            <a:ext cx="4114800" cy="86868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6" name="Oval 25"/>
          <p:cNvSpPr/>
          <p:nvPr/>
        </p:nvSpPr>
        <p:spPr>
          <a:xfrm>
            <a:off x="7726679" y="4553712"/>
            <a:ext cx="502920" cy="502920"/>
          </a:xfrm>
          <a:prstGeom prst="ellipse">
            <a:avLst/>
          </a:prstGeom>
          <a:solidFill>
            <a:srgbClr val="1C7293"/>
          </a:solidFill>
          <a:ln>
            <a:noFill/>
          </a:ln>
        </p:spPr>
        <p:txBody>
          <a:bodyPr rtlCol="0" anchor="ctr"/>
          <a:lstStyle/>
          <a:p>
            <a:pPr algn="ctr"/>
            <a:endParaRPr/>
          </a:p>
        </p:txBody>
      </p:sp>
      <p:sp>
        <p:nvSpPr>
          <p:cNvPr id="27" name="TextBox 26"/>
          <p:cNvSpPr txBox="1"/>
          <p:nvPr/>
        </p:nvSpPr>
        <p:spPr>
          <a:xfrm>
            <a:off x="7726679" y="4553712"/>
            <a:ext cx="502920" cy="502920"/>
          </a:xfrm>
          <a:prstGeom prst="rect">
            <a:avLst/>
          </a:prstGeom>
          <a:noFill/>
        </p:spPr>
        <p:txBody>
          <a:bodyPr wrap="square" lIns="0" tIns="0" rIns="0" bIns="0" anchor="ctr">
            <a:spAutoFit/>
          </a:bodyPr>
          <a:lstStyle/>
          <a:p>
            <a:pPr algn="ctr"/>
            <a:r>
              <a:rPr sz="1500" b="1" i="0">
                <a:solidFill>
                  <a:srgbClr val="FFFFFF"/>
                </a:solidFill>
                <a:latin typeface="Calibri"/>
              </a:rPr>
              <a:t>2</a:t>
            </a:r>
          </a:p>
        </p:txBody>
      </p:sp>
      <p:sp>
        <p:nvSpPr>
          <p:cNvPr id="28" name="TextBox 27"/>
          <p:cNvSpPr txBox="1"/>
          <p:nvPr/>
        </p:nvSpPr>
        <p:spPr>
          <a:xfrm>
            <a:off x="8412480" y="4443984"/>
            <a:ext cx="3108960" cy="274320"/>
          </a:xfrm>
          <a:prstGeom prst="rect">
            <a:avLst/>
          </a:prstGeom>
          <a:noFill/>
        </p:spPr>
        <p:txBody>
          <a:bodyPr wrap="square" lIns="0" tIns="0" rIns="0" bIns="0" anchor="ctr">
            <a:spAutoFit/>
          </a:bodyPr>
          <a:lstStyle/>
          <a:p>
            <a:pPr algn="l"/>
            <a:r>
              <a:rPr sz="1150" b="1" i="0" spc="100">
                <a:solidFill>
                  <a:srgbClr val="C8791A"/>
                </a:solidFill>
                <a:latin typeface="Calibri"/>
              </a:rPr>
              <a:t>HEDGE</a:t>
            </a:r>
          </a:p>
        </p:txBody>
      </p:sp>
      <p:sp>
        <p:nvSpPr>
          <p:cNvPr id="29" name="TextBox 28"/>
          <p:cNvSpPr txBox="1"/>
          <p:nvPr/>
        </p:nvSpPr>
        <p:spPr>
          <a:xfrm>
            <a:off x="8412480" y="4718304"/>
            <a:ext cx="3108960" cy="502920"/>
          </a:xfrm>
          <a:prstGeom prst="rect">
            <a:avLst/>
          </a:prstGeom>
          <a:noFill/>
        </p:spPr>
        <p:txBody>
          <a:bodyPr wrap="square" lIns="0" tIns="0" rIns="0" bIns="0" anchor="t">
            <a:spAutoFit/>
          </a:bodyPr>
          <a:lstStyle/>
          <a:p>
            <a:pPr algn="l">
              <a:lnSpc>
                <a:spcPct val="100000"/>
              </a:lnSpc>
            </a:pPr>
            <a:r>
              <a:rPr sz="1250" b="0" i="0">
                <a:solidFill>
                  <a:srgbClr val="56606B"/>
                </a:solidFill>
                <a:latin typeface="Calibri"/>
              </a:rPr>
              <a:t>A CAWS instrument for the calm years a variance swap cannot see.</a:t>
            </a:r>
          </a:p>
        </p:txBody>
      </p:sp>
      <p:sp>
        <p:nvSpPr>
          <p:cNvPr id="30" name="Rounded Rectangle 29"/>
          <p:cNvSpPr/>
          <p:nvPr/>
        </p:nvSpPr>
        <p:spPr>
          <a:xfrm>
            <a:off x="7543800" y="5358384"/>
            <a:ext cx="4114800" cy="86868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31" name="Oval 30"/>
          <p:cNvSpPr/>
          <p:nvPr/>
        </p:nvSpPr>
        <p:spPr>
          <a:xfrm>
            <a:off x="7726679" y="5541264"/>
            <a:ext cx="502920" cy="502920"/>
          </a:xfrm>
          <a:prstGeom prst="ellipse">
            <a:avLst/>
          </a:prstGeom>
          <a:solidFill>
            <a:srgbClr val="C8791A"/>
          </a:solidFill>
          <a:ln>
            <a:noFill/>
          </a:ln>
        </p:spPr>
        <p:txBody>
          <a:bodyPr rtlCol="0" anchor="ctr"/>
          <a:lstStyle/>
          <a:p>
            <a:pPr algn="ctr"/>
            <a:endParaRPr/>
          </a:p>
        </p:txBody>
      </p:sp>
      <p:sp>
        <p:nvSpPr>
          <p:cNvPr id="32" name="TextBox 31"/>
          <p:cNvSpPr txBox="1"/>
          <p:nvPr/>
        </p:nvSpPr>
        <p:spPr>
          <a:xfrm>
            <a:off x="7726679" y="5541264"/>
            <a:ext cx="502920" cy="502920"/>
          </a:xfrm>
          <a:prstGeom prst="rect">
            <a:avLst/>
          </a:prstGeom>
          <a:noFill/>
        </p:spPr>
        <p:txBody>
          <a:bodyPr wrap="square" lIns="0" tIns="0" rIns="0" bIns="0" anchor="ctr">
            <a:spAutoFit/>
          </a:bodyPr>
          <a:lstStyle/>
          <a:p>
            <a:pPr algn="ctr"/>
            <a:r>
              <a:rPr sz="1500" b="1" i="0">
                <a:solidFill>
                  <a:srgbClr val="FFFFFF"/>
                </a:solidFill>
                <a:latin typeface="Calibri"/>
              </a:rPr>
              <a:t>3</a:t>
            </a:r>
          </a:p>
        </p:txBody>
      </p:sp>
      <p:sp>
        <p:nvSpPr>
          <p:cNvPr id="33" name="TextBox 32"/>
          <p:cNvSpPr txBox="1"/>
          <p:nvPr/>
        </p:nvSpPr>
        <p:spPr>
          <a:xfrm>
            <a:off x="8412480" y="5431536"/>
            <a:ext cx="3108960" cy="274320"/>
          </a:xfrm>
          <a:prstGeom prst="rect">
            <a:avLst/>
          </a:prstGeom>
          <a:noFill/>
        </p:spPr>
        <p:txBody>
          <a:bodyPr wrap="square" lIns="0" tIns="0" rIns="0" bIns="0" anchor="ctr">
            <a:spAutoFit/>
          </a:bodyPr>
          <a:lstStyle/>
          <a:p>
            <a:pPr algn="l"/>
            <a:r>
              <a:rPr sz="1150" b="1" i="0" spc="100">
                <a:solidFill>
                  <a:srgbClr val="C8791A"/>
                </a:solidFill>
                <a:latin typeface="Calibri"/>
              </a:rPr>
              <a:t>DATA · VALUE OF INFORMATION</a:t>
            </a:r>
          </a:p>
        </p:txBody>
      </p:sp>
      <p:sp>
        <p:nvSpPr>
          <p:cNvPr id="34" name="TextBox 33"/>
          <p:cNvSpPr txBox="1"/>
          <p:nvPr/>
        </p:nvSpPr>
        <p:spPr>
          <a:xfrm>
            <a:off x="8412480" y="5705856"/>
            <a:ext cx="3108960" cy="502920"/>
          </a:xfrm>
          <a:prstGeom prst="rect">
            <a:avLst/>
          </a:prstGeom>
          <a:noFill/>
        </p:spPr>
        <p:txBody>
          <a:bodyPr wrap="square" lIns="0" tIns="0" rIns="0" bIns="0" anchor="t">
            <a:spAutoFit/>
          </a:bodyPr>
          <a:lstStyle/>
          <a:p>
            <a:pPr algn="l">
              <a:lnSpc>
                <a:spcPct val="100000"/>
              </a:lnSpc>
            </a:pPr>
            <a:r>
              <a:rPr sz="1250" b="0" i="0">
                <a:solidFill>
                  <a:srgbClr val="56606B"/>
                </a:solidFill>
                <a:latin typeface="Calibri"/>
              </a:rPr>
              <a:t>What does the wrong wind data cost — before and after a height correction?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1 · DATA</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Two datasets, one identical pipeline</a:t>
            </a:r>
            <a:endParaRPr lang="en-US" sz="2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109960" cy="3218688"/>
        </p:xfrm>
        <a:graphic>
          <a:graphicData uri="http://schemas.openxmlformats.org/drawingml/2006/table">
            <a:tbl>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402336">
                <a:tc>
                  <a:txBody>
                    <a:bodyPr/>
                    <a:lstStyle/>
                    <a:p>
                      <a:pPr marL="0" indent="0" algn="l">
                        <a:buNone/>
                      </a:pP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Dataset A — Proxy</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Dataset B — Reference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extLst>
                  <a:ext uri="{0D108BD9-81ED-4DB2-BD59-A6C34878D82A}">
                    <a16:rowId xmlns:a16="http://schemas.microsoft.com/office/drawing/2014/main" val="10000"/>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Location</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Bologna, Italy (44.29°N, 11.20°E)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Nordfriesland, Germany (54.77°N, 8.85°E)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Height</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10 m</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100 m (hub height)</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2"/>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OpenWeatherMap API</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Open-Meteo · ERA5 reanalysis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Period</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2015–2018 (4 yr)</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2015–2024 (10 yr)</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4"/>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Observations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1,462 daily</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3,653 daily</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Mean wind speed</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2.47 m/s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8.07 m/s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6"/>
                  </a:ext>
                </a:extLst>
              </a:tr>
              <a:tr h="402336">
                <a:tc>
                  <a:txBody>
                    <a:bodyPr/>
                    <a:lstStyle/>
                    <a:p>
                      <a:pPr marL="0" indent="0" algn="l">
                        <a:buNone/>
                      </a:pPr>
                      <a:r>
                        <a:rPr lang="en-US" sz="1300" b="1" dirty="0">
                          <a:solidFill>
                            <a:srgbClr val="56606B"/>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Build &amp; validate the methodology</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56606B"/>
                          </a:solidFill>
                          <a:latin typeface="Calibri" pitchFamily="34" charset="0"/>
                          <a:ea typeface="Calibri" pitchFamily="34" charset="-122"/>
                          <a:cs typeface="Calibri" pitchFamily="34" charset="-120"/>
                        </a:rPr>
                        <a:t>Carries all headline empirical claims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257800"/>
            <a:ext cx="11109960" cy="868680"/>
          </a:xfrm>
          <a:prstGeom prst="roundRect">
            <a:avLst>
              <a:gd name="adj" fmla="val 9474"/>
            </a:avLst>
          </a:prstGeom>
          <a:solidFill>
            <a:srgbClr val="EEF3F7"/>
          </a:solidFill>
          <a:ln/>
        </p:spPr>
        <p:txBody>
          <a:bodyPr/>
          <a:lstStyle/>
          <a:p>
            <a:endParaRPr/>
          </a:p>
        </p:txBody>
      </p:sp>
      <p:sp>
        <p:nvSpPr>
          <p:cNvPr id="6" name="Text 3"/>
          <p:cNvSpPr/>
          <p:nvPr/>
        </p:nvSpPr>
        <p:spPr>
          <a:xfrm>
            <a:off x="822960" y="5394960"/>
            <a:ext cx="10515600" cy="640080"/>
          </a:xfrm>
          <a:prstGeom prst="rect">
            <a:avLst/>
          </a:prstGeom>
          <a:noFill/>
          <a:ln/>
        </p:spPr>
        <p:txBody>
          <a:bodyPr wrap="square" lIns="0" tIns="0" rIns="0" bIns="0" rtlCol="0" anchor="ctr"/>
          <a:lstStyle/>
          <a:p>
            <a:pPr marL="0" indent="0" algn="l">
              <a:lnSpc>
                <a:spcPct val="110000"/>
              </a:lnSpc>
              <a:buNone/>
            </a:pPr>
            <a:r>
              <a:rPr lang="en-US" sz="1250" b="1" dirty="0">
                <a:solidFill>
                  <a:srgbClr val="21295C"/>
                </a:solidFill>
                <a:latin typeface="Calibri"/>
                <a:ea typeface="Calibri"/>
                <a:cs typeface="Calibri"/>
              </a:rPr>
              <a:t>Why this pairing: </a:t>
            </a:r>
            <a:r>
              <a:rPr lang="en-US" sz="1250" b="0" dirty="0">
                <a:solidFill>
                  <a:srgbClr val="56606B"/>
                </a:solidFill>
                <a:latin typeface="Calibri"/>
                <a:ea typeface="Calibri"/>
                <a:cs typeface="Calibri"/>
              </a:rPr>
              <a:t>the same five-stage pipeline, identical in functional form, is applied to both sites, so a difference in the resulting price is attributable to the data. One caveat, taken up in Ch. 3: the Box–Cox λ is set per dataset (0.1 vs 0.5), so raw strikes sit on different measurement scales.</a:t>
            </a:r>
          </a:p>
        </p:txBody>
      </p:sp>
      <p:sp>
        <p:nvSpPr>
          <p:cNvPr id="7" name="Text 4"/>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8" name="Text 5"/>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CH. 2 · METHODOLOGY AND PRICING INPUTS</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One pipeline, five stages — two numbers carry the price</a:t>
            </a:r>
          </a:p>
        </p:txBody>
      </p:sp>
      <p:sp>
        <p:nvSpPr>
          <p:cNvPr id="4" name="Oval 3"/>
          <p:cNvSpPr/>
          <p:nvPr/>
        </p:nvSpPr>
        <p:spPr>
          <a:xfrm>
            <a:off x="1330452" y="1691640"/>
            <a:ext cx="658368" cy="658368"/>
          </a:xfrm>
          <a:prstGeom prst="ellipse">
            <a:avLst/>
          </a:prstGeom>
          <a:solidFill>
            <a:srgbClr val="C8791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330452"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1</a:t>
            </a:r>
          </a:p>
        </p:txBody>
      </p:sp>
      <p:cxnSp>
        <p:nvCxnSpPr>
          <p:cNvPr id="6" name="Connector 5"/>
          <p:cNvCxnSpPr/>
          <p:nvPr/>
        </p:nvCxnSpPr>
        <p:spPr>
          <a:xfrm>
            <a:off x="2098548"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Deseasonalise</a:t>
            </a:r>
          </a:p>
        </p:txBody>
      </p:sp>
      <p:sp>
        <p:nvSpPr>
          <p:cNvPr id="8" name="TextBox 7"/>
          <p:cNvSpPr txBox="1"/>
          <p:nvPr/>
        </p:nvSpPr>
        <p:spPr>
          <a:xfrm>
            <a:off x="548640"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Box–Cox + Fourier</a:t>
            </a:r>
          </a:p>
        </p:txBody>
      </p:sp>
      <p:sp>
        <p:nvSpPr>
          <p:cNvPr id="9" name="TextBox 8"/>
          <p:cNvSpPr txBox="1"/>
          <p:nvPr/>
        </p:nvSpPr>
        <p:spPr>
          <a:xfrm>
            <a:off x="548640" y="2980944"/>
            <a:ext cx="2221992" cy="256032"/>
          </a:xfrm>
          <a:prstGeom prst="rect">
            <a:avLst/>
          </a:prstGeom>
          <a:noFill/>
        </p:spPr>
        <p:txBody>
          <a:bodyPr wrap="square" lIns="0" tIns="0" rIns="0" bIns="0" anchor="t">
            <a:spAutoFit/>
          </a:bodyPr>
          <a:lstStyle/>
          <a:p>
            <a:pPr marL="0" indent="0" algn="ctr">
              <a:buNone/>
            </a:pPr>
            <a:r>
              <a:rPr lang="en-US" sz="1150" b="1" dirty="0">
                <a:solidFill>
                  <a:srgbClr val="C8791A"/>
                </a:solidFill>
                <a:latin typeface="Calibri"/>
                <a:ea typeface="Calibri"/>
                <a:cs typeface="Calibri"/>
              </a:rPr>
              <a:t>→ W̃(t), C₀</a:t>
            </a:r>
          </a:p>
        </p:txBody>
      </p:sp>
      <p:sp>
        <p:nvSpPr>
          <p:cNvPr id="10" name="Oval 9"/>
          <p:cNvSpPr/>
          <p:nvPr/>
        </p:nvSpPr>
        <p:spPr>
          <a:xfrm>
            <a:off x="3552444"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52444"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2</a:t>
            </a:r>
          </a:p>
        </p:txBody>
      </p:sp>
      <p:cxnSp>
        <p:nvCxnSpPr>
          <p:cNvPr id="12" name="Connector 11"/>
          <p:cNvCxnSpPr/>
          <p:nvPr/>
        </p:nvCxnSpPr>
        <p:spPr>
          <a:xfrm>
            <a:off x="4320540"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70632"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AR(4)</a:t>
            </a:r>
          </a:p>
        </p:txBody>
      </p:sp>
      <p:sp>
        <p:nvSpPr>
          <p:cNvPr id="14" name="TextBox 13"/>
          <p:cNvSpPr txBox="1"/>
          <p:nvPr/>
        </p:nvSpPr>
        <p:spPr>
          <a:xfrm>
            <a:off x="2770632"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conditional mean</a:t>
            </a:r>
          </a:p>
        </p:txBody>
      </p:sp>
      <p:sp>
        <p:nvSpPr>
          <p:cNvPr id="15" name="TextBox 14"/>
          <p:cNvSpPr txBox="1"/>
          <p:nvPr/>
        </p:nvSpPr>
        <p:spPr>
          <a:xfrm>
            <a:off x="2770632"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β₁ … β₄</a:t>
            </a:r>
          </a:p>
        </p:txBody>
      </p:sp>
      <p:sp>
        <p:nvSpPr>
          <p:cNvPr id="16" name="Oval 15"/>
          <p:cNvSpPr/>
          <p:nvPr/>
        </p:nvSpPr>
        <p:spPr>
          <a:xfrm>
            <a:off x="5774436" y="1691640"/>
            <a:ext cx="658368" cy="658368"/>
          </a:xfrm>
          <a:prstGeom prst="ellipse">
            <a:avLst/>
          </a:prstGeom>
          <a:solidFill>
            <a:srgbClr val="C8791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774436"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3</a:t>
            </a:r>
          </a:p>
        </p:txBody>
      </p:sp>
      <p:cxnSp>
        <p:nvCxnSpPr>
          <p:cNvPr id="18" name="Connector 17"/>
          <p:cNvCxnSpPr/>
          <p:nvPr/>
        </p:nvCxnSpPr>
        <p:spPr>
          <a:xfrm>
            <a:off x="6542532"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992624"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GARCH(1,1)</a:t>
            </a:r>
          </a:p>
        </p:txBody>
      </p:sp>
      <p:sp>
        <p:nvSpPr>
          <p:cNvPr id="20" name="TextBox 19"/>
          <p:cNvSpPr txBox="1"/>
          <p:nvPr/>
        </p:nvSpPr>
        <p:spPr>
          <a:xfrm>
            <a:off x="4992624"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conditional variance</a:t>
            </a:r>
          </a:p>
        </p:txBody>
      </p:sp>
      <p:sp>
        <p:nvSpPr>
          <p:cNvPr id="21" name="TextBox 20"/>
          <p:cNvSpPr txBox="1"/>
          <p:nvPr/>
        </p:nvSpPr>
        <p:spPr>
          <a:xfrm>
            <a:off x="4992624" y="2980944"/>
            <a:ext cx="2221992" cy="256032"/>
          </a:xfrm>
          <a:prstGeom prst="rect">
            <a:avLst/>
          </a:prstGeom>
          <a:noFill/>
        </p:spPr>
        <p:txBody>
          <a:bodyPr wrap="square" lIns="0" tIns="0" rIns="0" bIns="0" anchor="t">
            <a:spAutoFit/>
          </a:bodyPr>
          <a:lstStyle/>
          <a:p>
            <a:pPr marL="0" indent="0" algn="ctr">
              <a:buNone/>
            </a:pPr>
            <a:r>
              <a:rPr lang="en-US" sz="1150" b="1" dirty="0">
                <a:solidFill>
                  <a:srgbClr val="C8791A"/>
                </a:solidFill>
                <a:latin typeface="Calibri"/>
                <a:ea typeface="Calibri"/>
                <a:cs typeface="Calibri"/>
              </a:rPr>
              <a:t>→ h(t₀)</a:t>
            </a:r>
          </a:p>
        </p:txBody>
      </p:sp>
      <p:sp>
        <p:nvSpPr>
          <p:cNvPr id="22" name="Oval 21"/>
          <p:cNvSpPr/>
          <p:nvPr/>
        </p:nvSpPr>
        <p:spPr>
          <a:xfrm>
            <a:off x="7996428"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996428"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4</a:t>
            </a:r>
          </a:p>
        </p:txBody>
      </p:sp>
      <p:cxnSp>
        <p:nvCxnSpPr>
          <p:cNvPr id="24" name="Connector 23"/>
          <p:cNvCxnSpPr/>
          <p:nvPr/>
        </p:nvCxnSpPr>
        <p:spPr>
          <a:xfrm>
            <a:off x="8764524"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214616"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CAR(4)</a:t>
            </a:r>
          </a:p>
        </p:txBody>
      </p:sp>
      <p:sp>
        <p:nvSpPr>
          <p:cNvPr id="26" name="TextBox 25"/>
          <p:cNvSpPr txBox="1"/>
          <p:nvPr/>
        </p:nvSpPr>
        <p:spPr>
          <a:xfrm>
            <a:off x="7214616"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continuous-time embedding</a:t>
            </a:r>
          </a:p>
        </p:txBody>
      </p:sp>
      <p:sp>
        <p:nvSpPr>
          <p:cNvPr id="27" name="TextBox 26"/>
          <p:cNvSpPr txBox="1"/>
          <p:nvPr/>
        </p:nvSpPr>
        <p:spPr>
          <a:xfrm>
            <a:off x="7214616"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A, exp(Aτ)</a:t>
            </a:r>
          </a:p>
        </p:txBody>
      </p:sp>
      <p:sp>
        <p:nvSpPr>
          <p:cNvPr id="28" name="Oval 27"/>
          <p:cNvSpPr/>
          <p:nvPr/>
        </p:nvSpPr>
        <p:spPr>
          <a:xfrm>
            <a:off x="10218420"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218420"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5</a:t>
            </a:r>
          </a:p>
        </p:txBody>
      </p:sp>
      <p:sp>
        <p:nvSpPr>
          <p:cNvPr id="30" name="TextBox 29"/>
          <p:cNvSpPr txBox="1"/>
          <p:nvPr/>
        </p:nvSpPr>
        <p:spPr>
          <a:xfrm>
            <a:off x="9436608"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Stochastic vol.</a:t>
            </a:r>
          </a:p>
        </p:txBody>
      </p:sp>
      <p:sp>
        <p:nvSpPr>
          <p:cNvPr id="31" name="TextBox 30"/>
          <p:cNvSpPr txBox="1"/>
          <p:nvPr/>
        </p:nvSpPr>
        <p:spPr>
          <a:xfrm>
            <a:off x="9436608"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Heston / CIR, theoretical</a:t>
            </a:r>
          </a:p>
        </p:txBody>
      </p:sp>
      <p:sp>
        <p:nvSpPr>
          <p:cNvPr id="32" name="TextBox 31"/>
          <p:cNvSpPr txBox="1"/>
          <p:nvPr/>
        </p:nvSpPr>
        <p:spPr>
          <a:xfrm>
            <a:off x="9436608"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Feller check</a:t>
            </a:r>
          </a:p>
        </p:txBody>
      </p:sp>
      <p:sp>
        <p:nvSpPr>
          <p:cNvPr id="33" name="Rounded Rectangle 32"/>
          <p:cNvSpPr/>
          <p:nvPr/>
        </p:nvSpPr>
        <p:spPr>
          <a:xfrm>
            <a:off x="548640" y="3474720"/>
            <a:ext cx="5349240" cy="160020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68680" y="3584448"/>
            <a:ext cx="1737360" cy="685800"/>
          </a:xfrm>
          <a:prstGeom prst="rect">
            <a:avLst/>
          </a:prstGeom>
          <a:noFill/>
        </p:spPr>
        <p:txBody>
          <a:bodyPr wrap="square" lIns="0" tIns="0" rIns="0" bIns="0" anchor="ctr">
            <a:spAutoFit/>
          </a:bodyPr>
          <a:lstStyle/>
          <a:p>
            <a:pPr marL="0" indent="0" algn="l">
              <a:buNone/>
            </a:pPr>
            <a:r>
              <a:rPr lang="en-US" sz="3400" b="1" dirty="0">
                <a:solidFill>
                  <a:srgbClr val="21295C"/>
                </a:solidFill>
                <a:latin typeface="Cambria"/>
                <a:ea typeface="Cambria"/>
                <a:cs typeface="Cambria"/>
              </a:rPr>
              <a:t>C₀</a:t>
            </a:r>
          </a:p>
        </p:txBody>
      </p:sp>
      <p:sp>
        <p:nvSpPr>
          <p:cNvPr id="35" name="TextBox 34"/>
          <p:cNvSpPr txBox="1"/>
          <p:nvPr/>
        </p:nvSpPr>
        <p:spPr>
          <a:xfrm>
            <a:off x="868680" y="4315968"/>
            <a:ext cx="4663440" cy="274320"/>
          </a:xfrm>
          <a:prstGeom prst="rect">
            <a:avLst/>
          </a:prstGeom>
          <a:noFill/>
        </p:spPr>
        <p:txBody>
          <a:bodyPr wrap="square" lIns="0" tIns="0" rIns="0" bIns="0" anchor="t">
            <a:spAutoFit/>
          </a:bodyPr>
          <a:lstStyle/>
          <a:p>
            <a:pPr marL="0" indent="0" algn="l">
              <a:buNone/>
            </a:pPr>
            <a:r>
              <a:rPr lang="en-US" sz="1150" b="0" i="1" dirty="0">
                <a:solidFill>
                  <a:srgbClr val="56606B"/>
                </a:solidFill>
                <a:latin typeface="Calibri"/>
                <a:ea typeface="Calibri"/>
                <a:cs typeface="Calibri"/>
              </a:rPr>
              <a:t>Fourier seasonal-variance mean  (stage 1)</a:t>
            </a:r>
          </a:p>
        </p:txBody>
      </p:sp>
      <p:sp>
        <p:nvSpPr>
          <p:cNvPr id="36" name="TextBox 35"/>
          <p:cNvSpPr txBox="1"/>
          <p:nvPr/>
        </p:nvSpPr>
        <p:spPr>
          <a:xfrm>
            <a:off x="868680" y="4617720"/>
            <a:ext cx="4663440" cy="320040"/>
          </a:xfrm>
          <a:prstGeom prst="rect">
            <a:avLst/>
          </a:prstGeom>
          <a:noFill/>
        </p:spPr>
        <p:txBody>
          <a:bodyPr wrap="square" lIns="0" tIns="0" rIns="0" bIns="0" anchor="t">
            <a:spAutoFit/>
          </a:bodyPr>
          <a:lstStyle/>
          <a:p>
            <a:pPr marL="0" indent="0" algn="l">
              <a:buNone/>
            </a:pPr>
            <a:r>
              <a:rPr lang="en-US" sz="1300" b="0" dirty="0">
                <a:solidFill>
                  <a:srgbClr val="56606B"/>
                </a:solidFill>
                <a:latin typeface="Calibri"/>
                <a:ea typeface="Calibri"/>
                <a:cs typeface="Calibri"/>
              </a:rPr>
              <a:t>Dataset A  </a:t>
            </a:r>
            <a:r>
              <a:rPr lang="en-US" sz="1400" b="1" dirty="0">
                <a:solidFill>
                  <a:srgbClr val="21295C"/>
                </a:solidFill>
                <a:latin typeface="Calibri"/>
                <a:ea typeface="Calibri"/>
                <a:cs typeface="Calibri"/>
              </a:rPr>
              <a:t>0.13138</a:t>
            </a:r>
            <a:r>
              <a:rPr lang="en-US" sz="1300" b="0" dirty="0">
                <a:solidFill>
                  <a:srgbClr val="56606B"/>
                </a:solidFill>
                <a:latin typeface="Calibri"/>
                <a:ea typeface="Calibri"/>
                <a:cs typeface="Calibri"/>
              </a:rPr>
              <a:t>      Dataset B  </a:t>
            </a:r>
            <a:r>
              <a:rPr lang="en-US" sz="1400" b="1" dirty="0">
                <a:solidFill>
                  <a:srgbClr val="21295C"/>
                </a:solidFill>
                <a:latin typeface="Calibri"/>
                <a:ea typeface="Calibri"/>
                <a:cs typeface="Calibri"/>
              </a:rPr>
              <a:t>1.16277</a:t>
            </a:r>
          </a:p>
        </p:txBody>
      </p:sp>
      <p:sp>
        <p:nvSpPr>
          <p:cNvPr id="37" name="Rounded Rectangle 36"/>
          <p:cNvSpPr/>
          <p:nvPr/>
        </p:nvSpPr>
        <p:spPr>
          <a:xfrm>
            <a:off x="4251959" y="3675887"/>
            <a:ext cx="1371600" cy="457200"/>
          </a:xfrm>
          <a:prstGeom prst="roundRect">
            <a:avLst>
              <a:gd name="adj" fmla="val 3599"/>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4251959" y="3675887"/>
            <a:ext cx="1371600" cy="457200"/>
          </a:xfrm>
          <a:prstGeom prst="rect">
            <a:avLst/>
          </a:prstGeom>
          <a:noFill/>
        </p:spPr>
        <p:txBody>
          <a:bodyPr wrap="square" lIns="0" tIns="0" rIns="0" bIns="0" anchor="ctr">
            <a:spAutoFit/>
          </a:bodyPr>
          <a:lstStyle/>
          <a:p>
            <a:pPr marL="0" indent="0" algn="ctr">
              <a:buNone/>
            </a:pPr>
            <a:r>
              <a:rPr lang="en-US" sz="1250" b="1" dirty="0">
                <a:solidFill>
                  <a:srgbClr val="FFFFFF"/>
                </a:solidFill>
                <a:latin typeface="Calibri"/>
                <a:ea typeface="Calibri"/>
                <a:cs typeface="Calibri"/>
              </a:rPr>
              <a:t>8.85× gap</a:t>
            </a:r>
          </a:p>
        </p:txBody>
      </p:sp>
      <p:sp>
        <p:nvSpPr>
          <p:cNvPr id="39" name="Rounded Rectangle 38"/>
          <p:cNvSpPr/>
          <p:nvPr/>
        </p:nvSpPr>
        <p:spPr>
          <a:xfrm>
            <a:off x="6309360" y="3474720"/>
            <a:ext cx="5349240" cy="160020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629400" y="3584448"/>
            <a:ext cx="1737360" cy="685800"/>
          </a:xfrm>
          <a:prstGeom prst="rect">
            <a:avLst/>
          </a:prstGeom>
          <a:noFill/>
        </p:spPr>
        <p:txBody>
          <a:bodyPr wrap="square" lIns="0" tIns="0" rIns="0" bIns="0" anchor="ctr">
            <a:spAutoFit/>
          </a:bodyPr>
          <a:lstStyle/>
          <a:p>
            <a:pPr marL="0" indent="0" algn="l">
              <a:buNone/>
            </a:pPr>
            <a:r>
              <a:rPr lang="en-US" sz="3400" b="1" dirty="0">
                <a:solidFill>
                  <a:srgbClr val="21295C"/>
                </a:solidFill>
                <a:latin typeface="Cambria"/>
                <a:ea typeface="Cambria"/>
                <a:cs typeface="Cambria"/>
              </a:rPr>
              <a:t>h(t₀)</a:t>
            </a:r>
          </a:p>
        </p:txBody>
      </p:sp>
      <p:sp>
        <p:nvSpPr>
          <p:cNvPr id="41" name="TextBox 40"/>
          <p:cNvSpPr txBox="1"/>
          <p:nvPr/>
        </p:nvSpPr>
        <p:spPr>
          <a:xfrm>
            <a:off x="6629400" y="4315968"/>
            <a:ext cx="4663440" cy="274320"/>
          </a:xfrm>
          <a:prstGeom prst="rect">
            <a:avLst/>
          </a:prstGeom>
          <a:noFill/>
        </p:spPr>
        <p:txBody>
          <a:bodyPr wrap="square" lIns="0" tIns="0" rIns="0" bIns="0" anchor="t">
            <a:spAutoFit/>
          </a:bodyPr>
          <a:lstStyle/>
          <a:p>
            <a:pPr marL="0" indent="0" algn="l">
              <a:buNone/>
            </a:pPr>
            <a:r>
              <a:rPr lang="en-US" sz="1150" b="0" i="1" dirty="0">
                <a:solidFill>
                  <a:srgbClr val="56606B"/>
                </a:solidFill>
                <a:latin typeface="Calibri"/>
                <a:ea typeface="Calibri"/>
                <a:cs typeface="Calibri"/>
              </a:rPr>
              <a:t>GARCH conditional-variance state  (stage 3)</a:t>
            </a:r>
          </a:p>
        </p:txBody>
      </p:sp>
      <p:sp>
        <p:nvSpPr>
          <p:cNvPr id="42" name="TextBox 41"/>
          <p:cNvSpPr txBox="1"/>
          <p:nvPr/>
        </p:nvSpPr>
        <p:spPr>
          <a:xfrm>
            <a:off x="6629400" y="4617720"/>
            <a:ext cx="4663440" cy="320040"/>
          </a:xfrm>
          <a:prstGeom prst="rect">
            <a:avLst/>
          </a:prstGeom>
          <a:noFill/>
        </p:spPr>
        <p:txBody>
          <a:bodyPr wrap="square" lIns="0" tIns="0" rIns="0" bIns="0" anchor="t">
            <a:spAutoFit/>
          </a:bodyPr>
          <a:lstStyle/>
          <a:p>
            <a:pPr marL="0" indent="0" algn="l">
              <a:buNone/>
            </a:pPr>
            <a:r>
              <a:rPr lang="en-US" sz="1300" b="0" dirty="0">
                <a:solidFill>
                  <a:srgbClr val="56606B"/>
                </a:solidFill>
                <a:latin typeface="Calibri"/>
                <a:ea typeface="Calibri"/>
                <a:cs typeface="Calibri"/>
              </a:rPr>
              <a:t>Dataset A  </a:t>
            </a:r>
            <a:r>
              <a:rPr lang="en-US" sz="1400" b="1" dirty="0">
                <a:solidFill>
                  <a:srgbClr val="21295C"/>
                </a:solidFill>
                <a:latin typeface="Calibri"/>
                <a:ea typeface="Calibri"/>
                <a:cs typeface="Calibri"/>
              </a:rPr>
              <a:t>0.4137</a:t>
            </a:r>
            <a:r>
              <a:rPr lang="en-US" sz="1300" b="0" dirty="0">
                <a:solidFill>
                  <a:srgbClr val="56606B"/>
                </a:solidFill>
                <a:latin typeface="Calibri"/>
                <a:ea typeface="Calibri"/>
                <a:cs typeface="Calibri"/>
              </a:rPr>
              <a:t>      Dataset B  </a:t>
            </a:r>
            <a:r>
              <a:rPr lang="en-US" sz="1400" b="1" dirty="0">
                <a:solidFill>
                  <a:srgbClr val="21295C"/>
                </a:solidFill>
                <a:latin typeface="Calibri"/>
                <a:ea typeface="Calibri"/>
                <a:cs typeface="Calibri"/>
              </a:rPr>
              <a:t>0.7511</a:t>
            </a:r>
          </a:p>
        </p:txBody>
      </p:sp>
      <p:sp>
        <p:nvSpPr>
          <p:cNvPr id="43" name="Rounded Rectangle 42"/>
          <p:cNvSpPr/>
          <p:nvPr/>
        </p:nvSpPr>
        <p:spPr>
          <a:xfrm>
            <a:off x="10012680" y="3675887"/>
            <a:ext cx="1371600" cy="457200"/>
          </a:xfrm>
          <a:prstGeom prst="roundRect">
            <a:avLst>
              <a:gd name="adj" fmla="val 3599"/>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0012680" y="3675887"/>
            <a:ext cx="1371600" cy="457200"/>
          </a:xfrm>
          <a:prstGeom prst="rect">
            <a:avLst/>
          </a:prstGeom>
          <a:noFill/>
        </p:spPr>
        <p:txBody>
          <a:bodyPr wrap="square" lIns="0" tIns="0" rIns="0" bIns="0" anchor="ctr">
            <a:spAutoFit/>
          </a:bodyPr>
          <a:lstStyle/>
          <a:p>
            <a:pPr marL="0" indent="0" algn="ctr">
              <a:buNone/>
            </a:pPr>
            <a:r>
              <a:rPr lang="en-US" sz="1250" b="1" dirty="0">
                <a:solidFill>
                  <a:srgbClr val="FFFFFF"/>
                </a:solidFill>
                <a:latin typeface="Calibri"/>
                <a:ea typeface="Calibri"/>
                <a:cs typeface="Calibri"/>
              </a:rPr>
              <a:t>1.82× gap</a:t>
            </a:r>
          </a:p>
        </p:txBody>
      </p:sp>
      <p:sp>
        <p:nvSpPr>
          <p:cNvPr id="45" name="Rounded Rectangle 44"/>
          <p:cNvSpPr/>
          <p:nvPr/>
        </p:nvSpPr>
        <p:spPr>
          <a:xfrm>
            <a:off x="548640" y="5257800"/>
            <a:ext cx="11109960" cy="1005840"/>
          </a:xfrm>
          <a:prstGeom prst="roundRect">
            <a:avLst>
              <a:gd name="adj" fmla="val 3599"/>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22960" y="5349240"/>
            <a:ext cx="10607040" cy="411480"/>
          </a:xfrm>
          <a:prstGeom prst="rect">
            <a:avLst/>
          </a:prstGeom>
          <a:noFill/>
        </p:spPr>
        <p:txBody>
          <a:bodyPr wrap="square" lIns="0" tIns="0" rIns="0" bIns="0" anchor="ctr">
            <a:spAutoFit/>
          </a:bodyPr>
          <a:lstStyle/>
          <a:p>
            <a:pPr marL="0" indent="0" algn="l">
              <a:buNone/>
            </a:pPr>
            <a:r>
              <a:rPr lang="en-US" sz="1700" b="1" dirty="0">
                <a:solidFill>
                  <a:srgbClr val="FFFFFF"/>
                </a:solidFill>
                <a:latin typeface="Cambria"/>
                <a:ea typeface="Cambria"/>
                <a:cs typeface="Cambria"/>
              </a:rPr>
              <a:t>Fair strike  K</a:t>
            </a:r>
            <a:r>
              <a:rPr lang="en-US" sz="1700" b="1" baseline="-25000" dirty="0">
                <a:solidFill>
                  <a:srgbClr val="FFFFFF"/>
                </a:solidFill>
                <a:latin typeface="Cambria"/>
                <a:ea typeface="Cambria"/>
                <a:cs typeface="Cambria"/>
              </a:rPr>
              <a:t>var</a:t>
            </a:r>
            <a:r>
              <a:rPr lang="en-US" sz="1700" b="1" dirty="0">
                <a:solidFill>
                  <a:srgbClr val="FFFFFF"/>
                </a:solidFill>
                <a:latin typeface="Cambria"/>
                <a:ea typeface="Cambria"/>
                <a:cs typeface="Cambria"/>
              </a:rPr>
              <a:t>  =  h(t₀) × C₀</a:t>
            </a:r>
            <a:r>
              <a:rPr lang="en-US" sz="1250" b="0" i="1" dirty="0">
                <a:solidFill>
                  <a:srgbClr val="CADCFC"/>
                </a:solidFill>
                <a:latin typeface="Calibri"/>
                <a:ea typeface="Calibri"/>
                <a:cs typeface="Calibri"/>
              </a:rPr>
              <a:t>     piecewise-constant h (Tol 1997), θ = 0 benchmark</a:t>
            </a:r>
          </a:p>
        </p:txBody>
      </p:sp>
      <p:sp>
        <p:nvSpPr>
          <p:cNvPr id="47" name="TextBox 46"/>
          <p:cNvSpPr txBox="1"/>
          <p:nvPr/>
        </p:nvSpPr>
        <p:spPr>
          <a:xfrm>
            <a:off x="822960" y="5779008"/>
            <a:ext cx="10607040" cy="384048"/>
          </a:xfrm>
          <a:prstGeom prst="rect">
            <a:avLst/>
          </a:prstGeom>
          <a:noFill/>
        </p:spPr>
        <p:txBody>
          <a:bodyPr wrap="square" lIns="0" tIns="0" rIns="0" bIns="0" anchor="ctr">
            <a:spAutoFit/>
          </a:bodyPr>
          <a:lstStyle/>
          <a:p>
            <a:pPr marL="0" indent="0" algn="l">
              <a:buNone/>
            </a:pPr>
            <a:r>
              <a:rPr lang="en-US" sz="1600" b="1" dirty="0">
                <a:solidFill>
                  <a:srgbClr val="E8A33D"/>
                </a:solidFill>
                <a:latin typeface="Calibri"/>
                <a:ea typeface="Calibri"/>
                <a:cs typeface="Calibri"/>
              </a:rPr>
              <a:t>0.05435 (Dataset A)</a:t>
            </a:r>
            <a:r>
              <a:rPr lang="en-US" sz="1400" b="0" dirty="0">
                <a:solidFill>
                  <a:srgbClr val="CADCFC"/>
                </a:solidFill>
                <a:latin typeface="Calibri"/>
                <a:ea typeface="Calibri"/>
                <a:cs typeface="Calibri"/>
              </a:rPr>
              <a:t>        vs        </a:t>
            </a:r>
            <a:r>
              <a:rPr lang="en-US" sz="1600" b="1" dirty="0">
                <a:solidFill>
                  <a:srgbClr val="E8A33D"/>
                </a:solidFill>
                <a:latin typeface="Calibri"/>
                <a:ea typeface="Calibri"/>
                <a:cs typeface="Calibri"/>
              </a:rPr>
              <a:t>0.87336 (Dataset B)</a:t>
            </a:r>
          </a:p>
        </p:txBody>
      </p:sp>
      <p:sp>
        <p:nvSpPr>
          <p:cNvPr id="48" name="TextBox 47"/>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49" name="TextBox 48"/>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3 · VARIANCE SWAP — THE MARKET STRIKE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instrument: a variance swap on German wind generation</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6</a:t>
            </a:r>
            <a:endParaRPr lang="en-US" sz="900" dirty="0"/>
          </a:p>
        </p:txBody>
      </p:sp>
      <p:sp>
        <p:nvSpPr>
          <p:cNvPr id="14" name="Rounded Rectangle 13"/>
          <p:cNvSpPr/>
          <p:nvPr/>
        </p:nvSpPr>
        <p:spPr>
          <a:xfrm>
            <a:off x="548640" y="1783080"/>
            <a:ext cx="457200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8528"/>
            <a:ext cx="4023360" cy="274320"/>
          </a:xfrm>
          <a:prstGeom prst="rect">
            <a:avLst/>
          </a:prstGeom>
          <a:noFill/>
        </p:spPr>
        <p:txBody>
          <a:bodyPr wrap="square" lIns="0" tIns="0" rIns="0" bIns="0" anchor="ctr">
            <a:spAutoFit/>
          </a:bodyPr>
          <a:lstStyle/>
          <a:p>
            <a:pPr algn="l"/>
            <a:r>
              <a:rPr sz="1200" b="1" i="0" spc="100">
                <a:solidFill>
                  <a:srgbClr val="1C7293"/>
                </a:solidFill>
                <a:latin typeface="Calibri"/>
              </a:rPr>
              <a:t>THE CONTRACT</a:t>
            </a:r>
          </a:p>
        </p:txBody>
      </p:sp>
      <p:sp>
        <p:nvSpPr>
          <p:cNvPr id="16" name="TextBox 15"/>
          <p:cNvSpPr txBox="1"/>
          <p:nvPr/>
        </p:nvSpPr>
        <p:spPr>
          <a:xfrm>
            <a:off x="868680" y="2286000"/>
            <a:ext cx="4023360" cy="777240"/>
          </a:xfrm>
          <a:prstGeom prst="rect">
            <a:avLst/>
          </a:prstGeom>
          <a:noFill/>
        </p:spPr>
        <p:txBody>
          <a:bodyPr wrap="square" lIns="0" tIns="0" rIns="0" bIns="0" anchor="t">
            <a:spAutoFit/>
          </a:bodyPr>
          <a:lstStyle/>
          <a:p>
            <a:pPr algn="l">
              <a:spcAft>
                <a:spcPts val="200"/>
              </a:spcAft>
            </a:pPr>
            <a:r>
              <a:rPr sz="2000" b="1" i="0">
                <a:solidFill>
                  <a:srgbClr val="21295C"/>
                </a:solidFill>
                <a:latin typeface="Cambria"/>
              </a:rPr>
              <a:t>Π = RV[t,T] − K</a:t>
            </a:r>
          </a:p>
          <a:p>
            <a:pPr algn="l"/>
            <a:r>
              <a:rPr sz="1700" b="0" i="0">
                <a:solidFill>
                  <a:srgbClr val="21295C"/>
                </a:solidFill>
                <a:latin typeface="Cambria"/>
              </a:rPr>
              <a:t>RV = (252 / N) · Σ rₛ²</a:t>
            </a:r>
          </a:p>
        </p:txBody>
      </p:sp>
      <p:sp>
        <p:nvSpPr>
          <p:cNvPr id="17" name="TextBox 16"/>
          <p:cNvSpPr txBox="1"/>
          <p:nvPr/>
        </p:nvSpPr>
        <p:spPr>
          <a:xfrm>
            <a:off x="868680" y="3154680"/>
            <a:ext cx="3977639" cy="1600200"/>
          </a:xfrm>
          <a:prstGeom prst="rect">
            <a:avLst/>
          </a:prstGeom>
          <a:noFill/>
        </p:spPr>
        <p:txBody>
          <a:bodyPr wrap="square" lIns="0" tIns="0" rIns="0" bIns="0" anchor="t">
            <a:spAutoFit/>
          </a:bodyPr>
          <a:lstStyle/>
          <a:p>
            <a:pPr algn="l">
              <a:lnSpc>
                <a:spcPct val="108000"/>
              </a:lnSpc>
              <a:spcAft>
                <a:spcPts val="500"/>
              </a:spcAft>
            </a:pPr>
            <a:r>
              <a:rPr sz="1250" b="0" i="0">
                <a:solidFill>
                  <a:srgbClr val="56606B"/>
                </a:solidFill>
                <a:latin typeface="Calibri"/>
              </a:rPr>
              <a:t>rₛ: daily log-return of SMARD German onshore wind generation.</a:t>
            </a:r>
          </a:p>
          <a:p>
            <a:pPr algn="l">
              <a:lnSpc>
                <a:spcPct val="108000"/>
              </a:lnSpc>
              <a:spcAft>
                <a:spcPts val="500"/>
              </a:spcAft>
            </a:pPr>
            <a:r>
              <a:rPr sz="1250" b="0" i="0">
                <a:solidFill>
                  <a:srgbClr val="56606B"/>
                </a:solidFill>
                <a:latin typeface="Calibri"/>
              </a:rPr>
              <a:t>The long side receives realised variance; the producer (long volume, short its stability) sells it and receives K − RV.</a:t>
            </a:r>
          </a:p>
          <a:p>
            <a:pPr algn="l">
              <a:lnSpc>
                <a:spcPct val="108000"/>
              </a:lnSpc>
            </a:pPr>
            <a:r>
              <a:rPr sz="1250" b="0" i="0">
                <a:solidFill>
                  <a:srgbClr val="56606B"/>
                </a:solidFill>
                <a:latin typeface="Calibri"/>
              </a:rPr>
              <a:t>Linear in RV: no gamma, no path-dependent convexity.</a:t>
            </a:r>
          </a:p>
        </p:txBody>
      </p:sp>
      <p:sp>
        <p:nvSpPr>
          <p:cNvPr id="18" name="Rectangle 17"/>
          <p:cNvSpPr/>
          <p:nvPr/>
        </p:nvSpPr>
        <p:spPr>
          <a:xfrm>
            <a:off x="868680" y="4846320"/>
            <a:ext cx="3931920" cy="13716"/>
          </a:xfrm>
          <a:prstGeom prst="rect">
            <a:avLst/>
          </a:prstGeom>
          <a:solidFill>
            <a:srgbClr val="D5DEE6"/>
          </a:solidFill>
          <a:ln>
            <a:noFill/>
          </a:ln>
        </p:spPr>
        <p:txBody>
          <a:bodyPr rtlCol="0" anchor="ctr"/>
          <a:lstStyle/>
          <a:p>
            <a:pPr algn="ctr"/>
            <a:endParaRPr/>
          </a:p>
        </p:txBody>
      </p:sp>
      <p:sp>
        <p:nvSpPr>
          <p:cNvPr id="19" name="TextBox 18"/>
          <p:cNvSpPr txBox="1"/>
          <p:nvPr/>
        </p:nvSpPr>
        <p:spPr>
          <a:xfrm>
            <a:off x="868680" y="4919472"/>
            <a:ext cx="4023360" cy="274320"/>
          </a:xfrm>
          <a:prstGeom prst="rect">
            <a:avLst/>
          </a:prstGeom>
          <a:noFill/>
        </p:spPr>
        <p:txBody>
          <a:bodyPr wrap="square" lIns="0" tIns="0" rIns="0" bIns="0" anchor="ctr">
            <a:spAutoFit/>
          </a:bodyPr>
          <a:lstStyle/>
          <a:p>
            <a:pPr algn="l"/>
            <a:r>
              <a:rPr sz="1200" b="1" i="0" spc="100">
                <a:solidFill>
                  <a:srgbClr val="1C7293"/>
                </a:solidFill>
                <a:latin typeface="Calibri"/>
              </a:rPr>
              <a:t>TRACK A — EMPIRICAL FAIR STRIKE</a:t>
            </a:r>
          </a:p>
        </p:txBody>
      </p:sp>
      <p:sp>
        <p:nvSpPr>
          <p:cNvPr id="20" name="TextBox 19"/>
          <p:cNvSpPr txBox="1"/>
          <p:nvPr/>
        </p:nvSpPr>
        <p:spPr>
          <a:xfrm>
            <a:off x="868680" y="5230368"/>
            <a:ext cx="1463040" cy="640080"/>
          </a:xfrm>
          <a:prstGeom prst="rect">
            <a:avLst/>
          </a:prstGeom>
          <a:noFill/>
        </p:spPr>
        <p:txBody>
          <a:bodyPr wrap="square" lIns="0" tIns="0" rIns="0" bIns="0" anchor="ctr">
            <a:spAutoFit/>
          </a:bodyPr>
          <a:lstStyle/>
          <a:p>
            <a:pPr algn="l"/>
            <a:r>
              <a:rPr sz="3200" b="1" i="0">
                <a:solidFill>
                  <a:srgbClr val="C8791A"/>
                </a:solidFill>
                <a:latin typeface="Cambria"/>
              </a:rPr>
              <a:t>113.1</a:t>
            </a:r>
          </a:p>
        </p:txBody>
      </p:sp>
      <p:sp>
        <p:nvSpPr>
          <p:cNvPr id="21" name="TextBox 20"/>
          <p:cNvSpPr txBox="1"/>
          <p:nvPr/>
        </p:nvSpPr>
        <p:spPr>
          <a:xfrm>
            <a:off x="2331720" y="5166360"/>
            <a:ext cx="2560320" cy="914400"/>
          </a:xfrm>
          <a:prstGeom prst="rect">
            <a:avLst/>
          </a:prstGeom>
          <a:noFill/>
        </p:spPr>
        <p:txBody>
          <a:bodyPr wrap="square" lIns="0" tIns="0" rIns="0" bIns="0" anchor="ctr">
            <a:spAutoFit/>
          </a:bodyPr>
          <a:lstStyle/>
          <a:p>
            <a:pPr algn="l">
              <a:lnSpc>
                <a:spcPct val="105000"/>
              </a:lnSpc>
            </a:pPr>
            <a:r>
              <a:rPr sz="1150" b="0" i="0">
                <a:solidFill>
                  <a:srgbClr val="56606B"/>
                </a:solidFill>
                <a:latin typeface="Calibri"/>
              </a:rPr>
              <a:t>252× rolling mean realised variance, 2015–2024. A realised quantity — nothing is backed out of a traded price.</a:t>
            </a:r>
          </a:p>
        </p:txBody>
      </p:sp>
      <p:sp>
        <p:nvSpPr>
          <p:cNvPr id="22" name="Rounded Rectangle 21"/>
          <p:cNvSpPr/>
          <p:nvPr/>
        </p:nvSpPr>
        <p:spPr>
          <a:xfrm>
            <a:off x="5349240" y="1783080"/>
            <a:ext cx="630936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5623560" y="1938528"/>
            <a:ext cx="5852160" cy="274320"/>
          </a:xfrm>
          <a:prstGeom prst="rect">
            <a:avLst/>
          </a:prstGeom>
          <a:noFill/>
        </p:spPr>
        <p:txBody>
          <a:bodyPr wrap="square" lIns="0" tIns="0" rIns="0" bIns="0" anchor="ctr">
            <a:spAutoFit/>
          </a:bodyPr>
          <a:lstStyle/>
          <a:p>
            <a:pPr algn="l"/>
            <a:r>
              <a:rPr sz="1200" b="1" i="0" spc="100">
                <a:solidFill>
                  <a:srgbClr val="1C7293"/>
                </a:solidFill>
                <a:latin typeface="Calibri"/>
              </a:rPr>
              <a:t>ANNUAL PAYOFF OF A LONG UNIT-NOTIONAL SWAP STRUCK AT K = 113.1</a:t>
            </a:r>
          </a:p>
        </p:txBody>
      </p:sp>
      <p:graphicFrame>
        <p:nvGraphicFramePr>
          <p:cNvPr id="24" name="Chart 23"/>
          <p:cNvGraphicFramePr>
            <a:graphicFrameLocks noGrp="1"/>
          </p:cNvGraphicFramePr>
          <p:nvPr/>
        </p:nvGraphicFramePr>
        <p:xfrm>
          <a:off x="5486400" y="2240280"/>
          <a:ext cx="603504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Box 24"/>
          <p:cNvSpPr txBox="1"/>
          <p:nvPr/>
        </p:nvSpPr>
        <p:spPr>
          <a:xfrm>
            <a:off x="5623560"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95.5 – 132.0</a:t>
            </a:r>
          </a:p>
        </p:txBody>
      </p:sp>
      <p:sp>
        <p:nvSpPr>
          <p:cNvPr id="26" name="TextBox 25"/>
          <p:cNvSpPr txBox="1"/>
          <p:nvPr/>
        </p:nvSpPr>
        <p:spPr>
          <a:xfrm>
            <a:off x="5623560"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annual realised variance, 2019 – 2024</a:t>
            </a:r>
          </a:p>
        </p:txBody>
      </p:sp>
      <p:sp>
        <p:nvSpPr>
          <p:cNvPr id="27" name="TextBox 26"/>
          <p:cNvSpPr txBox="1"/>
          <p:nvPr/>
        </p:nvSpPr>
        <p:spPr>
          <a:xfrm>
            <a:off x="7607808"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+2.34</a:t>
            </a:r>
          </a:p>
        </p:txBody>
      </p:sp>
      <p:sp>
        <p:nvSpPr>
          <p:cNvPr id="28" name="TextBox 27"/>
          <p:cNvSpPr txBox="1"/>
          <p:nvPr/>
        </p:nvSpPr>
        <p:spPr>
          <a:xfrm>
            <a:off x="7607808"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mean payoff: the strike was close to fair</a:t>
            </a:r>
          </a:p>
        </p:txBody>
      </p:sp>
      <p:sp>
        <p:nvSpPr>
          <p:cNvPr id="29" name="TextBox 28"/>
          <p:cNvSpPr txBox="1"/>
          <p:nvPr/>
        </p:nvSpPr>
        <p:spPr>
          <a:xfrm>
            <a:off x="9592056"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−14.8</a:t>
            </a:r>
          </a:p>
        </p:txBody>
      </p:sp>
      <p:sp>
        <p:nvSpPr>
          <p:cNvPr id="30" name="TextBox 29"/>
          <p:cNvSpPr txBox="1"/>
          <p:nvPr/>
        </p:nvSpPr>
        <p:spPr>
          <a:xfrm>
            <a:off x="9592056"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5th-percentile year, ≈13% of strike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3 · VARIANCE SWAP — THE MODEL STRIKE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Reconciled, model and market strikes share an order of magnitude</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7</a:t>
            </a:r>
            <a:endParaRPr lang="en-US" sz="900" dirty="0"/>
          </a:p>
        </p:txBody>
      </p:sp>
      <p:sp>
        <p:nvSpPr>
          <p:cNvPr id="14" name="Rounded Rectangle 13"/>
          <p:cNvSpPr/>
          <p:nvPr/>
        </p:nvSpPr>
        <p:spPr>
          <a:xfrm>
            <a:off x="548640" y="1783080"/>
            <a:ext cx="676656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8528"/>
            <a:ext cx="6217920" cy="274320"/>
          </a:xfrm>
          <a:prstGeom prst="rect">
            <a:avLst/>
          </a:prstGeom>
          <a:noFill/>
        </p:spPr>
        <p:txBody>
          <a:bodyPr wrap="square" lIns="0" tIns="0" rIns="0" bIns="0" anchor="ctr">
            <a:spAutoFit/>
          </a:bodyPr>
          <a:lstStyle/>
          <a:p>
            <a:pPr algn="l"/>
            <a:r>
              <a:rPr sz="1200" b="1" i="0" spc="100">
                <a:solidFill>
                  <a:srgbClr val="1C7293"/>
                </a:solidFill>
                <a:latin typeface="Calibri"/>
              </a:rPr>
              <a:t>DATASET B — FROM h(t₀)·C₀ TO TRACK A UNITS  (LOG SCALE)</a:t>
            </a:r>
          </a:p>
        </p:txBody>
      </p:sp>
      <p:graphicFrame>
        <p:nvGraphicFramePr>
          <p:cNvPr id="16" name="Chart 15"/>
          <p:cNvGraphicFramePr>
            <a:graphicFrameLocks noGrp="1"/>
          </p:cNvGraphicFramePr>
          <p:nvPr/>
        </p:nvGraphicFramePr>
        <p:xfrm>
          <a:off x="685800" y="2286000"/>
          <a:ext cx="64922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p:cNvSpPr txBox="1"/>
          <p:nvPr/>
        </p:nvSpPr>
        <p:spPr>
          <a:xfrm>
            <a:off x="868680" y="5760720"/>
            <a:ext cx="6217920" cy="411480"/>
          </a:xfrm>
          <a:prstGeom prst="rect">
            <a:avLst/>
          </a:prstGeom>
          <a:noFill/>
        </p:spPr>
        <p:txBody>
          <a:bodyPr wrap="square" lIns="0" tIns="0" rIns="0" bIns="0" anchor="t">
            <a:spAutoFit/>
          </a:bodyPr>
          <a:lstStyle/>
          <a:p>
            <a:pPr algn="l">
              <a:lnSpc>
                <a:spcPct val="100000"/>
              </a:lnSpc>
            </a:pPr>
            <a:r>
              <a:rPr sz="1050" b="0" i="1">
                <a:solidFill>
                  <a:srgbClr val="56606B"/>
                </a:solidFill>
                <a:latin typeface="Calibri"/>
              </a:rPr>
              <a:t>Each step is a first-order delta-method factor (thesis Table 20): an arithmetic reconciliation, not a frozen phase output.</a:t>
            </a:r>
          </a:p>
        </p:txBody>
      </p:sp>
      <p:sp>
        <p:nvSpPr>
          <p:cNvPr id="18" name="Rounded Rectangle 17"/>
          <p:cNvSpPr/>
          <p:nvPr/>
        </p:nvSpPr>
        <p:spPr>
          <a:xfrm>
            <a:off x="7543800" y="1783080"/>
            <a:ext cx="4114800" cy="1463040"/>
          </a:xfrm>
          <a:prstGeom prst="roundRect">
            <a:avLst>
              <a:gd name="adj" fmla="val 5624"/>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9" name="TextBox 18"/>
          <p:cNvSpPr txBox="1"/>
          <p:nvPr/>
        </p:nvSpPr>
        <p:spPr>
          <a:xfrm>
            <a:off x="7818120" y="1920240"/>
            <a:ext cx="3657600" cy="274320"/>
          </a:xfrm>
          <a:prstGeom prst="rect">
            <a:avLst/>
          </a:prstGeom>
          <a:noFill/>
        </p:spPr>
        <p:txBody>
          <a:bodyPr wrap="square" lIns="0" tIns="0" rIns="0" bIns="0" anchor="ctr">
            <a:spAutoFit/>
          </a:bodyPr>
          <a:lstStyle/>
          <a:p>
            <a:pPr algn="l"/>
            <a:r>
              <a:rPr sz="1200" b="1" i="0" spc="100">
                <a:solidFill>
                  <a:srgbClr val="E8A33D"/>
                </a:solidFill>
                <a:latin typeface="Calibri"/>
              </a:rPr>
              <a:t>TRACK B — MODEL-IMPLIED</a:t>
            </a:r>
          </a:p>
        </p:txBody>
      </p:sp>
      <p:sp>
        <p:nvSpPr>
          <p:cNvPr id="20" name="TextBox 19"/>
          <p:cNvSpPr txBox="1"/>
          <p:nvPr/>
        </p:nvSpPr>
        <p:spPr>
          <a:xfrm>
            <a:off x="7818120" y="2240280"/>
            <a:ext cx="3657600" cy="457200"/>
          </a:xfrm>
          <a:prstGeom prst="rect">
            <a:avLst/>
          </a:prstGeom>
          <a:noFill/>
        </p:spPr>
        <p:txBody>
          <a:bodyPr wrap="square" lIns="0" tIns="0" rIns="0" bIns="0" anchor="ctr">
            <a:spAutoFit/>
          </a:bodyPr>
          <a:lstStyle/>
          <a:p>
            <a:pPr algn="l"/>
            <a:r>
              <a:rPr sz="2000" b="1" i="0">
                <a:solidFill>
                  <a:srgbClr val="FFFFFF"/>
                </a:solidFill>
                <a:latin typeface="Cambria"/>
              </a:rPr>
              <a:t>K = h(t₀) × C₀ = 0.873</a:t>
            </a:r>
          </a:p>
        </p:txBody>
      </p:sp>
      <p:sp>
        <p:nvSpPr>
          <p:cNvPr id="21" name="TextBox 20"/>
          <p:cNvSpPr txBox="1"/>
          <p:nvPr/>
        </p:nvSpPr>
        <p:spPr>
          <a:xfrm>
            <a:off x="7818120" y="2715768"/>
            <a:ext cx="3657600" cy="457200"/>
          </a:xfrm>
          <a:prstGeom prst="rect">
            <a:avLst/>
          </a:prstGeom>
          <a:noFill/>
        </p:spPr>
        <p:txBody>
          <a:bodyPr wrap="square" lIns="0" tIns="0" rIns="0" bIns="0" anchor="t">
            <a:spAutoFit/>
          </a:bodyPr>
          <a:lstStyle/>
          <a:p>
            <a:pPr algn="l">
              <a:lnSpc>
                <a:spcPct val="100000"/>
              </a:lnSpc>
            </a:pPr>
            <a:r>
              <a:rPr sz="1100" b="0" i="0">
                <a:solidFill>
                  <a:srgbClr val="D9E2EA"/>
                </a:solidFill>
                <a:latin typeface="Calibri"/>
              </a:rPr>
              <a:t>0.7511 × 1.16277 · piecewise-constant h (Tol 1997) · θ = 0 benchmark</a:t>
            </a:r>
          </a:p>
        </p:txBody>
      </p:sp>
      <p:sp>
        <p:nvSpPr>
          <p:cNvPr id="22" name="Rounded Rectangle 21"/>
          <p:cNvSpPr/>
          <p:nvPr/>
        </p:nvSpPr>
        <p:spPr>
          <a:xfrm>
            <a:off x="7543800" y="342900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7818120" y="3547872"/>
            <a:ext cx="3657600" cy="274320"/>
          </a:xfrm>
          <a:prstGeom prst="rect">
            <a:avLst/>
          </a:prstGeom>
          <a:noFill/>
        </p:spPr>
        <p:txBody>
          <a:bodyPr wrap="square" lIns="0" tIns="0" rIns="0" bIns="0" anchor="ctr">
            <a:spAutoFit/>
          </a:bodyPr>
          <a:lstStyle/>
          <a:p>
            <a:pPr algn="l"/>
            <a:r>
              <a:rPr sz="1200" b="1" i="0" spc="100">
                <a:solidFill>
                  <a:srgbClr val="1C7293"/>
                </a:solidFill>
                <a:latin typeface="Calibri"/>
              </a:rPr>
              <a:t>RAW GAP ≈ 130×</a:t>
            </a:r>
          </a:p>
        </p:txBody>
      </p:sp>
      <p:sp>
        <p:nvSpPr>
          <p:cNvPr id="24" name="TextBox 23"/>
          <p:cNvSpPr txBox="1"/>
          <p:nvPr/>
        </p:nvSpPr>
        <p:spPr>
          <a:xfrm>
            <a:off x="7818120" y="3840480"/>
            <a:ext cx="3611880" cy="868680"/>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A units artefact, not model error: Track B is un-annualised, in Box–Cox units, and measures a wind innovation — not a generation log-return.</a:t>
            </a:r>
          </a:p>
        </p:txBody>
      </p:sp>
      <p:sp>
        <p:nvSpPr>
          <p:cNvPr id="25" name="Rounded Rectangle 24"/>
          <p:cNvSpPr/>
          <p:nvPr/>
        </p:nvSpPr>
        <p:spPr>
          <a:xfrm>
            <a:off x="7543800" y="493776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6" name="TextBox 25"/>
          <p:cNvSpPr txBox="1"/>
          <p:nvPr/>
        </p:nvSpPr>
        <p:spPr>
          <a:xfrm>
            <a:off x="7818120" y="5056632"/>
            <a:ext cx="3657600" cy="274320"/>
          </a:xfrm>
          <a:prstGeom prst="rect">
            <a:avLst/>
          </a:prstGeom>
          <a:noFill/>
        </p:spPr>
        <p:txBody>
          <a:bodyPr wrap="square" lIns="0" tIns="0" rIns="0" bIns="0" anchor="ctr">
            <a:spAutoFit/>
          </a:bodyPr>
          <a:lstStyle/>
          <a:p>
            <a:pPr algn="l"/>
            <a:r>
              <a:rPr sz="1200" b="1" i="0" spc="100">
                <a:solidFill>
                  <a:srgbClr val="C8791A"/>
                </a:solidFill>
                <a:latin typeface="Calibri"/>
              </a:rPr>
              <a:t>RECONCILED: 328.8 vs 113.1</a:t>
            </a:r>
          </a:p>
        </p:txBody>
      </p:sp>
      <p:sp>
        <p:nvSpPr>
          <p:cNvPr id="27" name="TextBox 26"/>
          <p:cNvSpPr txBox="1"/>
          <p:nvPr/>
        </p:nvSpPr>
        <p:spPr>
          <a:xfrm>
            <a:off x="7818120" y="5349240"/>
            <a:ext cx="3611880" cy="868680"/>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Model ≈ 2.9× above the market — expected when one grid point stands in for a spatially averaged national fleet.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3 · RISK MANAGEMENT — CAWS</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CAWS: the left-tail complement — it pays in the calm years</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8</a:t>
            </a:r>
            <a:endParaRPr lang="en-US" sz="900" dirty="0"/>
          </a:p>
        </p:txBody>
      </p:sp>
      <p:sp>
        <p:nvSpPr>
          <p:cNvPr id="14" name="Rounded Rectangle 13"/>
          <p:cNvSpPr/>
          <p:nvPr/>
        </p:nvSpPr>
        <p:spPr>
          <a:xfrm>
            <a:off x="548640" y="1783080"/>
            <a:ext cx="694944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8528"/>
            <a:ext cx="6400800" cy="274320"/>
          </a:xfrm>
          <a:prstGeom prst="rect">
            <a:avLst/>
          </a:prstGeom>
          <a:noFill/>
        </p:spPr>
        <p:txBody>
          <a:bodyPr wrap="square" lIns="0" tIns="0" rIns="0" bIns="0" anchor="ctr">
            <a:spAutoFit/>
          </a:bodyPr>
          <a:lstStyle/>
          <a:p>
            <a:pPr algn="l"/>
            <a:r>
              <a:rPr sz="1200" b="1" i="0" spc="100">
                <a:solidFill>
                  <a:srgbClr val="1C7293"/>
                </a:solidFill>
                <a:latin typeface="Calibri"/>
              </a:rPr>
              <a:t>ANNUAL PAYOFF  Π = K − CAWS,  % OF STRIKE  (NON-OVERLAPPING YEARS)</a:t>
            </a:r>
          </a:p>
        </p:txBody>
      </p:sp>
      <p:graphicFrame>
        <p:nvGraphicFramePr>
          <p:cNvPr id="16" name="Chart 15"/>
          <p:cNvGraphicFramePr>
            <a:graphicFrameLocks noGrp="1"/>
          </p:cNvGraphicFramePr>
          <p:nvPr/>
        </p:nvGraphicFramePr>
        <p:xfrm>
          <a:off x="685800" y="2240280"/>
          <a:ext cx="667512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p:cNvSpPr txBox="1"/>
          <p:nvPr/>
        </p:nvSpPr>
        <p:spPr>
          <a:xfrm>
            <a:off x="868680" y="5760720"/>
            <a:ext cx="6400800" cy="411480"/>
          </a:xfrm>
          <a:prstGeom prst="rect">
            <a:avLst/>
          </a:prstGeom>
          <a:noFill/>
        </p:spPr>
        <p:txBody>
          <a:bodyPr wrap="square" lIns="0" tIns="0" rIns="0" bIns="0" anchor="t">
            <a:spAutoFit/>
          </a:bodyPr>
          <a:lstStyle/>
          <a:p>
            <a:pPr algn="l">
              <a:lnSpc>
                <a:spcPct val="100000"/>
              </a:lnSpc>
            </a:pPr>
            <a:r>
              <a:rPr sz="1100" b="0" i="1">
                <a:solidFill>
                  <a:srgbClr val="56606B"/>
                </a:solidFill>
                <a:latin typeface="Calibri"/>
              </a:rPr>
              <a:t>Above zero: a calm year — the protection leg pays.  Below zero: a windy year — the producer pays the premium.</a:t>
            </a:r>
          </a:p>
        </p:txBody>
      </p:sp>
      <p:sp>
        <p:nvSpPr>
          <p:cNvPr id="18" name="Rounded Rectangle 17"/>
          <p:cNvSpPr/>
          <p:nvPr/>
        </p:nvSpPr>
        <p:spPr>
          <a:xfrm>
            <a:off x="7726679" y="1783080"/>
            <a:ext cx="3931920" cy="2606040"/>
          </a:xfrm>
          <a:prstGeom prst="roundRect">
            <a:avLst>
              <a:gd name="adj" fmla="val 3157"/>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9" name="TextBox 18"/>
          <p:cNvSpPr txBox="1"/>
          <p:nvPr/>
        </p:nvSpPr>
        <p:spPr>
          <a:xfrm>
            <a:off x="7955279" y="1920240"/>
            <a:ext cx="3566160" cy="274320"/>
          </a:xfrm>
          <a:prstGeom prst="rect">
            <a:avLst/>
          </a:prstGeom>
          <a:noFill/>
        </p:spPr>
        <p:txBody>
          <a:bodyPr wrap="square" lIns="0" tIns="0" rIns="0" bIns="0" anchor="ctr">
            <a:spAutoFit/>
          </a:bodyPr>
          <a:lstStyle/>
          <a:p>
            <a:pPr algn="l"/>
            <a:r>
              <a:rPr sz="1200" b="1" i="0" spc="100">
                <a:solidFill>
                  <a:srgbClr val="1C7293"/>
                </a:solidFill>
                <a:latin typeface="Calibri"/>
              </a:rPr>
              <a:t>READ THE RIGHT TAIL</a:t>
            </a:r>
          </a:p>
        </p:txBody>
      </p:sp>
      <p:graphicFrame>
        <p:nvGraphicFramePr>
          <p:cNvPr id="20" name="Table 19"/>
          <p:cNvGraphicFramePr>
            <a:graphicFrameLocks noGrp="1"/>
          </p:cNvGraphicFramePr>
          <p:nvPr/>
        </p:nvGraphicFramePr>
        <p:xfrm>
          <a:off x="7955279" y="2240280"/>
          <a:ext cx="3520440" cy="1591056"/>
        </p:xfrm>
        <a:graphic>
          <a:graphicData uri="http://schemas.openxmlformats.org/drawingml/2006/table">
            <a:tbl>
              <a:tblPr>
                <a:tableStyleId>{5C22544A-7EE6-4342-B048-85BDC9FD1C3A}</a:tableStyleId>
              </a:tblPr>
              <a:tblGrid>
                <a:gridCol w="13258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10896">
                <a:tc>
                  <a:txBody>
                    <a:bodyPr/>
                    <a:lstStyle/>
                    <a:p>
                      <a:pPr algn="l"/>
                      <a:endParaRPr/>
                    </a:p>
                  </a:txBody>
                  <a:tcPr marT="36576" marB="36576" anchor="ctr">
                    <a:lnB w="0">
                      <a:noFill/>
                    </a:lnB>
                    <a:solidFill>
                      <a:srgbClr val="21295C"/>
                    </a:solidFill>
                  </a:tcPr>
                </a:tc>
                <a:tc>
                  <a:txBody>
                    <a:bodyPr/>
                    <a:lstStyle/>
                    <a:p>
                      <a:pPr algn="ctr"/>
                      <a:r>
                        <a:rPr sz="1100" b="1">
                          <a:solidFill>
                            <a:srgbClr val="FFFFFF"/>
                          </a:solidFill>
                          <a:latin typeface="Calibri"/>
                        </a:rPr>
                        <a:t>A · Bologna</a:t>
                      </a:r>
                    </a:p>
                  </a:txBody>
                  <a:tcPr marT="36576" marB="36576" anchor="ctr">
                    <a:lnB w="0">
                      <a:noFill/>
                    </a:lnB>
                    <a:solidFill>
                      <a:srgbClr val="21295C"/>
                    </a:solidFill>
                  </a:tcPr>
                </a:tc>
                <a:tc>
                  <a:txBody>
                    <a:bodyPr/>
                    <a:lstStyle/>
                    <a:p>
                      <a:pPr algn="ctr"/>
                      <a:r>
                        <a:rPr sz="1100" b="1">
                          <a:solidFill>
                            <a:srgbClr val="FFFFFF"/>
                          </a:solidFill>
                          <a:latin typeface="Calibri"/>
                        </a:rPr>
                        <a:t>B · Nordfr.</a:t>
                      </a:r>
                    </a:p>
                  </a:txBody>
                  <a:tcPr marT="36576" marB="36576" anchor="ctr">
                    <a:lnB w="0">
                      <a:noFill/>
                    </a:lnB>
                    <a:solidFill>
                      <a:srgbClr val="21295C"/>
                    </a:solidFill>
                  </a:tcPr>
                </a:tc>
                <a:extLst>
                  <a:ext uri="{0D108BD9-81ED-4DB2-BD59-A6C34878D82A}">
                    <a16:rowId xmlns:a16="http://schemas.microsoft.com/office/drawing/2014/main" val="10000"/>
                  </a:ext>
                </a:extLst>
              </a:tr>
              <a:tr h="310896">
                <a:tc>
                  <a:txBody>
                    <a:bodyPr/>
                    <a:lstStyle/>
                    <a:p>
                      <a:pPr algn="l"/>
                      <a:r>
                        <a:rPr sz="1100" b="1">
                          <a:solidFill>
                            <a:srgbClr val="21295C"/>
                          </a:solidFill>
                          <a:latin typeface="Calibri"/>
                        </a:rPr>
                        <a:t>Strike K</a:t>
                      </a:r>
                    </a:p>
                  </a:txBody>
                  <a:tcPr marT="36576" marB="36576" anchor="ctr">
                    <a:lnT>
                      <a:noFill/>
                    </a:lnT>
                    <a:lnB w="0">
                      <a:noFill/>
                    </a:lnB>
                    <a:solidFill>
                      <a:srgbClr val="FFFFFF"/>
                    </a:solidFill>
                  </a:tcPr>
                </a:tc>
                <a:tc>
                  <a:txBody>
                    <a:bodyPr/>
                    <a:lstStyle/>
                    <a:p>
                      <a:pPr algn="ctr"/>
                      <a:r>
                        <a:rPr sz="1100">
                          <a:solidFill>
                            <a:srgbClr val="56606B"/>
                          </a:solidFill>
                          <a:latin typeface="Calibri"/>
                        </a:rPr>
                        <a:t>2.4644 m/s</a:t>
                      </a:r>
                    </a:p>
                  </a:txBody>
                  <a:tcPr marT="36576" marB="36576" anchor="ctr">
                    <a:lnT>
                      <a:noFill/>
                    </a:lnT>
                    <a:lnB w="0">
                      <a:noFill/>
                    </a:lnB>
                    <a:solidFill>
                      <a:srgbClr val="FFFFFF"/>
                    </a:solidFill>
                  </a:tcPr>
                </a:tc>
                <a:tc>
                  <a:txBody>
                    <a:bodyPr/>
                    <a:lstStyle/>
                    <a:p>
                      <a:pPr algn="ctr"/>
                      <a:r>
                        <a:rPr sz="1100">
                          <a:solidFill>
                            <a:srgbClr val="56606B"/>
                          </a:solidFill>
                          <a:latin typeface="Calibri"/>
                        </a:rPr>
                        <a:t>8.0531 m/s</a:t>
                      </a:r>
                    </a:p>
                  </a:txBody>
                  <a:tcPr marT="36576" marB="36576" anchor="ctr">
                    <a:lnT>
                      <a:noFill/>
                    </a:lnT>
                    <a:lnB w="0">
                      <a:noFill/>
                    </a:lnB>
                    <a:solidFill>
                      <a:srgbClr val="FFFFFF"/>
                    </a:solidFill>
                  </a:tcPr>
                </a:tc>
                <a:extLst>
                  <a:ext uri="{0D108BD9-81ED-4DB2-BD59-A6C34878D82A}">
                    <a16:rowId xmlns:a16="http://schemas.microsoft.com/office/drawing/2014/main" val="10001"/>
                  </a:ext>
                </a:extLst>
              </a:tr>
              <a:tr h="310896">
                <a:tc>
                  <a:txBody>
                    <a:bodyPr/>
                    <a:lstStyle/>
                    <a:p>
                      <a:pPr algn="l"/>
                      <a:r>
                        <a:rPr sz="1100" b="1">
                          <a:solidFill>
                            <a:srgbClr val="21295C"/>
                          </a:solidFill>
                          <a:latin typeface="Calibri"/>
                        </a:rPr>
                        <a:t>Calmest year</a:t>
                      </a:r>
                    </a:p>
                  </a:txBody>
                  <a:tcPr marT="36576" marB="36576" anchor="ctr">
                    <a:lnT>
                      <a:noFill/>
                    </a:lnT>
                    <a:lnB w="0">
                      <a:noFill/>
                    </a:lnB>
                    <a:solidFill>
                      <a:srgbClr val="FBF1E4"/>
                    </a:solidFill>
                  </a:tcPr>
                </a:tc>
                <a:tc>
                  <a:txBody>
                    <a:bodyPr/>
                    <a:lstStyle/>
                    <a:p>
                      <a:pPr algn="ctr"/>
                      <a:r>
                        <a:rPr sz="1100">
                          <a:solidFill>
                            <a:srgbClr val="56606B"/>
                          </a:solidFill>
                          <a:latin typeface="Calibri"/>
                        </a:rPr>
                        <a:t>+6.70% (2017)</a:t>
                      </a:r>
                    </a:p>
                  </a:txBody>
                  <a:tcPr marT="36576" marB="36576" anchor="ctr">
                    <a:lnT>
                      <a:noFill/>
                    </a:lnT>
                    <a:lnB w="0">
                      <a:noFill/>
                    </a:lnB>
                    <a:solidFill>
                      <a:srgbClr val="FBF1E4"/>
                    </a:solidFill>
                  </a:tcPr>
                </a:tc>
                <a:tc>
                  <a:txBody>
                    <a:bodyPr/>
                    <a:lstStyle/>
                    <a:p>
                      <a:pPr algn="ctr"/>
                      <a:r>
                        <a:rPr sz="1100">
                          <a:solidFill>
                            <a:srgbClr val="56606B"/>
                          </a:solidFill>
                          <a:latin typeface="Calibri"/>
                        </a:rPr>
                        <a:t>+4.99% (2021)</a:t>
                      </a:r>
                    </a:p>
                  </a:txBody>
                  <a:tcPr marT="36576" marB="36576" anchor="ctr">
                    <a:lnT>
                      <a:noFill/>
                    </a:lnT>
                    <a:lnB w="0">
                      <a:noFill/>
                    </a:lnB>
                    <a:solidFill>
                      <a:srgbClr val="FBF1E4"/>
                    </a:solidFill>
                  </a:tcPr>
                </a:tc>
                <a:extLst>
                  <a:ext uri="{0D108BD9-81ED-4DB2-BD59-A6C34878D82A}">
                    <a16:rowId xmlns:a16="http://schemas.microsoft.com/office/drawing/2014/main" val="10002"/>
                  </a:ext>
                </a:extLst>
              </a:tr>
              <a:tr h="310896">
                <a:tc>
                  <a:txBody>
                    <a:bodyPr/>
                    <a:lstStyle/>
                    <a:p>
                      <a:pPr algn="l"/>
                      <a:r>
                        <a:rPr sz="1100" b="1">
                          <a:solidFill>
                            <a:srgbClr val="21295C"/>
                          </a:solidFill>
                          <a:latin typeface="Calibri"/>
                        </a:rPr>
                        <a:t>Windiest = CVaR₅%</a:t>
                      </a:r>
                    </a:p>
                  </a:txBody>
                  <a:tcPr marT="36576" marB="36576" anchor="ctr">
                    <a:lnT>
                      <a:noFill/>
                    </a:lnT>
                    <a:lnB w="0">
                      <a:noFill/>
                    </a:lnB>
                    <a:solidFill>
                      <a:srgbClr val="FFFFFF"/>
                    </a:solidFill>
                  </a:tcPr>
                </a:tc>
                <a:tc>
                  <a:txBody>
                    <a:bodyPr/>
                    <a:lstStyle/>
                    <a:p>
                      <a:pPr algn="ctr"/>
                      <a:r>
                        <a:rPr sz="1100">
                          <a:solidFill>
                            <a:srgbClr val="56606B"/>
                          </a:solidFill>
                          <a:latin typeface="Calibri"/>
                        </a:rPr>
                        <a:t>−4.91% (2018)</a:t>
                      </a:r>
                    </a:p>
                  </a:txBody>
                  <a:tcPr marT="36576" marB="36576" anchor="ctr">
                    <a:lnT>
                      <a:noFill/>
                    </a:lnT>
                    <a:lnB w="0">
                      <a:noFill/>
                    </a:lnB>
                    <a:solidFill>
                      <a:srgbClr val="FFFFFF"/>
                    </a:solidFill>
                  </a:tcPr>
                </a:tc>
                <a:tc>
                  <a:txBody>
                    <a:bodyPr/>
                    <a:lstStyle/>
                    <a:p>
                      <a:pPr algn="ctr"/>
                      <a:r>
                        <a:rPr sz="1100">
                          <a:solidFill>
                            <a:srgbClr val="56606B"/>
                          </a:solidFill>
                          <a:latin typeface="Calibri"/>
                        </a:rPr>
                        <a:t>−6.33% (2015)</a:t>
                      </a:r>
                    </a:p>
                  </a:txBody>
                  <a:tcPr marT="36576" marB="36576" anchor="ctr">
                    <a:lnT>
                      <a:noFill/>
                    </a:lnT>
                    <a:lnB w="0">
                      <a:noFill/>
                    </a:lnB>
                    <a:solidFill>
                      <a:srgbClr val="FFFFFF"/>
                    </a:solidFill>
                  </a:tcPr>
                </a:tc>
                <a:extLst>
                  <a:ext uri="{0D108BD9-81ED-4DB2-BD59-A6C34878D82A}">
                    <a16:rowId xmlns:a16="http://schemas.microsoft.com/office/drawing/2014/main" val="10003"/>
                  </a:ext>
                </a:extLst>
              </a:tr>
              <a:tr h="310896">
                <a:tc>
                  <a:txBody>
                    <a:bodyPr/>
                    <a:lstStyle/>
                    <a:p>
                      <a:pPr algn="l"/>
                      <a:r>
                        <a:rPr sz="1100" b="1">
                          <a:solidFill>
                            <a:srgbClr val="21295C"/>
                          </a:solidFill>
                          <a:latin typeface="Calibri"/>
                        </a:rPr>
                        <a:t>Annual obs.</a:t>
                      </a:r>
                    </a:p>
                  </a:txBody>
                  <a:tcPr marT="36576" marB="36576" anchor="ctr">
                    <a:lnT>
                      <a:noFill/>
                    </a:lnT>
                    <a:lnB w="0">
                      <a:noFill/>
                    </a:lnB>
                    <a:solidFill>
                      <a:srgbClr val="EEF3F7"/>
                    </a:solidFill>
                  </a:tcPr>
                </a:tc>
                <a:tc>
                  <a:txBody>
                    <a:bodyPr/>
                    <a:lstStyle/>
                    <a:p>
                      <a:pPr algn="ctr"/>
                      <a:r>
                        <a:rPr sz="1100">
                          <a:solidFill>
                            <a:srgbClr val="56606B"/>
                          </a:solidFill>
                          <a:latin typeface="Calibri"/>
                        </a:rPr>
                        <a:t>4</a:t>
                      </a:r>
                    </a:p>
                  </a:txBody>
                  <a:tcPr marT="36576" marB="36576" anchor="ctr">
                    <a:lnT>
                      <a:noFill/>
                    </a:lnT>
                    <a:lnB w="0">
                      <a:noFill/>
                    </a:lnB>
                    <a:solidFill>
                      <a:srgbClr val="EEF3F7"/>
                    </a:solidFill>
                  </a:tcPr>
                </a:tc>
                <a:tc>
                  <a:txBody>
                    <a:bodyPr/>
                    <a:lstStyle/>
                    <a:p>
                      <a:pPr algn="ctr"/>
                      <a:r>
                        <a:rPr sz="1100">
                          <a:solidFill>
                            <a:srgbClr val="56606B"/>
                          </a:solidFill>
                          <a:latin typeface="Calibri"/>
                        </a:rPr>
                        <a:t>10</a:t>
                      </a:r>
                    </a:p>
                  </a:txBody>
                  <a:tcPr marT="36576" marB="36576" anchor="ctr">
                    <a:lnT>
                      <a:noFill/>
                    </a:lnT>
                    <a:lnB w="0">
                      <a:noFill/>
                    </a:lnB>
                    <a:solidFill>
                      <a:srgbClr val="EEF3F7"/>
                    </a:solidFill>
                  </a:tcPr>
                </a:tc>
                <a:extLst>
                  <a:ext uri="{0D108BD9-81ED-4DB2-BD59-A6C34878D82A}">
                    <a16:rowId xmlns:a16="http://schemas.microsoft.com/office/drawing/2014/main" val="10004"/>
                  </a:ext>
                </a:extLst>
              </a:tr>
            </a:tbl>
          </a:graphicData>
        </a:graphic>
      </p:graphicFrame>
      <p:sp>
        <p:nvSpPr>
          <p:cNvPr id="21" name="TextBox 20"/>
          <p:cNvSpPr txBox="1"/>
          <p:nvPr/>
        </p:nvSpPr>
        <p:spPr>
          <a:xfrm>
            <a:off x="7955279" y="3840480"/>
            <a:ext cx="3520440" cy="502920"/>
          </a:xfrm>
          <a:prstGeom prst="rect">
            <a:avLst/>
          </a:prstGeom>
          <a:noFill/>
        </p:spPr>
        <p:txBody>
          <a:bodyPr wrap="square" lIns="0" tIns="0" rIns="0" bIns="0" anchor="t">
            <a:spAutoFit/>
          </a:bodyPr>
          <a:lstStyle/>
          <a:p>
            <a:pPr algn="l">
              <a:lnSpc>
                <a:spcPct val="100000"/>
              </a:lnSpc>
            </a:pPr>
            <a:r>
              <a:rPr sz="1050" b="0" i="1">
                <a:solidFill>
                  <a:srgbClr val="56606B"/>
                </a:solidFill>
                <a:latin typeface="Calibri"/>
              </a:rPr>
              <a:t>CVaR₅% is the premium leg, and on 4 and 10 points a sample minimum: descriptive, not inferential.</a:t>
            </a:r>
          </a:p>
        </p:txBody>
      </p:sp>
      <p:sp>
        <p:nvSpPr>
          <p:cNvPr id="22" name="Rounded Rectangle 21"/>
          <p:cNvSpPr/>
          <p:nvPr/>
        </p:nvSpPr>
        <p:spPr>
          <a:xfrm>
            <a:off x="7726679" y="4526280"/>
            <a:ext cx="3931920" cy="1737360"/>
          </a:xfrm>
          <a:prstGeom prst="roundRect">
            <a:avLst>
              <a:gd name="adj" fmla="val 4736"/>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7955279" y="4617720"/>
            <a:ext cx="3566160" cy="274320"/>
          </a:xfrm>
          <a:prstGeom prst="rect">
            <a:avLst/>
          </a:prstGeom>
          <a:noFill/>
        </p:spPr>
        <p:txBody>
          <a:bodyPr wrap="square" lIns="0" tIns="0" rIns="0" bIns="0" anchor="ctr">
            <a:spAutoFit/>
          </a:bodyPr>
          <a:lstStyle/>
          <a:p>
            <a:pPr algn="l"/>
            <a:r>
              <a:rPr sz="1100" b="1" i="0" spc="100">
                <a:solidFill>
                  <a:srgbClr val="E8A33D"/>
                </a:solidFill>
                <a:latin typeface="Calibri"/>
              </a:rPr>
              <a:t>CALM-YEAR TRANSLATION · 2021, ILLUSTRATIVE</a:t>
            </a:r>
          </a:p>
        </p:txBody>
      </p:sp>
      <p:sp>
        <p:nvSpPr>
          <p:cNvPr id="24" name="TextBox 23"/>
          <p:cNvSpPr txBox="1"/>
          <p:nvPr/>
        </p:nvSpPr>
        <p:spPr>
          <a:xfrm>
            <a:off x="7955279" y="4910328"/>
            <a:ext cx="3566160" cy="411480"/>
          </a:xfrm>
          <a:prstGeom prst="rect">
            <a:avLst/>
          </a:prstGeom>
          <a:noFill/>
        </p:spPr>
        <p:txBody>
          <a:bodyPr wrap="square" lIns="0" tIns="0" rIns="0" bIns="0" anchor="ctr">
            <a:spAutoFit/>
          </a:bodyPr>
          <a:lstStyle/>
          <a:p>
            <a:pPr algn="l"/>
            <a:r>
              <a:rPr sz="2600" b="1" i="0">
                <a:solidFill>
                  <a:srgbClr val="E8A33D"/>
                </a:solidFill>
                <a:latin typeface="Cambria"/>
              </a:rPr>
              <a:t>≈ €2.3m</a:t>
            </a:r>
          </a:p>
        </p:txBody>
      </p:sp>
      <p:sp>
        <p:nvSpPr>
          <p:cNvPr id="25" name="TextBox 24"/>
          <p:cNvSpPr txBox="1"/>
          <p:nvPr/>
        </p:nvSpPr>
        <p:spPr>
          <a:xfrm>
            <a:off x="7955279" y="5349240"/>
            <a:ext cx="3566160" cy="868680"/>
          </a:xfrm>
          <a:prstGeom prst="rect">
            <a:avLst/>
          </a:prstGeom>
          <a:noFill/>
        </p:spPr>
        <p:txBody>
          <a:bodyPr wrap="square" lIns="0" tIns="0" rIns="0" bIns="0" anchor="t">
            <a:spAutoFit/>
          </a:bodyPr>
          <a:lstStyle/>
          <a:p>
            <a:pPr algn="l">
              <a:lnSpc>
                <a:spcPct val="100000"/>
              </a:lnSpc>
            </a:pPr>
            <a:r>
              <a:rPr sz="1100" b="0" i="0">
                <a:solidFill>
                  <a:srgbClr val="E6ECF1"/>
                </a:solidFill>
                <a:latin typeface="Calibri"/>
              </a:rPr>
              <a:t>4.99% less wind → ≈14% less generation → ≈32,000 MWh on the 100 MW farm at €71.38/MWh. Not a 2021 P&amp;L: that year’s price spike may have more than offset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3 · VALUE OF INFORMATION — THE HEADLINE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Proxy strike: 94% short — still 88% after height correction</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9</a:t>
            </a:r>
            <a:endParaRPr lang="en-US" sz="900" dirty="0"/>
          </a:p>
        </p:txBody>
      </p:sp>
      <p:sp>
        <p:nvSpPr>
          <p:cNvPr id="14" name="Rounded Rectangle 13"/>
          <p:cNvSpPr/>
          <p:nvPr/>
        </p:nvSpPr>
        <p:spPr>
          <a:xfrm>
            <a:off x="548640" y="1783080"/>
            <a:ext cx="5486400"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20240"/>
            <a:ext cx="5029200" cy="274320"/>
          </a:xfrm>
          <a:prstGeom prst="rect">
            <a:avLst/>
          </a:prstGeom>
          <a:noFill/>
        </p:spPr>
        <p:txBody>
          <a:bodyPr wrap="square" lIns="0" tIns="0" rIns="0" bIns="0" anchor="ctr">
            <a:spAutoFit/>
          </a:bodyPr>
          <a:lstStyle/>
          <a:p>
            <a:pPr algn="l"/>
            <a:r>
              <a:rPr sz="1200" b="1" i="0" spc="100">
                <a:solidFill>
                  <a:srgbClr val="1C7293"/>
                </a:solidFill>
                <a:latin typeface="Calibri"/>
              </a:rPr>
              <a:t>MODEL-IMPLIED FAIR STRIKE  K = h(t₀)·C₀</a:t>
            </a:r>
          </a:p>
        </p:txBody>
      </p:sp>
      <p:graphicFrame>
        <p:nvGraphicFramePr>
          <p:cNvPr id="16" name="Chart 15"/>
          <p:cNvGraphicFramePr>
            <a:graphicFrameLocks noGrp="1"/>
          </p:cNvGraphicFramePr>
          <p:nvPr/>
        </p:nvGraphicFramePr>
        <p:xfrm>
          <a:off x="685800" y="2194560"/>
          <a:ext cx="52120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7" name="Rounded Rectangle 16"/>
          <p:cNvSpPr/>
          <p:nvPr/>
        </p:nvSpPr>
        <p:spPr>
          <a:xfrm>
            <a:off x="6263640" y="1783080"/>
            <a:ext cx="5394960"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8" name="TextBox 17"/>
          <p:cNvSpPr txBox="1"/>
          <p:nvPr/>
        </p:nvSpPr>
        <p:spPr>
          <a:xfrm>
            <a:off x="6537960" y="1920240"/>
            <a:ext cx="4937760" cy="274320"/>
          </a:xfrm>
          <a:prstGeom prst="rect">
            <a:avLst/>
          </a:prstGeom>
          <a:noFill/>
        </p:spPr>
        <p:txBody>
          <a:bodyPr wrap="square" lIns="0" tIns="0" rIns="0" bIns="0" anchor="ctr">
            <a:spAutoFit/>
          </a:bodyPr>
          <a:lstStyle/>
          <a:p>
            <a:pPr algn="l"/>
            <a:r>
              <a:rPr sz="1200" b="1" i="0" spc="100">
                <a:solidFill>
                  <a:srgbClr val="1C7293"/>
                </a:solidFill>
                <a:latin typeface="Calibri"/>
              </a:rPr>
              <a:t>SHORTFALL vs WIND-PROFILE EXPONENT α</a:t>
            </a:r>
          </a:p>
        </p:txBody>
      </p:sp>
      <p:graphicFrame>
        <p:nvGraphicFramePr>
          <p:cNvPr id="19" name="Chart 18"/>
          <p:cNvGraphicFramePr>
            <a:graphicFrameLocks noGrp="1"/>
          </p:cNvGraphicFramePr>
          <p:nvPr/>
        </p:nvGraphicFramePr>
        <p:xfrm>
          <a:off x="6400800" y="2194560"/>
          <a:ext cx="512064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p:cNvSpPr txBox="1"/>
          <p:nvPr/>
        </p:nvSpPr>
        <p:spPr>
          <a:xfrm>
            <a:off x="6537960" y="4572000"/>
            <a:ext cx="4937760" cy="411480"/>
          </a:xfrm>
          <a:prstGeom prst="rect">
            <a:avLst/>
          </a:prstGeom>
          <a:noFill/>
        </p:spPr>
        <p:txBody>
          <a:bodyPr wrap="square" lIns="0" tIns="0" rIns="0" bIns="0" anchor="t">
            <a:spAutoFit/>
          </a:bodyPr>
          <a:lstStyle/>
          <a:p>
            <a:pPr algn="l">
              <a:lnSpc>
                <a:spcPct val="100000"/>
              </a:lnSpc>
            </a:pPr>
            <a:r>
              <a:rPr sz="1100" b="0" i="1">
                <a:solidFill>
                  <a:srgbClr val="56606B"/>
                </a:solidFill>
                <a:latin typeface="Calibri"/>
              </a:rPr>
              <a:t>Open water → very rough terrain. Closing the full 16.07× would need α = 0.60.</a:t>
            </a:r>
          </a:p>
        </p:txBody>
      </p:sp>
      <p:sp>
        <p:nvSpPr>
          <p:cNvPr id="21" name="Rounded Rectangle 20"/>
          <p:cNvSpPr/>
          <p:nvPr/>
        </p:nvSpPr>
        <p:spPr>
          <a:xfrm>
            <a:off x="548640" y="5212080"/>
            <a:ext cx="11109960" cy="1051560"/>
          </a:xfrm>
          <a:prstGeom prst="roundRect">
            <a:avLst>
              <a:gd name="adj" fmla="val 7826"/>
            </a:avLst>
          </a:prstGeom>
          <a:solidFill>
            <a:srgbClr val="EEF3F7"/>
          </a:solidFill>
          <a:ln>
            <a:noFill/>
          </a:ln>
        </p:spPr>
        <p:txBody>
          <a:bodyPr rtlCol="0" anchor="ctr"/>
          <a:lstStyle/>
          <a:p>
            <a:pPr algn="ctr"/>
            <a:endParaRPr/>
          </a:p>
        </p:txBody>
      </p:sp>
      <p:sp>
        <p:nvSpPr>
          <p:cNvPr id="22" name="TextBox 21"/>
          <p:cNvSpPr txBox="1"/>
          <p:nvPr/>
        </p:nvSpPr>
        <p:spPr>
          <a:xfrm>
            <a:off x="868680" y="5303520"/>
            <a:ext cx="5486400" cy="274320"/>
          </a:xfrm>
          <a:prstGeom prst="rect">
            <a:avLst/>
          </a:prstGeom>
          <a:noFill/>
        </p:spPr>
        <p:txBody>
          <a:bodyPr wrap="square" lIns="0" tIns="0" rIns="0" bIns="0" anchor="ctr">
            <a:spAutoFit/>
          </a:bodyPr>
          <a:lstStyle/>
          <a:p>
            <a:pPr algn="l"/>
            <a:r>
              <a:rPr sz="1200" b="1" i="0" spc="100">
                <a:solidFill>
                  <a:srgbClr val="1C7293"/>
                </a:solidFill>
                <a:latin typeface="Calibri"/>
              </a:rPr>
              <a:t>WHERE THE 16.07× STRIKE RATIO SITS  (LOG SCALE)</a:t>
            </a:r>
          </a:p>
        </p:txBody>
      </p:sp>
      <p:sp>
        <p:nvSpPr>
          <p:cNvPr id="23" name="Rectangle 22"/>
          <p:cNvSpPr/>
          <p:nvPr/>
        </p:nvSpPr>
        <p:spPr>
          <a:xfrm>
            <a:off x="868680" y="5650992"/>
            <a:ext cx="5312988" cy="457200"/>
          </a:xfrm>
          <a:prstGeom prst="rect">
            <a:avLst/>
          </a:prstGeom>
          <a:solidFill>
            <a:srgbClr val="21295C"/>
          </a:solidFill>
          <a:ln>
            <a:noFill/>
          </a:ln>
        </p:spPr>
        <p:txBody>
          <a:bodyPr rtlCol="0" anchor="ctr"/>
          <a:lstStyle/>
          <a:p>
            <a:pPr algn="ctr"/>
            <a:endParaRPr/>
          </a:p>
        </p:txBody>
      </p:sp>
      <p:sp>
        <p:nvSpPr>
          <p:cNvPr id="24" name="Rectangle 23"/>
          <p:cNvSpPr/>
          <p:nvPr/>
        </p:nvSpPr>
        <p:spPr>
          <a:xfrm>
            <a:off x="6181668" y="5650992"/>
            <a:ext cx="1453571" cy="457200"/>
          </a:xfrm>
          <a:prstGeom prst="rect">
            <a:avLst/>
          </a:prstGeom>
          <a:solidFill>
            <a:srgbClr val="1C7293"/>
          </a:solidFill>
          <a:ln>
            <a:noFill/>
          </a:ln>
        </p:spPr>
        <p:txBody>
          <a:bodyPr rtlCol="0" anchor="ctr"/>
          <a:lstStyle/>
          <a:p>
            <a:pPr algn="ctr"/>
            <a:endParaRPr/>
          </a:p>
        </p:txBody>
      </p:sp>
      <p:sp>
        <p:nvSpPr>
          <p:cNvPr id="25" name="TextBox 24"/>
          <p:cNvSpPr txBox="1"/>
          <p:nvPr/>
        </p:nvSpPr>
        <p:spPr>
          <a:xfrm>
            <a:off x="1005840" y="5650992"/>
            <a:ext cx="5130108" cy="457200"/>
          </a:xfrm>
          <a:prstGeom prst="rect">
            <a:avLst/>
          </a:prstGeom>
          <a:noFill/>
        </p:spPr>
        <p:txBody>
          <a:bodyPr wrap="square" lIns="0" tIns="0" rIns="0" bIns="0" anchor="ctr">
            <a:spAutoFit/>
          </a:bodyPr>
          <a:lstStyle/>
          <a:p>
            <a:pPr algn="l"/>
            <a:r>
              <a:rPr sz="1250" b="1" i="0">
                <a:solidFill>
                  <a:srgbClr val="FFFFFF"/>
                </a:solidFill>
                <a:latin typeface="Calibri"/>
              </a:rPr>
              <a:t>8.85×  C₀ — seasonal-variance level</a:t>
            </a:r>
          </a:p>
        </p:txBody>
      </p:sp>
      <p:sp>
        <p:nvSpPr>
          <p:cNvPr id="26" name="TextBox 25"/>
          <p:cNvSpPr txBox="1"/>
          <p:nvPr/>
        </p:nvSpPr>
        <p:spPr>
          <a:xfrm>
            <a:off x="6273108" y="5650992"/>
            <a:ext cx="1316411" cy="457200"/>
          </a:xfrm>
          <a:prstGeom prst="rect">
            <a:avLst/>
          </a:prstGeom>
          <a:noFill/>
        </p:spPr>
        <p:txBody>
          <a:bodyPr wrap="square" lIns="0" tIns="0" rIns="0" bIns="0" anchor="ctr">
            <a:spAutoFit/>
          </a:bodyPr>
          <a:lstStyle/>
          <a:p>
            <a:pPr algn="l"/>
            <a:r>
              <a:rPr sz="1250" b="1" i="0">
                <a:solidFill>
                  <a:srgbClr val="FFFFFF"/>
                </a:solidFill>
                <a:latin typeface="Calibri"/>
              </a:rPr>
              <a:t>1.82×  h(t₀)</a:t>
            </a:r>
          </a:p>
        </p:txBody>
      </p:sp>
      <p:sp>
        <p:nvSpPr>
          <p:cNvPr id="27" name="TextBox 26"/>
          <p:cNvSpPr txBox="1"/>
          <p:nvPr/>
        </p:nvSpPr>
        <p:spPr>
          <a:xfrm>
            <a:off x="7909560" y="5349240"/>
            <a:ext cx="3520440" cy="868680"/>
          </a:xfrm>
          <a:prstGeom prst="rect">
            <a:avLst/>
          </a:prstGeom>
          <a:noFill/>
        </p:spPr>
        <p:txBody>
          <a:bodyPr wrap="square" lIns="0" tIns="0" rIns="0" bIns="0" anchor="ctr">
            <a:spAutoFit/>
          </a:bodyPr>
          <a:lstStyle/>
          <a:p>
            <a:pPr algn="l">
              <a:lnSpc>
                <a:spcPct val="105000"/>
              </a:lnSpc>
            </a:pPr>
            <a:r>
              <a:rPr sz="1250" b="1" i="0">
                <a:solidFill>
                  <a:srgbClr val="21295C"/>
                </a:solidFill>
                <a:latin typeface="Calibri"/>
              </a:rPr>
              <a:t>≈ four-fifths of the gap is C₀. </a:t>
            </a:r>
            <a:r>
              <a:rPr sz="1250" b="0" i="0">
                <a:solidFill>
                  <a:srgbClr val="56606B"/>
                </a:solidFill>
                <a:latin typeface="Calibri"/>
              </a:rPr>
              <a:t>But C₀ is measured on two different Box–Cox scales — next slide.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3 · VALUE OF INFORMATION — ON A COMMON SCALE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On a common scale, the two sites look alike</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10</a:t>
            </a:r>
            <a:endParaRPr lang="en-US" sz="900" dirty="0"/>
          </a:p>
        </p:txBody>
      </p:sp>
      <p:sp>
        <p:nvSpPr>
          <p:cNvPr id="14" name="Rounded Rectangle 13"/>
          <p:cNvSpPr/>
          <p:nvPr/>
        </p:nvSpPr>
        <p:spPr>
          <a:xfrm>
            <a:off x="548640" y="1783080"/>
            <a:ext cx="5486400"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20240"/>
            <a:ext cx="5029200" cy="274320"/>
          </a:xfrm>
          <a:prstGeom prst="rect">
            <a:avLst/>
          </a:prstGeom>
          <a:noFill/>
        </p:spPr>
        <p:txBody>
          <a:bodyPr wrap="square" lIns="0" tIns="0" rIns="0" bIns="0" anchor="ctr">
            <a:spAutoFit/>
          </a:bodyPr>
          <a:lstStyle/>
          <a:p>
            <a:pPr algn="l"/>
            <a:r>
              <a:rPr sz="1200" b="1" i="0" spc="100">
                <a:solidFill>
                  <a:srgbClr val="1C7293"/>
                </a:solidFill>
                <a:latin typeface="Calibri"/>
              </a:rPr>
              <a:t>STRIKE RATIO  B / A</a:t>
            </a:r>
          </a:p>
        </p:txBody>
      </p:sp>
      <p:graphicFrame>
        <p:nvGraphicFramePr>
          <p:cNvPr id="16" name="Chart 15"/>
          <p:cNvGraphicFramePr>
            <a:graphicFrameLocks noGrp="1"/>
          </p:cNvGraphicFramePr>
          <p:nvPr/>
        </p:nvGraphicFramePr>
        <p:xfrm>
          <a:off x="685800" y="2194560"/>
          <a:ext cx="52120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7" name="Rounded Rectangle 16"/>
          <p:cNvSpPr/>
          <p:nvPr/>
        </p:nvSpPr>
        <p:spPr>
          <a:xfrm>
            <a:off x="6263640" y="1783080"/>
            <a:ext cx="5394960"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8" name="TextBox 17"/>
          <p:cNvSpPr txBox="1"/>
          <p:nvPr/>
        </p:nvSpPr>
        <p:spPr>
          <a:xfrm>
            <a:off x="6537960" y="1920240"/>
            <a:ext cx="4937760" cy="274320"/>
          </a:xfrm>
          <a:prstGeom prst="rect">
            <a:avLst/>
          </a:prstGeom>
          <a:noFill/>
        </p:spPr>
        <p:txBody>
          <a:bodyPr wrap="square" lIns="0" tIns="0" rIns="0" bIns="0" anchor="ctr">
            <a:spAutoFit/>
          </a:bodyPr>
          <a:lstStyle/>
          <a:p>
            <a:pPr algn="l"/>
            <a:r>
              <a:rPr sz="1200" b="1" i="0" spc="100">
                <a:solidFill>
                  <a:srgbClr val="1C7293"/>
                </a:solidFill>
                <a:latin typeface="Calibri"/>
              </a:rPr>
              <a:t>RECONCILED MODEL STRIKE ÷ MARKET STRIKE</a:t>
            </a:r>
          </a:p>
        </p:txBody>
      </p:sp>
      <p:graphicFrame>
        <p:nvGraphicFramePr>
          <p:cNvPr id="19" name="Chart 18"/>
          <p:cNvGraphicFramePr>
            <a:graphicFrameLocks noGrp="1"/>
          </p:cNvGraphicFramePr>
          <p:nvPr/>
        </p:nvGraphicFramePr>
        <p:xfrm>
          <a:off x="6400800" y="2194560"/>
          <a:ext cx="512064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p:cNvSpPr txBox="1"/>
          <p:nvPr/>
        </p:nvSpPr>
        <p:spPr>
          <a:xfrm>
            <a:off x="8778240" y="1920240"/>
            <a:ext cx="2743200" cy="274320"/>
          </a:xfrm>
          <a:prstGeom prst="rect">
            <a:avLst/>
          </a:prstGeom>
          <a:noFill/>
        </p:spPr>
        <p:txBody>
          <a:bodyPr wrap="square" lIns="0" tIns="0" rIns="0" bIns="0" anchor="ctr">
            <a:spAutoFit/>
          </a:bodyPr>
          <a:lstStyle/>
          <a:p>
            <a:pPr algn="r"/>
            <a:r>
              <a:rPr sz="1100" b="0" i="1">
                <a:solidFill>
                  <a:srgbClr val="56606B"/>
                </a:solidFill>
                <a:latin typeface="Calibri"/>
              </a:rPr>
              <a:t>1.0× = market</a:t>
            </a:r>
          </a:p>
        </p:txBody>
      </p:sp>
      <p:sp>
        <p:nvSpPr>
          <p:cNvPr id="21" name="Rounded Rectangle 20"/>
          <p:cNvSpPr/>
          <p:nvPr/>
        </p:nvSpPr>
        <p:spPr>
          <a:xfrm>
            <a:off x="548640"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2" name="TextBox 21"/>
          <p:cNvSpPr txBox="1"/>
          <p:nvPr/>
        </p:nvSpPr>
        <p:spPr>
          <a:xfrm>
            <a:off x="777240"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TWO MEASUREMENT SCALES</a:t>
            </a:r>
          </a:p>
        </p:txBody>
      </p:sp>
      <p:sp>
        <p:nvSpPr>
          <p:cNvPr id="23" name="TextBox 22"/>
          <p:cNvSpPr txBox="1"/>
          <p:nvPr/>
        </p:nvSpPr>
        <p:spPr>
          <a:xfrm>
            <a:off x="777240"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C₀ is a variance in Box–Cox units: λ = 0.1 (A) vs λ = 0.5 (B).</a:t>
            </a:r>
          </a:p>
        </p:txBody>
      </p:sp>
      <p:sp>
        <p:nvSpPr>
          <p:cNvPr id="24" name="Rounded Rectangle 23"/>
          <p:cNvSpPr/>
          <p:nvPr/>
        </p:nvSpPr>
        <p:spPr>
          <a:xfrm>
            <a:off x="4325112"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5" name="TextBox 24"/>
          <p:cNvSpPr txBox="1"/>
          <p:nvPr/>
        </p:nvSpPr>
        <p:spPr>
          <a:xfrm>
            <a:off x="4553712"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TWO PRICING DATES</a:t>
            </a:r>
          </a:p>
        </p:txBody>
      </p:sp>
      <p:sp>
        <p:nvSpPr>
          <p:cNvPr id="26" name="TextBox 25"/>
          <p:cNvSpPr txBox="1"/>
          <p:nvPr/>
        </p:nvSpPr>
        <p:spPr>
          <a:xfrm>
            <a:off x="4553712"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h(t₀) on 31 Dec 2018 vs 31 Dec 2024: the 1.82× compares dates, not sites.</a:t>
            </a:r>
          </a:p>
        </p:txBody>
      </p:sp>
      <p:sp>
        <p:nvSpPr>
          <p:cNvPr id="27" name="Rounded Rectangle 26"/>
          <p:cNvSpPr/>
          <p:nvPr/>
        </p:nvSpPr>
        <p:spPr>
          <a:xfrm>
            <a:off x="8101583"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8" name="TextBox 27"/>
          <p:cNvSpPr txBox="1"/>
          <p:nvPr/>
        </p:nvSpPr>
        <p:spPr>
          <a:xfrm>
            <a:off x="8330183"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SAME RELATIVE VARIABILITY</a:t>
            </a:r>
          </a:p>
        </p:txBody>
      </p:sp>
      <p:sp>
        <p:nvSpPr>
          <p:cNvPr id="29" name="TextBox 28"/>
          <p:cNvSpPr txBox="1"/>
          <p:nvPr/>
        </p:nvSpPr>
        <p:spPr>
          <a:xfrm>
            <a:off x="8330183"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Coefficient of variation 0.384 (Bologna) vs 0.401 (Nordfriesland).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CH. 3 · VALUE OF INFORMATION — WHERE IT REALLY SITS</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proxy carries no information about what it would hedge</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11</a:t>
            </a:r>
            <a:endParaRPr lang="en-US" sz="900" dirty="0"/>
          </a:p>
        </p:txBody>
      </p:sp>
      <p:sp>
        <p:nvSpPr>
          <p:cNvPr id="14" name="Rounded Rectangle 13"/>
          <p:cNvSpPr/>
          <p:nvPr/>
        </p:nvSpPr>
        <p:spPr>
          <a:xfrm>
            <a:off x="548640" y="1783080"/>
            <a:ext cx="8732520" cy="3291840"/>
          </a:xfrm>
          <a:prstGeom prst="roundRect">
            <a:avLst>
              <a:gd name="adj" fmla="val 2500"/>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pic>
        <p:nvPicPr>
          <p:cNvPr id="15" name="Picture 14" descr="pcA.png"/>
          <p:cNvPicPr>
            <a:picLocks noChangeAspect="1"/>
          </p:cNvPicPr>
          <p:nvPr/>
        </p:nvPicPr>
        <p:blipFill>
          <a:blip r:embed="rId3"/>
          <a:stretch>
            <a:fillRect/>
          </a:stretch>
        </p:blipFill>
        <p:spPr>
          <a:xfrm>
            <a:off x="731520" y="1965960"/>
            <a:ext cx="4425071" cy="2606040"/>
          </a:xfrm>
          <a:prstGeom prst="rect">
            <a:avLst/>
          </a:prstGeom>
        </p:spPr>
      </p:pic>
      <p:pic>
        <p:nvPicPr>
          <p:cNvPr id="16" name="Picture 15" descr="pcB.png"/>
          <p:cNvPicPr>
            <a:picLocks noChangeAspect="1"/>
          </p:cNvPicPr>
          <p:nvPr/>
        </p:nvPicPr>
        <p:blipFill>
          <a:blip r:embed="rId4"/>
          <a:stretch>
            <a:fillRect/>
          </a:stretch>
        </p:blipFill>
        <p:spPr>
          <a:xfrm>
            <a:off x="5303520" y="1965960"/>
            <a:ext cx="3831653" cy="2606040"/>
          </a:xfrm>
          <a:prstGeom prst="rect">
            <a:avLst/>
          </a:prstGeom>
        </p:spPr>
      </p:pic>
      <p:sp>
        <p:nvSpPr>
          <p:cNvPr id="17" name="TextBox 16"/>
          <p:cNvSpPr txBox="1"/>
          <p:nvPr/>
        </p:nvSpPr>
        <p:spPr>
          <a:xfrm>
            <a:off x="731520" y="4663440"/>
            <a:ext cx="4480560" cy="320040"/>
          </a:xfrm>
          <a:prstGeom prst="rect">
            <a:avLst/>
          </a:prstGeom>
          <a:noFill/>
        </p:spPr>
        <p:txBody>
          <a:bodyPr wrap="square" lIns="0" tIns="0" rIns="0" bIns="0" anchor="ctr">
            <a:spAutoFit/>
          </a:bodyPr>
          <a:lstStyle/>
          <a:p>
            <a:pPr algn="l"/>
            <a:r>
              <a:rPr sz="1200" b="1" i="0">
                <a:solidFill>
                  <a:srgbClr val="C8791A"/>
                </a:solidFill>
                <a:latin typeface="Calibri"/>
              </a:rPr>
              <a:t>A — Bologna 10 m: </a:t>
            </a:r>
            <a:r>
              <a:rPr sz="1200" b="0" i="0">
                <a:solidFill>
                  <a:srgbClr val="56606B"/>
                </a:solidFill>
                <a:latin typeface="Calibri"/>
              </a:rPr>
              <a:t>R² = 0.0001, slope p = 0.723</a:t>
            </a:r>
          </a:p>
        </p:txBody>
      </p:sp>
      <p:sp>
        <p:nvSpPr>
          <p:cNvPr id="18" name="TextBox 17"/>
          <p:cNvSpPr txBox="1"/>
          <p:nvPr/>
        </p:nvSpPr>
        <p:spPr>
          <a:xfrm>
            <a:off x="5303520" y="4663440"/>
            <a:ext cx="3840480" cy="320040"/>
          </a:xfrm>
          <a:prstGeom prst="rect">
            <a:avLst/>
          </a:prstGeom>
          <a:noFill/>
        </p:spPr>
        <p:txBody>
          <a:bodyPr wrap="square" lIns="0" tIns="0" rIns="0" bIns="0" anchor="ctr">
            <a:spAutoFit/>
          </a:bodyPr>
          <a:lstStyle/>
          <a:p>
            <a:pPr algn="l"/>
            <a:r>
              <a:rPr sz="1200" b="1" i="0">
                <a:solidFill>
                  <a:srgbClr val="1C7293"/>
                </a:solidFill>
                <a:latin typeface="Calibri"/>
              </a:rPr>
              <a:t>B — Nordfriesland 100 m: </a:t>
            </a:r>
            <a:r>
              <a:rPr sz="1200" b="0" i="0">
                <a:solidFill>
                  <a:srgbClr val="56606B"/>
                </a:solidFill>
                <a:latin typeface="Calibri"/>
              </a:rPr>
              <a:t>R² = 0.587, p &lt; 0.001</a:t>
            </a:r>
          </a:p>
        </p:txBody>
      </p:sp>
      <p:sp>
        <p:nvSpPr>
          <p:cNvPr id="19" name="Rounded Rectangle 18"/>
          <p:cNvSpPr/>
          <p:nvPr/>
        </p:nvSpPr>
        <p:spPr>
          <a:xfrm>
            <a:off x="9509760" y="1783080"/>
            <a:ext cx="2148840" cy="3291840"/>
          </a:xfrm>
          <a:prstGeom prst="roundRect">
            <a:avLst>
              <a:gd name="adj" fmla="val 3829"/>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0" name="TextBox 19"/>
          <p:cNvSpPr txBox="1"/>
          <p:nvPr/>
        </p:nvSpPr>
        <p:spPr>
          <a:xfrm>
            <a:off x="9692640" y="1920240"/>
            <a:ext cx="1828800" cy="274320"/>
          </a:xfrm>
          <a:prstGeom prst="rect">
            <a:avLst/>
          </a:prstGeom>
          <a:noFill/>
        </p:spPr>
        <p:txBody>
          <a:bodyPr wrap="square" lIns="0" tIns="0" rIns="0" bIns="0" anchor="ctr">
            <a:spAutoFit/>
          </a:bodyPr>
          <a:lstStyle/>
          <a:p>
            <a:pPr algn="l"/>
            <a:r>
              <a:rPr sz="1050" b="1" i="0" spc="100">
                <a:solidFill>
                  <a:srgbClr val="1C7293"/>
                </a:solidFill>
                <a:latin typeface="Calibri"/>
              </a:rPr>
              <a:t>GENERATION EXPLAINED</a:t>
            </a:r>
          </a:p>
        </p:txBody>
      </p:sp>
      <p:sp>
        <p:nvSpPr>
          <p:cNvPr id="21" name="TextBox 20"/>
          <p:cNvSpPr txBox="1"/>
          <p:nvPr/>
        </p:nvSpPr>
        <p:spPr>
          <a:xfrm>
            <a:off x="9692640" y="2286000"/>
            <a:ext cx="1828800" cy="594360"/>
          </a:xfrm>
          <a:prstGeom prst="rect">
            <a:avLst/>
          </a:prstGeom>
          <a:noFill/>
        </p:spPr>
        <p:txBody>
          <a:bodyPr wrap="square" lIns="0" tIns="0" rIns="0" bIns="0" anchor="ctr">
            <a:spAutoFit/>
          </a:bodyPr>
          <a:lstStyle/>
          <a:p>
            <a:pPr algn="l"/>
            <a:r>
              <a:rPr sz="3200" b="1" i="0">
                <a:solidFill>
                  <a:srgbClr val="1C7293"/>
                </a:solidFill>
                <a:latin typeface="Cambria"/>
              </a:rPr>
              <a:t>58.7%</a:t>
            </a:r>
          </a:p>
        </p:txBody>
      </p:sp>
      <p:sp>
        <p:nvSpPr>
          <p:cNvPr id="22" name="TextBox 21"/>
          <p:cNvSpPr txBox="1"/>
          <p:nvPr/>
        </p:nvSpPr>
        <p:spPr>
          <a:xfrm>
            <a:off x="9692640" y="2852928"/>
            <a:ext cx="1828800" cy="274320"/>
          </a:xfrm>
          <a:prstGeom prst="rect">
            <a:avLst/>
          </a:prstGeom>
          <a:noFill/>
        </p:spPr>
        <p:txBody>
          <a:bodyPr wrap="square" lIns="0" tIns="0" rIns="0" bIns="0" anchor="t">
            <a:spAutoFit/>
          </a:bodyPr>
          <a:lstStyle/>
          <a:p>
            <a:pPr algn="l"/>
            <a:r>
              <a:rPr sz="1100" b="0" i="0">
                <a:solidFill>
                  <a:srgbClr val="56606B"/>
                </a:solidFill>
                <a:latin typeface="Calibri"/>
              </a:rPr>
              <a:t>Nordfriesland 100 m</a:t>
            </a:r>
          </a:p>
        </p:txBody>
      </p:sp>
      <p:sp>
        <p:nvSpPr>
          <p:cNvPr id="23" name="TextBox 22"/>
          <p:cNvSpPr txBox="1"/>
          <p:nvPr/>
        </p:nvSpPr>
        <p:spPr>
          <a:xfrm>
            <a:off x="9692640" y="3291840"/>
            <a:ext cx="1828800" cy="594360"/>
          </a:xfrm>
          <a:prstGeom prst="rect">
            <a:avLst/>
          </a:prstGeom>
          <a:noFill/>
        </p:spPr>
        <p:txBody>
          <a:bodyPr wrap="square" lIns="0" tIns="0" rIns="0" bIns="0" anchor="ctr">
            <a:spAutoFit/>
          </a:bodyPr>
          <a:lstStyle/>
          <a:p>
            <a:pPr algn="l"/>
            <a:r>
              <a:rPr sz="3200" b="1" i="0">
                <a:solidFill>
                  <a:srgbClr val="C8791A"/>
                </a:solidFill>
                <a:latin typeface="Cambria"/>
              </a:rPr>
              <a:t>0.01%</a:t>
            </a:r>
          </a:p>
        </p:txBody>
      </p:sp>
      <p:sp>
        <p:nvSpPr>
          <p:cNvPr id="24" name="TextBox 23"/>
          <p:cNvSpPr txBox="1"/>
          <p:nvPr/>
        </p:nvSpPr>
        <p:spPr>
          <a:xfrm>
            <a:off x="9692640" y="3858768"/>
            <a:ext cx="1828800" cy="274320"/>
          </a:xfrm>
          <a:prstGeom prst="rect">
            <a:avLst/>
          </a:prstGeom>
          <a:noFill/>
        </p:spPr>
        <p:txBody>
          <a:bodyPr wrap="square" lIns="0" tIns="0" rIns="0" bIns="0" anchor="t">
            <a:spAutoFit/>
          </a:bodyPr>
          <a:lstStyle/>
          <a:p>
            <a:pPr algn="l"/>
            <a:r>
              <a:rPr sz="1100" b="0" i="0">
                <a:solidFill>
                  <a:srgbClr val="56606B"/>
                </a:solidFill>
                <a:latin typeface="Calibri"/>
              </a:rPr>
              <a:t>Bologna 10 m</a:t>
            </a:r>
          </a:p>
        </p:txBody>
      </p:sp>
      <p:sp>
        <p:nvSpPr>
          <p:cNvPr id="25" name="TextBox 24"/>
          <p:cNvSpPr txBox="1"/>
          <p:nvPr/>
        </p:nvSpPr>
        <p:spPr>
          <a:xfrm>
            <a:off x="9692640" y="4251960"/>
            <a:ext cx="1828800" cy="731520"/>
          </a:xfrm>
          <a:prstGeom prst="rect">
            <a:avLst/>
          </a:prstGeom>
          <a:noFill/>
        </p:spPr>
        <p:txBody>
          <a:bodyPr wrap="square" lIns="0" tIns="0" rIns="0" bIns="0" anchor="t">
            <a:spAutoFit/>
          </a:bodyPr>
          <a:lstStyle/>
          <a:p>
            <a:pPr algn="l">
              <a:lnSpc>
                <a:spcPct val="100000"/>
              </a:lnSpc>
            </a:pPr>
            <a:r>
              <a:rPr sz="1050" b="0" i="1">
                <a:solidFill>
                  <a:srgbClr val="56606B"/>
                </a:solidFill>
                <a:latin typeface="Calibri"/>
              </a:rPr>
              <a:t>SMARD Gₜ = c·Wₜ³ + b, daily OLS</a:t>
            </a:r>
          </a:p>
        </p:txBody>
      </p:sp>
      <p:sp>
        <p:nvSpPr>
          <p:cNvPr id="26" name="Rounded Rectangle 25"/>
          <p:cNvSpPr/>
          <p:nvPr/>
        </p:nvSpPr>
        <p:spPr>
          <a:xfrm>
            <a:off x="548640" y="5257800"/>
            <a:ext cx="6309360" cy="1005840"/>
          </a:xfrm>
          <a:prstGeom prst="roundRect">
            <a:avLst>
              <a:gd name="adj" fmla="val 8181"/>
            </a:avLst>
          </a:prstGeom>
          <a:solidFill>
            <a:srgbClr val="EEF3F7"/>
          </a:solidFill>
          <a:ln>
            <a:noFill/>
          </a:ln>
        </p:spPr>
        <p:txBody>
          <a:bodyPr rtlCol="0" anchor="ctr"/>
          <a:lstStyle/>
          <a:p>
            <a:pPr algn="ctr"/>
            <a:endParaRPr/>
          </a:p>
        </p:txBody>
      </p:sp>
      <p:sp>
        <p:nvSpPr>
          <p:cNvPr id="27" name="TextBox 26"/>
          <p:cNvSpPr txBox="1"/>
          <p:nvPr/>
        </p:nvSpPr>
        <p:spPr>
          <a:xfrm>
            <a:off x="822960" y="5321808"/>
            <a:ext cx="5852160" cy="868680"/>
          </a:xfrm>
          <a:prstGeom prst="rect">
            <a:avLst/>
          </a:prstGeom>
          <a:noFill/>
        </p:spPr>
        <p:txBody>
          <a:bodyPr wrap="square" lIns="0" tIns="0" rIns="0" bIns="0" anchor="ctr">
            <a:spAutoFit/>
          </a:bodyPr>
          <a:lstStyle/>
          <a:p>
            <a:pPr algn="l">
              <a:lnSpc>
                <a:spcPct val="105000"/>
              </a:lnSpc>
            </a:pPr>
            <a:r>
              <a:rPr sz="1250" b="0" i="0">
                <a:solidFill>
                  <a:srgbClr val="56606B"/>
                </a:solidFill>
                <a:latin typeface="Calibri"/>
              </a:rPr>
              <a:t>One grid point cannot reach R² = 1 against a national fleet: compare 0.587 with 0.0001, not with 1. </a:t>
            </a:r>
            <a:r>
              <a:rPr sz="1250" b="1" i="0">
                <a:solidFill>
                  <a:srgbClr val="21295C"/>
                </a:solidFill>
                <a:latin typeface="Calibri"/>
              </a:rPr>
              <a:t>It costs one OLS fit — screen wind series on it before pricing.</a:t>
            </a:r>
          </a:p>
        </p:txBody>
      </p:sp>
      <p:sp>
        <p:nvSpPr>
          <p:cNvPr id="28" name="Rounded Rectangle 27"/>
          <p:cNvSpPr/>
          <p:nvPr/>
        </p:nvSpPr>
        <p:spPr>
          <a:xfrm>
            <a:off x="7086600" y="5257800"/>
            <a:ext cx="4572000" cy="1005840"/>
          </a:xfrm>
          <a:prstGeom prst="roundRect">
            <a:avLst>
              <a:gd name="adj" fmla="val 8181"/>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9" name="TextBox 28"/>
          <p:cNvSpPr txBox="1"/>
          <p:nvPr/>
        </p:nvSpPr>
        <p:spPr>
          <a:xfrm>
            <a:off x="7315200" y="5321808"/>
            <a:ext cx="4160520" cy="868680"/>
          </a:xfrm>
          <a:prstGeom prst="rect">
            <a:avLst/>
          </a:prstGeom>
          <a:noFill/>
        </p:spPr>
        <p:txBody>
          <a:bodyPr wrap="square" lIns="0" tIns="0" rIns="0" bIns="0" anchor="ctr">
            <a:spAutoFit/>
          </a:bodyPr>
          <a:lstStyle/>
          <a:p>
            <a:pPr algn="l">
              <a:lnSpc>
                <a:spcPct val="100000"/>
              </a:lnSpc>
            </a:pPr>
            <a:r>
              <a:rPr sz="1250" b="0" i="1">
                <a:solidFill>
                  <a:srgbClr val="FFFFFF"/>
                </a:solidFill>
                <a:latin typeface="Cambria"/>
              </a:rPr>
              <a:t>A proxy that quotes a plausible number while carrying no information is more dangerous than an obviously wrong one — only the second announces itself.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SUMMARY</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question, answered</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12</a:t>
            </a:r>
            <a:endParaRPr lang="en-US" sz="900" dirty="0"/>
          </a:p>
        </p:txBody>
      </p:sp>
      <p:sp>
        <p:nvSpPr>
          <p:cNvPr id="14" name="Rounded Rectangle 13"/>
          <p:cNvSpPr/>
          <p:nvPr/>
        </p:nvSpPr>
        <p:spPr>
          <a:xfrm>
            <a:off x="548640"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Oval 14"/>
          <p:cNvSpPr/>
          <p:nvPr/>
        </p:nvSpPr>
        <p:spPr>
          <a:xfrm>
            <a:off x="841247" y="2011680"/>
            <a:ext cx="502920" cy="502920"/>
          </a:xfrm>
          <a:prstGeom prst="ellipse">
            <a:avLst/>
          </a:prstGeom>
          <a:solidFill>
            <a:srgbClr val="1C7293"/>
          </a:solidFill>
          <a:ln>
            <a:noFill/>
          </a:ln>
        </p:spPr>
        <p:txBody>
          <a:bodyPr rtlCol="0" anchor="ctr"/>
          <a:lstStyle/>
          <a:p>
            <a:pPr algn="ctr"/>
            <a:endParaRPr/>
          </a:p>
        </p:txBody>
      </p:sp>
      <p:sp>
        <p:nvSpPr>
          <p:cNvPr id="16" name="TextBox 15"/>
          <p:cNvSpPr txBox="1"/>
          <p:nvPr/>
        </p:nvSpPr>
        <p:spPr>
          <a:xfrm>
            <a:off x="841247"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1</a:t>
            </a:r>
          </a:p>
        </p:txBody>
      </p:sp>
      <p:sp>
        <p:nvSpPr>
          <p:cNvPr id="17" name="TextBox 16"/>
          <p:cNvSpPr txBox="1"/>
          <p:nvPr/>
        </p:nvSpPr>
        <p:spPr>
          <a:xfrm>
            <a:off x="1508760" y="2130552"/>
            <a:ext cx="2468880" cy="274320"/>
          </a:xfrm>
          <a:prstGeom prst="rect">
            <a:avLst/>
          </a:prstGeom>
          <a:noFill/>
        </p:spPr>
        <p:txBody>
          <a:bodyPr wrap="square" lIns="0" tIns="0" rIns="0" bIns="0" anchor="ctr">
            <a:spAutoFit/>
          </a:bodyPr>
          <a:lstStyle/>
          <a:p>
            <a:pPr algn="l"/>
            <a:r>
              <a:rPr sz="1200" b="1" i="0" spc="100">
                <a:solidFill>
                  <a:srgbClr val="C8791A"/>
                </a:solidFill>
                <a:latin typeface="Calibri"/>
              </a:rPr>
              <a:t>PRICE</a:t>
            </a:r>
          </a:p>
        </p:txBody>
      </p:sp>
      <p:sp>
        <p:nvSpPr>
          <p:cNvPr id="18" name="TextBox 17"/>
          <p:cNvSpPr txBox="1"/>
          <p:nvPr/>
        </p:nvSpPr>
        <p:spPr>
          <a:xfrm>
            <a:off x="841247" y="2697480"/>
            <a:ext cx="3017520" cy="365760"/>
          </a:xfrm>
          <a:prstGeom prst="rect">
            <a:avLst/>
          </a:prstGeom>
          <a:noFill/>
        </p:spPr>
        <p:txBody>
          <a:bodyPr wrap="square" lIns="0" tIns="0" rIns="0" bIns="0" anchor="ctr">
            <a:spAutoFit/>
          </a:bodyPr>
          <a:lstStyle/>
          <a:p>
            <a:pPr algn="l"/>
            <a:r>
              <a:rPr sz="1700" b="1" i="0">
                <a:solidFill>
                  <a:srgbClr val="21295C"/>
                </a:solidFill>
                <a:latin typeface="Cambria"/>
              </a:rPr>
              <a:t>Yes — in closed form</a:t>
            </a:r>
          </a:p>
        </p:txBody>
      </p:sp>
      <p:sp>
        <p:nvSpPr>
          <p:cNvPr id="19" name="TextBox 18"/>
          <p:cNvSpPr txBox="1"/>
          <p:nvPr/>
        </p:nvSpPr>
        <p:spPr>
          <a:xfrm>
            <a:off x="841247" y="3154680"/>
            <a:ext cx="3017520" cy="1783080"/>
          </a:xfrm>
          <a:prstGeom prst="rect">
            <a:avLst/>
          </a:prstGeom>
          <a:noFill/>
        </p:spPr>
        <p:txBody>
          <a:bodyPr wrap="square" lIns="0" tIns="0" rIns="0" bIns="0" anchor="t">
            <a:spAutoFit/>
          </a:bodyPr>
          <a:lstStyle/>
          <a:p>
            <a:pPr algn="l">
              <a:lnSpc>
                <a:spcPct val="112000"/>
              </a:lnSpc>
            </a:pPr>
            <a:r>
              <a:rPr sz="1450" b="0" i="0">
                <a:solidFill>
                  <a:srgbClr val="56606B"/>
                </a:solidFill>
                <a:latin typeface="Calibri"/>
              </a:rPr>
              <a:t>K = h(t₀)·C₀ under θ = 0. Reconciled to market units, the Nordfriesland strike is the market’s order of magnitude (328.8 vs 113.1). It prices a variance swap, not an option on variance.</a:t>
            </a:r>
          </a:p>
        </p:txBody>
      </p:sp>
      <p:sp>
        <p:nvSpPr>
          <p:cNvPr id="20" name="Rounded Rectangle 19"/>
          <p:cNvSpPr/>
          <p:nvPr/>
        </p:nvSpPr>
        <p:spPr>
          <a:xfrm>
            <a:off x="4306824"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1" name="Oval 20"/>
          <p:cNvSpPr/>
          <p:nvPr/>
        </p:nvSpPr>
        <p:spPr>
          <a:xfrm>
            <a:off x="4599432" y="2011680"/>
            <a:ext cx="502920" cy="502920"/>
          </a:xfrm>
          <a:prstGeom prst="ellipse">
            <a:avLst/>
          </a:prstGeom>
          <a:solidFill>
            <a:srgbClr val="1C7293"/>
          </a:solidFill>
          <a:ln>
            <a:noFill/>
          </a:ln>
        </p:spPr>
        <p:txBody>
          <a:bodyPr rtlCol="0" anchor="ctr"/>
          <a:lstStyle/>
          <a:p>
            <a:pPr algn="ctr"/>
            <a:endParaRPr/>
          </a:p>
        </p:txBody>
      </p:sp>
      <p:sp>
        <p:nvSpPr>
          <p:cNvPr id="22" name="TextBox 21"/>
          <p:cNvSpPr txBox="1"/>
          <p:nvPr/>
        </p:nvSpPr>
        <p:spPr>
          <a:xfrm>
            <a:off x="4599432"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2</a:t>
            </a:r>
          </a:p>
        </p:txBody>
      </p:sp>
      <p:sp>
        <p:nvSpPr>
          <p:cNvPr id="23" name="TextBox 22"/>
          <p:cNvSpPr txBox="1"/>
          <p:nvPr/>
        </p:nvSpPr>
        <p:spPr>
          <a:xfrm>
            <a:off x="5266944" y="2130552"/>
            <a:ext cx="2468880" cy="274320"/>
          </a:xfrm>
          <a:prstGeom prst="rect">
            <a:avLst/>
          </a:prstGeom>
          <a:noFill/>
        </p:spPr>
        <p:txBody>
          <a:bodyPr wrap="square" lIns="0" tIns="0" rIns="0" bIns="0" anchor="ctr">
            <a:spAutoFit/>
          </a:bodyPr>
          <a:lstStyle/>
          <a:p>
            <a:pPr algn="l"/>
            <a:r>
              <a:rPr sz="1200" b="1" i="0" spc="100">
                <a:solidFill>
                  <a:srgbClr val="C8791A"/>
                </a:solidFill>
                <a:latin typeface="Calibri"/>
              </a:rPr>
              <a:t>HEDGE</a:t>
            </a:r>
          </a:p>
        </p:txBody>
      </p:sp>
      <p:sp>
        <p:nvSpPr>
          <p:cNvPr id="24" name="TextBox 23"/>
          <p:cNvSpPr txBox="1"/>
          <p:nvPr/>
        </p:nvSpPr>
        <p:spPr>
          <a:xfrm>
            <a:off x="4599432" y="2697480"/>
            <a:ext cx="3017520" cy="365760"/>
          </a:xfrm>
          <a:prstGeom prst="rect">
            <a:avLst/>
          </a:prstGeom>
          <a:noFill/>
        </p:spPr>
        <p:txBody>
          <a:bodyPr wrap="square" lIns="0" tIns="0" rIns="0" bIns="0" anchor="ctr">
            <a:spAutoFit/>
          </a:bodyPr>
          <a:lstStyle/>
          <a:p>
            <a:pPr algn="l"/>
            <a:r>
              <a:rPr sz="1700" b="1" i="0">
                <a:solidFill>
                  <a:srgbClr val="21295C"/>
                </a:solidFill>
                <a:latin typeface="Cambria"/>
              </a:rPr>
              <a:t>CAWS covers the left tail</a:t>
            </a:r>
          </a:p>
        </p:txBody>
      </p:sp>
      <p:sp>
        <p:nvSpPr>
          <p:cNvPr id="25" name="TextBox 24"/>
          <p:cNvSpPr txBox="1"/>
          <p:nvPr/>
        </p:nvSpPr>
        <p:spPr>
          <a:xfrm>
            <a:off x="4599432" y="3154680"/>
            <a:ext cx="3017520" cy="1783080"/>
          </a:xfrm>
          <a:prstGeom prst="rect">
            <a:avLst/>
          </a:prstGeom>
          <a:noFill/>
        </p:spPr>
        <p:txBody>
          <a:bodyPr wrap="square" lIns="0" tIns="0" rIns="0" bIns="0" anchor="t">
            <a:spAutoFit/>
          </a:bodyPr>
          <a:lstStyle/>
          <a:p>
            <a:pPr algn="l">
              <a:lnSpc>
                <a:spcPct val="112000"/>
              </a:lnSpc>
            </a:pPr>
            <a:r>
              <a:rPr sz="1450" b="0" i="0">
                <a:solidFill>
                  <a:srgbClr val="56606B"/>
                </a:solidFill>
                <a:latin typeface="Calibri"/>
              </a:rPr>
              <a:t>It pays in the calm years that depress revenue — 2021: +4.99% of strike, ≈ €2.3m on 100 MW, illustrative. Tail statistics are descriptive (n = 4, 10).</a:t>
            </a:r>
          </a:p>
        </p:txBody>
      </p:sp>
      <p:sp>
        <p:nvSpPr>
          <p:cNvPr id="26" name="Rounded Rectangle 25"/>
          <p:cNvSpPr/>
          <p:nvPr/>
        </p:nvSpPr>
        <p:spPr>
          <a:xfrm>
            <a:off x="8065008"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7" name="Oval 26"/>
          <p:cNvSpPr/>
          <p:nvPr/>
        </p:nvSpPr>
        <p:spPr>
          <a:xfrm>
            <a:off x="8357616" y="2011680"/>
            <a:ext cx="502920" cy="502920"/>
          </a:xfrm>
          <a:prstGeom prst="ellipse">
            <a:avLst/>
          </a:prstGeom>
          <a:solidFill>
            <a:srgbClr val="C8791A"/>
          </a:solidFill>
          <a:ln>
            <a:noFill/>
          </a:ln>
        </p:spPr>
        <p:txBody>
          <a:bodyPr rtlCol="0" anchor="ctr"/>
          <a:lstStyle/>
          <a:p>
            <a:pPr algn="ctr"/>
            <a:endParaRPr/>
          </a:p>
        </p:txBody>
      </p:sp>
      <p:sp>
        <p:nvSpPr>
          <p:cNvPr id="28" name="TextBox 27"/>
          <p:cNvSpPr txBox="1"/>
          <p:nvPr/>
        </p:nvSpPr>
        <p:spPr>
          <a:xfrm>
            <a:off x="8357616"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3</a:t>
            </a:r>
          </a:p>
        </p:txBody>
      </p:sp>
      <p:sp>
        <p:nvSpPr>
          <p:cNvPr id="29" name="TextBox 28"/>
          <p:cNvSpPr txBox="1"/>
          <p:nvPr/>
        </p:nvSpPr>
        <p:spPr>
          <a:xfrm>
            <a:off x="9025128" y="2130552"/>
            <a:ext cx="2468880" cy="274320"/>
          </a:xfrm>
          <a:prstGeom prst="rect">
            <a:avLst/>
          </a:prstGeom>
          <a:noFill/>
        </p:spPr>
        <p:txBody>
          <a:bodyPr wrap="square" lIns="0" tIns="0" rIns="0" bIns="0" anchor="ctr">
            <a:spAutoFit/>
          </a:bodyPr>
          <a:lstStyle/>
          <a:p>
            <a:pPr algn="l"/>
            <a:r>
              <a:rPr sz="1200" b="1" i="0" spc="100">
                <a:solidFill>
                  <a:srgbClr val="C8791A"/>
                </a:solidFill>
                <a:latin typeface="Calibri"/>
              </a:rPr>
              <a:t>DATA</a:t>
            </a:r>
          </a:p>
        </p:txBody>
      </p:sp>
      <p:sp>
        <p:nvSpPr>
          <p:cNvPr id="30" name="TextBox 29"/>
          <p:cNvSpPr txBox="1"/>
          <p:nvPr/>
        </p:nvSpPr>
        <p:spPr>
          <a:xfrm>
            <a:off x="8357616" y="2697480"/>
            <a:ext cx="3017520" cy="365760"/>
          </a:xfrm>
          <a:prstGeom prst="rect">
            <a:avLst/>
          </a:prstGeom>
          <a:noFill/>
        </p:spPr>
        <p:txBody>
          <a:bodyPr wrap="square" lIns="0" tIns="0" rIns="0" bIns="0" anchor="ctr">
            <a:spAutoFit/>
          </a:bodyPr>
          <a:lstStyle/>
          <a:p>
            <a:pPr algn="l"/>
            <a:r>
              <a:rPr sz="1700" b="1" i="0">
                <a:solidFill>
                  <a:srgbClr val="21295C"/>
                </a:solidFill>
                <a:latin typeface="Cambria"/>
              </a:rPr>
              <a:t>Alignment is decisive</a:t>
            </a:r>
          </a:p>
        </p:txBody>
      </p:sp>
      <p:sp>
        <p:nvSpPr>
          <p:cNvPr id="31" name="TextBox 30"/>
          <p:cNvSpPr txBox="1"/>
          <p:nvPr/>
        </p:nvSpPr>
        <p:spPr>
          <a:xfrm>
            <a:off x="8357616" y="3154680"/>
            <a:ext cx="3017520" cy="1783080"/>
          </a:xfrm>
          <a:prstGeom prst="rect">
            <a:avLst/>
          </a:prstGeom>
          <a:noFill/>
        </p:spPr>
        <p:txBody>
          <a:bodyPr wrap="square" lIns="0" tIns="0" rIns="0" bIns="0" anchor="t">
            <a:spAutoFit/>
          </a:bodyPr>
          <a:lstStyle/>
          <a:p>
            <a:pPr algn="l">
              <a:lnSpc>
                <a:spcPct val="112000"/>
              </a:lnSpc>
            </a:pPr>
            <a:r>
              <a:rPr sz="1450" b="0" i="0">
                <a:solidFill>
                  <a:srgbClr val="56606B"/>
                </a:solidFill>
                <a:latin typeface="Calibri"/>
              </a:rPr>
              <a:t>On the proxy the strike falls 94% short (88% height-corrected), yet on a common scale the sites look alike. The decisive evidence is the power curve: R² = 58.7% vs 0.01%.</a:t>
            </a:r>
          </a:p>
        </p:txBody>
      </p:sp>
      <p:sp>
        <p:nvSpPr>
          <p:cNvPr id="32" name="Rounded Rectangle 31"/>
          <p:cNvSpPr/>
          <p:nvPr/>
        </p:nvSpPr>
        <p:spPr>
          <a:xfrm>
            <a:off x="548640" y="5257800"/>
            <a:ext cx="11109960" cy="1005840"/>
          </a:xfrm>
          <a:prstGeom prst="roundRect">
            <a:avLst>
              <a:gd name="adj" fmla="val 8181"/>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33" name="TextBox 32"/>
          <p:cNvSpPr txBox="1"/>
          <p:nvPr/>
        </p:nvSpPr>
        <p:spPr>
          <a:xfrm>
            <a:off x="868680" y="5303520"/>
            <a:ext cx="10469880" cy="914400"/>
          </a:xfrm>
          <a:prstGeom prst="rect">
            <a:avLst/>
          </a:prstGeom>
          <a:noFill/>
        </p:spPr>
        <p:txBody>
          <a:bodyPr wrap="square" lIns="0" tIns="0" rIns="0" bIns="0" anchor="ctr">
            <a:spAutoFit/>
          </a:bodyPr>
          <a:lstStyle/>
          <a:p>
            <a:pPr algn="ctr">
              <a:lnSpc>
                <a:spcPct val="105000"/>
              </a:lnSpc>
            </a:pPr>
            <a:r>
              <a:rPr sz="1700" b="0" i="1">
                <a:solidFill>
                  <a:srgbClr val="FFFFFF"/>
                </a:solidFill>
                <a:latin typeface="Cambria"/>
              </a:rPr>
              <a:t>“Data alignment is not a refinement to be added once the model works — it is a precondition for the model meaning anything.”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LOOKING AHEAD</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Limitations, stated — and the work they motivate</a:t>
            </a:r>
            <a:endParaRPr lang="en-US" sz="2700" dirty="0"/>
          </a:p>
        </p:txBody>
      </p:sp>
      <p:sp>
        <p:nvSpPr>
          <p:cNvPr id="4" name="Shape 2"/>
          <p:cNvSpPr/>
          <p:nvPr/>
        </p:nvSpPr>
        <p:spPr>
          <a:xfrm>
            <a:off x="548640" y="1828800"/>
            <a:ext cx="5394960" cy="4160520"/>
          </a:xfrm>
          <a:prstGeom prst="roundRect">
            <a:avLst>
              <a:gd name="adj" fmla="val 1978"/>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57400"/>
            <a:ext cx="4754880" cy="320040"/>
          </a:xfrm>
          <a:prstGeom prst="rect">
            <a:avLst/>
          </a:prstGeom>
          <a:noFill/>
          <a:ln/>
        </p:spPr>
        <p:txBody>
          <a:bodyPr wrap="square" lIns="0" tIns="0" rIns="0" bIns="0" rtlCol="0" anchor="ctr"/>
          <a:lstStyle/>
          <a:p>
            <a:pPr marL="0" indent="0">
              <a:buNone/>
            </a:pPr>
            <a:r>
              <a:rPr lang="en-US" sz="1250" b="1" kern="0" spc="120" dirty="0">
                <a:solidFill>
                  <a:srgbClr val="1C7293"/>
                </a:solidFill>
                <a:latin typeface="Calibri" pitchFamily="34" charset="0"/>
                <a:ea typeface="Calibri" pitchFamily="34" charset="-122"/>
                <a:cs typeface="Calibri" pitchFamily="34" charset="-120"/>
              </a:rPr>
              <a:t>LIMITATIONS</a:t>
            </a:r>
            <a:endParaRPr lang="en-US" sz="1250" dirty="0"/>
          </a:p>
        </p:txBody>
      </p:sp>
      <p:sp>
        <p:nvSpPr>
          <p:cNvPr id="6" name="Text 4"/>
          <p:cNvSpPr/>
          <p:nvPr/>
        </p:nvSpPr>
        <p:spPr>
          <a:xfrm>
            <a:off x="868680" y="2450592"/>
            <a:ext cx="4754880" cy="3383280"/>
          </a:xfrm>
          <a:prstGeom prst="rect">
            <a:avLst/>
          </a:prstGeom>
          <a:noFill/>
          <a:ln/>
        </p:spPr>
        <p:txBody>
          <a:bodyPr wrap="square" lIns="0" tIns="0" rIns="0" bIns="0" rtlCol="0" anchor="t"/>
          <a:lstStyle/>
          <a:p>
            <a:pPr marL="228600" indent="-228600" algn="l">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θ = 0 is a benchmark in the absence of EEX option-implied data — not a claim the risk premium is zero.</a:t>
            </a:r>
          </a:p>
          <a:p>
            <a:pPr marL="228600" indent="-228600" algn="l">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Cross-dataset strikes sit on two Box–Cox scales and two pricing dates: the headline VoI is not scale-free.</a:t>
            </a:r>
          </a:p>
          <a:p>
            <a:pPr marL="228600" indent="-228600" algn="l">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One grid point vs a national fleet: spatial averaging caps R² and explains the 3–4× variance overstatement.</a:t>
            </a:r>
          </a:p>
          <a:p>
            <a:pPr marL="228600" indent="-228600" algn="l">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Daily data leave the SV parameters unidentified; Feller holds for B, estimator-dependent for A (backup).</a:t>
            </a:r>
          </a:p>
          <a:p>
            <a:pPr marL="228600" indent="-228600" algn="l">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4 and 10 annual CAWS observations: tail statistics are descriptive, not inferential.</a:t>
            </a:r>
          </a:p>
        </p:txBody>
      </p:sp>
      <p:sp>
        <p:nvSpPr>
          <p:cNvPr id="7" name="Shape 5"/>
          <p:cNvSpPr/>
          <p:nvPr/>
        </p:nvSpPr>
        <p:spPr>
          <a:xfrm>
            <a:off x="6263640" y="1828800"/>
            <a:ext cx="5394960" cy="4160520"/>
          </a:xfrm>
          <a:prstGeom prst="roundRect">
            <a:avLst>
              <a:gd name="adj" fmla="val 1978"/>
            </a:avLst>
          </a:prstGeom>
          <a:solidFill>
            <a:srgbClr val="EEF3F7"/>
          </a:solidFill>
          <a:ln/>
        </p:spPr>
        <p:txBody>
          <a:bodyPr/>
          <a:lstStyle/>
          <a:p>
            <a:endParaRPr/>
          </a:p>
        </p:txBody>
      </p:sp>
      <p:sp>
        <p:nvSpPr>
          <p:cNvPr id="8" name="Text 6"/>
          <p:cNvSpPr/>
          <p:nvPr/>
        </p:nvSpPr>
        <p:spPr>
          <a:xfrm>
            <a:off x="6583680" y="2057400"/>
            <a:ext cx="4754880" cy="320040"/>
          </a:xfrm>
          <a:prstGeom prst="rect">
            <a:avLst/>
          </a:prstGeom>
          <a:noFill/>
          <a:ln/>
        </p:spPr>
        <p:txBody>
          <a:bodyPr wrap="square" lIns="0" tIns="0" rIns="0" bIns="0" rtlCol="0" anchor="ctr"/>
          <a:lstStyle/>
          <a:p>
            <a:pPr marL="0" indent="0">
              <a:buNone/>
            </a:pPr>
            <a:r>
              <a:rPr lang="en-US" sz="1250" b="1" kern="0" spc="120" dirty="0">
                <a:solidFill>
                  <a:srgbClr val="1C7293"/>
                </a:solidFill>
                <a:latin typeface="Calibri" pitchFamily="34" charset="0"/>
                <a:ea typeface="Calibri" pitchFamily="34" charset="-122"/>
                <a:cs typeface="Calibri" pitchFamily="34" charset="-120"/>
              </a:rPr>
              <a:t>FUTURE WORK</a:t>
            </a:r>
            <a:endParaRPr lang="en-US" sz="1250" dirty="0"/>
          </a:p>
        </p:txBody>
      </p:sp>
      <p:sp>
        <p:nvSpPr>
          <p:cNvPr id="9" name="Text 7"/>
          <p:cNvSpPr/>
          <p:nvPr/>
        </p:nvSpPr>
        <p:spPr>
          <a:xfrm>
            <a:off x="6583680" y="2450592"/>
            <a:ext cx="4754880" cy="3383280"/>
          </a:xfrm>
          <a:prstGeom prst="rect">
            <a:avLst/>
          </a:prstGeom>
          <a:noFill/>
          <a:ln/>
        </p:spPr>
        <p:txBody>
          <a:bodyPr wrap="square" lIns="0" tIns="0" rIns="0" bIns="0" rtlCol="0" anchor="t"/>
          <a:lstStyle/>
          <a:p>
            <a:pPr marL="228600" indent="-228600" algn="l">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Option-implied θ from EEX power options — needs a joint price–generation model; Carr–Lee as scaffolding.</a:t>
            </a:r>
          </a:p>
          <a:p>
            <a:pPr marL="228600" indent="-228600" algn="l">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Hourly ERA5 at the same coordinates (24 observations per day instead of one) to identify ξ separately from κᵥ.</a:t>
            </a:r>
          </a:p>
          <a:p>
            <a:pPr marL="228600" indent="-228600" algn="l">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A capacity-weighted, spatially aggregated wind input across the German fleet.</a:t>
            </a:r>
          </a:p>
          <a:p>
            <a:pPr marL="228600" indent="-228600" algn="l">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Screen candidate wind series on power-curve R² before pricing — one OLS fit.</a:t>
            </a:r>
          </a:p>
        </p:txBody>
      </p:sp>
      <p:sp>
        <p:nvSpPr>
          <p:cNvPr id="10" name="Text 8"/>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1" name="Text 9"/>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txBody>
          <a:bodyPr/>
          <a:lstStyle/>
          <a:p>
            <a:endParaRPr/>
          </a:p>
        </p:txBody>
      </p:sp>
      <p:sp>
        <p:nvSpPr>
          <p:cNvPr id="3" name="Shape 1"/>
          <p:cNvSpPr/>
          <p:nvPr/>
        </p:nvSpPr>
        <p:spPr>
          <a:xfrm>
            <a:off x="10634472" y="-640080"/>
            <a:ext cx="2743200" cy="2743200"/>
          </a:xfrm>
          <a:prstGeom prst="ellipse">
            <a:avLst/>
          </a:prstGeom>
          <a:solidFill>
            <a:srgbClr val="065A82">
              <a:alpha val="70000"/>
            </a:srgbClr>
          </a:solidFill>
          <a:ln/>
        </p:spPr>
        <p:txBody>
          <a:bodyPr/>
          <a:lstStyle/>
          <a:p>
            <a:endParaRPr/>
          </a:p>
        </p:txBody>
      </p:sp>
      <p:sp>
        <p:nvSpPr>
          <p:cNvPr id="4" name="Text 2"/>
          <p:cNvSpPr/>
          <p:nvPr/>
        </p:nvSpPr>
        <p:spPr>
          <a:xfrm>
            <a:off x="822960" y="2651760"/>
            <a:ext cx="9144000" cy="640080"/>
          </a:xfrm>
          <a:prstGeom prst="rect">
            <a:avLst/>
          </a:prstGeom>
          <a:noFill/>
          <a:ln/>
        </p:spPr>
        <p:txBody>
          <a:bodyPr wrap="square" lIns="0" tIns="0" rIns="0" bIns="0" rtlCol="0" anchor="ctr"/>
          <a:lstStyle/>
          <a:p>
            <a:pPr marL="0" indent="0">
              <a:buNone/>
            </a:pPr>
            <a:r>
              <a:rPr lang="en-US" sz="1600" b="1" kern="0" spc="300" dirty="0">
                <a:solidFill>
                  <a:srgbClr val="E8A33D"/>
                </a:solidFill>
                <a:latin typeface="Calibri" pitchFamily="34" charset="0"/>
                <a:ea typeface="Calibri" pitchFamily="34" charset="-122"/>
                <a:cs typeface="Calibri" pitchFamily="34" charset="-120"/>
              </a:rPr>
              <a:t>THANK YOU</a:t>
            </a:r>
            <a:endParaRPr lang="en-US" sz="1600" dirty="0"/>
          </a:p>
        </p:txBody>
      </p:sp>
      <p:sp>
        <p:nvSpPr>
          <p:cNvPr id="5" name="Text 3"/>
          <p:cNvSpPr/>
          <p:nvPr/>
        </p:nvSpPr>
        <p:spPr>
          <a:xfrm>
            <a:off x="822960" y="3154680"/>
            <a:ext cx="9601200" cy="91440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Questions and discussion</a:t>
            </a:r>
            <a:endParaRPr lang="en-US" sz="3600" dirty="0"/>
          </a:p>
        </p:txBody>
      </p:sp>
      <p:sp>
        <p:nvSpPr>
          <p:cNvPr id="6" name="Text 4"/>
          <p:cNvSpPr/>
          <p:nvPr/>
        </p:nvSpPr>
        <p:spPr>
          <a:xfrm>
            <a:off x="822960" y="4160520"/>
            <a:ext cx="9601200" cy="457200"/>
          </a:xfrm>
          <a:prstGeom prst="rect">
            <a:avLst/>
          </a:prstGeom>
          <a:noFill/>
          <a:ln/>
        </p:spPr>
        <p:txBody>
          <a:bodyPr wrap="square" lIns="0" tIns="0" rIns="0" bIns="0" rtlCol="0" anchor="ctr"/>
          <a:lstStyle/>
          <a:p>
            <a:pPr marL="0" indent="0" algn="l">
              <a:buNone/>
            </a:pPr>
            <a:r>
              <a:rPr lang="en-US" sz="1300" b="0" i="1" dirty="0">
                <a:solidFill>
                  <a:srgbClr val="EEF3F7"/>
                </a:solidFill>
                <a:latin typeface="Calibri"/>
                <a:ea typeface="Calibri"/>
                <a:cs typeface="Calibri"/>
              </a:rPr>
              <a:t>Enrico Butali · Wind Speed Modelling for Derivatives Pricing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21295C"/>
        </a:solidFill>
        <a:effectLst/>
      </p:bgPr>
    </p:bg>
    <p:spTree>
      <p:nvGrpSpPr>
        <p:cNvPr id="1" name=""/>
        <p:cNvGrpSpPr/>
        <p:nvPr/>
      </p:nvGrpSpPr>
      <p:grpSpPr>
        <a:xfrm>
          <a:off x="0" y="0"/>
          <a:ext cx="0" cy="0"/>
          <a:chOff x="0" y="0"/>
          <a:chExt cx="0" cy="0"/>
        </a:xfrm>
      </p:grpSpPr>
      <p:sp>
        <p:nvSpPr>
          <p:cNvPr id="2" name="Oval 1"/>
          <p:cNvSpPr/>
          <p:nvPr/>
        </p:nvSpPr>
        <p:spPr>
          <a:xfrm>
            <a:off x="9079992" y="-2560320"/>
            <a:ext cx="5669280" cy="5669280"/>
          </a:xfrm>
          <a:prstGeom prst="ellipse">
            <a:avLst/>
          </a:prstGeom>
          <a:solidFill>
            <a:srgbClr val="1C7293">
              <a:alpha val="4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Oval 2"/>
          <p:cNvSpPr/>
          <p:nvPr/>
        </p:nvSpPr>
        <p:spPr>
          <a:xfrm>
            <a:off x="10634472" y="-640080"/>
            <a:ext cx="2743200" cy="2743200"/>
          </a:xfrm>
          <a:prstGeom prst="ellipse">
            <a:avLst/>
          </a:prstGeom>
          <a:solidFill>
            <a:srgbClr val="065A82">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1737360"/>
            <a:ext cx="9144000" cy="365760"/>
          </a:xfrm>
          <a:prstGeom prst="rect">
            <a:avLst/>
          </a:prstGeom>
          <a:noFill/>
        </p:spPr>
        <p:txBody>
          <a:bodyPr wrap="square" lIns="0" tIns="0" rIns="0" bIns="0" anchor="ctr">
            <a:spAutoFit/>
          </a:bodyPr>
          <a:lstStyle/>
          <a:p>
            <a:pPr marL="0" indent="0" algn="l">
              <a:buNone/>
            </a:pPr>
            <a:r>
              <a:rPr lang="en-US" sz="1400" b="1" kern="0" spc="250" dirty="0">
                <a:solidFill>
                  <a:srgbClr val="E8A33D"/>
                </a:solidFill>
                <a:latin typeface="Calibri"/>
                <a:ea typeface="Calibri"/>
                <a:cs typeface="Calibri"/>
              </a:rPr>
              <a:t>BACKUP</a:t>
            </a:r>
          </a:p>
        </p:txBody>
      </p:sp>
      <p:sp>
        <p:nvSpPr>
          <p:cNvPr id="5" name="TextBox 4"/>
          <p:cNvSpPr txBox="1"/>
          <p:nvPr/>
        </p:nvSpPr>
        <p:spPr>
          <a:xfrm>
            <a:off x="822960" y="2148840"/>
            <a:ext cx="9601200" cy="822960"/>
          </a:xfrm>
          <a:prstGeom prst="rect">
            <a:avLst/>
          </a:prstGeom>
          <a:noFill/>
        </p:spPr>
        <p:txBody>
          <a:bodyPr wrap="square" lIns="0" tIns="0" rIns="0" bIns="0" anchor="ctr">
            <a:spAutoFit/>
          </a:bodyPr>
          <a:lstStyle/>
          <a:p>
            <a:pPr marL="0" indent="0" algn="l">
              <a:buNone/>
            </a:pPr>
            <a:r>
              <a:rPr lang="en-US" sz="3400" b="1" dirty="0">
                <a:solidFill>
                  <a:srgbClr val="FFFFFF"/>
                </a:solidFill>
                <a:latin typeface="Cambria"/>
                <a:ea typeface="Cambria"/>
                <a:cs typeface="Cambria"/>
              </a:rPr>
              <a:t>Supporting detail, on request</a:t>
            </a:r>
          </a:p>
        </p:txBody>
      </p:sp>
      <p:sp>
        <p:nvSpPr>
          <p:cNvPr id="6" name="TextBox 5"/>
          <p:cNvSpPr txBox="1"/>
          <p:nvPr/>
        </p:nvSpPr>
        <p:spPr>
          <a:xfrm>
            <a:off x="822960" y="3291840"/>
            <a:ext cx="9601200" cy="2377440"/>
          </a:xfrm>
          <a:prstGeom prst="rect">
            <a:avLst/>
          </a:prstGeom>
          <a:noFill/>
        </p:spPr>
        <p:txBody>
          <a:bodyPr wrap="square" lIns="0" tIns="0" rIns="0" bIns="0" anchor="t">
            <a:spAutoFit/>
          </a:bodyPr>
          <a:lstStyle/>
          <a:p>
            <a:pPr marL="0" indent="0" algn="l">
              <a:spcAft>
                <a:spcPts val="1000"/>
              </a:spcAft>
              <a:buNone/>
            </a:pPr>
            <a:r>
              <a:rPr lang="en-US" sz="1500" b="1" dirty="0">
                <a:solidFill>
                  <a:srgbClr val="E8A33D"/>
                </a:solidFill>
                <a:latin typeface="Calibri"/>
                <a:ea typeface="Calibri"/>
                <a:cs typeface="Calibri"/>
              </a:rPr>
              <a:t>B1  </a:t>
            </a:r>
            <a:r>
              <a:rPr lang="en-US" sz="1500" b="0" dirty="0">
                <a:solidFill>
                  <a:srgbClr val="EEF3F7"/>
                </a:solidFill>
                <a:latin typeface="Calibri"/>
                <a:ea typeface="Calibri"/>
                <a:cs typeface="Calibri"/>
              </a:rPr>
              <a:t>Feller condition — robust for B, estimator-dependent for A</a:t>
            </a:r>
          </a:p>
          <a:p>
            <a:pPr marL="0" indent="0" algn="l">
              <a:spcAft>
                <a:spcPts val="1000"/>
              </a:spcAft>
              <a:buNone/>
            </a:pPr>
            <a:r>
              <a:rPr lang="en-US" sz="1500" b="1" dirty="0">
                <a:solidFill>
                  <a:srgbClr val="E8A33D"/>
                </a:solidFill>
                <a:latin typeface="Calibri"/>
                <a:ea typeface="Calibri"/>
                <a:cs typeface="Calibri"/>
              </a:rPr>
              <a:t>B2  </a:t>
            </a:r>
            <a:r>
              <a:rPr lang="en-US" sz="1500" b="0" dirty="0">
                <a:solidFill>
                  <a:srgbClr val="EEF3F7"/>
                </a:solidFill>
                <a:latin typeface="Calibri"/>
                <a:ea typeface="Calibri"/>
                <a:cs typeface="Calibri"/>
              </a:rPr>
              <a:t>Reconciling Track B into Track A units, both datasets</a:t>
            </a:r>
          </a:p>
          <a:p>
            <a:pPr marL="0" indent="0" algn="l">
              <a:spcAft>
                <a:spcPts val="1000"/>
              </a:spcAft>
              <a:buNone/>
            </a:pPr>
            <a:r>
              <a:rPr lang="en-US" sz="1500" b="1" dirty="0">
                <a:solidFill>
                  <a:srgbClr val="E8A33D"/>
                </a:solidFill>
                <a:latin typeface="Calibri"/>
                <a:ea typeface="Calibri"/>
                <a:cs typeface="Calibri"/>
              </a:rPr>
              <a:t>B3  </a:t>
            </a:r>
            <a:r>
              <a:rPr lang="en-US" sz="1500" b="0" dirty="0">
                <a:solidFill>
                  <a:srgbClr val="EEF3F7"/>
                </a:solidFill>
                <a:latin typeface="Calibri"/>
                <a:ea typeface="Calibri"/>
                <a:cs typeface="Calibri"/>
              </a:rPr>
              <a:t>Model validation — four specifications, one conditional mean</a:t>
            </a:r>
          </a:p>
          <a:p>
            <a:pPr marL="0" indent="0" algn="l">
              <a:spcAft>
                <a:spcPts val="1000"/>
              </a:spcAft>
              <a:buNone/>
            </a:pPr>
            <a:r>
              <a:rPr lang="en-US" sz="1500" b="1" dirty="0">
                <a:solidFill>
                  <a:srgbClr val="E8A33D"/>
                </a:solidFill>
                <a:latin typeface="Calibri"/>
                <a:ea typeface="Calibri"/>
                <a:cs typeface="Calibri"/>
              </a:rPr>
              <a:t>B4  </a:t>
            </a:r>
            <a:r>
              <a:rPr lang="en-US" sz="1500" b="0" dirty="0">
                <a:solidFill>
                  <a:srgbClr val="EEF3F7"/>
                </a:solidFill>
                <a:latin typeface="Calibri"/>
                <a:ea typeface="Calibri"/>
                <a:cs typeface="Calibri"/>
              </a:rPr>
              <a:t>The Diebold–Mariano test in Chapters 2 and 3 — why the signs differ</a:t>
            </a:r>
          </a:p>
          <a:p>
            <a:pPr marL="0" indent="0" algn="l">
              <a:spcAft>
                <a:spcPts val="1000"/>
              </a:spcAft>
              <a:buNone/>
            </a:pPr>
            <a:r>
              <a:rPr lang="en-US" sz="1500" b="1" dirty="0">
                <a:solidFill>
                  <a:srgbClr val="E8A33D"/>
                </a:solidFill>
                <a:latin typeface="Calibri"/>
                <a:ea typeface="Calibri"/>
                <a:cs typeface="Calibri"/>
              </a:rPr>
              <a:t>B5  </a:t>
            </a:r>
            <a:r>
              <a:rPr lang="en-US" sz="1500" b="0" dirty="0">
                <a:solidFill>
                  <a:srgbClr val="EEF3F7"/>
                </a:solidFill>
                <a:latin typeface="Calibri"/>
                <a:ea typeface="Calibri"/>
                <a:cs typeface="Calibri"/>
              </a:rPr>
              <a:t>Height correction: sensitivity to the profile exponent α</a:t>
            </a:r>
          </a:p>
          <a:p>
            <a:pPr marL="0" indent="0" algn="l">
              <a:spcAft>
                <a:spcPts val="1000"/>
              </a:spcAft>
              <a:buNone/>
            </a:pPr>
            <a:r>
              <a:rPr lang="en-US" sz="1500" b="1" dirty="0">
                <a:solidFill>
                  <a:srgbClr val="E8A33D"/>
                </a:solidFill>
                <a:latin typeface="Calibri"/>
                <a:ea typeface="Calibri"/>
                <a:cs typeface="Calibri"/>
              </a:rPr>
              <a:t>B6  </a:t>
            </a:r>
            <a:r>
              <a:rPr lang="en-US" sz="1500" b="0" dirty="0">
                <a:solidFill>
                  <a:srgbClr val="EEF3F7"/>
                </a:solidFill>
                <a:latin typeface="Calibri"/>
                <a:ea typeface="Calibri"/>
                <a:cs typeface="Calibri"/>
              </a:rPr>
              <a:t>Model estimates at a glance — AR(4), GARCH(1,1), CAR(4), NIG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a:ea typeface="Calibri"/>
                <a:cs typeface="Calibri"/>
              </a:rPr>
              <a:t>BACKUP B1 · CH. 2 §2.5.3 — FELLER CONDITION</a:t>
            </a:r>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Feller condition depends on which estimator you trust</a:t>
            </a:r>
            <a:endParaRPr lang="en-US" sz="2700" dirty="0"/>
          </a:p>
        </p:txBody>
      </p:sp>
      <p:sp>
        <p:nvSpPr>
          <p:cNvPr id="4" name="Shape 2"/>
          <p:cNvSpPr/>
          <p:nvPr/>
        </p:nvSpPr>
        <p:spPr>
          <a:xfrm>
            <a:off x="548640" y="1828800"/>
            <a:ext cx="5394960" cy="4206240"/>
          </a:xfrm>
          <a:prstGeom prst="roundRect">
            <a:avLst>
              <a:gd name="adj" fmla="val 1957"/>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57400"/>
            <a:ext cx="4846320" cy="32004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DATASET B — REFERENCE</a:t>
            </a:r>
            <a:endParaRPr lang="en-US" sz="1200" dirty="0"/>
          </a:p>
        </p:txBody>
      </p:sp>
      <p:sp>
        <p:nvSpPr>
          <p:cNvPr id="6" name="Text 4"/>
          <p:cNvSpPr/>
          <p:nvPr/>
        </p:nvSpPr>
        <p:spPr>
          <a:xfrm>
            <a:off x="868680" y="2395728"/>
            <a:ext cx="484632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Holds, robustly</a:t>
            </a:r>
            <a:endParaRPr lang="en-US" sz="2400" dirty="0"/>
          </a:p>
        </p:txBody>
      </p:sp>
      <p:sp>
        <p:nvSpPr>
          <p:cNvPr id="7" name="Text 5"/>
          <p:cNvSpPr/>
          <p:nvPr/>
        </p:nvSpPr>
        <p:spPr>
          <a:xfrm>
            <a:off x="868680" y="2971800"/>
            <a:ext cx="4846320" cy="822960"/>
          </a:xfrm>
          <a:prstGeom prst="rect">
            <a:avLst/>
          </a:prstGeom>
          <a:noFill/>
          <a:ln/>
        </p:spPr>
        <p:txBody>
          <a:bodyPr wrap="square" lIns="0" tIns="0" rIns="0" bIns="0" rtlCol="0" anchor="ctr"/>
          <a:lstStyle/>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2κᵥv̄ = 0.0270 vs ξ² = 0.000959 → margin 28.1×, on every estimator considered.</a:t>
            </a:r>
            <a:endParaRPr lang="en-US" sz="1300" dirty="0"/>
          </a:p>
        </p:txBody>
      </p:sp>
      <p:sp>
        <p:nvSpPr>
          <p:cNvPr id="8" name="Shape 6"/>
          <p:cNvSpPr/>
          <p:nvPr/>
        </p:nvSpPr>
        <p:spPr>
          <a:xfrm>
            <a:off x="6263640" y="1828800"/>
            <a:ext cx="5394960" cy="4206240"/>
          </a:xfrm>
          <a:prstGeom prst="roundRect">
            <a:avLst>
              <a:gd name="adj" fmla="val 1957"/>
            </a:avLst>
          </a:prstGeom>
          <a:solidFill>
            <a:srgbClr val="EEF3F7"/>
          </a:solidFill>
          <a:ln/>
        </p:spPr>
        <p:txBody>
          <a:bodyPr/>
          <a:lstStyle/>
          <a:p>
            <a:endParaRPr/>
          </a:p>
        </p:txBody>
      </p:sp>
      <p:sp>
        <p:nvSpPr>
          <p:cNvPr id="9" name="Text 7"/>
          <p:cNvSpPr/>
          <p:nvPr/>
        </p:nvSpPr>
        <p:spPr>
          <a:xfrm>
            <a:off x="6583680" y="2057400"/>
            <a:ext cx="4846320" cy="320040"/>
          </a:xfrm>
          <a:prstGeom prst="rect">
            <a:avLst/>
          </a:prstGeom>
          <a:noFill/>
          <a:ln/>
        </p:spPr>
        <p:txBody>
          <a:bodyPr wrap="square" lIns="0" tIns="0" rIns="0" bIns="0" rtlCol="0" anchor="ctr"/>
          <a:lstStyle/>
          <a:p>
            <a:pPr marL="0" indent="0">
              <a:buNone/>
            </a:pPr>
            <a:r>
              <a:rPr lang="en-US" sz="1200" b="1" kern="0" spc="100" dirty="0">
                <a:solidFill>
                  <a:srgbClr val="C8791A"/>
                </a:solidFill>
                <a:latin typeface="Calibri" pitchFamily="34" charset="0"/>
                <a:ea typeface="Calibri" pitchFamily="34" charset="-122"/>
                <a:cs typeface="Calibri" pitchFamily="34" charset="-120"/>
              </a:rPr>
              <a:t>DATASET A — PROXY</a:t>
            </a:r>
            <a:endParaRPr lang="en-US" sz="1200" dirty="0"/>
          </a:p>
        </p:txBody>
      </p:sp>
      <p:sp>
        <p:nvSpPr>
          <p:cNvPr id="10" name="Text 8"/>
          <p:cNvSpPr/>
          <p:nvPr/>
        </p:nvSpPr>
        <p:spPr>
          <a:xfrm>
            <a:off x="6583680" y="2395728"/>
            <a:ext cx="484632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Estimator-dependent</a:t>
            </a:r>
            <a:endParaRPr lang="en-US" sz="2400" dirty="0"/>
          </a:p>
        </p:txBody>
      </p:sp>
      <p:sp>
        <p:nvSpPr>
          <p:cNvPr id="11" name="Text 9"/>
          <p:cNvSpPr/>
          <p:nvPr/>
        </p:nvSpPr>
        <p:spPr>
          <a:xfrm>
            <a:off x="6583680" y="2971800"/>
            <a:ext cx="4846320" cy="1463040"/>
          </a:xfrm>
          <a:prstGeom prst="rect">
            <a:avLst/>
          </a:prstGeom>
          <a:noFill/>
          <a:ln/>
        </p:spPr>
        <p:txBody>
          <a:bodyPr wrap="square" lIns="0" tIns="0" rIns="0" bIns="0" rtlCol="0" anchor="ctr"/>
          <a:lstStyle/>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Full-sample estimator (same one used for B): margin </a:t>
            </a:r>
            <a:r>
              <a:rPr lang="en-US" sz="1300" b="1" dirty="0">
                <a:solidFill>
                  <a:srgbClr val="C8791A"/>
                </a:solidFill>
                <a:latin typeface="Calibri" pitchFamily="34" charset="0"/>
                <a:ea typeface="Calibri" pitchFamily="34" charset="-122"/>
                <a:cs typeface="Calibri" pitchFamily="34" charset="-120"/>
              </a:rPr>
              <a:t>0.8× — violated.</a:t>
            </a:r>
            <a:endParaRPr lang="en-US" sz="1300" dirty="0"/>
          </a:p>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30-day rolling estimators: margins ≈5.1× and 3.6× — holds, but on a different estimator than B's.</a:t>
            </a:r>
            <a:endParaRPr lang="en-US" sz="1300" dirty="0"/>
          </a:p>
        </p:txBody>
      </p:sp>
      <p:sp>
        <p:nvSpPr>
          <p:cNvPr id="12" name="Shape 10"/>
          <p:cNvSpPr/>
          <p:nvPr/>
        </p:nvSpPr>
        <p:spPr>
          <a:xfrm>
            <a:off x="548640" y="5166360"/>
            <a:ext cx="11109960" cy="914400"/>
          </a:xfrm>
          <a:prstGeom prst="roundRect">
            <a:avLst>
              <a:gd name="adj" fmla="val 9000"/>
            </a:avLst>
          </a:prstGeom>
          <a:solidFill>
            <a:srgbClr val="21295C"/>
          </a:solidFill>
          <a:ln/>
          <a:effectLst>
            <a:outerShdw blurRad="88900" dist="25400" dir="5400000" algn="bl" rotWithShape="0">
              <a:srgbClr val="1C1C1C">
                <a:alpha val="16000"/>
              </a:srgbClr>
            </a:outerShdw>
          </a:effectLst>
        </p:spPr>
        <p:txBody>
          <a:bodyPr/>
          <a:lstStyle/>
          <a:p>
            <a:endParaRPr/>
          </a:p>
        </p:txBody>
      </p:sp>
      <p:sp>
        <p:nvSpPr>
          <p:cNvPr id="13" name="Text 11"/>
          <p:cNvSpPr/>
          <p:nvPr/>
        </p:nvSpPr>
        <p:spPr>
          <a:xfrm>
            <a:off x="822960" y="5321808"/>
            <a:ext cx="10515600" cy="640080"/>
          </a:xfrm>
          <a:prstGeom prst="rect">
            <a:avLst/>
          </a:prstGeom>
          <a:noFill/>
          <a:ln/>
        </p:spPr>
        <p:txBody>
          <a:bodyPr wrap="square" lIns="0" tIns="0" rIns="0" bIns="0" rtlCol="0" anchor="ctr"/>
          <a:lstStyle/>
          <a:p>
            <a:pPr marL="0" indent="0" algn="l">
              <a:lnSpc>
                <a:spcPct val="118000"/>
              </a:lnSpc>
              <a:buNone/>
            </a:pPr>
            <a:r>
              <a:rPr lang="en-US" sz="1250" b="1" dirty="0">
                <a:solidFill>
                  <a:srgbClr val="E8A33D"/>
                </a:solidFill>
                <a:latin typeface="Calibri" pitchFamily="34" charset="0"/>
                <a:ea typeface="Calibri" pitchFamily="34" charset="-122"/>
                <a:cs typeface="Calibri" pitchFamily="34" charset="-120"/>
              </a:rPr>
              <a:t>The finding is the sensitivity itself: </a:t>
            </a:r>
            <a:r>
              <a:rPr lang="en-US" sz="1250" dirty="0">
                <a:solidFill>
                  <a:srgbClr val="EEF3F7"/>
                </a:solidFill>
                <a:latin typeface="Calibri" pitchFamily="34" charset="0"/>
                <a:ea typeface="Calibri" pitchFamily="34" charset="-122"/>
                <a:cs typeface="Calibri" pitchFamily="34" charset="-120"/>
              </a:rPr>
              <a:t>ξ (vol-of-vol) is the least identified of the four CIR parameters at daily frequency — it also reverses an earlier project anchor of 27.9×, which is not reproducible under any estimator tested.</a:t>
            </a:r>
            <a:endParaRPr lang="en-US" sz="1250" dirty="0"/>
          </a:p>
        </p:txBody>
      </p:sp>
      <p:sp>
        <p:nvSpPr>
          <p:cNvPr id="14" name="Text 12"/>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5" name="Text 13"/>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B2 · CH. 3 §3.1.5 — THE FOUR CONVENTIONS</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Reconciling Track B into Track A units, step by step</a:t>
            </a:r>
          </a:p>
        </p:txBody>
      </p:sp>
      <p:graphicFrame>
        <p:nvGraphicFramePr>
          <p:cNvPr id="4" name="Table 3"/>
          <p:cNvGraphicFramePr>
            <a:graphicFrameLocks noGrp="1"/>
          </p:cNvGraphicFramePr>
          <p:nvPr/>
        </p:nvGraphicFramePr>
        <p:xfrm>
          <a:off x="548640" y="1737360"/>
          <a:ext cx="11109959" cy="3456432"/>
        </p:xfrm>
        <a:graphic>
          <a:graphicData uri="http://schemas.openxmlformats.org/drawingml/2006/table">
            <a:tbl>
              <a:tblPr/>
              <a:tblGrid>
                <a:gridCol w="3977639">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84048">
                <a:tc>
                  <a:txBody>
                    <a:bodyPr/>
                    <a:lstStyle/>
                    <a:p>
                      <a:pPr marL="0" indent="0" algn="l">
                        <a:buNone/>
                      </a:pPr>
                      <a:r>
                        <a:rPr lang="en-US" sz="1200" b="1" dirty="0">
                          <a:solidFill>
                            <a:srgbClr val="FFFFFF"/>
                          </a:solidFill>
                          <a:latin typeface="Calibri"/>
                          <a:ea typeface="Calibri"/>
                          <a:cs typeface="Calibri"/>
                        </a:rPr>
                        <a:t>Factor</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Formula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Dataset 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Dataset B</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21295C"/>
                          </a:solidFill>
                          <a:latin typeface="Calibri"/>
                          <a:ea typeface="Calibri"/>
                          <a:cs typeface="Calibri"/>
                        </a:rPr>
                        <a:t>K_var = h(t₀) × C₀ (as recorded)</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0.05435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0.87336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00" b="1" dirty="0">
                          <a:solidFill>
                            <a:srgbClr val="21295C"/>
                          </a:solidFill>
                          <a:latin typeface="Calibri"/>
                          <a:ea typeface="Calibri"/>
                          <a:cs typeface="Calibri"/>
                        </a:rPr>
                        <a:t>× Box–Cox scale</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W̄^(2(1−λ))</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5.088</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8.068</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2"/>
                  </a:ext>
                </a:extLst>
              </a:tr>
              <a:tr h="384048">
                <a:tc>
                  <a:txBody>
                    <a:bodyPr/>
                    <a:lstStyle/>
                    <a:p>
                      <a:pPr marL="0" indent="0" algn="l">
                        <a:buNone/>
                      </a:pPr>
                      <a:r>
                        <a:rPr lang="en-US" sz="1200" b="1" dirty="0">
                          <a:solidFill>
                            <a:srgbClr val="21295C"/>
                          </a:solidFill>
                          <a:latin typeface="Calibri"/>
                          <a:ea typeface="Calibri"/>
                          <a:cs typeface="Calibri"/>
                        </a:rPr>
                        <a:t>× innovation → first difference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(RMSE pers. / RMSE AR(4))²</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1.292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1.339</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00" b="1" dirty="0">
                          <a:solidFill>
                            <a:srgbClr val="21295C"/>
                          </a:solidFill>
                          <a:latin typeface="Calibri"/>
                          <a:ea typeface="Calibri"/>
                          <a:cs typeface="Calibri"/>
                        </a:rPr>
                        <a:t>× power curve</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9 / W̄²</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1.4764</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0.13826</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384048">
                <a:tc>
                  <a:txBody>
                    <a:bodyPr/>
                    <a:lstStyle/>
                    <a:p>
                      <a:pPr marL="0" indent="0" algn="l">
                        <a:buNone/>
                      </a:pPr>
                      <a:r>
                        <a:rPr lang="en-US" sz="1200" b="1" dirty="0">
                          <a:solidFill>
                            <a:srgbClr val="21295C"/>
                          </a:solidFill>
                          <a:latin typeface="Calibri"/>
                          <a:ea typeface="Calibri"/>
                          <a:cs typeface="Calibri"/>
                        </a:rPr>
                        <a:t>× annualisation</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200" b="1" dirty="0">
                          <a:solidFill>
                            <a:srgbClr val="21295C"/>
                          </a:solidFill>
                          <a:latin typeface="Calibri"/>
                          <a:ea typeface="Calibri"/>
                          <a:cs typeface="Calibri"/>
                        </a:rPr>
                        <a:t>Reconciled model strike (Track A units)</a:t>
                      </a:r>
                    </a:p>
                  </a:txBody>
                  <a:tcPr marT="36576" marB="36576" anchor="ctr">
                    <a:lnL w="0">
                      <a:noFill/>
                    </a:lnL>
                    <a:lnR w="0">
                      <a:noFill/>
                    </a:lnR>
                    <a:lnT w="0">
                      <a:noFill/>
                    </a:lnT>
                    <a:lnB w="0">
                      <a:noFill/>
                    </a:lnB>
                    <a:solidFill>
                      <a:srgbClr val="FBF1E4"/>
                    </a:solidFill>
                  </a:tcPr>
                </a:tc>
                <a:tc>
                  <a:txBody>
                    <a:bodyPr/>
                    <a:lstStyle/>
                    <a:p>
                      <a:pPr marL="0" indent="0" algn="ctr">
                        <a:buNone/>
                      </a:pPr>
                      <a:endParaRPr/>
                    </a:p>
                  </a:txBody>
                  <a:tcPr marT="36576" marB="36576" anchor="ctr">
                    <a:lnL w="0">
                      <a:noFill/>
                    </a:lnL>
                    <a:lnR w="0">
                      <a:noFill/>
                    </a:lnR>
                    <a:lnT w="0">
                      <a:noFill/>
                    </a:lnT>
                    <a:lnB w="0">
                      <a:noFill/>
                    </a:lnB>
                    <a:solidFill>
                      <a:srgbClr val="FBF1E4"/>
                    </a:solidFill>
                  </a:tcPr>
                </a:tc>
                <a:tc>
                  <a:txBody>
                    <a:bodyPr/>
                    <a:lstStyle/>
                    <a:p>
                      <a:pPr marL="0" indent="0" algn="ctr">
                        <a:buNone/>
                      </a:pPr>
                      <a:r>
                        <a:rPr lang="en-US" sz="1200" b="1" dirty="0">
                          <a:solidFill>
                            <a:srgbClr val="21295C"/>
                          </a:solidFill>
                          <a:latin typeface="Calibri"/>
                          <a:ea typeface="Calibri"/>
                          <a:cs typeface="Calibri"/>
                        </a:rPr>
                        <a:t>132.9</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00" b="1" dirty="0">
                          <a:solidFill>
                            <a:srgbClr val="21295C"/>
                          </a:solidFill>
                          <a:latin typeface="Calibri"/>
                          <a:ea typeface="Calibri"/>
                          <a:cs typeface="Calibri"/>
                        </a:rPr>
                        <a:t>328.8</a:t>
                      </a:r>
                    </a:p>
                  </a:txBody>
                  <a:tcPr marT="36576" marB="36576" anchor="ctr">
                    <a:lnL w="0">
                      <a:noFill/>
                    </a:lnL>
                    <a:lnR w="0">
                      <a:noFill/>
                    </a:lnR>
                    <a:lnT w="0">
                      <a:noFill/>
                    </a:lnT>
                    <a:lnB w="0">
                      <a:noFill/>
                    </a:lnB>
                    <a:solidFill>
                      <a:srgbClr val="FBF1E4"/>
                    </a:solidFill>
                  </a:tcPr>
                </a:tc>
                <a:extLst>
                  <a:ext uri="{0D108BD9-81ED-4DB2-BD59-A6C34878D82A}">
                    <a16:rowId xmlns:a16="http://schemas.microsoft.com/office/drawing/2014/main" val="10006"/>
                  </a:ext>
                </a:extLst>
              </a:tr>
              <a:tr h="384048">
                <a:tc>
                  <a:txBody>
                    <a:bodyPr/>
                    <a:lstStyle/>
                    <a:p>
                      <a:pPr marL="0" indent="0" algn="l">
                        <a:buNone/>
                      </a:pPr>
                      <a:r>
                        <a:rPr lang="en-US" sz="1200" b="1" dirty="0">
                          <a:solidFill>
                            <a:srgbClr val="21295C"/>
                          </a:solidFill>
                          <a:latin typeface="Calibri"/>
                          <a:ea typeface="Calibri"/>
                          <a:cs typeface="Calibri"/>
                        </a:rPr>
                        <a:t>Track A strike, same sample</a:t>
                      </a:r>
                    </a:p>
                  </a:txBody>
                  <a:tcPr marT="36576" marB="36576" anchor="ctr">
                    <a:lnL w="0">
                      <a:noFill/>
                    </a:lnL>
                    <a:lnR w="0">
                      <a:noFill/>
                    </a:lnR>
                    <a:lnT w="0">
                      <a:noFill/>
                    </a:lnT>
                    <a:lnB w="0">
                      <a:noFill/>
                    </a:lnB>
                    <a:solidFill>
                      <a:srgbClr val="FFFFFF"/>
                    </a:solidFill>
                  </a:tcPr>
                </a:tc>
                <a:tc>
                  <a:txBody>
                    <a:bodyPr/>
                    <a:lstStyle/>
                    <a:p>
                      <a:pPr marL="0" indent="0" algn="ctr">
                        <a:buNone/>
                      </a:pPr>
                      <a:endParaRP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113.999</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113.145</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200" b="1" dirty="0">
                          <a:solidFill>
                            <a:srgbClr val="21295C"/>
                          </a:solidFill>
                          <a:latin typeface="Calibri"/>
                          <a:ea typeface="Calibri"/>
                          <a:cs typeface="Calibri"/>
                        </a:rPr>
                        <a:t>Ratio model / market  (at h = 1)</a:t>
                      </a:r>
                    </a:p>
                  </a:txBody>
                  <a:tcPr marT="36576" marB="36576" anchor="ctr">
                    <a:lnL w="0">
                      <a:noFill/>
                    </a:lnL>
                    <a:lnR w="0">
                      <a:noFill/>
                    </a:lnR>
                    <a:lnT w="0">
                      <a:noFill/>
                    </a:lnT>
                    <a:lnB w="0">
                      <a:noFill/>
                    </a:lnB>
                    <a:solidFill>
                      <a:srgbClr val="EEF3F7"/>
                    </a:solidFill>
                  </a:tcPr>
                </a:tc>
                <a:tc>
                  <a:txBody>
                    <a:bodyPr/>
                    <a:lstStyle/>
                    <a:p>
                      <a:pPr marL="0" indent="0" algn="ctr">
                        <a:buNone/>
                      </a:pPr>
                      <a:endParaRP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1.17  (2.82)</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2.91  (3.87)</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548640" y="5349240"/>
            <a:ext cx="11109960" cy="91440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22960" y="5413248"/>
            <a:ext cx="10561320" cy="786384"/>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Arithmetic reconciliation, not a frozen phase output. </a:t>
            </a:r>
            <a:r>
              <a:rPr lang="en-US" sz="1200" b="0" dirty="0">
                <a:solidFill>
                  <a:srgbClr val="56606B"/>
                </a:solidFill>
                <a:latin typeface="Calibri"/>
                <a:ea typeface="Calibri"/>
                <a:cs typeface="Calibri"/>
              </a:rPr>
              <a:t>Each step is a first-order delta-method approximation at the sample mean, so the figures are order-of-magnitude statements. Both models overstate the market — the expected effect of calibrating on one grid point against a spatially averaged national fleet.</a:t>
            </a:r>
          </a:p>
        </p:txBody>
      </p:sp>
      <p:sp>
        <p:nvSpPr>
          <p:cNvPr id="7" name="TextBox 6"/>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8" name="TextBox 7"/>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a:ea typeface="Calibri"/>
                <a:cs typeface="Calibri"/>
              </a:rPr>
              <a:t>BACKUP B3 · CH. 2–3 — MODEL VALIDATION</a:t>
            </a:r>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Four specifications, one conditional mean</a:t>
            </a:r>
            <a:endParaRPr lang="en-US" sz="2700" dirty="0"/>
          </a:p>
        </p:txBody>
      </p:sp>
      <p:sp>
        <p:nvSpPr>
          <p:cNvPr id="4" name="Shape 2"/>
          <p:cNvSpPr/>
          <p:nvPr/>
        </p:nvSpPr>
        <p:spPr>
          <a:xfrm>
            <a:off x="548640" y="1783080"/>
            <a:ext cx="11109960" cy="1554480"/>
          </a:xfrm>
          <a:prstGeom prst="roundRect">
            <a:avLst>
              <a:gd name="adj" fmla="val 5294"/>
            </a:avLst>
          </a:prstGeom>
          <a:solidFill>
            <a:srgbClr val="EEF3F7"/>
          </a:solidFill>
          <a:ln/>
        </p:spPr>
        <p:txBody>
          <a:bodyPr/>
          <a:lstStyle/>
          <a:p>
            <a:endParaRPr/>
          </a:p>
        </p:txBody>
      </p:sp>
      <p:sp>
        <p:nvSpPr>
          <p:cNvPr id="5" name="Text 3"/>
          <p:cNvSpPr/>
          <p:nvPr/>
        </p:nvSpPr>
        <p:spPr>
          <a:xfrm>
            <a:off x="868680" y="1965960"/>
            <a:ext cx="10424160" cy="41148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AR(4)  •  AR(4)+GARCH  •  CAR(4)+Gaussian  •  CAR(4)+NIG</a:t>
            </a:r>
            <a:endParaRPr lang="en-US" sz="1800" dirty="0"/>
          </a:p>
        </p:txBody>
      </p:sp>
      <p:sp>
        <p:nvSpPr>
          <p:cNvPr id="6" name="Text 4"/>
          <p:cNvSpPr/>
          <p:nvPr/>
        </p:nvSpPr>
        <p:spPr>
          <a:xfrm>
            <a:off x="868680" y="2423160"/>
            <a:ext cx="10424160" cy="822960"/>
          </a:xfrm>
          <a:prstGeom prst="rect">
            <a:avLst/>
          </a:prstGeom>
          <a:noFill/>
          <a:ln/>
        </p:spPr>
        <p:txBody>
          <a:bodyPr wrap="square" lIns="0" tIns="0" rIns="0" bIns="0" rtlCol="0" anchor="ctr"/>
          <a:lstStyle/>
          <a:p>
            <a:pPr marL="0" indent="0">
              <a:lnSpc>
                <a:spcPct val="120000"/>
              </a:lnSpc>
              <a:buNone/>
            </a:pPr>
            <a:r>
              <a:rPr lang="en-US" sz="1350" dirty="0">
                <a:solidFill>
                  <a:srgbClr val="56606B"/>
                </a:solidFill>
                <a:latin typeface="Calibri" pitchFamily="34" charset="0"/>
                <a:ea typeface="Calibri" pitchFamily="34" charset="-122"/>
                <a:cs typeface="Calibri" pitchFamily="34" charset="-120"/>
              </a:rPr>
              <a:t>share one conditional mean by construction → indistinguishable on one-day-ahead forecast accuracy. They separate only on pricing and hedging criteria — which is why Chapter 3 does not rank them by RMSE alone.</a:t>
            </a:r>
            <a:endParaRPr lang="en-US" sz="1350" dirty="0"/>
          </a:p>
        </p:txBody>
      </p:sp>
      <p:sp>
        <p:nvSpPr>
          <p:cNvPr id="7" name="Text 5"/>
          <p:cNvSpPr/>
          <p:nvPr/>
        </p:nvSpPr>
        <p:spPr>
          <a:xfrm>
            <a:off x="548640" y="3611880"/>
            <a:ext cx="11109960" cy="320040"/>
          </a:xfrm>
          <a:prstGeom prst="rect">
            <a:avLst/>
          </a:prstGeom>
          <a:noFill/>
          <a:ln/>
        </p:spPr>
        <p:txBody>
          <a:bodyPr wrap="square" lIns="0" tIns="0" rIns="0" bIns="0" rtlCol="0" anchor="ctr"/>
          <a:lstStyle/>
          <a:p>
            <a:pPr marL="0" indent="0">
              <a:buNone/>
            </a:pPr>
            <a:r>
              <a:rPr lang="en-US" sz="1250" b="1" kern="0" spc="150" dirty="0">
                <a:solidFill>
                  <a:srgbClr val="1C7293"/>
                </a:solidFill>
                <a:latin typeface="Calibri" pitchFamily="34" charset="0"/>
                <a:ea typeface="Calibri" pitchFamily="34" charset="-122"/>
                <a:cs typeface="Calibri" pitchFamily="34" charset="-120"/>
              </a:rPr>
              <a:t>ALL FOUR STILL REJECT PERSISTENCE, DECISIVELY</a:t>
            </a:r>
            <a:endParaRPr lang="en-US" sz="1250" dirty="0"/>
          </a:p>
        </p:txBody>
      </p:sp>
      <p:sp>
        <p:nvSpPr>
          <p:cNvPr id="8" name="Shape 6"/>
          <p:cNvSpPr/>
          <p:nvPr/>
        </p:nvSpPr>
        <p:spPr>
          <a:xfrm>
            <a:off x="548640" y="4023360"/>
            <a:ext cx="5349240" cy="2057400"/>
          </a:xfrm>
          <a:prstGeom prst="roundRect">
            <a:avLst>
              <a:gd name="adj" fmla="val 4000"/>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9" name="Text 7"/>
          <p:cNvSpPr/>
          <p:nvPr/>
        </p:nvSpPr>
        <p:spPr>
          <a:xfrm>
            <a:off x="914400" y="4297680"/>
            <a:ext cx="4617720" cy="365760"/>
          </a:xfrm>
          <a:prstGeom prst="rect">
            <a:avLst/>
          </a:prstGeom>
          <a:noFill/>
          <a:ln/>
        </p:spPr>
        <p:txBody>
          <a:bodyPr wrap="square" lIns="0" tIns="0" rIns="0" bIns="0" rtlCol="0" anchor="ctr"/>
          <a:lstStyle/>
          <a:p>
            <a:pPr marL="0" indent="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0" name="Text 8"/>
          <p:cNvSpPr/>
          <p:nvPr/>
        </p:nvSpPr>
        <p:spPr>
          <a:xfrm>
            <a:off x="914400" y="4617720"/>
            <a:ext cx="4617720" cy="914400"/>
          </a:xfrm>
          <a:prstGeom prst="rect">
            <a:avLst/>
          </a:prstGeom>
          <a:noFill/>
          <a:ln/>
        </p:spPr>
        <p:txBody>
          <a:bodyPr wrap="square" lIns="0" tIns="0" rIns="0" bIns="0" rtlCol="0" anchor="ctr"/>
          <a:lstStyle/>
          <a:p>
            <a:pPr marL="0" indent="0">
              <a:buNone/>
            </a:pPr>
            <a:r>
              <a:rPr lang="en-US" sz="4600" b="1" dirty="0">
                <a:solidFill>
                  <a:srgbClr val="C8791A"/>
                </a:solidFill>
                <a:latin typeface="Cambria" pitchFamily="34" charset="0"/>
                <a:ea typeface="Cambria" pitchFamily="34" charset="-122"/>
                <a:cs typeface="Cambria" pitchFamily="34" charset="-120"/>
              </a:rPr>
              <a:t>+8.27</a:t>
            </a:r>
            <a:endParaRPr lang="en-US" sz="4600" dirty="0"/>
          </a:p>
        </p:txBody>
      </p:sp>
      <p:sp>
        <p:nvSpPr>
          <p:cNvPr id="11" name="Text 9"/>
          <p:cNvSpPr/>
          <p:nvPr/>
        </p:nvSpPr>
        <p:spPr>
          <a:xfrm>
            <a:off x="914400" y="5532120"/>
            <a:ext cx="4617720" cy="457200"/>
          </a:xfrm>
          <a:prstGeom prst="rect">
            <a:avLst/>
          </a:prstGeom>
          <a:noFill/>
          <a:ln/>
        </p:spPr>
        <p:txBody>
          <a:bodyPr wrap="square" lIns="0" tIns="0" rIns="0" bIns="0" rtlCol="0" anchor="ctr"/>
          <a:lstStyle/>
          <a:p>
            <a:pPr marL="0" indent="0" algn="l">
              <a:buNone/>
            </a:pPr>
            <a:r>
              <a:rPr lang="en-US" sz="1250" b="1" dirty="0">
                <a:solidFill>
                  <a:srgbClr val="21295C"/>
                </a:solidFill>
                <a:latin typeface="Calibri"/>
                <a:ea typeface="Calibri"/>
                <a:cs typeface="Calibri"/>
              </a:rPr>
              <a:t>Dataset A — RMSE 0.8868 → 0.7802 (12.0% better than persistence)</a:t>
            </a:r>
          </a:p>
        </p:txBody>
      </p:sp>
      <p:sp>
        <p:nvSpPr>
          <p:cNvPr id="12" name="Shape 10"/>
          <p:cNvSpPr/>
          <p:nvPr/>
        </p:nvSpPr>
        <p:spPr>
          <a:xfrm>
            <a:off x="6309360" y="4023360"/>
            <a:ext cx="5349240" cy="2057400"/>
          </a:xfrm>
          <a:prstGeom prst="roundRect">
            <a:avLst>
              <a:gd name="adj" fmla="val 4000"/>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13" name="Text 11"/>
          <p:cNvSpPr/>
          <p:nvPr/>
        </p:nvSpPr>
        <p:spPr>
          <a:xfrm>
            <a:off x="6675120" y="4297680"/>
            <a:ext cx="4617720" cy="365760"/>
          </a:xfrm>
          <a:prstGeom prst="rect">
            <a:avLst/>
          </a:prstGeom>
          <a:noFill/>
          <a:ln/>
        </p:spPr>
        <p:txBody>
          <a:bodyPr wrap="square" lIns="0" tIns="0" rIns="0" bIns="0" rtlCol="0" anchor="ctr"/>
          <a:lstStyle/>
          <a:p>
            <a:pPr marL="0" indent="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4" name="Text 12"/>
          <p:cNvSpPr/>
          <p:nvPr/>
        </p:nvSpPr>
        <p:spPr>
          <a:xfrm>
            <a:off x="6675120" y="4617720"/>
            <a:ext cx="4617720" cy="914400"/>
          </a:xfrm>
          <a:prstGeom prst="rect">
            <a:avLst/>
          </a:prstGeom>
          <a:noFill/>
          <a:ln/>
        </p:spPr>
        <p:txBody>
          <a:bodyPr wrap="square" lIns="0" tIns="0" rIns="0" bIns="0" rtlCol="0" anchor="ctr"/>
          <a:lstStyle/>
          <a:p>
            <a:pPr marL="0" indent="0">
              <a:buNone/>
            </a:pPr>
            <a:r>
              <a:rPr lang="en-US" sz="4600" b="1" dirty="0">
                <a:solidFill>
                  <a:srgbClr val="C8791A"/>
                </a:solidFill>
                <a:latin typeface="Cambria" pitchFamily="34" charset="0"/>
                <a:ea typeface="Cambria" pitchFamily="34" charset="-122"/>
                <a:cs typeface="Cambria" pitchFamily="34" charset="-120"/>
              </a:rPr>
              <a:t>+16.76</a:t>
            </a:r>
            <a:endParaRPr lang="en-US" sz="4600" dirty="0"/>
          </a:p>
        </p:txBody>
      </p:sp>
      <p:sp>
        <p:nvSpPr>
          <p:cNvPr id="15" name="Text 13"/>
          <p:cNvSpPr/>
          <p:nvPr/>
        </p:nvSpPr>
        <p:spPr>
          <a:xfrm>
            <a:off x="6675120" y="5532120"/>
            <a:ext cx="4617720" cy="457200"/>
          </a:xfrm>
          <a:prstGeom prst="rect">
            <a:avLst/>
          </a:prstGeom>
          <a:noFill/>
          <a:ln/>
        </p:spPr>
        <p:txBody>
          <a:bodyPr wrap="square" lIns="0" tIns="0" rIns="0" bIns="0" rtlCol="0" anchor="ctr"/>
          <a:lstStyle/>
          <a:p>
            <a:pPr marL="0" indent="0" algn="l">
              <a:buNone/>
            </a:pPr>
            <a:r>
              <a:rPr lang="en-US" sz="1250" b="1" dirty="0">
                <a:solidFill>
                  <a:srgbClr val="21295C"/>
                </a:solidFill>
                <a:latin typeface="Calibri"/>
                <a:ea typeface="Calibri"/>
                <a:cs typeface="Calibri"/>
              </a:rPr>
              <a:t>Dataset B — RMSE 1.0046 → 0.8681 (13.6% better than persistence)</a:t>
            </a:r>
          </a:p>
        </p:txBody>
      </p:sp>
      <p:sp>
        <p:nvSpPr>
          <p:cNvPr id="16" name="Text 14"/>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7" name="Text 15"/>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18</a:t>
            </a:r>
            <a:endParaRPr lang="en-US" sz="900" dirty="0"/>
          </a:p>
        </p:txBody>
      </p:sp>
      <p:sp>
        <p:nvSpPr>
          <p:cNvPr id="18" name="TextBox 17"/>
          <p:cNvSpPr txBox="1"/>
          <p:nvPr/>
        </p:nvSpPr>
        <p:spPr>
          <a:xfrm>
            <a:off x="548640" y="6144768"/>
            <a:ext cx="11109960" cy="292608"/>
          </a:xfrm>
          <a:prstGeom prst="rect">
            <a:avLst/>
          </a:prstGeom>
          <a:noFill/>
        </p:spPr>
        <p:txBody>
          <a:bodyPr wrap="square" lIns="0" tIns="0" rIns="0" bIns="0" anchor="t">
            <a:spAutoFit/>
          </a:bodyPr>
          <a:lstStyle/>
          <a:p>
            <a:pPr marL="0" indent="0" algn="l">
              <a:buNone/>
            </a:pPr>
            <a:r>
              <a:rPr lang="en-US" sz="1000" b="0" i="1" dirty="0">
                <a:solidFill>
                  <a:srgbClr val="5A6470"/>
                </a:solidFill>
                <a:latin typeface="Calibri"/>
                <a:ea typeface="Calibri"/>
                <a:cs typeface="Calibri"/>
              </a:rPr>
              <a:t>Full standardised series, dₜ = e²(persistence) − e²(model), §3.2. Chapter 2's held-out split reports −3.681 / −7.019 under the reversed sign convention — same test, same conclusion (B4).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B4 · CH. 2 §2.2.4 &amp; CH. 3 §3.2.1 — DIEBOLD–MARIANO</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The same test, twice — why the signs differ</a:t>
            </a:r>
          </a:p>
        </p:txBody>
      </p:sp>
      <p:graphicFrame>
        <p:nvGraphicFramePr>
          <p:cNvPr id="4" name="Table 3"/>
          <p:cNvGraphicFramePr>
            <a:graphicFrameLocks noGrp="1"/>
          </p:cNvGraphicFramePr>
          <p:nvPr/>
        </p:nvGraphicFramePr>
        <p:xfrm>
          <a:off x="548640" y="1691640"/>
          <a:ext cx="11109960" cy="2926080"/>
        </p:xfrm>
        <a:graphic>
          <a:graphicData uri="http://schemas.openxmlformats.org/drawingml/2006/table">
            <a:tbl>
              <a:tblPr/>
              <a:tblGrid>
                <a:gridCol w="30632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65760">
                <a:tc>
                  <a:txBody>
                    <a:bodyPr/>
                    <a:lstStyle/>
                    <a:p>
                      <a:pPr marL="0" indent="0" algn="l">
                        <a:buNone/>
                      </a:pPr>
                      <a:endParaRP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Chapter 2, §2.2.4</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Chapter 3, §3.2.1</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21295C"/>
                          </a:solidFill>
                          <a:latin typeface="Calibri"/>
                          <a:ea typeface="Calibri"/>
                          <a:cs typeface="Calibri"/>
                        </a:rPr>
                        <a:t>Loss differential</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dₜ = e²AR(4) − e²persistence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dₜ = e²persistence − e²model</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21295C"/>
                          </a:solidFill>
                          <a:latin typeface="Calibri"/>
                          <a:ea typeface="Calibri"/>
                          <a:cs typeface="Calibri"/>
                        </a:rPr>
                        <a:t>A winning model gives</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a negative statistic</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a positive statistic</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21295C"/>
                          </a:solidFill>
                          <a:latin typeface="Calibri"/>
                          <a:ea typeface="Calibri"/>
                          <a:cs typeface="Calibri"/>
                        </a:rPr>
                        <a:t>Evaluation sample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held-out partition (220 / 548 obs.)</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full series (1,461 / 3,652 errors)</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21295C"/>
                          </a:solidFill>
                          <a:latin typeface="Calibri"/>
                          <a:ea typeface="Calibri"/>
                          <a:cs typeface="Calibri"/>
                        </a:rPr>
                        <a:t>DM statistic (A / B)</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−3.681 / −7.019</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+8.265 / +16.758</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365760">
                <a:tc>
                  <a:txBody>
                    <a:bodyPr/>
                    <a:lstStyle/>
                    <a:p>
                      <a:pPr marL="0" indent="0" algn="l">
                        <a:buNone/>
                      </a:pPr>
                      <a:r>
                        <a:rPr lang="en-US" sz="1200" b="1" dirty="0">
                          <a:solidFill>
                            <a:srgbClr val="21295C"/>
                          </a:solidFill>
                          <a:latin typeface="Calibri"/>
                          <a:ea typeface="Calibri"/>
                          <a:cs typeface="Calibri"/>
                        </a:rPr>
                        <a:t>RMSE persistence (A / B)</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0.6856 / 0.9955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0.8868 / 1.0046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00" b="1" dirty="0">
                          <a:solidFill>
                            <a:srgbClr val="21295C"/>
                          </a:solidFill>
                          <a:latin typeface="Calibri"/>
                          <a:ea typeface="Calibri"/>
                          <a:cs typeface="Calibri"/>
                        </a:rPr>
                        <a:t>RMSE AR(4) (A / B)</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0.6017 / 0.8580</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0.7802 / 0.8681</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6"/>
                  </a:ext>
                </a:extLst>
              </a:tr>
              <a:tr h="365760">
                <a:tc>
                  <a:txBody>
                    <a:bodyPr/>
                    <a:lstStyle/>
                    <a:p>
                      <a:pPr marL="0" indent="0" algn="l">
                        <a:buNone/>
                      </a:pPr>
                      <a:r>
                        <a:rPr lang="en-US" sz="1200" b="1" dirty="0">
                          <a:solidFill>
                            <a:srgbClr val="21295C"/>
                          </a:solidFill>
                          <a:latin typeface="Calibri"/>
                          <a:ea typeface="Calibri"/>
                          <a:cs typeface="Calibri"/>
                        </a:rPr>
                        <a:t>Improvement (A / B)</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12.2% / 13.8%</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12.0% / 13.6%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548640" y="4800600"/>
            <a:ext cx="5394960" cy="14630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4892040"/>
            <a:ext cx="4937760" cy="1280160"/>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The sign is a convention, not a result. </a:t>
            </a:r>
            <a:r>
              <a:rPr lang="en-US" sz="1200" b="0" dirty="0">
                <a:solidFill>
                  <a:srgbClr val="56606B"/>
                </a:solidFill>
                <a:latin typeface="Calibri"/>
                <a:ea typeface="Calibri"/>
                <a:cs typeface="Calibri"/>
              </a:rPr>
              <a:t>Same test, same conclusion: every fitted specification rejects equal accuracy with persistence at any conventional level, on either convention and either sample. Magnitudes scale with √n.</a:t>
            </a:r>
          </a:p>
        </p:txBody>
      </p:sp>
      <p:sp>
        <p:nvSpPr>
          <p:cNvPr id="7" name="Rounded Rectangle 6"/>
          <p:cNvSpPr/>
          <p:nvPr/>
        </p:nvSpPr>
        <p:spPr>
          <a:xfrm>
            <a:off x="6263640" y="4800600"/>
            <a:ext cx="5394960" cy="14630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92240" y="4892040"/>
            <a:ext cx="4937760" cy="1280160"/>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Why A's RMSEs move by 23%, B's by under 1%. </a:t>
            </a:r>
            <a:r>
              <a:rPr lang="en-US" sz="1200" b="0" dirty="0">
                <a:solidFill>
                  <a:srgbClr val="56606B"/>
                </a:solidFill>
                <a:latin typeface="Calibri"/>
                <a:ea typeface="Calibri"/>
                <a:cs typeface="Calibri"/>
              </a:rPr>
              <a:t>A's hold-out ends in a calm spell: √(0.4137/0.608) = 0.825 vs an observed 0.773. B's h(t₀) = 0.7511 sits at its unconditional 0.7522, predicting one vs an observed 0.991.</a:t>
            </a:r>
          </a:p>
        </p:txBody>
      </p:sp>
      <p:sp>
        <p:nvSpPr>
          <p:cNvPr id="9" name="TextBox 8"/>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10" name="TextBox 9"/>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B5 · CH. 3 §3.3.1 — HEIGHT CORRECTION</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No admissible profile exponent turns the gap into a height effect</a:t>
            </a:r>
          </a:p>
        </p:txBody>
      </p:sp>
      <p:graphicFrame>
        <p:nvGraphicFramePr>
          <p:cNvPr id="4" name="Table 3"/>
          <p:cNvGraphicFramePr>
            <a:graphicFrameLocks noGrp="1"/>
          </p:cNvGraphicFramePr>
          <p:nvPr/>
        </p:nvGraphicFramePr>
        <p:xfrm>
          <a:off x="548640" y="1783080"/>
          <a:ext cx="8412480" cy="2468880"/>
        </p:xfrm>
        <a:graphic>
          <a:graphicData uri="http://schemas.openxmlformats.org/drawingml/2006/table">
            <a:tbl>
              <a:tblPr/>
              <a:tblGrid>
                <a:gridCol w="32918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11480">
                <a:tc>
                  <a:txBody>
                    <a:bodyPr/>
                    <a:lstStyle/>
                    <a:p>
                      <a:pPr marL="0" indent="0" algn="l">
                        <a:buNone/>
                      </a:pPr>
                      <a:r>
                        <a:rPr lang="en-US" sz="1250" b="1" dirty="0">
                          <a:solidFill>
                            <a:srgbClr val="FFFFFF"/>
                          </a:solidFill>
                          <a:latin typeface="Calibri"/>
                          <a:ea typeface="Calibri"/>
                          <a:cs typeface="Calibri"/>
                        </a:rPr>
                        <a:t>Profile exponent α</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Factor 10^(2α)</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Corrected K, 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Mispricing</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411480">
                <a:tc>
                  <a:txBody>
                    <a:bodyPr/>
                    <a:lstStyle/>
                    <a:p>
                      <a:pPr marL="0" indent="0" algn="l">
                        <a:buNone/>
                      </a:pPr>
                      <a:r>
                        <a:rPr lang="en-US" sz="1250" b="1" dirty="0">
                          <a:solidFill>
                            <a:srgbClr val="21295C"/>
                          </a:solidFill>
                          <a:latin typeface="Calibri"/>
                          <a:ea typeface="Calibri"/>
                          <a:cs typeface="Calibri"/>
                        </a:rPr>
                        <a:t>1/10 (open water)</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1.585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0.0861</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90.1%</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50" b="1" dirty="0">
                          <a:solidFill>
                            <a:srgbClr val="21295C"/>
                          </a:solidFill>
                          <a:latin typeface="Calibri"/>
                          <a:ea typeface="Calibri"/>
                          <a:cs typeface="Calibri"/>
                        </a:rPr>
                        <a:t>1/7 (adopted)</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1.931</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0.1049</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88.0%</a:t>
                      </a:r>
                    </a:p>
                  </a:txBody>
                  <a:tcPr marT="36576" marB="36576" anchor="ctr">
                    <a:lnL w="0">
                      <a:noFill/>
                    </a:lnL>
                    <a:lnR w="0">
                      <a:noFill/>
                    </a:lnR>
                    <a:lnT w="0">
                      <a:noFill/>
                    </a:lnT>
                    <a:lnB w="0">
                      <a:noFill/>
                    </a:lnB>
                    <a:solidFill>
                      <a:srgbClr val="FBF1E4"/>
                    </a:solidFill>
                  </a:tcPr>
                </a:tc>
                <a:extLst>
                  <a:ext uri="{0D108BD9-81ED-4DB2-BD59-A6C34878D82A}">
                    <a16:rowId xmlns:a16="http://schemas.microsoft.com/office/drawing/2014/main" val="10002"/>
                  </a:ext>
                </a:extLst>
              </a:tr>
              <a:tr h="411480">
                <a:tc>
                  <a:txBody>
                    <a:bodyPr/>
                    <a:lstStyle/>
                    <a:p>
                      <a:pPr marL="0" indent="0" algn="l">
                        <a:buNone/>
                      </a:pPr>
                      <a:r>
                        <a:rPr lang="en-US" sz="1250" b="1" dirty="0">
                          <a:solidFill>
                            <a:srgbClr val="21295C"/>
                          </a:solidFill>
                          <a:latin typeface="Calibri"/>
                          <a:ea typeface="Calibri"/>
                          <a:cs typeface="Calibri"/>
                        </a:rPr>
                        <a:t>0.168 (ERA5 coastal, lower bound)</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2.166</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0.1177</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86.5%</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250" b="1" dirty="0">
                          <a:solidFill>
                            <a:srgbClr val="21295C"/>
                          </a:solidFill>
                          <a:latin typeface="Calibri"/>
                          <a:ea typeface="Calibri"/>
                          <a:cs typeface="Calibri"/>
                        </a:rPr>
                        <a:t>0.20 (rough inland)</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2.512</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0.1365</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84.4%</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411480">
                <a:tc>
                  <a:txBody>
                    <a:bodyPr/>
                    <a:lstStyle/>
                    <a:p>
                      <a:pPr marL="0" indent="0" algn="l">
                        <a:buNone/>
                      </a:pPr>
                      <a:r>
                        <a:rPr lang="en-US" sz="1250" b="1" dirty="0">
                          <a:solidFill>
                            <a:srgbClr val="21295C"/>
                          </a:solidFill>
                          <a:latin typeface="Calibri"/>
                          <a:ea typeface="Calibri"/>
                          <a:cs typeface="Calibri"/>
                        </a:rPr>
                        <a:t>0.25 (very rough terrain)</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3.162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0.1719</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80.3%</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9235440" y="1783080"/>
            <a:ext cx="2423160" cy="246888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418320" y="1920240"/>
            <a:ext cx="2103120" cy="274320"/>
          </a:xfrm>
          <a:prstGeom prst="rect">
            <a:avLst/>
          </a:prstGeom>
          <a:noFill/>
        </p:spPr>
        <p:txBody>
          <a:bodyPr wrap="square" lIns="0" tIns="0" rIns="0" bIns="0" anchor="t">
            <a:spAutoFit/>
          </a:bodyPr>
          <a:lstStyle/>
          <a:p>
            <a:pPr marL="0" indent="0" algn="l">
              <a:buNone/>
            </a:pPr>
            <a:r>
              <a:rPr lang="en-US" sz="1100" b="1" kern="0" spc="100" dirty="0">
                <a:solidFill>
                  <a:srgbClr val="1C7293"/>
                </a:solidFill>
                <a:latin typeface="Calibri"/>
                <a:ea typeface="Calibri"/>
                <a:cs typeface="Calibri"/>
              </a:rPr>
              <a:t>TO CLOSE 16.07×</a:t>
            </a:r>
          </a:p>
        </p:txBody>
      </p:sp>
      <p:sp>
        <p:nvSpPr>
          <p:cNvPr id="7" name="TextBox 6"/>
          <p:cNvSpPr txBox="1"/>
          <p:nvPr/>
        </p:nvSpPr>
        <p:spPr>
          <a:xfrm>
            <a:off x="9418320" y="2240280"/>
            <a:ext cx="2103120" cy="777240"/>
          </a:xfrm>
          <a:prstGeom prst="rect">
            <a:avLst/>
          </a:prstGeom>
          <a:noFill/>
        </p:spPr>
        <p:txBody>
          <a:bodyPr wrap="square" lIns="0" tIns="0" rIns="0" bIns="0" anchor="ctr">
            <a:spAutoFit/>
          </a:bodyPr>
          <a:lstStyle/>
          <a:p>
            <a:pPr marL="0" indent="0" algn="l">
              <a:buNone/>
            </a:pPr>
            <a:r>
              <a:rPr lang="en-US" sz="3200" b="1" dirty="0">
                <a:solidFill>
                  <a:srgbClr val="C8791A"/>
                </a:solidFill>
                <a:latin typeface="Cambria"/>
                <a:ea typeface="Cambria"/>
                <a:cs typeface="Cambria"/>
              </a:rPr>
              <a:t>α = 0.60</a:t>
            </a:r>
          </a:p>
        </p:txBody>
      </p:sp>
      <p:sp>
        <p:nvSpPr>
          <p:cNvPr id="8" name="TextBox 7"/>
          <p:cNvSpPr txBox="1"/>
          <p:nvPr/>
        </p:nvSpPr>
        <p:spPr>
          <a:xfrm>
            <a:off x="9418320" y="3063240"/>
            <a:ext cx="2103120" cy="1097280"/>
          </a:xfrm>
          <a:prstGeom prst="rect">
            <a:avLst/>
          </a:prstGeom>
          <a:noFill/>
        </p:spPr>
        <p:txBody>
          <a:bodyPr wrap="square" lIns="0" tIns="0" rIns="0" bIns="0" anchor="t">
            <a:spAutoFit/>
          </a:bodyPr>
          <a:lstStyle/>
          <a:p>
            <a:pPr marL="0" indent="0" algn="l">
              <a:lnSpc>
                <a:spcPct val="110000"/>
              </a:lnSpc>
              <a:buNone/>
            </a:pPr>
            <a:r>
              <a:rPr lang="en-US" sz="1100" b="0" i="1" dirty="0">
                <a:solidFill>
                  <a:srgbClr val="56606B"/>
                </a:solidFill>
                <a:latin typeface="Calibri"/>
                <a:ea typeface="Calibri"/>
                <a:cs typeface="Calibri"/>
              </a:rPr>
              <a:t>four times the Hellmann value, outside any surface in Peterson &amp; Hennessey (1978).</a:t>
            </a:r>
          </a:p>
        </p:txBody>
      </p:sp>
      <p:sp>
        <p:nvSpPr>
          <p:cNvPr id="9" name="Rounded Rectangle 8"/>
          <p:cNvSpPr/>
          <p:nvPr/>
        </p:nvSpPr>
        <p:spPr>
          <a:xfrm>
            <a:off x="548640" y="4526280"/>
            <a:ext cx="11109960" cy="16916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 y="4617720"/>
            <a:ext cx="10561320" cy="1508760"/>
          </a:xfrm>
          <a:prstGeom prst="rect">
            <a:avLst/>
          </a:prstGeom>
          <a:noFill/>
        </p:spPr>
        <p:txBody>
          <a:bodyPr wrap="square" lIns="0" tIns="0" rIns="0" bIns="0" anchor="ctr">
            <a:spAutoFit/>
          </a:bodyPr>
          <a:lstStyle/>
          <a:p>
            <a:pPr marL="0" indent="0" algn="l">
              <a:lnSpc>
                <a:spcPct val="108000"/>
              </a:lnSpc>
              <a:spcAft>
                <a:spcPts val="600"/>
              </a:spcAft>
              <a:buNone/>
            </a:pPr>
            <a:r>
              <a:rPr lang="en-US" sz="1200" b="1" dirty="0">
                <a:solidFill>
                  <a:srgbClr val="21295C"/>
                </a:solidFill>
                <a:latin typeface="Calibri"/>
                <a:ea typeface="Calibri"/>
                <a:cs typeface="Calibri"/>
              </a:rPr>
              <a:t>Only the 1/7 row is a frozen phase output; </a:t>
            </a:r>
            <a:r>
              <a:rPr lang="en-US" sz="1200" b="0" dirty="0">
                <a:solidFill>
                  <a:srgbClr val="56606B"/>
                </a:solidFill>
                <a:latin typeface="Calibri"/>
                <a:ea typeface="Calibri"/>
                <a:cs typeface="Calibri"/>
              </a:rPr>
              <a:t>the other four are an arithmetic sensitivity computed for Chapter 3.</a:t>
            </a:r>
          </a:p>
          <a:p>
            <a:pPr marL="0" indent="0" algn="l">
              <a:lnSpc>
                <a:spcPct val="108000"/>
              </a:lnSpc>
              <a:spcAft>
                <a:spcPts val="600"/>
              </a:spcAft>
              <a:buNone/>
            </a:pPr>
            <a:r>
              <a:rPr lang="en-US" sz="1200" b="0" dirty="0">
                <a:solidFill>
                  <a:srgbClr val="56606B"/>
                </a:solidFill>
                <a:latin typeface="Calibri"/>
                <a:ea typeface="Calibri"/>
                <a:cs typeface="Calibri"/>
              </a:rPr>
              <a:t>0.168 is measured at Nordfriesland (ERA5 10 m vs 100 m means, 5.4825 vs 8.0682 m/s) and is a lower bound for Bologna's sheltered Po-Valley site. A larger α means a smaller residual, so 88.0% is an upper bound on the share attributable to geography — the operative result is the 80.3% floor.</a:t>
            </a:r>
          </a:p>
        </p:txBody>
      </p:sp>
      <p:sp>
        <p:nvSpPr>
          <p:cNvPr id="11" name="TextBox 10"/>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12" name="TextBox 11"/>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BACKUP B6 · CH. 2 — MODEL ESTIMATES</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pipeline’s fitted parameters, both datasets</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21</a:t>
            </a:r>
            <a:endParaRPr lang="en-US" sz="900" dirty="0"/>
          </a:p>
        </p:txBody>
      </p:sp>
      <p:graphicFrame>
        <p:nvGraphicFramePr>
          <p:cNvPr id="14" name="Table 13"/>
          <p:cNvGraphicFramePr>
            <a:graphicFrameLocks noGrp="1"/>
          </p:cNvGraphicFramePr>
          <p:nvPr/>
        </p:nvGraphicFramePr>
        <p:xfrm>
          <a:off x="548640" y="1737360"/>
          <a:ext cx="11109960" cy="4023360"/>
        </p:xfrm>
        <a:graphic>
          <a:graphicData uri="http://schemas.openxmlformats.org/drawingml/2006/table">
            <a:tbl>
              <a:tblPr>
                <a:tableStyleId>{5C22544A-7EE6-4342-B048-85BDC9FD1C3A}</a:tableStyleId>
              </a:tblPr>
              <a:tblGrid>
                <a:gridCol w="37947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algn="l"/>
                      <a:r>
                        <a:rPr sz="1200" b="1">
                          <a:solidFill>
                            <a:srgbClr val="FFFFFF"/>
                          </a:solidFill>
                          <a:latin typeface="Calibri"/>
                        </a:rPr>
                        <a:t>Quantity</a:t>
                      </a:r>
                    </a:p>
                  </a:txBody>
                  <a:tcPr marT="36576" marB="36576" anchor="ctr">
                    <a:lnB w="0">
                      <a:noFill/>
                    </a:lnB>
                    <a:solidFill>
                      <a:srgbClr val="21295C"/>
                    </a:solidFill>
                  </a:tcPr>
                </a:tc>
                <a:tc>
                  <a:txBody>
                    <a:bodyPr/>
                    <a:lstStyle/>
                    <a:p>
                      <a:pPr algn="ctr"/>
                      <a:r>
                        <a:rPr sz="1200" b="1">
                          <a:solidFill>
                            <a:srgbClr val="FFFFFF"/>
                          </a:solidFill>
                          <a:latin typeface="Calibri"/>
                        </a:rPr>
                        <a:t>Dataset A — Bologna 10 m</a:t>
                      </a:r>
                    </a:p>
                  </a:txBody>
                  <a:tcPr marT="36576" marB="36576" anchor="ctr">
                    <a:lnB w="0">
                      <a:noFill/>
                    </a:lnB>
                    <a:solidFill>
                      <a:srgbClr val="21295C"/>
                    </a:solidFill>
                  </a:tcPr>
                </a:tc>
                <a:tc>
                  <a:txBody>
                    <a:bodyPr/>
                    <a:lstStyle/>
                    <a:p>
                      <a:pPr algn="ctr"/>
                      <a:r>
                        <a:rPr sz="1200" b="1">
                          <a:solidFill>
                            <a:srgbClr val="FFFFFF"/>
                          </a:solidFill>
                          <a:latin typeface="Calibri"/>
                        </a:rPr>
                        <a:t>Dataset B — Nordfriesland 100 m</a:t>
                      </a:r>
                    </a:p>
                  </a:txBody>
                  <a:tcPr marT="36576" marB="36576" anchor="ctr">
                    <a:lnB w="0">
                      <a:noFill/>
                    </a:lnB>
                    <a:solidFill>
                      <a:srgbClr val="21295C"/>
                    </a:solidFill>
                  </a:tcPr>
                </a:tc>
                <a:extLst>
                  <a:ext uri="{0D108BD9-81ED-4DB2-BD59-A6C34878D82A}">
                    <a16:rowId xmlns:a16="http://schemas.microsoft.com/office/drawing/2014/main" val="10000"/>
                  </a:ext>
                </a:extLst>
              </a:tr>
              <a:tr h="365760">
                <a:tc>
                  <a:txBody>
                    <a:bodyPr/>
                    <a:lstStyle/>
                    <a:p>
                      <a:pPr algn="l"/>
                      <a:r>
                        <a:rPr sz="1200" b="1">
                          <a:solidFill>
                            <a:srgbClr val="21295C"/>
                          </a:solidFill>
                          <a:latin typeface="Calibri"/>
                        </a:rPr>
                        <a:t>Box–Cox λ (optimum → adopted, 1/λ ∈ ℤ⁺)</a:t>
                      </a:r>
                    </a:p>
                  </a:txBody>
                  <a:tcPr marT="36576" marB="36576" anchor="ctr">
                    <a:lnT>
                      <a:noFill/>
                    </a:lnT>
                    <a:lnB w="0">
                      <a:noFill/>
                    </a:lnB>
                    <a:solidFill>
                      <a:srgbClr val="FFFFFF"/>
                    </a:solidFill>
                  </a:tcPr>
                </a:tc>
                <a:tc>
                  <a:txBody>
                    <a:bodyPr/>
                    <a:lstStyle/>
                    <a:p>
                      <a:pPr algn="ctr"/>
                      <a:r>
                        <a:rPr sz="1200">
                          <a:solidFill>
                            <a:srgbClr val="56606B"/>
                          </a:solidFill>
                          <a:latin typeface="Calibri"/>
                        </a:rPr>
                        <a:t>−0.450 → 0.1</a:t>
                      </a:r>
                    </a:p>
                  </a:txBody>
                  <a:tcPr marT="36576" marB="36576" anchor="ctr">
                    <a:lnT>
                      <a:noFill/>
                    </a:lnT>
                    <a:lnB w="0">
                      <a:noFill/>
                    </a:lnB>
                    <a:solidFill>
                      <a:srgbClr val="FFFFFF"/>
                    </a:solidFill>
                  </a:tcPr>
                </a:tc>
                <a:tc>
                  <a:txBody>
                    <a:bodyPr/>
                    <a:lstStyle/>
                    <a:p>
                      <a:pPr algn="ctr"/>
                      <a:r>
                        <a:rPr sz="1200">
                          <a:solidFill>
                            <a:srgbClr val="56606B"/>
                          </a:solidFill>
                          <a:latin typeface="Calibri"/>
                        </a:rPr>
                        <a:t>0.404 → 0.5</a:t>
                      </a:r>
                    </a:p>
                  </a:txBody>
                  <a:tcPr marT="36576" marB="36576" anchor="ctr">
                    <a:lnT>
                      <a:noFill/>
                    </a:lnT>
                    <a:lnB w="0">
                      <a:noFill/>
                    </a:lnB>
                    <a:solidFill>
                      <a:srgbClr val="FFFFFF"/>
                    </a:solidFill>
                  </a:tcPr>
                </a:tc>
                <a:extLst>
                  <a:ext uri="{0D108BD9-81ED-4DB2-BD59-A6C34878D82A}">
                    <a16:rowId xmlns:a16="http://schemas.microsoft.com/office/drawing/2014/main" val="10001"/>
                  </a:ext>
                </a:extLst>
              </a:tr>
              <a:tr h="365760">
                <a:tc>
                  <a:txBody>
                    <a:bodyPr/>
                    <a:lstStyle/>
                    <a:p>
                      <a:pPr algn="l"/>
                      <a:r>
                        <a:rPr sz="1200" b="1">
                          <a:solidFill>
                            <a:srgbClr val="21295C"/>
                          </a:solidFill>
                          <a:latin typeface="Calibri"/>
                        </a:rPr>
                        <a:t>AR(4) β₁, β₂, β₃, β₄</a:t>
                      </a:r>
                    </a:p>
                  </a:txBody>
                  <a:tcPr marT="36576" marB="36576" anchor="ctr">
                    <a:lnT>
                      <a:noFill/>
                    </a:lnT>
                    <a:lnB w="0">
                      <a:noFill/>
                    </a:lnB>
                    <a:solidFill>
                      <a:srgbClr val="EEF3F7"/>
                    </a:solidFill>
                  </a:tcPr>
                </a:tc>
                <a:tc>
                  <a:txBody>
                    <a:bodyPr/>
                    <a:lstStyle/>
                    <a:p>
                      <a:pPr algn="ctr"/>
                      <a:r>
                        <a:rPr sz="1200">
                          <a:solidFill>
                            <a:srgbClr val="56606B"/>
                          </a:solidFill>
                          <a:latin typeface="Calibri"/>
                        </a:rPr>
                        <a:t>0.6299, −0.1443, 0.0926, 0.0310</a:t>
                      </a:r>
                    </a:p>
                  </a:txBody>
                  <a:tcPr marT="36576" marB="36576" anchor="ctr">
                    <a:lnT>
                      <a:noFill/>
                    </a:lnT>
                    <a:lnB w="0">
                      <a:noFill/>
                    </a:lnB>
                    <a:solidFill>
                      <a:srgbClr val="EEF3F7"/>
                    </a:solidFill>
                  </a:tcPr>
                </a:tc>
                <a:tc>
                  <a:txBody>
                    <a:bodyPr/>
                    <a:lstStyle/>
                    <a:p>
                      <a:pPr algn="ctr"/>
                      <a:r>
                        <a:rPr sz="1200">
                          <a:solidFill>
                            <a:srgbClr val="56606B"/>
                          </a:solidFill>
                          <a:latin typeface="Calibri"/>
                        </a:rPr>
                        <a:t>0.5324, −0.0763, 0.0324, −0.0074</a:t>
                      </a:r>
                    </a:p>
                  </a:txBody>
                  <a:tcPr marT="36576" marB="36576" anchor="ctr">
                    <a:lnT>
                      <a:noFill/>
                    </a:lnT>
                    <a:lnB w="0">
                      <a:noFill/>
                    </a:lnB>
                    <a:solidFill>
                      <a:srgbClr val="EEF3F7"/>
                    </a:solidFill>
                  </a:tcPr>
                </a:tc>
                <a:extLst>
                  <a:ext uri="{0D108BD9-81ED-4DB2-BD59-A6C34878D82A}">
                    <a16:rowId xmlns:a16="http://schemas.microsoft.com/office/drawing/2014/main" val="10002"/>
                  </a:ext>
                </a:extLst>
              </a:tr>
              <a:tr h="365760">
                <a:tc>
                  <a:txBody>
                    <a:bodyPr/>
                    <a:lstStyle/>
                    <a:p>
                      <a:pPr algn="l"/>
                      <a:r>
                        <a:rPr sz="1200" b="1">
                          <a:solidFill>
                            <a:srgbClr val="21295C"/>
                          </a:solidFill>
                          <a:latin typeface="Calibri"/>
                        </a:rPr>
                        <a:t>AIC advantage of AR(3) over AR(4)</a:t>
                      </a:r>
                    </a:p>
                  </a:txBody>
                  <a:tcPr marT="36576" marB="36576" anchor="ctr">
                    <a:lnT>
                      <a:noFill/>
                    </a:lnT>
                    <a:lnB w="0">
                      <a:noFill/>
                    </a:lnB>
                    <a:solidFill>
                      <a:srgbClr val="FFFFFF"/>
                    </a:solidFill>
                  </a:tcPr>
                </a:tc>
                <a:tc>
                  <a:txBody>
                    <a:bodyPr/>
                    <a:lstStyle/>
                    <a:p>
                      <a:pPr algn="ctr"/>
                      <a:r>
                        <a:rPr sz="1200">
                          <a:solidFill>
                            <a:srgbClr val="56606B"/>
                          </a:solidFill>
                          <a:latin typeface="Calibri"/>
                        </a:rPr>
                        <a:t>0.59</a:t>
                      </a:r>
                    </a:p>
                  </a:txBody>
                  <a:tcPr marT="36576" marB="36576" anchor="ctr">
                    <a:lnT>
                      <a:noFill/>
                    </a:lnT>
                    <a:lnB w="0">
                      <a:noFill/>
                    </a:lnB>
                    <a:solidFill>
                      <a:srgbClr val="FFFFFF"/>
                    </a:solidFill>
                  </a:tcPr>
                </a:tc>
                <a:tc>
                  <a:txBody>
                    <a:bodyPr/>
                    <a:lstStyle/>
                    <a:p>
                      <a:pPr algn="ctr"/>
                      <a:r>
                        <a:rPr sz="1200">
                          <a:solidFill>
                            <a:srgbClr val="56606B"/>
                          </a:solidFill>
                          <a:latin typeface="Calibri"/>
                        </a:rPr>
                        <a:t>1.8</a:t>
                      </a:r>
                    </a:p>
                  </a:txBody>
                  <a:tcPr marT="36576" marB="36576" anchor="ctr">
                    <a:lnT>
                      <a:noFill/>
                    </a:lnT>
                    <a:lnB w="0">
                      <a:noFill/>
                    </a:lnB>
                    <a:solidFill>
                      <a:srgbClr val="FFFFFF"/>
                    </a:solidFill>
                  </a:tcPr>
                </a:tc>
                <a:extLst>
                  <a:ext uri="{0D108BD9-81ED-4DB2-BD59-A6C34878D82A}">
                    <a16:rowId xmlns:a16="http://schemas.microsoft.com/office/drawing/2014/main" val="10003"/>
                  </a:ext>
                </a:extLst>
              </a:tr>
              <a:tr h="365760">
                <a:tc>
                  <a:txBody>
                    <a:bodyPr/>
                    <a:lstStyle/>
                    <a:p>
                      <a:pPr algn="l"/>
                      <a:r>
                        <a:rPr sz="1200" b="1">
                          <a:solidFill>
                            <a:srgbClr val="21295C"/>
                          </a:solidFill>
                          <a:latin typeface="Calibri"/>
                        </a:rPr>
                        <a:t>GARCH ω, α, β</a:t>
                      </a:r>
                    </a:p>
                  </a:txBody>
                  <a:tcPr marT="36576" marB="36576" anchor="ctr">
                    <a:lnT>
                      <a:noFill/>
                    </a:lnT>
                    <a:lnB w="0">
                      <a:noFill/>
                    </a:lnB>
                    <a:solidFill>
                      <a:srgbClr val="EEF3F7"/>
                    </a:solidFill>
                  </a:tcPr>
                </a:tc>
                <a:tc>
                  <a:txBody>
                    <a:bodyPr/>
                    <a:lstStyle/>
                    <a:p>
                      <a:pPr algn="ctr"/>
                      <a:r>
                        <a:rPr sz="1200">
                          <a:solidFill>
                            <a:srgbClr val="56606B"/>
                          </a:solidFill>
                          <a:latin typeface="Calibri"/>
                        </a:rPr>
                        <a:t>0.01004, 0.03105, 0.95242</a:t>
                      </a:r>
                    </a:p>
                  </a:txBody>
                  <a:tcPr marT="36576" marB="36576" anchor="ctr">
                    <a:lnT>
                      <a:noFill/>
                    </a:lnT>
                    <a:lnB w="0">
                      <a:noFill/>
                    </a:lnB>
                    <a:solidFill>
                      <a:srgbClr val="EEF3F7"/>
                    </a:solidFill>
                  </a:tcPr>
                </a:tc>
                <a:tc>
                  <a:txBody>
                    <a:bodyPr/>
                    <a:lstStyle/>
                    <a:p>
                      <a:pPr algn="ctr"/>
                      <a:r>
                        <a:rPr sz="1200">
                          <a:solidFill>
                            <a:srgbClr val="56606B"/>
                          </a:solidFill>
                          <a:latin typeface="Calibri"/>
                        </a:rPr>
                        <a:t>0.01348, 0.00590, 0.97618</a:t>
                      </a:r>
                    </a:p>
                  </a:txBody>
                  <a:tcPr marT="36576" marB="36576" anchor="ctr">
                    <a:lnT>
                      <a:noFill/>
                    </a:lnT>
                    <a:lnB w="0">
                      <a:noFill/>
                    </a:lnB>
                    <a:solidFill>
                      <a:srgbClr val="EEF3F7"/>
                    </a:solidFill>
                  </a:tcPr>
                </a:tc>
                <a:extLst>
                  <a:ext uri="{0D108BD9-81ED-4DB2-BD59-A6C34878D82A}">
                    <a16:rowId xmlns:a16="http://schemas.microsoft.com/office/drawing/2014/main" val="10004"/>
                  </a:ext>
                </a:extLst>
              </a:tr>
              <a:tr h="365760">
                <a:tc>
                  <a:txBody>
                    <a:bodyPr/>
                    <a:lstStyle/>
                    <a:p>
                      <a:pPr algn="l"/>
                      <a:r>
                        <a:rPr sz="1200" b="1">
                          <a:solidFill>
                            <a:srgbClr val="21295C"/>
                          </a:solidFill>
                          <a:latin typeface="Calibri"/>
                        </a:rPr>
                        <a:t>Persistence α + β · volatility half-life</a:t>
                      </a:r>
                    </a:p>
                  </a:txBody>
                  <a:tcPr marT="36576" marB="36576" anchor="ctr">
                    <a:lnT>
                      <a:noFill/>
                    </a:lnT>
                    <a:lnB w="0">
                      <a:noFill/>
                    </a:lnB>
                    <a:solidFill>
                      <a:srgbClr val="FFFFFF"/>
                    </a:solidFill>
                  </a:tcPr>
                </a:tc>
                <a:tc>
                  <a:txBody>
                    <a:bodyPr/>
                    <a:lstStyle/>
                    <a:p>
                      <a:pPr algn="ctr"/>
                      <a:r>
                        <a:rPr sz="1200">
                          <a:solidFill>
                            <a:srgbClr val="56606B"/>
                          </a:solidFill>
                          <a:latin typeface="Calibri"/>
                        </a:rPr>
                        <a:t>0.9835 · 41.6 days</a:t>
                      </a:r>
                    </a:p>
                  </a:txBody>
                  <a:tcPr marT="36576" marB="36576" anchor="ctr">
                    <a:lnT>
                      <a:noFill/>
                    </a:lnT>
                    <a:lnB w="0">
                      <a:noFill/>
                    </a:lnB>
                    <a:solidFill>
                      <a:srgbClr val="FFFFFF"/>
                    </a:solidFill>
                  </a:tcPr>
                </a:tc>
                <a:tc>
                  <a:txBody>
                    <a:bodyPr/>
                    <a:lstStyle/>
                    <a:p>
                      <a:pPr algn="ctr"/>
                      <a:r>
                        <a:rPr sz="1200">
                          <a:solidFill>
                            <a:srgbClr val="56606B"/>
                          </a:solidFill>
                          <a:latin typeface="Calibri"/>
                        </a:rPr>
                        <a:t>0.9821 · 38.3 days</a:t>
                      </a:r>
                    </a:p>
                  </a:txBody>
                  <a:tcPr marT="36576" marB="36576" anchor="ctr">
                    <a:lnT>
                      <a:noFill/>
                    </a:lnT>
                    <a:lnB w="0">
                      <a:noFill/>
                    </a:lnB>
                    <a:solidFill>
                      <a:srgbClr val="FFFFFF"/>
                    </a:solidFill>
                  </a:tcPr>
                </a:tc>
                <a:extLst>
                  <a:ext uri="{0D108BD9-81ED-4DB2-BD59-A6C34878D82A}">
                    <a16:rowId xmlns:a16="http://schemas.microsoft.com/office/drawing/2014/main" val="10005"/>
                  </a:ext>
                </a:extLst>
              </a:tr>
              <a:tr h="365760">
                <a:tc>
                  <a:txBody>
                    <a:bodyPr/>
                    <a:lstStyle/>
                    <a:p>
                      <a:pPr algn="l"/>
                      <a:r>
                        <a:rPr sz="1200" b="1">
                          <a:solidFill>
                            <a:srgbClr val="21295C"/>
                          </a:solidFill>
                          <a:latin typeface="Calibri"/>
                        </a:rPr>
                        <a:t>CAR(4) α₁, α₂, α₃, α₄</a:t>
                      </a:r>
                    </a:p>
                  </a:txBody>
                  <a:tcPr marT="36576" marB="36576" anchor="ctr">
                    <a:lnT>
                      <a:noFill/>
                    </a:lnT>
                    <a:lnB w="0">
                      <a:noFill/>
                    </a:lnB>
                    <a:solidFill>
                      <a:srgbClr val="EEF3F7"/>
                    </a:solidFill>
                  </a:tcPr>
                </a:tc>
                <a:tc>
                  <a:txBody>
                    <a:bodyPr/>
                    <a:lstStyle/>
                    <a:p>
                      <a:pPr algn="ctr"/>
                      <a:r>
                        <a:rPr sz="1200">
                          <a:solidFill>
                            <a:srgbClr val="56606B"/>
                          </a:solidFill>
                          <a:latin typeface="Calibri"/>
                        </a:rPr>
                        <a:t>3.3701, 4.2546, 2.3063, 0.3908</a:t>
                      </a:r>
                    </a:p>
                  </a:txBody>
                  <a:tcPr marT="36576" marB="36576" anchor="ctr">
                    <a:lnT>
                      <a:noFill/>
                    </a:lnT>
                    <a:lnB w="0">
                      <a:noFill/>
                    </a:lnB>
                    <a:solidFill>
                      <a:srgbClr val="EEF3F7"/>
                    </a:solidFill>
                  </a:tcPr>
                </a:tc>
                <a:tc>
                  <a:txBody>
                    <a:bodyPr/>
                    <a:lstStyle/>
                    <a:p>
                      <a:pPr algn="ctr"/>
                      <a:r>
                        <a:rPr sz="1200">
                          <a:solidFill>
                            <a:srgbClr val="56606B"/>
                          </a:solidFill>
                          <a:latin typeface="Calibri"/>
                        </a:rPr>
                        <a:t>3.4676, 4.4789, 2.5228, 0.5188</a:t>
                      </a:r>
                    </a:p>
                  </a:txBody>
                  <a:tcPr marT="36576" marB="36576" anchor="ctr">
                    <a:lnT>
                      <a:noFill/>
                    </a:lnT>
                    <a:lnB w="0">
                      <a:noFill/>
                    </a:lnB>
                    <a:solidFill>
                      <a:srgbClr val="EEF3F7"/>
                    </a:solidFill>
                  </a:tcPr>
                </a:tc>
                <a:extLst>
                  <a:ext uri="{0D108BD9-81ED-4DB2-BD59-A6C34878D82A}">
                    <a16:rowId xmlns:a16="http://schemas.microsoft.com/office/drawing/2014/main" val="10006"/>
                  </a:ext>
                </a:extLst>
              </a:tr>
              <a:tr h="365760">
                <a:tc>
                  <a:txBody>
                    <a:bodyPr/>
                    <a:lstStyle/>
                    <a:p>
                      <a:pPr algn="l"/>
                      <a:r>
                        <a:rPr sz="1200" b="1">
                          <a:solidFill>
                            <a:srgbClr val="21295C"/>
                          </a:solidFill>
                          <a:latin typeface="Calibri"/>
                        </a:rPr>
                        <a:t>Eigenvalues of A</a:t>
                      </a:r>
                    </a:p>
                  </a:txBody>
                  <a:tcPr marT="36576" marB="36576" anchor="ctr">
                    <a:lnT>
                      <a:noFill/>
                    </a:lnT>
                    <a:lnB w="0">
                      <a:noFill/>
                    </a:lnB>
                    <a:solidFill>
                      <a:srgbClr val="FFFFFF"/>
                    </a:solidFill>
                  </a:tcPr>
                </a:tc>
                <a:tc>
                  <a:txBody>
                    <a:bodyPr/>
                    <a:lstStyle/>
                    <a:p>
                      <a:pPr algn="ctr"/>
                      <a:r>
                        <a:rPr sz="1200">
                          <a:solidFill>
                            <a:srgbClr val="56606B"/>
                          </a:solidFill>
                          <a:latin typeface="Calibri"/>
                        </a:rPr>
                        <a:t>−0.9358 ± 0.4653i, −1.2004, −0.2980</a:t>
                      </a:r>
                    </a:p>
                  </a:txBody>
                  <a:tcPr marT="36576" marB="36576" anchor="ctr">
                    <a:lnT>
                      <a:noFill/>
                    </a:lnT>
                    <a:lnB w="0">
                      <a:noFill/>
                    </a:lnB>
                    <a:solidFill>
                      <a:srgbClr val="FFFFFF"/>
                    </a:solidFill>
                  </a:tcPr>
                </a:tc>
                <a:tc>
                  <a:txBody>
                    <a:bodyPr/>
                    <a:lstStyle/>
                    <a:p>
                      <a:pPr algn="ctr"/>
                      <a:r>
                        <a:rPr sz="1200">
                          <a:solidFill>
                            <a:srgbClr val="56606B"/>
                          </a:solidFill>
                          <a:latin typeface="Calibri"/>
                        </a:rPr>
                        <a:t>−1.0730 ± 0.2550i, −0.7614, −0.5602</a:t>
                      </a:r>
                    </a:p>
                  </a:txBody>
                  <a:tcPr marT="36576" marB="36576" anchor="ctr">
                    <a:lnT>
                      <a:noFill/>
                    </a:lnT>
                    <a:lnB w="0">
                      <a:noFill/>
                    </a:lnB>
                    <a:solidFill>
                      <a:srgbClr val="FFFFFF"/>
                    </a:solidFill>
                  </a:tcPr>
                </a:tc>
                <a:extLst>
                  <a:ext uri="{0D108BD9-81ED-4DB2-BD59-A6C34878D82A}">
                    <a16:rowId xmlns:a16="http://schemas.microsoft.com/office/drawing/2014/main" val="10007"/>
                  </a:ext>
                </a:extLst>
              </a:tr>
              <a:tr h="365760">
                <a:tc>
                  <a:txBody>
                    <a:bodyPr/>
                    <a:lstStyle/>
                    <a:p>
                      <a:pPr algn="l"/>
                      <a:r>
                        <a:rPr sz="1200" b="1">
                          <a:solidFill>
                            <a:srgbClr val="21295C"/>
                          </a:solidFill>
                          <a:latin typeface="Calibri"/>
                        </a:rPr>
                        <a:t>Oscillatory period · mean-reversion half-life</a:t>
                      </a:r>
                    </a:p>
                  </a:txBody>
                  <a:tcPr marT="36576" marB="36576" anchor="ctr">
                    <a:lnT>
                      <a:noFill/>
                    </a:lnT>
                    <a:lnB w="0">
                      <a:noFill/>
                    </a:lnB>
                    <a:solidFill>
                      <a:srgbClr val="EEF3F7"/>
                    </a:solidFill>
                  </a:tcPr>
                </a:tc>
                <a:tc>
                  <a:txBody>
                    <a:bodyPr/>
                    <a:lstStyle/>
                    <a:p>
                      <a:pPr algn="ctr"/>
                      <a:r>
                        <a:rPr sz="1200">
                          <a:solidFill>
                            <a:srgbClr val="56606B"/>
                          </a:solidFill>
                          <a:latin typeface="Calibri"/>
                        </a:rPr>
                        <a:t>13.5 days · 2.33 days</a:t>
                      </a:r>
                    </a:p>
                  </a:txBody>
                  <a:tcPr marT="36576" marB="36576" anchor="ctr">
                    <a:lnT>
                      <a:noFill/>
                    </a:lnT>
                    <a:lnB w="0">
                      <a:noFill/>
                    </a:lnB>
                    <a:solidFill>
                      <a:srgbClr val="EEF3F7"/>
                    </a:solidFill>
                  </a:tcPr>
                </a:tc>
                <a:tc>
                  <a:txBody>
                    <a:bodyPr/>
                    <a:lstStyle/>
                    <a:p>
                      <a:pPr algn="ctr"/>
                      <a:r>
                        <a:rPr sz="1200">
                          <a:solidFill>
                            <a:srgbClr val="56606B"/>
                          </a:solidFill>
                          <a:latin typeface="Calibri"/>
                        </a:rPr>
                        <a:t>24.6 days · 1.24 days</a:t>
                      </a:r>
                    </a:p>
                  </a:txBody>
                  <a:tcPr marT="36576" marB="36576" anchor="ctr">
                    <a:lnT>
                      <a:noFill/>
                    </a:lnT>
                    <a:lnB w="0">
                      <a:noFill/>
                    </a:lnB>
                    <a:solidFill>
                      <a:srgbClr val="EEF3F7"/>
                    </a:solidFill>
                  </a:tcPr>
                </a:tc>
                <a:extLst>
                  <a:ext uri="{0D108BD9-81ED-4DB2-BD59-A6C34878D82A}">
                    <a16:rowId xmlns:a16="http://schemas.microsoft.com/office/drawing/2014/main" val="10008"/>
                  </a:ext>
                </a:extLst>
              </a:tr>
              <a:tr h="365760">
                <a:tc>
                  <a:txBody>
                    <a:bodyPr/>
                    <a:lstStyle/>
                    <a:p>
                      <a:pPr algn="l"/>
                      <a:r>
                        <a:rPr sz="1200" b="1">
                          <a:solidFill>
                            <a:srgbClr val="21295C"/>
                          </a:solidFill>
                          <a:latin typeface="Calibri"/>
                        </a:rPr>
                        <a:t>NIG α̂ · KS p (NIG / Gaussian)</a:t>
                      </a:r>
                    </a:p>
                  </a:txBody>
                  <a:tcPr marT="36576" marB="36576" anchor="ctr">
                    <a:lnT>
                      <a:noFill/>
                    </a:lnT>
                    <a:lnB w="0">
                      <a:noFill/>
                    </a:lnB>
                    <a:solidFill>
                      <a:srgbClr val="FFFFFF"/>
                    </a:solidFill>
                  </a:tcPr>
                </a:tc>
                <a:tc>
                  <a:txBody>
                    <a:bodyPr/>
                    <a:lstStyle/>
                    <a:p>
                      <a:pPr algn="ctr"/>
                      <a:r>
                        <a:rPr sz="1200">
                          <a:solidFill>
                            <a:srgbClr val="56606B"/>
                          </a:solidFill>
                          <a:latin typeface="Calibri"/>
                        </a:rPr>
                        <a:t>4.374 · 0.120 / 0.079</a:t>
                      </a:r>
                    </a:p>
                  </a:txBody>
                  <a:tcPr marT="36576" marB="36576" anchor="ctr">
                    <a:lnT>
                      <a:noFill/>
                    </a:lnT>
                    <a:lnB w="0">
                      <a:noFill/>
                    </a:lnB>
                    <a:solidFill>
                      <a:srgbClr val="FFFFFF"/>
                    </a:solidFill>
                  </a:tcPr>
                </a:tc>
                <a:tc>
                  <a:txBody>
                    <a:bodyPr/>
                    <a:lstStyle/>
                    <a:p>
                      <a:pPr algn="ctr"/>
                      <a:r>
                        <a:rPr sz="1200">
                          <a:solidFill>
                            <a:srgbClr val="56606B"/>
                          </a:solidFill>
                          <a:latin typeface="Calibri"/>
                        </a:rPr>
                        <a:t>2,649.57 · 0.0275 / 0.0269</a:t>
                      </a:r>
                    </a:p>
                  </a:txBody>
                  <a:tcPr marT="36576" marB="36576" anchor="ctr">
                    <a:lnT>
                      <a:noFill/>
                    </a:lnT>
                    <a:lnB w="0">
                      <a:noFill/>
                    </a:lnB>
                    <a:solidFill>
                      <a:srgbClr val="FFFFFF"/>
                    </a:solidFill>
                  </a:tcPr>
                </a:tc>
                <a:extLst>
                  <a:ext uri="{0D108BD9-81ED-4DB2-BD59-A6C34878D82A}">
                    <a16:rowId xmlns:a16="http://schemas.microsoft.com/office/drawing/2014/main" val="10009"/>
                  </a:ext>
                </a:extLst>
              </a:tr>
              <a:tr h="365760">
                <a:tc>
                  <a:txBody>
                    <a:bodyPr/>
                    <a:lstStyle/>
                    <a:p>
                      <a:pPr algn="l"/>
                      <a:r>
                        <a:rPr sz="1200" b="1">
                          <a:solidFill>
                            <a:srgbClr val="21295C"/>
                          </a:solidFill>
                          <a:latin typeface="Calibri"/>
                        </a:rPr>
                        <a:t>GARCH standardised residuals</a:t>
                      </a:r>
                    </a:p>
                  </a:txBody>
                  <a:tcPr marT="36576" marB="36576" anchor="ctr">
                    <a:lnT>
                      <a:noFill/>
                    </a:lnT>
                    <a:lnB w="0">
                      <a:noFill/>
                    </a:lnB>
                    <a:solidFill>
                      <a:srgbClr val="EEF3F7"/>
                    </a:solidFill>
                  </a:tcPr>
                </a:tc>
                <a:tc>
                  <a:txBody>
                    <a:bodyPr/>
                    <a:lstStyle/>
                    <a:p>
                      <a:pPr algn="ctr"/>
                      <a:r>
                        <a:rPr sz="1200">
                          <a:solidFill>
                            <a:srgbClr val="56606B"/>
                          </a:solidFill>
                          <a:latin typeface="Calibri"/>
                        </a:rPr>
                        <a:t>all diagnostics pass</a:t>
                      </a:r>
                    </a:p>
                  </a:txBody>
                  <a:tcPr marT="36576" marB="36576" anchor="ctr">
                    <a:lnT>
                      <a:noFill/>
                    </a:lnT>
                    <a:lnB w="0">
                      <a:noFill/>
                    </a:lnB>
                    <a:solidFill>
                      <a:srgbClr val="EEF3F7"/>
                    </a:solidFill>
                  </a:tcPr>
                </a:tc>
                <a:tc>
                  <a:txBody>
                    <a:bodyPr/>
                    <a:lstStyle/>
                    <a:p>
                      <a:pPr algn="ctr"/>
                      <a:r>
                        <a:rPr sz="1200">
                          <a:solidFill>
                            <a:srgbClr val="56606B"/>
                          </a:solidFill>
                          <a:latin typeface="Calibri"/>
                        </a:rPr>
                        <a:t>z² lag 5 p = 0.0167; ARCH-LM p = 0.0185</a:t>
                      </a:r>
                    </a:p>
                  </a:txBody>
                  <a:tcPr marT="36576" marB="36576" anchor="ctr">
                    <a:lnT>
                      <a:noFill/>
                    </a:lnT>
                    <a:lnB w="0">
                      <a:noFill/>
                    </a:lnB>
                    <a:solidFill>
                      <a:srgbClr val="EEF3F7"/>
                    </a:solidFill>
                  </a:tcPr>
                </a:tc>
                <a:extLst>
                  <a:ext uri="{0D108BD9-81ED-4DB2-BD59-A6C34878D82A}">
                    <a16:rowId xmlns:a16="http://schemas.microsoft.com/office/drawing/2014/main" val="10010"/>
                  </a:ext>
                </a:extLst>
              </a:tr>
            </a:tbl>
          </a:graphicData>
        </a:graphic>
      </p:graphicFrame>
      <p:sp>
        <p:nvSpPr>
          <p:cNvPr id="15" name="Rounded Rectangle 14"/>
          <p:cNvSpPr/>
          <p:nvPr/>
        </p:nvSpPr>
        <p:spPr>
          <a:xfrm>
            <a:off x="548640" y="5852160"/>
            <a:ext cx="11109960" cy="457200"/>
          </a:xfrm>
          <a:prstGeom prst="roundRect">
            <a:avLst>
              <a:gd name="adj" fmla="val 18000"/>
            </a:avLst>
          </a:prstGeom>
          <a:solidFill>
            <a:srgbClr val="EEF3F7"/>
          </a:solidFill>
          <a:ln>
            <a:noFill/>
          </a:ln>
        </p:spPr>
        <p:txBody>
          <a:bodyPr rtlCol="0" anchor="ctr"/>
          <a:lstStyle/>
          <a:p>
            <a:pPr algn="ctr"/>
            <a:endParaRPr/>
          </a:p>
        </p:txBody>
      </p:sp>
      <p:sp>
        <p:nvSpPr>
          <p:cNvPr id="16" name="TextBox 15"/>
          <p:cNvSpPr txBox="1"/>
          <p:nvPr/>
        </p:nvSpPr>
        <p:spPr>
          <a:xfrm>
            <a:off x="822960" y="5870448"/>
            <a:ext cx="10607040" cy="411480"/>
          </a:xfrm>
          <a:prstGeom prst="rect">
            <a:avLst/>
          </a:prstGeom>
          <a:noFill/>
        </p:spPr>
        <p:txBody>
          <a:bodyPr wrap="square" lIns="0" tIns="0" rIns="0" bIns="0" anchor="ctr">
            <a:spAutoFit/>
          </a:bodyPr>
          <a:lstStyle/>
          <a:p>
            <a:pPr algn="l"/>
            <a:r>
              <a:rPr sz="1150" b="1" i="0">
                <a:solidFill>
                  <a:srgbClr val="21295C"/>
                </a:solidFill>
                <a:latin typeface="Calibri"/>
              </a:rPr>
              <a:t>Frozen phase outputs (thesis Tables 5, 7, 10, 13, 14, 16, 24). </a:t>
            </a:r>
            <a:r>
              <a:rPr sz="1150" b="0" i="0">
                <a:solidFill>
                  <a:srgbClr val="56606B"/>
                </a:solidFill>
                <a:latin typeface="Calibri"/>
              </a:rPr>
              <a:t>AR(4) is retained on structural grounds: CAR(4) needs a four-dimensional companion matrix.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6010</Words>
  <Application>Microsoft Office PowerPoint</Application>
  <PresentationFormat>Widescreen</PresentationFormat>
  <Paragraphs>440</Paragraphs>
  <Slides>21</Slides>
  <Notes>17</Notes>
  <HiddenSlides>7</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21</vt:i4>
      </vt:variant>
    </vt:vector>
  </HeadingPairs>
  <TitlesOfParts>
    <vt:vector size="25" baseType="lpstr">
      <vt:lpstr>Arial</vt:lpstr>
      <vt:lpstr>Calibri</vt:lpstr>
      <vt:lpstr>Cambria</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Enrico Butali - enrico.butali@studio.unibo.it</cp:lastModifiedBy>
  <cp:revision>3</cp:revision>
  <dcterms:created xsi:type="dcterms:W3CDTF">2026-09-24T10:39:50Z</dcterms:created>
  <dcterms:modified xsi:type="dcterms:W3CDTF">2026-10-19T18:05:26Z</dcterms:modified>
</cp:coreProperties>
</file>