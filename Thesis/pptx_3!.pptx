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7"/>
    <p:sldId id="258" r:id="rId4"/>
    <p:sldId id="270" r:id="rId21"/>
    <p:sldId id="277" r:id="rId6"/>
    <p:sldId id="278" r:id="rId27"/>
    <p:sldId id="279" r:id="rId28"/>
    <p:sldId id="280" r:id="rId29"/>
    <p:sldId id="281" r:id="rId30"/>
    <p:sldId id="282" r:id="rId31"/>
    <p:sldId id="283" r:id="rId32"/>
    <p:sldId id="268" r:id="rId14"/>
    <p:sldId id="269" r:id="rId15"/>
    <p:sldId id="272" r:id="rId23"/>
    <p:sldId id="262" r:id="rId8"/>
    <p:sldId id="273" r:id="rId24"/>
    <p:sldId id="263" r:id="rId9"/>
    <p:sldId id="274" r:id="rId25"/>
    <p:sldId id="275" r:id="rId26"/>
    <p:sldId id="284" r:id="rId33"/>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20.xml"/><Relationship Id="rId7" Type="http://schemas.openxmlformats.org/officeDocument/2006/relationships/slide" Target="slides/slide19.xml"/><Relationship Id="rId8" Type="http://schemas.openxmlformats.org/officeDocument/2006/relationships/slide" Target="slides/slide15.xml"/><Relationship Id="rId9" Type="http://schemas.openxmlformats.org/officeDocument/2006/relationships/slide" Target="slides/slide6.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5.xml"/><Relationship Id="rId23" Type="http://schemas.openxmlformats.org/officeDocument/2006/relationships/slide" Target="slides/slide14.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Payoff</c:v>
                </c:pt>
              </c:strCache>
            </c:strRef>
          </c:tx>
          <c:spPr>
            <a:solidFill>
              <a:srgbClr val="21295C"/>
            </a:solidFill>
          </c:spPr>
          <c:invertIfNegative val="0"/>
          <c:dPt>
            <c:idx val="0"/>
            <c:spPr>
              <a:solidFill>
                <a:srgbClr val="21295C"/>
              </a:solidFill>
            </c:spPr>
          </c:dPt>
          <c:dPt>
            <c:idx val="1"/>
            <c:spPr>
              <a:solidFill>
                <a:srgbClr val="21295C"/>
              </a:solidFill>
            </c:spPr>
          </c:dPt>
          <c:dPt>
            <c:idx val="2"/>
            <c:spPr>
              <a:solidFill>
                <a:srgbClr val="21295C"/>
              </a:solidFill>
            </c:spPr>
          </c:dPt>
          <c:dPt>
            <c:idx val="3"/>
            <c:spPr>
              <a:solidFill>
                <a:srgbClr val="9DB0C2"/>
              </a:solidFill>
            </c:spPr>
          </c:dPt>
          <c:dPt>
            <c:idx val="4"/>
            <c:spPr>
              <a:solidFill>
                <a:srgbClr val="9DB0C2"/>
              </a:solidFill>
            </c:spPr>
          </c:dPt>
          <c:dPt>
            <c:idx val="5"/>
            <c:spPr>
              <a:solidFill>
                <a:srgbClr val="21295C"/>
              </a:solidFill>
            </c:spPr>
          </c:dPt>
          <c:dPt>
            <c:idx val="6"/>
            <c:spPr>
              <a:solidFill>
                <a:srgbClr val="21295C"/>
              </a:solidFill>
            </c:spPr>
          </c:dPt>
          <c:dPt>
            <c:idx val="7"/>
            <c:spPr>
              <a:solidFill>
                <a:srgbClr val="9DB0C2"/>
              </a:solidFill>
            </c:spPr>
          </c:dPt>
          <c:dPt>
            <c:idx val="8"/>
            <c:spPr>
              <a:solidFill>
                <a:srgbClr val="21295C"/>
              </a:solidFill>
            </c:spPr>
          </c:dPt>
          <c:dPt>
            <c:idx val="9"/>
            <c:spPr>
              <a:solidFill>
                <a:srgbClr val="21295C"/>
              </a:solidFill>
            </c:spPr>
          </c:dPt>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Sheet1!$B$2:$B$11</c:f>
              <c:numCache>
                <c:formatCode>General</c:formatCode>
                <c:ptCount val="10"/>
                <c:pt idx="0">
                  <c:v>8.48</c:v>
                </c:pt>
                <c:pt idx="1">
                  <c:v>0.09</c:v>
                </c:pt>
                <c:pt idx="2">
                  <c:v>16.03</c:v>
                </c:pt>
                <c:pt idx="3">
                  <c:v>-6.98</c:v>
                </c:pt>
                <c:pt idx="4">
                  <c:v>-17.66</c:v>
                </c:pt>
                <c:pt idx="5">
                  <c:v>3.6</c:v>
                </c:pt>
                <c:pt idx="6">
                  <c:v>5.82</c:v>
                </c:pt>
                <c:pt idx="7">
                  <c:v>-11.35</c:v>
                </c:pt>
                <c:pt idx="8">
                  <c:v>6.56</c:v>
                </c:pt>
                <c:pt idx="9">
                  <c:v>18.85</c:v>
                </c:pt>
              </c:numCache>
            </c:numRef>
          </c:val>
        </c:ser>
        <c:dLbls>
          <c:numFmt formatCode="+0.0;−0.0" sourceLinked="0"/>
          <c:txPr>
            <a:bodyPr/>
            <a:lstStyle/>
            <a:p>
              <a:pPr>
                <a:defRPr sz="1100" b="1">
                  <a:solidFill>
                    <a:srgbClr val="21295C"/>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low"/>
        <c:spPr>
          <a:ln>
            <a:solidFill>
              <a:srgbClr val="B8C4CF"/>
            </a:solidFill>
          </a:ln>
        </c:spPr>
        <c:txPr>
          <a:bodyPr/>
          <a:lstStyle/>
          <a:p>
            <a:pPr>
              <a:defRPr sz="1100"/>
            </a:pPr>
          </a:p>
        </c:txPr>
        <c:crossAx val="-2113994440"/>
        <c:crosses val="autoZero"/>
        <c:auto val="1"/>
        <c:lblAlgn val="ctr"/>
        <c:lblOffset val="100"/>
        <c:noMultiLvlLbl val="0"/>
      </c:catAx>
      <c:valAx>
        <c:axId val="-2113994440"/>
        <c:scaling>
          <c:max val="30.0"/>
          <c:min val="-20.0"/>
        </c:scaling>
        <c:delete val="0"/>
        <c:axPos val="l"/>
        <c:majorGridlines>
          <c:spPr>
            <a:ln w="9525">
              <a:solidFill>
                <a:srgbClr val="E1E8EE"/>
              </a:solidFill>
            </a:ln>
          </c:spPr>
        </c:majorGridlines>
        <c:numFmt formatCode="+0;−0;0" sourceLinked="0"/>
        <c:majorTickMark val="none"/>
        <c:minorTickMark val="none"/>
        <c:tickLblPos val="nextTo"/>
        <c:spPr>
          <a:ln>
            <a:noFill/>
          </a:ln>
        </c:spPr>
        <c:txPr>
          <a:bodyPr/>
          <a:lstStyle/>
          <a:p>
            <a:pPr>
              <a:defRPr sz="1000"/>
            </a:pPr>
          </a:p>
        </c:txPr>
        <c:crossAx val="-2068027336"/>
        <c:crosses val="autoZero"/>
        <c:majorUnit val="10.0"/>
      </c:valAx>
    </c:plotArea>
    <c:dispBlanksAs val="gap"/>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Strike</c:v>
                </c:pt>
              </c:strCache>
            </c:strRef>
          </c:tx>
          <c:spPr>
            <a:solidFill>
              <a:srgbClr val="21295C"/>
            </a:solidFill>
          </c:spPr>
          <c:invertIfNegative val="0"/>
          <c:dPt>
            <c:idx val="0"/>
            <c:spPr>
              <a:solidFill>
                <a:srgbClr val="21295C"/>
              </a:solidFill>
            </c:spPr>
          </c:dPt>
          <c:dPt>
            <c:idx val="1"/>
            <c:spPr>
              <a:solidFill>
                <a:srgbClr val="1C7293"/>
              </a:solidFill>
            </c:spPr>
          </c:dPt>
          <c:dPt>
            <c:idx val="2"/>
            <c:spPr>
              <a:solidFill>
                <a:srgbClr val="1C7293"/>
              </a:solidFill>
            </c:spPr>
          </c:dPt>
          <c:dPt>
            <c:idx val="3"/>
            <c:spPr>
              <a:solidFill>
                <a:srgbClr val="1C7293"/>
              </a:solidFill>
            </c:spPr>
          </c:dPt>
          <c:dPt>
            <c:idx val="4"/>
            <c:spPr>
              <a:solidFill>
                <a:srgbClr val="C8791A"/>
              </a:solidFill>
            </c:spPr>
          </c:dPt>
          <c:dPt>
            <c:idx val="5"/>
            <c:spPr>
              <a:solidFill>
                <a:srgbClr val="56606B"/>
              </a:solidFill>
            </c:spPr>
          </c:dPt>
          <c:dLbls>
            <c:dLbl>
              <c:idx val="0"/>
              <c:tx>
                <c:rich>
                  <a:bodyPr/>
                  <a:lstStyle/>
                  <a:p>
                    <a:r>
                      <a:rPr sz="1100" b="1">
                        <a:solidFill>
                          <a:srgbClr val="21295C"/>
                        </a:solidFill>
                      </a:rPr>
                      <a:t> </a:t>
                    </a:r>
                  </a:p>
                </c:rich>
              </c:tx>
              <c:dLblPos val="outEnd"/>
              <c:showLegendKey val="0"/>
              <c:showVal val="1"/>
              <c:showCatName val="0"/>
              <c:showSerName val="0"/>
              <c:showPercent val="0"/>
              <c:showBubbleSize val="0"/>
            </c:dLbl>
            <c:dLbl>
              <c:idx val="1"/>
              <c:tx>
                <c:rich>
                  <a:bodyPr/>
                  <a:lstStyle/>
                  <a:p>
                    <a:r>
                      <a:rPr sz="1100" b="1">
                        <a:solidFill>
                          <a:srgbClr val="21295C"/>
                        </a:solidFill>
                      </a:rPr>
                      <a:t>7.05</a:t>
                    </a:r>
                  </a:p>
                </c:rich>
              </c:tx>
              <c:dLblPos val="outEnd"/>
              <c:showLegendKey val="0"/>
              <c:showVal val="1"/>
              <c:showCatName val="0"/>
              <c:showSerName val="0"/>
              <c:showPercent val="0"/>
              <c:showBubbleSize val="0"/>
            </c:dLbl>
            <c:dLbl>
              <c:idx val="2"/>
              <c:tx>
                <c:rich>
                  <a:bodyPr/>
                  <a:lstStyle/>
                  <a:p>
                    <a:r>
                      <a:rPr sz="1100" b="1">
                        <a:solidFill>
                          <a:srgbClr val="21295C"/>
                        </a:solidFill>
                      </a:rPr>
                      <a:t>9.43</a:t>
                    </a:r>
                  </a:p>
                </c:rich>
              </c:tx>
              <c:dLblPos val="outEnd"/>
              <c:showLegendKey val="0"/>
              <c:showVal val="1"/>
              <c:showCatName val="0"/>
              <c:showSerName val="0"/>
              <c:showPercent val="0"/>
              <c:showBubbleSize val="0"/>
            </c:dLbl>
            <c:dLbl>
              <c:idx val="3"/>
              <c:tx>
                <c:rich>
                  <a:bodyPr/>
                  <a:lstStyle/>
                  <a:p>
                    <a:r>
                      <a:rPr sz="1100" b="1">
                        <a:solidFill>
                          <a:srgbClr val="21295C"/>
                        </a:solidFill>
                      </a:rPr>
                      <a:t>1.30</a:t>
                    </a:r>
                  </a:p>
                </c:rich>
              </c:tx>
              <c:dLblPos val="outEnd"/>
              <c:showLegendKey val="0"/>
              <c:showVal val="1"/>
              <c:showCatName val="0"/>
              <c:showSerName val="0"/>
              <c:showPercent val="0"/>
              <c:showBubbleSize val="0"/>
            </c:dLbl>
            <c:dLbl>
              <c:idx val="4"/>
              <c:tx>
                <c:rich>
                  <a:bodyPr/>
                  <a:lstStyle/>
                  <a:p>
                    <a:r>
                      <a:rPr sz="1100" b="1">
                        <a:solidFill>
                          <a:srgbClr val="21295C"/>
                        </a:solidFill>
                      </a:rPr>
                      <a:t>328.8</a:t>
                    </a:r>
                  </a:p>
                </c:rich>
              </c:tx>
              <c:dLblPos val="outEnd"/>
              <c:showLegendKey val="0"/>
              <c:showVal val="1"/>
              <c:showCatName val="0"/>
              <c:showSerName val="0"/>
              <c:showPercent val="0"/>
              <c:showBubbleSize val="0"/>
            </c:dLbl>
            <c:dLbl>
              <c:idx val="5"/>
              <c:tx>
                <c:rich>
                  <a:bodyPr/>
                  <a:lstStyle/>
                  <a:p>
                    <a:r>
                      <a:rPr sz="1100" b="1">
                        <a:solidFill>
                          <a:srgbClr val="21295C"/>
                        </a:solidFill>
                      </a:rPr>
                      <a:t>113.1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h(t₀)·C₀ = 0.873</c:v>
                </c:pt>
                <c:pt idx="1">
                  <c:v>× Box–Cox</c:v>
                </c:pt>
                <c:pt idx="2">
                  <c:v>× innovation</c:v>
                </c:pt>
                <c:pt idx="3">
                  <c:v>× power curve</c:v>
                </c:pt>
                <c:pt idx="4">
                  <c:v>× 252</c:v>
                </c:pt>
                <c:pt idx="5">
                  <c:v>Market (A)</c:v>
                </c:pt>
              </c:strCache>
            </c:strRef>
          </c:cat>
          <c:val>
            <c:numRef>
              <c:f>Sheet1!$B$2:$B$7</c:f>
              <c:numCache>
                <c:formatCode>General</c:formatCode>
                <c:ptCount val="6"/>
                <c:pt idx="0">
                  <c:v>0.87336</c:v>
                </c:pt>
                <c:pt idx="1">
                  <c:v>7.04626848</c:v>
                </c:pt>
                <c:pt idx="2">
                  <c:v>9.43495349472</c:v>
                </c:pt>
                <c:pt idx="3">
                  <c:v>1.3044766701799873</c:v>
                </c:pt>
                <c:pt idx="4">
                  <c:v>328.7281208853568</c:v>
                </c:pt>
                <c:pt idx="5">
                  <c:v>113.145</c:v>
                </c:pt>
              </c:numCache>
            </c:numRef>
          </c:val>
        </c:ser>
        <c:dLbls>
          <c:numFmt formatCode="0.0" sourceLinked="0"/>
          <c:txPr>
            <a:bodyPr/>
            <a:lstStyle/>
            <a:p>
              <a:pPr>
                <a:defRPr sz="1100" b="1">
                  <a:solidFill>
                    <a:srgbClr val="21295C"/>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none"/>
        <c:minorTickMark val="none"/>
        <c:tickLblPos val="nextTo"/>
        <c:spPr>
          <a:ln>
            <a:solidFill>
              <a:srgbClr val="B8C4CF"/>
            </a:solidFill>
          </a:ln>
        </c:spPr>
        <c:txPr>
          <a:bodyPr/>
          <a:lstStyle/>
          <a:p>
            <a:pPr>
              <a:defRPr sz="1100"/>
            </a:pPr>
          </a:p>
        </c:txPr>
        <c:crossAx val="-2113994440"/>
        <c:crossesAt val="0.1"/>
        <c:auto val="1"/>
        <c:lblAlgn val="ctr"/>
        <c:lblOffset val="100"/>
        <c:noMultiLvlLbl val="0"/>
      </c:catAx>
      <c:valAx>
        <c:axId val="-2113994440"/>
        <c:scaling>
          <c:logBase val="10"/>
          <c:max val="1000.0"/>
          <c:min val="0.1"/>
        </c:scaling>
        <c:delete val="0"/>
        <c:axPos val="l"/>
        <c:majorGridlines>
          <c:spPr>
            <a:ln w="9525">
              <a:solidFill>
                <a:srgbClr val="E1E8EE"/>
              </a:solidFill>
            </a:ln>
          </c:spPr>
        </c:majorGridlines>
        <c:numFmt formatCode="General" sourceLinked="0"/>
        <c:majorTickMark val="none"/>
        <c:minorTickMark val="none"/>
        <c:tickLblPos val="nextTo"/>
        <c:spPr>
          <a:ln>
            <a:noFill/>
          </a:ln>
        </c:spPr>
        <c:txPr>
          <a:bodyPr/>
          <a:lstStyle/>
          <a:p>
            <a:pPr>
              <a:defRPr sz="1000"/>
            </a:pPr>
          </a:p>
        </c:txPr>
        <c:crossAx val="-2068027336"/>
        <c:crosses val="autoZero"/>
      </c:valAx>
    </c:plotArea>
    <c:dispBlanksAs val="gap"/>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Dataset A — Bologna 10 m (n = 4)</c:v>
                </c:pt>
              </c:strCache>
            </c:strRef>
          </c:tx>
          <c:spPr>
            <a:solidFill>
              <a:srgbClr val="C8791A"/>
            </a:solidFill>
          </c:spPr>
          <c:invertIfNegative val="0"/>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Sheet1!$B$2:$B$11</c:f>
              <c:numCache>
                <c:formatCode>General</c:formatCode>
                <c:ptCount val="10"/>
                <c:pt idx="0">
                  <c:v>-0.925174484661581</c:v>
                </c:pt>
                <c:pt idx="1">
                  <c:v>-1.6109397825028404</c:v>
                </c:pt>
                <c:pt idx="2">
                  <c:v>6.695341665314072</c:v>
                </c:pt>
                <c:pt idx="3">
                  <c:v>-4.905859438402857</c:v>
                </c:pt>
              </c:numCache>
            </c:numRef>
          </c:val>
        </c:ser>
        <c:ser>
          <c:idx val="1"/>
          <c:order val="1"/>
          <c:tx>
            <c:strRef>
              <c:f>Sheet1!$C$1</c:f>
              <c:strCache>
                <c:ptCount val="1"/>
                <c:pt idx="0">
                  <c:v>Dataset B — Nordfriesland 100 m (n = 10)</c:v>
                </c:pt>
              </c:strCache>
            </c:strRef>
          </c:tx>
          <c:spPr>
            <a:solidFill>
              <a:srgbClr val="1C7293"/>
            </a:solidFill>
          </c:spPr>
          <c:invertIfNegative val="0"/>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Sheet1!$C$2:$C$11</c:f>
              <c:numCache>
                <c:formatCode>General</c:formatCode>
                <c:ptCount val="10"/>
                <c:pt idx="0">
                  <c:v>-6.326756156014453</c:v>
                </c:pt>
                <c:pt idx="1">
                  <c:v>4.183482137313581</c:v>
                </c:pt>
                <c:pt idx="2">
                  <c:v>-0.4308899678384721</c:v>
                </c:pt>
                <c:pt idx="3">
                  <c:v>2.6511529721473712</c:v>
                </c:pt>
                <c:pt idx="4">
                  <c:v>-2.477306875613118</c:v>
                </c:pt>
                <c:pt idx="5">
                  <c:v>-2.854801256658926</c:v>
                </c:pt>
                <c:pt idx="6">
                  <c:v>4.989382970533086</c:v>
                </c:pt>
                <c:pt idx="7">
                  <c:v>-0.6606151668301646</c:v>
                </c:pt>
                <c:pt idx="8">
                  <c:v>-1.098955681662962</c:v>
                </c:pt>
                <c:pt idx="9">
                  <c:v>0.15025269771889085</c:v>
                </c:pt>
              </c:numCache>
            </c:numRef>
          </c:val>
        </c:ser>
        <c:dLbls>
          <c:numFmt formatCode="+0.0;−0.0" sourceLinked="0"/>
          <c:txPr>
            <a:bodyPr/>
            <a:lstStyle/>
            <a:p>
              <a:pPr>
                <a:defRPr sz="900" b="1">
                  <a:solidFill>
                    <a:srgbClr val="21295C"/>
                  </a:solidFill>
                </a:defRPr>
              </a:pPr>
            </a:p>
          </c:txPr>
          <c:dLblPos val="outEnd"/>
          <c:showLegendKey val="0"/>
          <c:showVal val="1"/>
          <c:showCatName val="0"/>
          <c:showSerName val="0"/>
          <c:showPercent val="0"/>
          <c:showBubbleSize val="0"/>
          <c:showLeaderLines val="1"/>
        </c:dLbls>
        <c:gapWidth val="50"/>
        <c:overlap val="-5"/>
        <c:axId val="-2068027336"/>
        <c:axId val="-2113994440"/>
      </c:barChart>
      <c:catAx>
        <c:axId val="-2068027336"/>
        <c:scaling>
          <c:orientation val="minMax"/>
        </c:scaling>
        <c:delete val="0"/>
        <c:axPos val="b"/>
        <c:majorTickMark val="none"/>
        <c:minorTickMark val="none"/>
        <c:tickLblPos val="low"/>
        <c:spPr>
          <a:ln>
            <a:solidFill>
              <a:srgbClr val="B8C4CF"/>
            </a:solidFill>
          </a:ln>
        </c:spPr>
        <c:txPr>
          <a:bodyPr/>
          <a:lstStyle/>
          <a:p>
            <a:pPr>
              <a:defRPr sz="1050"/>
            </a:pPr>
          </a:p>
        </c:txPr>
        <c:crossAx val="-2113994440"/>
        <c:crosses val="autoZero"/>
        <c:auto val="1"/>
        <c:lblAlgn val="ctr"/>
        <c:lblOffset val="100"/>
        <c:noMultiLvlLbl val="0"/>
      </c:catAx>
      <c:valAx>
        <c:axId val="-2113994440"/>
        <c:scaling>
          <c:max val="8.0"/>
          <c:min val="-8.0"/>
        </c:scaling>
        <c:delete val="0"/>
        <c:axPos val="l"/>
        <c:majorGridlines>
          <c:spPr>
            <a:ln w="9525">
              <a:solidFill>
                <a:srgbClr val="E1E8EE"/>
              </a:solidFill>
            </a:ln>
          </c:spPr>
        </c:majorGridlines>
        <c:numFmt formatCode="+0&quot;%&quot;;−0&quot;%&quot;;0&quot;%&quot;" sourceLinked="0"/>
        <c:majorTickMark val="none"/>
        <c:minorTickMark val="none"/>
        <c:tickLblPos val="nextTo"/>
        <c:spPr>
          <a:ln>
            <a:noFill/>
          </a:ln>
        </c:spPr>
        <c:txPr>
          <a:bodyPr/>
          <a:lstStyle/>
          <a:p>
            <a:pPr>
              <a:defRPr sz="950"/>
            </a:pPr>
          </a:p>
        </c:txPr>
        <c:crossAx val="-2068027336"/>
        <c:crosses val="autoZero"/>
        <c:majorUnit val="2.0"/>
      </c:valAx>
    </c:plotArea>
    <c:legend>
      <c:legendPos val="b"/>
      <c:overlay val="0"/>
      <c:txPr>
        <a:bodyPr/>
        <a:lstStyle/>
        <a:p>
          <a:pPr>
            <a:defRPr sz="1050"/>
          </a:pPr>
        </a:p>
      </c:txPr>
    </c:legend>
    <c:dispBlanksAs val="gap"/>
  </c:chart>
  <c:spPr>
    <a:noFill/>
    <a:ln>
      <a:noFill/>
    </a:ln>
  </c:spPr>
  <c:txPr>
    <a:bodyPr/>
    <a:lstStyle/>
    <a:p>
      <a:pPr>
        <a:defRPr sz="1050">
          <a:solidFill>
            <a:srgbClr val="56606B"/>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K</c:v>
                </c:pt>
              </c:strCache>
            </c:strRef>
          </c:tx>
          <c:spPr>
            <a:solidFill>
              <a:srgbClr val="21295C"/>
            </a:solidFill>
          </c:spPr>
          <c:invertIfNegative val="0"/>
          <c:dPt>
            <c:idx val="0"/>
            <c:spPr>
              <a:solidFill>
                <a:srgbClr val="C8791A"/>
              </a:solidFill>
            </c:spPr>
          </c:dPt>
          <c:dPt>
            <c:idx val="1"/>
            <c:spPr>
              <a:solidFill>
                <a:srgbClr val="E8A33D"/>
              </a:solidFill>
            </c:spPr>
          </c:dPt>
          <c:dPt>
            <c:idx val="2"/>
            <c:spPr>
              <a:solidFill>
                <a:srgbClr val="1C7293"/>
              </a:solidFill>
            </c:spPr>
          </c:dPt>
          <c:dLbls>
            <c:dLbl>
              <c:idx val="0"/>
              <c:tx>
                <c:rich>
                  <a:bodyPr/>
                  <a:lstStyle/>
                  <a:p>
                    <a:r>
                      <a:rPr sz="1100" b="1">
                        <a:solidFill>
                          <a:srgbClr val="21295C"/>
                        </a:solidFill>
                      </a:rPr>
                      <a:t>0.0544  (−93.8%)</a:t>
                    </a:r>
                  </a:p>
                </c:rich>
              </c:tx>
              <c:dLblPos val="outEnd"/>
              <c:showLegendKey val="0"/>
              <c:showVal val="1"/>
              <c:showCatName val="0"/>
              <c:showSerName val="0"/>
              <c:showPercent val="0"/>
              <c:showBubbleSize val="0"/>
            </c:dLbl>
            <c:dLbl>
              <c:idx val="1"/>
              <c:tx>
                <c:rich>
                  <a:bodyPr/>
                  <a:lstStyle/>
                  <a:p>
                    <a:r>
                      <a:rPr sz="1100" b="1">
                        <a:solidFill>
                          <a:srgbClr val="21295C"/>
                        </a:solidFill>
                      </a:rPr>
                      <a:t>0.1049  (−88.0%)</a:t>
                    </a:r>
                  </a:p>
                </c:rich>
              </c:tx>
              <c:dLblPos val="outEnd"/>
              <c:showLegendKey val="0"/>
              <c:showVal val="1"/>
              <c:showCatName val="0"/>
              <c:showSerName val="0"/>
              <c:showPercent val="0"/>
              <c:showBubbleSize val="0"/>
            </c:dLbl>
            <c:dLbl>
              <c:idx val="2"/>
              <c:tx>
                <c:rich>
                  <a:bodyPr/>
                  <a:lstStyle/>
                  <a:p>
                    <a:r>
                      <a:rPr sz="1100" b="1">
                        <a:solidFill>
                          <a:srgbClr val="21295C"/>
                        </a:solidFill>
                      </a:rPr>
                      <a:t>0.8734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A · proxy, raw</c:v>
                </c:pt>
                <c:pt idx="1">
                  <c:v>A · ×1.931 height</c:v>
                </c:pt>
                <c:pt idx="2">
                  <c:v>B · reference</c:v>
                </c:pt>
              </c:strCache>
            </c:strRef>
          </c:cat>
          <c:val>
            <c:numRef>
              <c:f>Sheet1!$B$2:$B$4</c:f>
              <c:numCache>
                <c:formatCode>General</c:formatCode>
                <c:ptCount val="3"/>
                <c:pt idx="0">
                  <c:v>0.054351906</c:v>
                </c:pt>
                <c:pt idx="1">
                  <c:v>0.104937101</c:v>
                </c:pt>
                <c:pt idx="2">
                  <c:v>0.87336</c:v>
                </c:pt>
              </c:numCache>
            </c:numRef>
          </c:val>
        </c:ser>
        <c:dLbls>
          <c:numFmt formatCode="0.0" sourceLinked="0"/>
          <c:txPr>
            <a:bodyPr/>
            <a:lstStyle/>
            <a:p>
              <a:pPr>
                <a:defRPr sz="1100" b="1">
                  <a:solidFill>
                    <a:srgbClr val="21295C"/>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none"/>
        <c:minorTickMark val="none"/>
        <c:tickLblPos val="nextTo"/>
        <c:spPr>
          <a:ln>
            <a:solidFill>
              <a:srgbClr val="B8C4CF"/>
            </a:solidFill>
          </a:ln>
        </c:spPr>
        <c:txPr>
          <a:bodyPr/>
          <a:lstStyle/>
          <a:p>
            <a:pPr>
              <a:defRPr sz="1100"/>
            </a:pPr>
          </a:p>
        </c:txPr>
        <c:crossAx val="-2113994440"/>
        <c:crosses val="autoZero"/>
        <c:auto val="1"/>
        <c:lblAlgn val="ctr"/>
        <c:lblOffset val="100"/>
        <c:noMultiLvlLbl val="0"/>
      </c:catAx>
      <c:valAx>
        <c:axId val="-2113994440"/>
        <c:scaling>
          <c:max val="1.0"/>
          <c:min val="0.0"/>
        </c:scaling>
        <c:delete val="0"/>
        <c:axPos val="l"/>
        <c:majorGridlines>
          <c:spPr>
            <a:ln w="9525">
              <a:solidFill>
                <a:srgbClr val="E1E8EE"/>
              </a:solidFill>
            </a:ln>
          </c:spPr>
        </c:majorGridlines>
        <c:numFmt formatCode="0.00" sourceLinked="0"/>
        <c:majorTickMark val="none"/>
        <c:minorTickMark val="none"/>
        <c:tickLblPos val="nextTo"/>
        <c:spPr>
          <a:ln>
            <a:noFill/>
          </a:ln>
        </c:spPr>
        <c:txPr>
          <a:bodyPr/>
          <a:lstStyle/>
          <a:p>
            <a:pPr>
              <a:defRPr sz="1000"/>
            </a:pPr>
          </a:p>
        </c:txPr>
        <c:crossAx val="-2068027336"/>
        <c:crosses val="autoZero"/>
        <c:majorUnit val="0.25"/>
      </c:valAx>
    </c:plotArea>
    <c:dispBlanksAs val="gap"/>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Mispricing</c:v>
                </c:pt>
              </c:strCache>
            </c:strRef>
          </c:tx>
          <c:spPr>
            <a:solidFill>
              <a:srgbClr val="21295C"/>
            </a:solidFill>
          </c:spPr>
          <c:invertIfNegative val="0"/>
          <c:dPt>
            <c:idx val="0"/>
            <c:spPr>
              <a:solidFill>
                <a:srgbClr val="1C7293"/>
              </a:solidFill>
            </c:spPr>
          </c:dPt>
          <c:dPt>
            <c:idx val="1"/>
            <c:spPr>
              <a:solidFill>
                <a:srgbClr val="C8791A"/>
              </a:solidFill>
            </c:spPr>
          </c:dPt>
          <c:dPt>
            <c:idx val="2"/>
            <c:spPr>
              <a:solidFill>
                <a:srgbClr val="1C7293"/>
              </a:solidFill>
            </c:spPr>
          </c:dPt>
          <c:dPt>
            <c:idx val="3"/>
            <c:spPr>
              <a:solidFill>
                <a:srgbClr val="1C7293"/>
              </a:solidFill>
            </c:spPr>
          </c:dPt>
          <c:dPt>
            <c:idx val="4"/>
            <c:spPr>
              <a:solidFill>
                <a:srgbClr val="1C7293"/>
              </a:solidFill>
            </c:spPr>
          </c:dPt>
          <c:cat>
            <c:strRef>
              <c:f>Sheet1!$A$2:$A$6</c:f>
              <c:strCache>
                <c:ptCount val="5"/>
                <c:pt idx="0">
                  <c:v>1/10</c:v>
                </c:pt>
                <c:pt idx="1">
                  <c:v>1/7 (adopted)</c:v>
                </c:pt>
                <c:pt idx="2">
                  <c:v>0.168</c:v>
                </c:pt>
                <c:pt idx="3">
                  <c:v>0.20</c:v>
                </c:pt>
                <c:pt idx="4">
                  <c:v>0.25</c:v>
                </c:pt>
              </c:strCache>
            </c:strRef>
          </c:cat>
          <c:val>
            <c:numRef>
              <c:f>Sheet1!$B$2:$B$6</c:f>
              <c:numCache>
                <c:formatCode>General</c:formatCode>
                <c:ptCount val="5"/>
                <c:pt idx="0">
                  <c:v>90.1</c:v>
                </c:pt>
                <c:pt idx="1">
                  <c:v>88.0</c:v>
                </c:pt>
                <c:pt idx="2">
                  <c:v>86.5</c:v>
                </c:pt>
                <c:pt idx="3">
                  <c:v>84.4</c:v>
                </c:pt>
                <c:pt idx="4">
                  <c:v>80.3</c:v>
                </c:pt>
              </c:numCache>
            </c:numRef>
          </c:val>
        </c:ser>
        <c:dLbls>
          <c:numFmt formatCode="0.0&quot;%&quot;" sourceLinked="0"/>
          <c:txPr>
            <a:bodyPr/>
            <a:lstStyle/>
            <a:p>
              <a:pPr>
                <a:defRPr sz="1100" b="1">
                  <a:solidFill>
                    <a:srgbClr val="21295C"/>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B8C4CF"/>
            </a:solidFill>
          </a:ln>
        </c:spPr>
        <c:txPr>
          <a:bodyPr/>
          <a:lstStyle/>
          <a:p>
            <a:pPr>
              <a:defRPr sz="1100"/>
            </a:pPr>
          </a:p>
        </c:txPr>
        <c:crossAx val="-2113994440"/>
        <c:crosses val="autoZero"/>
        <c:auto val="1"/>
        <c:lblAlgn val="ctr"/>
        <c:lblOffset val="100"/>
        <c:noMultiLvlLbl val="0"/>
      </c:catAx>
      <c:valAx>
        <c:axId val="-2113994440"/>
        <c:scaling>
          <c:max val="100.0"/>
          <c:min val="0.0"/>
        </c:scaling>
        <c:delete val="0"/>
        <c:axPos val="l"/>
        <c:majorGridlines>
          <c:spPr>
            <a:ln w="9525">
              <a:solidFill>
                <a:srgbClr val="E1E8EE"/>
              </a:solidFill>
            </a:ln>
          </c:spPr>
        </c:majorGridlines>
        <c:numFmt formatCode="0&quot;%&quot;" sourceLinked="0"/>
        <c:majorTickMark val="none"/>
        <c:minorTickMark val="none"/>
        <c:tickLblPos val="nextTo"/>
        <c:spPr>
          <a:ln>
            <a:noFill/>
          </a:ln>
        </c:spPr>
        <c:txPr>
          <a:bodyPr/>
          <a:lstStyle/>
          <a:p>
            <a:pPr>
              <a:defRPr sz="1000"/>
            </a:pPr>
          </a:p>
        </c:txPr>
        <c:crossAx val="-2068027336"/>
        <c:crosses val="autoZero"/>
        <c:majorUnit val="25.0"/>
      </c:valAx>
    </c:plotArea>
    <c:dispBlanksAs val="gap"/>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Ratio</c:v>
                </c:pt>
              </c:strCache>
            </c:strRef>
          </c:tx>
          <c:spPr>
            <a:solidFill>
              <a:srgbClr val="21295C"/>
            </a:solidFill>
          </c:spPr>
          <c:invertIfNegative val="0"/>
          <c:dPt>
            <c:idx val="0"/>
            <c:spPr>
              <a:solidFill>
                <a:srgbClr val="21295C"/>
              </a:solidFill>
            </c:spPr>
          </c:dPt>
          <c:dPt>
            <c:idx val="1"/>
            <c:spPr>
              <a:solidFill>
                <a:srgbClr val="1C7293"/>
              </a:solidFill>
            </c:spPr>
          </c:dPt>
          <c:dPt>
            <c:idx val="2"/>
            <c:spPr>
              <a:solidFill>
                <a:srgbClr val="1C7293"/>
              </a:solidFill>
            </c:spPr>
          </c:dPt>
          <c:dLbls>
            <c:dLbl>
              <c:idx val="0"/>
              <c:tx>
                <c:rich>
                  <a:bodyPr/>
                  <a:lstStyle/>
                  <a:p>
                    <a:r>
                      <a:rPr sz="1100" b="1">
                        <a:solidFill>
                          <a:srgbClr val="21295C"/>
                        </a:solidFill>
                      </a:rPr>
                      <a:t>16.07×</a:t>
                    </a:r>
                  </a:p>
                </c:rich>
              </c:tx>
              <c:dLblPos val="outEnd"/>
              <c:showLegendKey val="0"/>
              <c:showVal val="1"/>
              <c:showCatName val="0"/>
              <c:showSerName val="0"/>
              <c:showPercent val="0"/>
              <c:showBubbleSize val="0"/>
            </c:dLbl>
            <c:dLbl>
              <c:idx val="1"/>
              <c:tx>
                <c:rich>
                  <a:bodyPr/>
                  <a:lstStyle/>
                  <a:p>
                    <a:r>
                      <a:rPr sz="1100" b="1">
                        <a:solidFill>
                          <a:srgbClr val="21295C"/>
                        </a:solidFill>
                      </a:rPr>
                      <a:t>≈ 2.5×</a:t>
                    </a:r>
                  </a:p>
                </c:rich>
              </c:tx>
              <c:dLblPos val="outEnd"/>
              <c:showLegendKey val="0"/>
              <c:showVal val="1"/>
              <c:showCatName val="0"/>
              <c:showSerName val="0"/>
              <c:showPercent val="0"/>
              <c:showBubbleSize val="0"/>
            </c:dLbl>
            <c:dLbl>
              <c:idx val="2"/>
              <c:tx>
                <c:rich>
                  <a:bodyPr/>
                  <a:lstStyle/>
                  <a:p>
                    <a:r>
                      <a:rPr sz="1100" b="1">
                        <a:solidFill>
                          <a:srgbClr val="21295C"/>
                        </a:solidFill>
                      </a:rPr>
                      <a:t>≈ 1.36×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Raw strikes</c:v>
                </c:pt>
                <c:pt idx="1">
                  <c:v>Common scale</c:v>
                </c:pt>
                <c:pt idx="2">
                  <c:v>Climatology only (h = 1)</c:v>
                </c:pt>
              </c:strCache>
            </c:strRef>
          </c:cat>
          <c:val>
            <c:numRef>
              <c:f>Sheet1!$B$2:$B$4</c:f>
              <c:numCache>
                <c:formatCode>General</c:formatCode>
                <c:ptCount val="3"/>
                <c:pt idx="0">
                  <c:v>16.07</c:v>
                </c:pt>
                <c:pt idx="1">
                  <c:v>2.474040632054176</c:v>
                </c:pt>
                <c:pt idx="2">
                  <c:v>1.3622782446311856</c:v>
                </c:pt>
              </c:numCache>
            </c:numRef>
          </c:val>
        </c:ser>
        <c:dLbls>
          <c:numFmt formatCode="0.0" sourceLinked="0"/>
          <c:txPr>
            <a:bodyPr/>
            <a:lstStyle/>
            <a:p>
              <a:pPr>
                <a:defRPr sz="1100" b="1">
                  <a:solidFill>
                    <a:srgbClr val="21295C"/>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none"/>
        <c:minorTickMark val="none"/>
        <c:tickLblPos val="nextTo"/>
        <c:spPr>
          <a:ln>
            <a:solidFill>
              <a:srgbClr val="B8C4CF"/>
            </a:solidFill>
          </a:ln>
        </c:spPr>
        <c:txPr>
          <a:bodyPr/>
          <a:lstStyle/>
          <a:p>
            <a:pPr>
              <a:defRPr sz="1100"/>
            </a:pPr>
          </a:p>
        </c:txPr>
        <c:crossAx val="-2113994440"/>
        <c:crosses val="autoZero"/>
        <c:auto val="1"/>
        <c:lblAlgn val="ctr"/>
        <c:lblOffset val="100"/>
        <c:noMultiLvlLbl val="0"/>
      </c:catAx>
      <c:valAx>
        <c:axId val="-2113994440"/>
        <c:scaling>
          <c:max val="20.0"/>
          <c:min val="0.0"/>
        </c:scaling>
        <c:delete val="0"/>
        <c:axPos val="l"/>
        <c:majorGridlines>
          <c:spPr>
            <a:ln w="9525">
              <a:solidFill>
                <a:srgbClr val="E1E8EE"/>
              </a:solidFill>
            </a:ln>
          </c:spPr>
        </c:majorGridlines>
        <c:numFmt formatCode="0&quot;×&quot;" sourceLinked="0"/>
        <c:majorTickMark val="none"/>
        <c:minorTickMark val="none"/>
        <c:tickLblPos val="nextTo"/>
        <c:spPr>
          <a:ln>
            <a:noFill/>
          </a:ln>
        </c:spPr>
        <c:txPr>
          <a:bodyPr/>
          <a:lstStyle/>
          <a:p>
            <a:pPr>
              <a:defRPr sz="1000"/>
            </a:pPr>
          </a:p>
        </c:txPr>
        <c:crossAx val="-2068027336"/>
        <c:crosses val="autoZero"/>
        <c:majorUnit val="5.0"/>
      </c:valAx>
    </c:plotArea>
    <c:dispBlanksAs val="gap"/>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at h(t₀)</c:v>
                </c:pt>
              </c:strCache>
            </c:strRef>
          </c:tx>
          <c:spPr>
            <a:solidFill>
              <a:srgbClr val="21295C"/>
            </a:solidFill>
          </c:spPr>
          <c:invertIfNegative val="0"/>
          <c:cat>
            <c:strRef>
              <c:f>Sheet1!$A$2:$A$3</c:f>
              <c:strCache>
                <c:ptCount val="2"/>
                <c:pt idx="0">
                  <c:v>Dataset A · proxy</c:v>
                </c:pt>
                <c:pt idx="1">
                  <c:v>Dataset B · reference</c:v>
                </c:pt>
              </c:strCache>
            </c:strRef>
          </c:cat>
          <c:val>
            <c:numRef>
              <c:f>Sheet1!$B$2:$B$3</c:f>
              <c:numCache>
                <c:formatCode>General</c:formatCode>
                <c:ptCount val="2"/>
                <c:pt idx="0">
                  <c:v>1.17</c:v>
                </c:pt>
                <c:pt idx="1">
                  <c:v>2.91</c:v>
                </c:pt>
              </c:numCache>
            </c:numRef>
          </c:val>
        </c:ser>
        <c:ser>
          <c:idx val="1"/>
          <c:order val="1"/>
          <c:tx>
            <c:strRef>
              <c:f>Sheet1!$C$1</c:f>
              <c:strCache>
                <c:ptCount val="1"/>
                <c:pt idx="0">
                  <c:v>at h = 1</c:v>
                </c:pt>
              </c:strCache>
            </c:strRef>
          </c:tx>
          <c:spPr>
            <a:solidFill>
              <a:srgbClr val="9DB0C2"/>
            </a:solidFill>
          </c:spPr>
          <c:invertIfNegative val="0"/>
          <c:cat>
            <c:strRef>
              <c:f>Sheet1!$A$2:$A$3</c:f>
              <c:strCache>
                <c:ptCount val="2"/>
                <c:pt idx="0">
                  <c:v>Dataset A · proxy</c:v>
                </c:pt>
                <c:pt idx="1">
                  <c:v>Dataset B · reference</c:v>
                </c:pt>
              </c:strCache>
            </c:strRef>
          </c:cat>
          <c:val>
            <c:numRef>
              <c:f>Sheet1!$C$2:$C$3</c:f>
              <c:numCache>
                <c:formatCode>General</c:formatCode>
                <c:ptCount val="2"/>
                <c:pt idx="0">
                  <c:v>2.82</c:v>
                </c:pt>
                <c:pt idx="1">
                  <c:v>3.87</c:v>
                </c:pt>
              </c:numCache>
            </c:numRef>
          </c:val>
        </c:ser>
        <c:dLbls>
          <c:numFmt formatCode="0.00&quot;×&quot;" sourceLinked="0"/>
          <c:txPr>
            <a:bodyPr/>
            <a:lstStyle/>
            <a:p>
              <a:pPr>
                <a:defRPr sz="1100" b="1">
                  <a:solidFill>
                    <a:srgbClr val="21295C"/>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none"/>
        <c:minorTickMark val="none"/>
        <c:tickLblPos val="nextTo"/>
        <c:spPr>
          <a:ln>
            <a:solidFill>
              <a:srgbClr val="B8C4CF"/>
            </a:solidFill>
          </a:ln>
        </c:spPr>
        <c:txPr>
          <a:bodyPr/>
          <a:lstStyle/>
          <a:p>
            <a:pPr>
              <a:defRPr sz="1100"/>
            </a:pPr>
          </a:p>
        </c:txPr>
        <c:crossAx val="-2113994440"/>
        <c:crosses val="autoZero"/>
        <c:auto val="1"/>
        <c:lblAlgn val="ctr"/>
        <c:lblOffset val="100"/>
        <c:noMultiLvlLbl val="0"/>
      </c:catAx>
      <c:valAx>
        <c:axId val="-2113994440"/>
        <c:scaling>
          <c:max val="5.0"/>
          <c:min val="0.0"/>
        </c:scaling>
        <c:delete val="0"/>
        <c:axPos val="l"/>
        <c:majorGridlines>
          <c:spPr>
            <a:ln w="9525">
              <a:solidFill>
                <a:srgbClr val="E1E8EE"/>
              </a:solidFill>
            </a:ln>
          </c:spPr>
        </c:majorGridlines>
        <c:numFmt formatCode="0&quot;×&quot;" sourceLinked="0"/>
        <c:majorTickMark val="none"/>
        <c:minorTickMark val="none"/>
        <c:tickLblPos val="nextTo"/>
        <c:spPr>
          <a:ln>
            <a:noFill/>
          </a:ln>
        </c:spPr>
        <c:txPr>
          <a:bodyPr/>
          <a:lstStyle/>
          <a:p>
            <a:pPr>
              <a:defRPr sz="1000"/>
            </a:pPr>
          </a:p>
        </c:txPr>
        <c:crossAx val="-2068027336"/>
        <c:crosses val="autoZero"/>
        <c:majorUnit val="1.0"/>
      </c:valAx>
    </c:plotArea>
    <c:legend>
      <c:legendPos val="b"/>
      <c:overlay val="0"/>
      <c:txPr>
        <a:bodyPr/>
        <a:lstStyle/>
        <a:p>
          <a:pPr>
            <a:defRPr sz="1100"/>
          </a:pPr>
        </a:p>
      </c:txPr>
    </c:legend>
    <c:dispBlanksAs val="gap"/>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 s. Title, candidate, supervisor.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Two legs of exposure: volume and price. The merit-order correlation is only −0.16 (−0.476 / −0.275 within the two price regimes), so the natural hedge is weak and one-sided. The residual volumetric risk is what the thesis prices. €16.1m = 225,100 MWh × €71.38.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 A = proxy used to build and validate; B = aligned reference carrying the headline claims. Mention lambda = 0.1 / 0.5 now so the common-scale point in the Value-of-Information section is not a surprise.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The underlying is generation, not wind speed at a point: generation is what sets revenue and it has a ten-year market series. Payoff: realised variance minus strike. The producer is long volume and short its stability, so it sells variance. Track A, 113.1, is the empirical fair strike: 252 times the rolling mean of squared daily log-returns of SMARD generation. It is large because German wind output routinely halves or doubles from one day to the next (daily s.d. about 67%). The chart is the decade at that strike: annual realised variance ranges from 95.5 (2019) to 132.0 (2024), mean payoff +2.34, so the strike was close to fair; worst year about -15, roughly 13% of the strike. Source: thesis §3.1.1-3.1.3, §3.1.8, Table 22 (Dataset B sample).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This replaces the three separate questions with the one question they serve. Read the question in the dark card, then the scope: we price the volume risk that the merit-order hedge leaves behind, with one model, on two datasets. The three strands on the right are RQ1 (price), RQ3 (hedge) and RQ2 (data / Value of Information) of the thesis, in the order the talk takes them. Say the theta = 0 sentence exactly as written.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chapter's most uncomfortable, and most interesting, result, and it is stated rather than smoothed over. The Feller condition asks whether the CIR variance process stays strictly positive almost surely. For Dataset B it holds comfortably, at a margin of 28.1 times, on every estimator considered. For Dataset A, the full-sample estimator — the same one used for B — gives a margin of only 0.8, meaning the condition is violated; but 30-day rolling estimators give margins of 3.6 to 5.1, meaning it holds. The verdict flips depending on which estimator you trust. That sensitivity is itself the finding: xi, the volatility-of-volatility parameter, is the least identified of the four CIR parameters at daily sampling frequency. It also means an earlier project record of a 27.9-times margin is not reproducible under any estimator tested and needed correcting.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All four fitted specifications share the AR(4) conditional mean, so they are identical on one-step RMSE by construction and separable only on pricing and hedging criteria (or a proper scoring rule such as CRPS). All beat persistence decisively.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Limitations in the thesis's order (§3.5.2); future work maps one-to-one onto them (§3.5.3). Do not read them all - name theta = 0 and the single grid point, then stop.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Keep it brisk: one pipeline, applied identically to both datasets. Only two outputs enter the price: C0, the mean level of the Fourier seasonal variance, and h(t0), the GARCH state on the pricing date. K = h(t0) x C0 under the piecewise-constant convention of Tol (1997). The CAR(4) embedding (Benth &amp; Saltyte Benth 2009) is what allows pricing off the daily grid. One sentence on validation: every fitted specification beats persistence (DM 8.27 and 16.76) and they are identical on point forecasts by construction (backup B3-B4). Estimates in B6, Feller in B1. Then move to the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Track B is the model-implied strike, h(t0) times C0 = 0.873 for Nordfriesland, under the piecewise-constant-h convention of Tol (1997) and the theta = 0 benchmark. Raw, it is about 130 times below Track A, and that gap is a units artefact, not model error: Track B is not annualised, it is in Box-Cox units, and it is the variance of a wind innovation rather than of a generation log-return. The chart applies the four conventions in sequence on a log scale: Box-Cox scale (W-bar^2(1-lambda) = 8.068), innovation to first difference (1.339), the cubic power curve (9/W-bar^2 = 0.138), annualisation (x252). Result 328.8 against 113.1: same order of magnitude, model about 2.9x above the market - what one grid point against a spatially averaged national fleet should give. If asked about Track B sensitivity: dK/dh = C0; winter 0.859, summer 0.891, h = 1 gives 1.163. Full chain for both datasets in backup B2.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The variance swap is blind to direction: a long calm spell is low variance, not a loss. CAWS, the rolling annual mean wind speed, struck at its full-sample mean, pays K minus CAWS, so the bars above zero are calm years: 2017 for Bologna (+6.70% of strike), 2021 for Nordfriesland (+4.99%). Bars below zero are windy years in which the producer pays the premium - that is what the negative CVaR5% is (2018 and 2015), not a loss, and with 4 and 10 observations it is just the sample minimum. Calm-year translation: 4.99% less wind is about 14% less generation through the cubic power curve, about 32,000 MWh on the 100 MW farm, about EUR 2.3m at the full-sample price. Not a 2021 P&amp;L: the price spike that year means the producer might well have earned more (§3.4.3). If asked about the cross-dataset 4.2x in m/s: mostly a height/units ratio; normalised by the strike the gap is about 30%.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Same model, same instrument, two datasets. Priced on Bologna, the strike is 0.0544 against 0.8734 for Nordfriesland: 93.8% short. The 1.931 height correction, (100/10)^(2/7) from Peterson and Hennessey (1978), applied only here, lifts it to 0.1049 and leaves 88.0%. The right chart: whatever profile exponent you choose, from open water (1/10) to very rough terrain (0.25), the shortfall stays above 80%; closing the whole 16.07x would need alpha = 0.60, four times the 1/7 value. So height is not the explanation. The bar at the bottom splits the 16.07x on a log scale: 8.85x from C0, 1.82x from h(t0). Hand over: before calling the C0 part 'climatology', look at the scale it is measured 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State the qualification yourself, before the committee does. Left: the 16.07x ratio is between two variances on different Box-Cox scales (lambda 0.1 vs 0.5) and two pricing dates six years apart. Map both strikes onto the common axis of generation log-return variance (the reconciliation of the variance-swap slide, now for both datasets) and the ratio falls to about 2.5x; switch off the GARCH state (h = 1) and the climatological part is about 1.36x. Coefficients of variation 0.384 and 0.401 say the same: relative variability is nearly identical. Right: reconciled, the proxy is even closer to the market (1.17x) than the reference (2.91x), and the same holds at h = 1 (2.82x vs 3.87x). So the proxy's problem is not the level it quotes. Hand over: what it gets wrong is information. Source: §3.1.5, §3.3.2, Table 20.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The sharpest single result of the thesis. Regress daily SMARD generation on the cube of daily wind speed. Nordfriesland 100 m explains 58.7% of the daily variation in national onshore generation; Bologna 10 m explains 0.01%, with a slope not distinguishable from zero (p = 0.723). One grid point cannot reach R-squared = 1 against a national fleet, so compare 0.587 with 0.0001, not with 1. This is where the Value of Information really sits: not in the level of the strike - the previous slide showed the proxy can land close to the market by coincidence - but in whether the wind series explains the cash flow being hedged. And it costs one OLS fit: screen candidate wind series on this R-squared before pricing. Close on the quotation.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One sentence per strand, then close on the quotation. Price: yes, in closed form, and once units are reconciled the model is the market's order of magnitude. Hedge: CAWS pays in the calm years. Data: the headline 94% / 88% is real but not scale-free; the decisive evidence is R-squared 58.7% vs 0.01%. Mapping to the thesis: Price = RQ1, Hedge = RQ3, Data = RQ2.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AR(4) kept over the AIC-preferred AR(3) (gaps 0.59 and 1.8 units, inside the 2-point band) because the CAR(4) embedding needs a 4-dimensional companion matrix. All eigenvalues in the open left half-plane: stationary. The complex pair makes the kernel peak at about 3.6 days in both datasets, breaking the monotone Samuelson effect (Benth &amp; Saltyte Benth 2009). NIG buys little: KS p 0.079 to 0.120 for A, none for B (alpha about 2,650). Dataset B's GARCH leaves short-lag structure (z^2 lag 5 p = 0.0167, ARCH-LM p = 0.0185): a GARCH(2,1) or two-component model would be the remedy; pricing uses only h(t0) and the unconditional level.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chart" Target="../charts/char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chart" Target="../charts/chart4.xml"/><Relationship Id="rId4" Type="http://schemas.openxmlformats.org/officeDocument/2006/relationships/chart" Target="../charts/char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hart" Target="../charts/chart6.xml"/><Relationship Id="rId4" Type="http://schemas.openxmlformats.org/officeDocument/2006/relationships/chart" Target="../charts/char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png"/><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9079992" y="-2560320"/>
            <a:ext cx="5669280" cy="5669280"/>
          </a:xfrm>
          <a:prstGeom prst="ellipse">
            <a:avLst/>
          </a:prstGeom>
          <a:solidFill>
            <a:srgbClr val="1C7293">
              <a:alpha val="42000"/>
            </a:srgbClr>
          </a:solidFill>
          <a:ln/>
        </p:spPr>
        <p:txBody>
          <a:bodyPr/>
          <a:p/>
        </p:txBody>
      </p:sp>
      <p:sp>
        <p:nvSpPr>
          <p:cNvPr id="3" name="Shape 1"/>
          <p:cNvSpPr/>
          <p:nvPr/>
        </p:nvSpPr>
        <p:spPr>
          <a:xfrm>
            <a:off x="10634472" y="-640080"/>
            <a:ext cx="2743200" cy="2743200"/>
          </a:xfrm>
          <a:prstGeom prst="ellipse">
            <a:avLst/>
          </a:prstGeom>
          <a:solidFill>
            <a:srgbClr val="065A82">
              <a:alpha val="70000"/>
            </a:srgbClr>
          </a:solidFill>
          <a:ln/>
        </p:spPr>
        <p:txBody>
          <a:bodyPr/>
          <a:p/>
        </p:txBody>
      </p:sp>
      <p:sp>
        <p:nvSpPr>
          <p:cNvPr id="4" name="Text 2"/>
          <p:cNvSpPr/>
          <p:nvPr/>
        </p:nvSpPr>
        <p:spPr>
          <a:xfrm>
            <a:off x="822960" y="1965960"/>
            <a:ext cx="9144000" cy="365760"/>
          </a:xfrm>
          <a:prstGeom prst="rect">
            <a:avLst/>
          </a:prstGeom>
          <a:noFill/>
          <a:ln/>
        </p:spPr>
        <p:txBody>
          <a:bodyPr wrap="square" lIns="0" tIns="0" rIns="0" bIns="0" rtlCol="0" anchor="ctr"/>
          <a:lstStyle/>
          <a:p>
            <a:pPr algn="l" indent="0" marL="0">
              <a:buNone/>
            </a:pPr>
            <a:r>
              <a:rPr lang="en-US" sz="1400" b="1" spc="250" kern="0" dirty="0">
                <a:solidFill>
                  <a:srgbClr val="E8A33D"/>
                </a:solidFill>
                <a:latin typeface="Calibri" pitchFamily="34" charset="0"/>
                <a:ea typeface="Calibri" pitchFamily="34" charset="-122"/>
                <a:cs typeface="Calibri" pitchFamily="34" charset="-120"/>
              </a:rPr>
              <a:t>MASTER'S THESIS · FINAL EXAMINATION</a:t>
            </a:r>
            <a:endParaRPr lang="en-US" sz="1400" dirty="0"/>
          </a:p>
        </p:txBody>
      </p:sp>
      <p:sp>
        <p:nvSpPr>
          <p:cNvPr id="5" name="Text 3"/>
          <p:cNvSpPr/>
          <p:nvPr/>
        </p:nvSpPr>
        <p:spPr>
          <a:xfrm>
            <a:off x="822960" y="2423160"/>
            <a:ext cx="10241280" cy="1737360"/>
          </a:xfrm>
          <a:prstGeom prst="rect">
            <a:avLst/>
          </a:prstGeom>
          <a:noFill/>
          <a:ln/>
        </p:spPr>
        <p:txBody>
          <a:bodyPr wrap="square" lIns="0" tIns="0" rIns="0" bIns="0" rtlCol="0" anchor="ctr"/>
          <a:lstStyle/>
          <a:p>
            <a:pPr algn="l" marL="0" indent="0">
              <a:buNone/>
            </a:pPr>
            <a:r>
              <a:rPr lang="en-US" sz="3400" b="1" dirty="0">
                <a:solidFill>
                  <a:srgbClr val="FFFFFF"/>
                </a:solidFill>
                <a:latin typeface="Cambria"/>
                <a:ea typeface="Cambria"/>
                <a:cs typeface="Cambria"/>
              </a:rPr>
              <a:t>Wind Speed Modelling</a:t>
            </a:r>
          </a:p>
          <a:p>
            <a:pPr algn="l" marL="0" indent="0">
              <a:buNone/>
            </a:pPr>
            <a:r>
              <a:rPr lang="en-US" sz="3400" b="1" dirty="0">
                <a:solidFill>
                  <a:srgbClr val="FFFFFF"/>
                </a:solidFill>
                <a:latin typeface="Cambria"/>
                <a:ea typeface="Cambria"/>
                <a:cs typeface="Cambria"/>
              </a:rPr>
              <a:t>for Derivatives Pricing</a:t>
            </a:r>
          </a:p>
        </p:txBody>
      </p:sp>
      <p:sp>
        <p:nvSpPr>
          <p:cNvPr id="6" name="Text 4"/>
          <p:cNvSpPr/>
          <p:nvPr/>
        </p:nvSpPr>
        <p:spPr>
          <a:xfrm>
            <a:off x="822960" y="4343400"/>
            <a:ext cx="10058400" cy="365760"/>
          </a:xfrm>
          <a:prstGeom prst="rect">
            <a:avLst/>
          </a:prstGeom>
          <a:noFill/>
          <a:ln/>
        </p:spPr>
        <p:txBody>
          <a:bodyPr wrap="square" lIns="0" tIns="0" rIns="0" bIns="0" rtlCol="0" anchor="ctr"/>
          <a:lstStyle/>
          <a:p>
            <a:pPr algn="l" marL="0" indent="0">
              <a:buNone/>
            </a:pPr>
            <a:r>
              <a:rPr lang="en-US" sz="1500" b="0" i="1" dirty="0">
                <a:solidFill>
                  <a:srgbClr val="FFFFFF"/>
                </a:solidFill>
                <a:latin typeface="Calibri"/>
                <a:ea typeface="Calibri"/>
                <a:cs typeface="Calibri"/>
              </a:rPr>
              <a:t>Candidate: Enrico Butali</a:t>
            </a:r>
            <a:r>
              <a:rPr lang="en-US" sz="1500" b="0" i="1" dirty="0">
                <a:solidFill>
                  <a:srgbClr val="CADCFC"/>
                </a:solidFill>
                <a:latin typeface="Calibri"/>
                <a:ea typeface="Calibri"/>
                <a:cs typeface="Calibri"/>
              </a:rPr>
              <a:t>      Supervisor: Prof.ssa Silvia Romagnoli</a:t>
            </a:r>
          </a:p>
        </p:txBody>
      </p:sp>
      <p:sp>
        <p:nvSpPr>
          <p:cNvPr id="7" name="Text 5"/>
          <p:cNvSpPr/>
          <p:nvPr/>
        </p:nvSpPr>
        <p:spPr>
          <a:xfrm>
            <a:off x="822960" y="4800600"/>
            <a:ext cx="9144000" cy="640080"/>
          </a:xfrm>
          <a:prstGeom prst="rect">
            <a:avLst/>
          </a:prstGeom>
          <a:noFill/>
          <a:ln/>
        </p:spPr>
        <p:txBody>
          <a:bodyPr wrap="square" lIns="0" tIns="0" rIns="0" bIns="0" rtlCol="0" anchor="ctr"/>
          <a:lstStyle/>
          <a:p>
            <a:pPr algn="l" indent="0" marL="0">
              <a:lnSpc>
                <a:spcPct val="120000"/>
              </a:lnSpc>
              <a:buNone/>
            </a:pPr>
            <a:r>
              <a:rPr lang="en-US" sz="1250" dirty="0">
                <a:solidFill>
                  <a:srgbClr val="EEF3F7"/>
                </a:solidFill>
                <a:latin typeface="Calibri" pitchFamily="34" charset="0"/>
                <a:ea typeface="Calibri" pitchFamily="34" charset="-122"/>
                <a:cs typeface="Calibri" pitchFamily="34" charset="-120"/>
              </a:rPr>
              <a:t>Second Cycle Degree in Greening Energy Market and Finance (LM-16 R)</a:t>
            </a:r>
            <a:endParaRPr lang="en-US" sz="1250" dirty="0"/>
          </a:p>
          <a:p>
            <a:pPr algn="l" indent="0" marL="0">
              <a:lnSpc>
                <a:spcPct val="120000"/>
              </a:lnSpc>
              <a:buNone/>
            </a:pPr>
            <a:r>
              <a:rPr lang="en-US" sz="1250" dirty="0">
                <a:solidFill>
                  <a:srgbClr val="EEF3F7"/>
                </a:solidFill>
                <a:latin typeface="Calibri" pitchFamily="34" charset="0"/>
                <a:ea typeface="Calibri" pitchFamily="34" charset="-122"/>
                <a:cs typeface="Calibri" pitchFamily="34" charset="-120"/>
              </a:rPr>
              <a:t>Department of Statistical Sciences “Paolo Fortunati” · University of Bologna</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algn="l" indent="0" marL="0">
              <a:buNone/>
            </a:pPr>
            <a:r>
              <a:rPr lang="en-US" sz="1250" b="1" spc="200" kern="0" dirty="0">
                <a:solidFill>
                  <a:srgbClr val="1C7293"/>
                </a:solidFill>
                <a:latin typeface="Calibri" pitchFamily="34" charset="0"/>
                <a:ea typeface="Calibri" pitchFamily="34" charset="-122"/>
                <a:cs typeface="Calibri" pitchFamily="34" charset="-120"/>
              </a:rPr>
              <a:t>CH. 1 · MOTIVATION</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Wind is free to generate — and impossible to store</a:t>
            </a:r>
            <a:endParaRPr lang="en-US" sz="2700" dirty="0"/>
          </a:p>
        </p:txBody>
      </p:sp>
      <p:sp>
        <p:nvSpPr>
          <p:cNvPr id="4" name="Shape 2"/>
          <p:cNvSpPr/>
          <p:nvPr/>
        </p:nvSpPr>
        <p:spPr>
          <a:xfrm>
            <a:off x="548640" y="1783080"/>
            <a:ext cx="6675120" cy="4297680"/>
          </a:xfrm>
          <a:prstGeom prst="roundRect">
            <a:avLst>
              <a:gd name="adj" fmla="val 1915"/>
            </a:avLst>
          </a:prstGeom>
          <a:solidFill>
            <a:srgbClr val="F7FAFC"/>
          </a:solidFill>
          <a:ln/>
          <a:effectLst>
            <a:outerShdw sx="100000" sy="100000" kx="0" ky="0" algn="bl" rotWithShape="0" blurRad="88900" dist="25400" dir="5400000">
              <a:srgbClr val="1C1C1C">
                <a:alpha val="16000"/>
              </a:srgbClr>
            </a:outerShdw>
          </a:effectLst>
        </p:spPr>
        <p:txBody>
          <a:bodyPr/>
          <a:p/>
        </p:txBody>
      </p:sp>
      <p:sp>
        <p:nvSpPr>
          <p:cNvPr id="5" name="Text 3"/>
          <p:cNvSpPr/>
          <p:nvPr/>
        </p:nvSpPr>
        <p:spPr>
          <a:xfrm>
            <a:off x="868680" y="2011680"/>
            <a:ext cx="6080760" cy="3840480"/>
          </a:xfrm>
          <a:prstGeom prst="rect">
            <a:avLst/>
          </a:prstGeom>
          <a:noFill/>
          <a:ln/>
        </p:spPr>
        <p:txBody>
          <a:bodyPr wrap="square" lIns="0" tIns="0" rIns="0" bIns="0" rtlCol="0" anchor="ctr"/>
          <a:lstStyle/>
          <a:p>
            <a:pPr algn="l" indent="0" marL="0">
              <a:lnSpc>
                <a:spcPct val="118000"/>
              </a:lnSpc>
              <a:buNone/>
            </a:pPr>
            <a:r>
              <a:rPr lang="en-US" sz="1500" b="1" dirty="0">
                <a:solidFill>
                  <a:srgbClr val="21295C"/>
                </a:solidFill>
                <a:latin typeface="Calibri" pitchFamily="34" charset="0"/>
                <a:ea typeface="Calibri" pitchFamily="34" charset="-122"/>
                <a:cs typeface="Calibri" pitchFamily="34" charset="-120"/>
              </a:rPr>
              <a:t>Two legs of exposure for a wind producer
</a:t>
            </a:r>
            <a:endParaRPr lang="en-US" sz="1500" dirty="0"/>
          </a:p>
          <a:p>
            <a:pPr algn="l" indent="0" marL="0">
              <a:lnSpc>
                <a:spcPct val="118000"/>
              </a:lnSpc>
              <a:buNone/>
            </a:pPr>
            <a:r>
              <a:rPr lang="en-US" sz="1300" dirty="0">
                <a:solidFill>
                  <a:srgbClr val="56606B"/>
                </a:solidFill>
                <a:latin typeface="Calibri" pitchFamily="34" charset="0"/>
                <a:ea typeface="Calibri" pitchFamily="34" charset="-122"/>
                <a:cs typeface="Calibri" pitchFamily="34" charset="-120"/>
              </a:rPr>
              <a:t>Volumetric — calm days cut generation directly; the shortfall is autocorrelated and seasonally heteroskedastic, not diversified away.
</a:t>
            </a:r>
            <a:endParaRPr lang="en-US" sz="1500" dirty="0"/>
          </a:p>
          <a:p>
            <a:pPr algn="l" indent="0" marL="0">
              <a:lnSpc>
                <a:spcPct val="118000"/>
              </a:lnSpc>
              <a:buNone/>
            </a:pPr>
            <a:r>
              <a:rPr lang="en-US" sz="1300" dirty="0">
                <a:solidFill>
                  <a:srgbClr val="56606B"/>
                </a:solidFill>
                <a:latin typeface="Calibri" pitchFamily="34" charset="0"/>
                <a:ea typeface="Calibri" pitchFamily="34" charset="-122"/>
                <a:cs typeface="Calibri" pitchFamily="34" charset="-120"/>
              </a:rPr>
              <a:t>Price (merit order) — high wind output depresses the day-ahead clearing price; storm passages can push it to zero or below.
</a:t>
            </a:r>
            <a:endParaRPr lang="en-US" sz="1500" dirty="0"/>
          </a:p>
          <a:p>
            <a:pPr algn="l" indent="0" marL="0">
              <a:lnSpc>
                <a:spcPct val="118000"/>
              </a:lnSpc>
              <a:buNone/>
            </a:pPr>
            <a:r>
              <a:rPr lang="en-US" sz="1500" b="1" dirty="0">
                <a:solidFill>
                  <a:srgbClr val="21295C"/>
                </a:solidFill>
                <a:latin typeface="Calibri" pitchFamily="34" charset="0"/>
                <a:ea typeface="Calibri" pitchFamily="34" charset="-122"/>
                <a:cs typeface="Calibri" pitchFamily="34" charset="-120"/>
              </a:rPr>
              <a:t>A weak, asymmetric natural hedge
</a:t>
            </a:r>
            <a:endParaRPr lang="en-US" sz="1500" dirty="0"/>
          </a:p>
          <a:p>
            <a:pPr algn="l" indent="0" marL="0">
              <a:lnSpc>
                <a:spcPct val="118000"/>
              </a:lnSpc>
              <a:buNone/>
            </a:pPr>
            <a:r>
              <a:rPr lang="en-US" sz="1300" dirty="0">
                <a:solidFill>
                  <a:srgbClr val="56606B"/>
                </a:solidFill>
                <a:latin typeface="Calibri" pitchFamily="34" charset="0"/>
                <a:ea typeface="Calibri" pitchFamily="34" charset="-122"/>
                <a:cs typeface="Calibri" pitchFamily="34" charset="-120"/>
              </a:rPr>
              <a:t>ρ(generation, price) = −0.16 over 2015–2024 — real, but too weak and one-sided to substitute for a dedicated instrument. It cuts the upside without a floor under the downside.</a:t>
            </a:r>
            <a:endParaRPr lang="en-US" sz="1500" dirty="0"/>
          </a:p>
        </p:txBody>
      </p:sp>
      <p:sp>
        <p:nvSpPr>
          <p:cNvPr id="6" name="Shape 4"/>
          <p:cNvSpPr/>
          <p:nvPr/>
        </p:nvSpPr>
        <p:spPr>
          <a:xfrm>
            <a:off x="7452360" y="1783080"/>
            <a:ext cx="4206240" cy="4297680"/>
          </a:xfrm>
          <a:prstGeom prst="roundRect">
            <a:avLst>
              <a:gd name="adj" fmla="val 1957"/>
            </a:avLst>
          </a:prstGeom>
          <a:solidFill>
            <a:srgbClr val="21295C"/>
          </a:solidFill>
          <a:ln/>
          <a:effectLst>
            <a:outerShdw sx="100000" sy="100000" kx="0" ky="0" algn="bl" rotWithShape="0" blurRad="88900" dist="25400" dir="5400000">
              <a:srgbClr val="1C1C1C">
                <a:alpha val="16000"/>
              </a:srgbClr>
            </a:outerShdw>
          </a:effectLst>
        </p:spPr>
        <p:txBody>
          <a:bodyPr/>
          <a:p/>
        </p:txBody>
      </p:sp>
      <p:sp>
        <p:nvSpPr>
          <p:cNvPr id="7" name="Text 5"/>
          <p:cNvSpPr/>
          <p:nvPr/>
        </p:nvSpPr>
        <p:spPr>
          <a:xfrm>
            <a:off x="7726680" y="2011680"/>
            <a:ext cx="3657600" cy="274320"/>
          </a:xfrm>
          <a:prstGeom prst="rect">
            <a:avLst/>
          </a:prstGeom>
          <a:noFill/>
          <a:ln/>
        </p:spPr>
        <p:txBody>
          <a:bodyPr wrap="square" lIns="0" tIns="0" rIns="0" bIns="0" rtlCol="0" anchor="ctr"/>
          <a:lstStyle/>
          <a:p>
            <a:pPr indent="0" marL="0">
              <a:buNone/>
            </a:pPr>
            <a:r>
              <a:rPr lang="en-US" sz="1100" b="1" spc="150" kern="0" dirty="0">
                <a:solidFill>
                  <a:srgbClr val="E8A33D"/>
                </a:solidFill>
                <a:latin typeface="Calibri" pitchFamily="34" charset="0"/>
                <a:ea typeface="Calibri" pitchFamily="34" charset="-122"/>
                <a:cs typeface="Calibri" pitchFamily="34" charset="-120"/>
              </a:rPr>
              <a:t>ILLUSTRATIVE SCALE</a:t>
            </a:r>
            <a:endParaRPr lang="en-US" sz="1100" dirty="0"/>
          </a:p>
        </p:txBody>
      </p:sp>
      <p:sp>
        <p:nvSpPr>
          <p:cNvPr id="8" name="Text 6"/>
          <p:cNvSpPr/>
          <p:nvPr/>
        </p:nvSpPr>
        <p:spPr>
          <a:xfrm>
            <a:off x="7726680" y="2331720"/>
            <a:ext cx="365760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100 MW</a:t>
            </a:r>
            <a:endParaRPr lang="en-US" sz="4000" dirty="0"/>
          </a:p>
        </p:txBody>
      </p:sp>
      <p:sp>
        <p:nvSpPr>
          <p:cNvPr id="9" name="Text 7"/>
          <p:cNvSpPr/>
          <p:nvPr/>
        </p:nvSpPr>
        <p:spPr>
          <a:xfrm>
            <a:off x="7726680" y="3063240"/>
            <a:ext cx="3566160" cy="548640"/>
          </a:xfrm>
          <a:prstGeom prst="rect">
            <a:avLst/>
          </a:prstGeom>
          <a:noFill/>
          <a:ln/>
        </p:spPr>
        <p:txBody>
          <a:bodyPr wrap="square" lIns="0" tIns="0" rIns="0" bIns="0" rtlCol="0" anchor="ctr"/>
          <a:lstStyle/>
          <a:p>
            <a:pPr algn="l" marL="0" indent="0">
              <a:buNone/>
            </a:pPr>
            <a:r>
              <a:rPr lang="en-US" sz="1200" b="0" dirty="0">
                <a:solidFill>
                  <a:srgbClr val="EEF3F7"/>
                </a:solidFill>
                <a:latin typeface="Calibri"/>
                <a:ea typeface="Calibri"/>
                <a:cs typeface="Calibri"/>
              </a:rPr>
              <a:t>farm, 25.7% capacity factor → ≈225,100 MWh / yr</a:t>
            </a:r>
          </a:p>
        </p:txBody>
      </p:sp>
      <p:sp>
        <p:nvSpPr>
          <p:cNvPr id="10" name="Text 8"/>
          <p:cNvSpPr/>
          <p:nvPr/>
        </p:nvSpPr>
        <p:spPr>
          <a:xfrm>
            <a:off x="7726680" y="3794760"/>
            <a:ext cx="3657600" cy="548640"/>
          </a:xfrm>
          <a:prstGeom prst="rect">
            <a:avLst/>
          </a:prstGeom>
          <a:noFill/>
          <a:ln/>
        </p:spPr>
        <p:txBody>
          <a:bodyPr wrap="square" lIns="0" tIns="0" rIns="0" bIns="0" rtlCol="0" anchor="ctr"/>
          <a:lstStyle/>
          <a:p>
            <a:pPr indent="0" marL="0">
              <a:buNone/>
            </a:pPr>
            <a:r>
              <a:rPr lang="en-US" sz="3000" b="1" dirty="0">
                <a:solidFill>
                  <a:srgbClr val="E8A33D"/>
                </a:solidFill>
                <a:latin typeface="Cambria" pitchFamily="34" charset="0"/>
                <a:ea typeface="Cambria" pitchFamily="34" charset="-122"/>
                <a:cs typeface="Cambria" pitchFamily="34" charset="-120"/>
              </a:rPr>
              <a:t>≈ €16.1m</a:t>
            </a:r>
            <a:endParaRPr lang="en-US" sz="3000" dirty="0"/>
          </a:p>
        </p:txBody>
      </p:sp>
      <p:sp>
        <p:nvSpPr>
          <p:cNvPr id="11" name="Text 9"/>
          <p:cNvSpPr/>
          <p:nvPr/>
        </p:nvSpPr>
        <p:spPr>
          <a:xfrm>
            <a:off x="7726680" y="4343400"/>
            <a:ext cx="3566160" cy="1463040"/>
          </a:xfrm>
          <a:prstGeom prst="rect">
            <a:avLst/>
          </a:prstGeom>
          <a:noFill/>
          <a:ln/>
        </p:spPr>
        <p:txBody>
          <a:bodyPr wrap="square" lIns="0" tIns="0" rIns="0" bIns="0" rtlCol="0" anchor="ctr"/>
          <a:lstStyle/>
          <a:p>
            <a:pPr indent="0" marL="0">
              <a:lnSpc>
                <a:spcPct val="118000"/>
              </a:lnSpc>
              <a:buNone/>
            </a:pPr>
            <a:r>
              <a:rPr lang="en-US" sz="1150" dirty="0">
                <a:solidFill>
                  <a:srgbClr val="EEF3F7"/>
                </a:solidFill>
                <a:latin typeface="Calibri" pitchFamily="34" charset="0"/>
                <a:ea typeface="Calibri" pitchFamily="34" charset="-122"/>
                <a:cs typeface="Calibri" pitchFamily="34" charset="-120"/>
              </a:rPr>
              <a:t>annual revenue at the 2015–2024 mean SMARD price (€71.38/MWh) — gross, illustrative, not a project valuation.</a:t>
            </a:r>
            <a:endParaRPr lang="en-US" sz="115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algn="l" indent="0" marL="0">
              <a:buNone/>
            </a:pPr>
            <a:r>
              <a:rPr lang="en-US" sz="1250" b="1" spc="200" kern="0" dirty="0">
                <a:solidFill>
                  <a:srgbClr val="1C7293"/>
                </a:solidFill>
                <a:latin typeface="Calibri" pitchFamily="34" charset="0"/>
                <a:ea typeface="Calibri" pitchFamily="34" charset="-122"/>
                <a:cs typeface="Calibri" pitchFamily="34" charset="-120"/>
              </a:rPr>
              <a:t>CH. 1 · DATA</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Two datasets, one identical pipeline</a:t>
            </a:r>
            <a:endParaRPr lang="en-US" sz="2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109960" cy="914400"/>
        </p:xfrm>
        <a:graphic>
          <a:graphicData uri="http://schemas.openxmlformats.org/drawingml/2006/table">
            <a:tbl>
              <a:tblPr/>
              <a:tblGrid>
                <a:gridCol w="2011680"/>
                <a:gridCol w="4572000"/>
                <a:gridCol w="4526280"/>
              </a:tblGrid>
              <a:tr h="402336">
                <a:tc>
                  <a:txBody>
                    <a:bodyPr/>
                    <a:lstStyle/>
                    <a:p>
                      <a:pPr algn="l" indent="0" marL="0">
                        <a:buNone/>
                      </a:pP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Dataset A — Proxy</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Dataset B — Reference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1295C"/>
                    </a:solidFill>
                  </a:tcPr>
                </a:tc>
              </a:tr>
              <a:tr h="402336">
                <a:tc>
                  <a:txBody>
                    <a:bodyPr/>
                    <a:lstStyle/>
                    <a:p>
                      <a:pPr algn="l" indent="0" marL="0">
                        <a:buNone/>
                      </a:pPr>
                      <a:r>
                        <a:rPr lang="en-US" sz="1300" b="1" dirty="0">
                          <a:solidFill>
                            <a:srgbClr val="56606B"/>
                          </a:solidFill>
                          <a:latin typeface="Calibri" pitchFamily="34" charset="0"/>
                          <a:ea typeface="Calibri" pitchFamily="34" charset="-122"/>
                          <a:cs typeface="Calibri" pitchFamily="34" charset="-120"/>
                        </a:rPr>
                        <a:t>Location</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Bologna, Italy (44.29°N, 11.20°E)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Nordfriesland, Germany (54.77°N, 8.85°E)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402336">
                <a:tc>
                  <a:txBody>
                    <a:bodyPr/>
                    <a:lstStyle/>
                    <a:p>
                      <a:pPr algn="l" indent="0" marL="0">
                        <a:buNone/>
                      </a:pPr>
                      <a:r>
                        <a:rPr lang="en-US" sz="1300" b="1" dirty="0">
                          <a:solidFill>
                            <a:srgbClr val="56606B"/>
                          </a:solidFill>
                          <a:latin typeface="Calibri" pitchFamily="34" charset="0"/>
                          <a:ea typeface="Calibri" pitchFamily="34" charset="-122"/>
                          <a:cs typeface="Calibri" pitchFamily="34" charset="-120"/>
                        </a:rPr>
                        <a:t>Height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10 m</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100 m (hub height)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7"/>
                    </a:solidFill>
                  </a:tcPr>
                </a:tc>
              </a:tr>
              <a:tr h="402336">
                <a:tc>
                  <a:txBody>
                    <a:bodyPr/>
                    <a:lstStyle/>
                    <a:p>
                      <a:pPr algn="l" indent="0" marL="0">
                        <a:buNone/>
                      </a:pPr>
                      <a:r>
                        <a:rPr lang="en-US" sz="1300" b="1" dirty="0">
                          <a:solidFill>
                            <a:srgbClr val="56606B"/>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OpenWeatherMap API</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Open-Meteo · ERA5 reanalysis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402336">
                <a:tc>
                  <a:txBody>
                    <a:bodyPr/>
                    <a:lstStyle/>
                    <a:p>
                      <a:pPr algn="l" indent="0" marL="0">
                        <a:buNone/>
                      </a:pPr>
                      <a:r>
                        <a:rPr lang="en-US" sz="1300" b="1" dirty="0">
                          <a:solidFill>
                            <a:srgbClr val="56606B"/>
                          </a:solidFill>
                          <a:latin typeface="Calibri" pitchFamily="34" charset="0"/>
                          <a:ea typeface="Calibri" pitchFamily="34" charset="-122"/>
                          <a:cs typeface="Calibri" pitchFamily="34" charset="-120"/>
                        </a:rPr>
                        <a:t>Period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2015–2018 (4 yr)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2015–2024 (10 yr)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7"/>
                    </a:solidFill>
                  </a:tcPr>
                </a:tc>
              </a:tr>
              <a:tr h="402336">
                <a:tc>
                  <a:txBody>
                    <a:bodyPr/>
                    <a:lstStyle/>
                    <a:p>
                      <a:pPr algn="l" indent="0" marL="0">
                        <a:buNone/>
                      </a:pPr>
                      <a:r>
                        <a:rPr lang="en-US" sz="1300" b="1" dirty="0">
                          <a:solidFill>
                            <a:srgbClr val="56606B"/>
                          </a:solidFill>
                          <a:latin typeface="Calibri" pitchFamily="34" charset="0"/>
                          <a:ea typeface="Calibri" pitchFamily="34" charset="-122"/>
                          <a:cs typeface="Calibri" pitchFamily="34" charset="-120"/>
                        </a:rPr>
                        <a:t>Observations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1,462 daily</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3,653 daily</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402336">
                <a:tc>
                  <a:txBody>
                    <a:bodyPr/>
                    <a:lstStyle/>
                    <a:p>
                      <a:pPr algn="l" indent="0" marL="0">
                        <a:buNone/>
                      </a:pPr>
                      <a:r>
                        <a:rPr lang="en-US" sz="1300" b="1" dirty="0">
                          <a:solidFill>
                            <a:srgbClr val="56606B"/>
                          </a:solidFill>
                          <a:latin typeface="Calibri" pitchFamily="34" charset="0"/>
                          <a:ea typeface="Calibri" pitchFamily="34" charset="-122"/>
                          <a:cs typeface="Calibri" pitchFamily="34" charset="-120"/>
                        </a:rPr>
                        <a:t>Mean wind speed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2.47 m/s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8.07 m/s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7"/>
                    </a:solidFill>
                  </a:tcPr>
                </a:tc>
              </a:tr>
              <a:tr h="402336">
                <a:tc>
                  <a:txBody>
                    <a:bodyPr/>
                    <a:lstStyle/>
                    <a:p>
                      <a:pPr algn="l" indent="0" marL="0">
                        <a:buNone/>
                      </a:pPr>
                      <a:r>
                        <a:rPr lang="en-US" sz="1300" b="1" dirty="0">
                          <a:solidFill>
                            <a:srgbClr val="56606B"/>
                          </a:solidFill>
                          <a:latin typeface="Calibri" pitchFamily="34" charset="0"/>
                          <a:ea typeface="Calibri" pitchFamily="34" charset="-122"/>
                          <a:cs typeface="Calibri" pitchFamily="34" charset="-120"/>
                        </a:rPr>
                        <a:t>Role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Build &amp; validate the methodology</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300" dirty="0">
                          <a:solidFill>
                            <a:srgbClr val="56606B"/>
                          </a:solidFill>
                          <a:latin typeface="Calibri" pitchFamily="34" charset="0"/>
                          <a:ea typeface="Calibri" pitchFamily="34" charset="-122"/>
                          <a:cs typeface="Calibri" pitchFamily="34" charset="-120"/>
                        </a:rPr>
                        <a:t>Carries all headline empirical claims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Shape 2"/>
          <p:cNvSpPr/>
          <p:nvPr/>
        </p:nvSpPr>
        <p:spPr>
          <a:xfrm>
            <a:off x="548640" y="5257800"/>
            <a:ext cx="11109960" cy="868680"/>
          </a:xfrm>
          <a:prstGeom prst="roundRect">
            <a:avLst>
              <a:gd name="adj" fmla="val 9474"/>
            </a:avLst>
          </a:prstGeom>
          <a:solidFill>
            <a:srgbClr val="EEF3F7"/>
          </a:solidFill>
          <a:ln/>
        </p:spPr>
        <p:txBody>
          <a:bodyPr/>
          <a:p/>
        </p:txBody>
      </p:sp>
      <p:sp>
        <p:nvSpPr>
          <p:cNvPr id="6" name="Text 3"/>
          <p:cNvSpPr/>
          <p:nvPr/>
        </p:nvSpPr>
        <p:spPr>
          <a:xfrm>
            <a:off x="822960" y="5394960"/>
            <a:ext cx="10515600" cy="640080"/>
          </a:xfrm>
          <a:prstGeom prst="rect">
            <a:avLst/>
          </a:prstGeom>
          <a:noFill/>
          <a:ln/>
        </p:spPr>
        <p:txBody>
          <a:bodyPr wrap="square" lIns="0" tIns="0" rIns="0" bIns="0" rtlCol="0" anchor="ctr"/>
          <a:lstStyle/>
          <a:p>
            <a:pPr algn="l" marL="0" indent="0">
              <a:lnSpc>
                <a:spcPct val="110000"/>
              </a:lnSpc>
              <a:buNone/>
            </a:pPr>
            <a:r>
              <a:rPr lang="en-US" sz="1250" b="1" dirty="0">
                <a:solidFill>
                  <a:srgbClr val="21295C"/>
                </a:solidFill>
                <a:latin typeface="Calibri"/>
                <a:ea typeface="Calibri"/>
                <a:cs typeface="Calibri"/>
              </a:rPr>
              <a:t>Why this pairing: </a:t>
            </a:r>
            <a:r>
              <a:rPr lang="en-US" sz="1250" b="0" dirty="0">
                <a:solidFill>
                  <a:srgbClr val="56606B"/>
                </a:solidFill>
                <a:latin typeface="Calibri"/>
                <a:ea typeface="Calibri"/>
                <a:cs typeface="Calibri"/>
              </a:rPr>
              <a:t>the same five-stage pipeline, identical in functional form, is applied to both sites, so a difference in the resulting price is attributable to the data. One caveat, taken up in Ch. 3: the Box–Cox λ is set per dataset (0.1 vs 0.5), so raw strikes sit on different measurement scales.</a:t>
            </a:r>
          </a:p>
        </p:txBody>
      </p:sp>
      <p:sp>
        <p:nvSpPr>
          <p:cNvPr id="7" name="Text 4"/>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8" name="Text 5"/>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292608"/>
          </a:xfrm>
          <a:prstGeom prst="rect">
            <a:avLst/>
          </a:prstGeom>
          <a:noFill/>
        </p:spPr>
        <p:txBody>
          <a:bodyPr wrap="square" lIns="0" rIns="0" tIns="0" bIns="0" anchor="ctr">
            <a:spAutoFit/>
          </a:bodyPr>
          <a:lstStyle/>
          <a:p>
            <a:pPr algn="l" marL="0" indent="0">
              <a:buNone/>
            </a:pPr>
            <a:r>
              <a:rPr lang="en-US" sz="1250" b="1" spc="200" kern="0" dirty="0">
                <a:solidFill>
                  <a:srgbClr val="1C7293"/>
                </a:solidFill>
                <a:latin typeface="Calibri"/>
                <a:ea typeface="Calibri"/>
                <a:cs typeface="Calibri"/>
              </a:rPr>
              <a:t>CH. 2 · METHODOLOGY AND PRICING INPUTS</a:t>
            </a:r>
          </a:p>
        </p:txBody>
      </p:sp>
      <p:sp>
        <p:nvSpPr>
          <p:cNvPr id="3" name="TextBox 2"/>
          <p:cNvSpPr txBox="1"/>
          <p:nvPr/>
        </p:nvSpPr>
        <p:spPr>
          <a:xfrm>
            <a:off x="548640" y="658368"/>
            <a:ext cx="11109960" cy="868680"/>
          </a:xfrm>
          <a:prstGeom prst="rect">
            <a:avLst/>
          </a:prstGeom>
          <a:noFill/>
        </p:spPr>
        <p:txBody>
          <a:bodyPr wrap="square" lIns="0" rIns="0" tIns="0" bIns="0" anchor="ctr">
            <a:spAutoFit/>
          </a:bodyPr>
          <a:lstStyle/>
          <a:p>
            <a:pPr algn="l" marL="0" indent="0">
              <a:buNone/>
            </a:pPr>
            <a:r>
              <a:rPr lang="en-US" sz="2700" b="1" dirty="0">
                <a:solidFill>
                  <a:srgbClr val="21295C"/>
                </a:solidFill>
                <a:latin typeface="Cambria"/>
                <a:ea typeface="Cambria"/>
                <a:cs typeface="Cambria"/>
              </a:rPr>
              <a:t>One pipeline, five stages — two numbers carry the price</a:t>
            </a:r>
          </a:p>
        </p:txBody>
      </p:sp>
      <p:sp>
        <p:nvSpPr>
          <p:cNvPr id="4" name="Oval 3"/>
          <p:cNvSpPr/>
          <p:nvPr/>
        </p:nvSpPr>
        <p:spPr>
          <a:xfrm>
            <a:off x="1330452" y="1691640"/>
            <a:ext cx="658368" cy="658368"/>
          </a:xfrm>
          <a:prstGeom prst="ellipse">
            <a:avLst/>
          </a:prstGeom>
          <a:solidFill>
            <a:srgbClr val="C8791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330452" y="1691640"/>
            <a:ext cx="658368" cy="658368"/>
          </a:xfrm>
          <a:prstGeom prst="rect">
            <a:avLst/>
          </a:prstGeom>
          <a:noFill/>
        </p:spPr>
        <p:txBody>
          <a:bodyPr wrap="square" lIns="0" rIns="0" tIns="0" bIns="0" anchor="ctr">
            <a:spAutoFit/>
          </a:bodyPr>
          <a:lstStyle/>
          <a:p>
            <a:pPr algn="ctr" marL="0" indent="0">
              <a:buNone/>
            </a:pPr>
            <a:r>
              <a:rPr lang="en-US" sz="1800" b="1" dirty="0">
                <a:solidFill>
                  <a:srgbClr val="FFFFFF"/>
                </a:solidFill>
                <a:latin typeface="Calibri"/>
                <a:ea typeface="Calibri"/>
                <a:cs typeface="Calibri"/>
              </a:rPr>
              <a:t>1</a:t>
            </a:r>
          </a:p>
        </p:txBody>
      </p:sp>
      <p:cxnSp>
        <p:nvCxnSpPr>
          <p:cNvPr id="6" name="Connector 5"/>
          <p:cNvCxnSpPr/>
          <p:nvPr/>
        </p:nvCxnSpPr>
        <p:spPr>
          <a:xfrm>
            <a:off x="2098548" y="2020824"/>
            <a:ext cx="1344168" cy="0"/>
          </a:xfrm>
          <a:prstGeom prst="line">
            <a:avLst/>
          </a:prstGeom>
          <a:ln w="19050">
            <a:solidFill>
              <a:srgbClr val="1C7293"/>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2423160"/>
            <a:ext cx="2221992" cy="310896"/>
          </a:xfrm>
          <a:prstGeom prst="rect">
            <a:avLst/>
          </a:prstGeom>
          <a:noFill/>
        </p:spPr>
        <p:txBody>
          <a:bodyPr wrap="square" lIns="0" rIns="0" tIns="0" bIns="0" anchor="t">
            <a:spAutoFit/>
          </a:bodyPr>
          <a:lstStyle/>
          <a:p>
            <a:pPr algn="ctr" marL="0" indent="0">
              <a:buNone/>
            </a:pPr>
            <a:r>
              <a:rPr lang="en-US" sz="1500" b="1" dirty="0">
                <a:solidFill>
                  <a:srgbClr val="21295C"/>
                </a:solidFill>
                <a:latin typeface="Cambria"/>
                <a:ea typeface="Cambria"/>
                <a:cs typeface="Cambria"/>
              </a:rPr>
              <a:t>Deseasonalise</a:t>
            </a:r>
          </a:p>
        </p:txBody>
      </p:sp>
      <p:sp>
        <p:nvSpPr>
          <p:cNvPr id="8" name="TextBox 7"/>
          <p:cNvSpPr txBox="1"/>
          <p:nvPr/>
        </p:nvSpPr>
        <p:spPr>
          <a:xfrm>
            <a:off x="548640" y="2724912"/>
            <a:ext cx="2221992" cy="256032"/>
          </a:xfrm>
          <a:prstGeom prst="rect">
            <a:avLst/>
          </a:prstGeom>
          <a:noFill/>
        </p:spPr>
        <p:txBody>
          <a:bodyPr wrap="square" lIns="0" rIns="0" tIns="0" bIns="0" anchor="t">
            <a:spAutoFit/>
          </a:bodyPr>
          <a:lstStyle/>
          <a:p>
            <a:pPr algn="ctr" marL="0" indent="0">
              <a:buNone/>
            </a:pPr>
            <a:r>
              <a:rPr lang="en-US" sz="1100" b="0" dirty="0">
                <a:solidFill>
                  <a:srgbClr val="56606B"/>
                </a:solidFill>
                <a:latin typeface="Calibri"/>
                <a:ea typeface="Calibri"/>
                <a:cs typeface="Calibri"/>
              </a:rPr>
              <a:t>Box–Cox + Fourier</a:t>
            </a:r>
          </a:p>
        </p:txBody>
      </p:sp>
      <p:sp>
        <p:nvSpPr>
          <p:cNvPr id="9" name="TextBox 8"/>
          <p:cNvSpPr txBox="1"/>
          <p:nvPr/>
        </p:nvSpPr>
        <p:spPr>
          <a:xfrm>
            <a:off x="548640" y="2980944"/>
            <a:ext cx="2221992" cy="256032"/>
          </a:xfrm>
          <a:prstGeom prst="rect">
            <a:avLst/>
          </a:prstGeom>
          <a:noFill/>
        </p:spPr>
        <p:txBody>
          <a:bodyPr wrap="square" lIns="0" rIns="0" tIns="0" bIns="0" anchor="t">
            <a:spAutoFit/>
          </a:bodyPr>
          <a:lstStyle/>
          <a:p>
            <a:pPr algn="ctr" marL="0" indent="0">
              <a:buNone/>
            </a:pPr>
            <a:r>
              <a:rPr lang="en-US" sz="1150" b="1" dirty="0">
                <a:solidFill>
                  <a:srgbClr val="C8791A"/>
                </a:solidFill>
                <a:latin typeface="Calibri"/>
                <a:ea typeface="Calibri"/>
                <a:cs typeface="Calibri"/>
              </a:rPr>
              <a:t>→ W̃(t), C₀</a:t>
            </a:r>
          </a:p>
        </p:txBody>
      </p:sp>
      <p:sp>
        <p:nvSpPr>
          <p:cNvPr id="10" name="Oval 9"/>
          <p:cNvSpPr/>
          <p:nvPr/>
        </p:nvSpPr>
        <p:spPr>
          <a:xfrm>
            <a:off x="3552444" y="1691640"/>
            <a:ext cx="658368" cy="658368"/>
          </a:xfrm>
          <a:prstGeom prst="ellipse">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552444" y="1691640"/>
            <a:ext cx="658368" cy="658368"/>
          </a:xfrm>
          <a:prstGeom prst="rect">
            <a:avLst/>
          </a:prstGeom>
          <a:noFill/>
        </p:spPr>
        <p:txBody>
          <a:bodyPr wrap="square" lIns="0" rIns="0" tIns="0" bIns="0" anchor="ctr">
            <a:spAutoFit/>
          </a:bodyPr>
          <a:lstStyle/>
          <a:p>
            <a:pPr algn="ctr" marL="0" indent="0">
              <a:buNone/>
            </a:pPr>
            <a:r>
              <a:rPr lang="en-US" sz="1800" b="1" dirty="0">
                <a:solidFill>
                  <a:srgbClr val="FFFFFF"/>
                </a:solidFill>
                <a:latin typeface="Calibri"/>
                <a:ea typeface="Calibri"/>
                <a:cs typeface="Calibri"/>
              </a:rPr>
              <a:t>2</a:t>
            </a:r>
          </a:p>
        </p:txBody>
      </p:sp>
      <p:cxnSp>
        <p:nvCxnSpPr>
          <p:cNvPr id="12" name="Connector 11"/>
          <p:cNvCxnSpPr/>
          <p:nvPr/>
        </p:nvCxnSpPr>
        <p:spPr>
          <a:xfrm>
            <a:off x="4320540" y="2020824"/>
            <a:ext cx="1344168" cy="0"/>
          </a:xfrm>
          <a:prstGeom prst="line">
            <a:avLst/>
          </a:prstGeom>
          <a:ln w="19050">
            <a:solidFill>
              <a:srgbClr val="1C7293"/>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770632" y="2423160"/>
            <a:ext cx="2221992" cy="310896"/>
          </a:xfrm>
          <a:prstGeom prst="rect">
            <a:avLst/>
          </a:prstGeom>
          <a:noFill/>
        </p:spPr>
        <p:txBody>
          <a:bodyPr wrap="square" lIns="0" rIns="0" tIns="0" bIns="0" anchor="t">
            <a:spAutoFit/>
          </a:bodyPr>
          <a:lstStyle/>
          <a:p>
            <a:pPr algn="ctr" marL="0" indent="0">
              <a:buNone/>
            </a:pPr>
            <a:r>
              <a:rPr lang="en-US" sz="1500" b="1" dirty="0">
                <a:solidFill>
                  <a:srgbClr val="21295C"/>
                </a:solidFill>
                <a:latin typeface="Cambria"/>
                <a:ea typeface="Cambria"/>
                <a:cs typeface="Cambria"/>
              </a:rPr>
              <a:t>AR(4)</a:t>
            </a:r>
          </a:p>
        </p:txBody>
      </p:sp>
      <p:sp>
        <p:nvSpPr>
          <p:cNvPr id="14" name="TextBox 13"/>
          <p:cNvSpPr txBox="1"/>
          <p:nvPr/>
        </p:nvSpPr>
        <p:spPr>
          <a:xfrm>
            <a:off x="2770632" y="2724912"/>
            <a:ext cx="2221992" cy="256032"/>
          </a:xfrm>
          <a:prstGeom prst="rect">
            <a:avLst/>
          </a:prstGeom>
          <a:noFill/>
        </p:spPr>
        <p:txBody>
          <a:bodyPr wrap="square" lIns="0" rIns="0" tIns="0" bIns="0" anchor="t">
            <a:spAutoFit/>
          </a:bodyPr>
          <a:lstStyle/>
          <a:p>
            <a:pPr algn="ctr" marL="0" indent="0">
              <a:buNone/>
            </a:pPr>
            <a:r>
              <a:rPr lang="en-US" sz="1100" b="0" dirty="0">
                <a:solidFill>
                  <a:srgbClr val="56606B"/>
                </a:solidFill>
                <a:latin typeface="Calibri"/>
                <a:ea typeface="Calibri"/>
                <a:cs typeface="Calibri"/>
              </a:rPr>
              <a:t>conditional mean</a:t>
            </a:r>
          </a:p>
        </p:txBody>
      </p:sp>
      <p:sp>
        <p:nvSpPr>
          <p:cNvPr id="15" name="TextBox 14"/>
          <p:cNvSpPr txBox="1"/>
          <p:nvPr/>
        </p:nvSpPr>
        <p:spPr>
          <a:xfrm>
            <a:off x="2770632" y="2980944"/>
            <a:ext cx="2221992" cy="256032"/>
          </a:xfrm>
          <a:prstGeom prst="rect">
            <a:avLst/>
          </a:prstGeom>
          <a:noFill/>
        </p:spPr>
        <p:txBody>
          <a:bodyPr wrap="square" lIns="0" rIns="0" tIns="0" bIns="0" anchor="t">
            <a:spAutoFit/>
          </a:bodyPr>
          <a:lstStyle/>
          <a:p>
            <a:pPr algn="ctr" marL="0" indent="0">
              <a:buNone/>
            </a:pPr>
            <a:r>
              <a:rPr lang="en-US" sz="1150" b="1" dirty="0">
                <a:solidFill>
                  <a:srgbClr val="1C7293"/>
                </a:solidFill>
                <a:latin typeface="Calibri"/>
                <a:ea typeface="Calibri"/>
                <a:cs typeface="Calibri"/>
              </a:rPr>
              <a:t>→ β₁ … β₄</a:t>
            </a:r>
          </a:p>
        </p:txBody>
      </p:sp>
      <p:sp>
        <p:nvSpPr>
          <p:cNvPr id="16" name="Oval 15"/>
          <p:cNvSpPr/>
          <p:nvPr/>
        </p:nvSpPr>
        <p:spPr>
          <a:xfrm>
            <a:off x="5774436" y="1691640"/>
            <a:ext cx="658368" cy="658368"/>
          </a:xfrm>
          <a:prstGeom prst="ellipse">
            <a:avLst/>
          </a:prstGeom>
          <a:solidFill>
            <a:srgbClr val="C8791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774436" y="1691640"/>
            <a:ext cx="658368" cy="658368"/>
          </a:xfrm>
          <a:prstGeom prst="rect">
            <a:avLst/>
          </a:prstGeom>
          <a:noFill/>
        </p:spPr>
        <p:txBody>
          <a:bodyPr wrap="square" lIns="0" rIns="0" tIns="0" bIns="0" anchor="ctr">
            <a:spAutoFit/>
          </a:bodyPr>
          <a:lstStyle/>
          <a:p>
            <a:pPr algn="ctr" marL="0" indent="0">
              <a:buNone/>
            </a:pPr>
            <a:r>
              <a:rPr lang="en-US" sz="1800" b="1" dirty="0">
                <a:solidFill>
                  <a:srgbClr val="FFFFFF"/>
                </a:solidFill>
                <a:latin typeface="Calibri"/>
                <a:ea typeface="Calibri"/>
                <a:cs typeface="Calibri"/>
              </a:rPr>
              <a:t>3</a:t>
            </a:r>
          </a:p>
        </p:txBody>
      </p:sp>
      <p:cxnSp>
        <p:nvCxnSpPr>
          <p:cNvPr id="18" name="Connector 17"/>
          <p:cNvCxnSpPr/>
          <p:nvPr/>
        </p:nvCxnSpPr>
        <p:spPr>
          <a:xfrm>
            <a:off x="6542532" y="2020824"/>
            <a:ext cx="1344168" cy="0"/>
          </a:xfrm>
          <a:prstGeom prst="line">
            <a:avLst/>
          </a:prstGeom>
          <a:ln w="19050">
            <a:solidFill>
              <a:srgbClr val="1C7293"/>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992624" y="2423160"/>
            <a:ext cx="2221992" cy="310896"/>
          </a:xfrm>
          <a:prstGeom prst="rect">
            <a:avLst/>
          </a:prstGeom>
          <a:noFill/>
        </p:spPr>
        <p:txBody>
          <a:bodyPr wrap="square" lIns="0" rIns="0" tIns="0" bIns="0" anchor="t">
            <a:spAutoFit/>
          </a:bodyPr>
          <a:lstStyle/>
          <a:p>
            <a:pPr algn="ctr" marL="0" indent="0">
              <a:buNone/>
            </a:pPr>
            <a:r>
              <a:rPr lang="en-US" sz="1500" b="1" dirty="0">
                <a:solidFill>
                  <a:srgbClr val="21295C"/>
                </a:solidFill>
                <a:latin typeface="Cambria"/>
                <a:ea typeface="Cambria"/>
                <a:cs typeface="Cambria"/>
              </a:rPr>
              <a:t>GARCH(1,1)</a:t>
            </a:r>
          </a:p>
        </p:txBody>
      </p:sp>
      <p:sp>
        <p:nvSpPr>
          <p:cNvPr id="20" name="TextBox 19"/>
          <p:cNvSpPr txBox="1"/>
          <p:nvPr/>
        </p:nvSpPr>
        <p:spPr>
          <a:xfrm>
            <a:off x="4992624" y="2724912"/>
            <a:ext cx="2221992" cy="256032"/>
          </a:xfrm>
          <a:prstGeom prst="rect">
            <a:avLst/>
          </a:prstGeom>
          <a:noFill/>
        </p:spPr>
        <p:txBody>
          <a:bodyPr wrap="square" lIns="0" rIns="0" tIns="0" bIns="0" anchor="t">
            <a:spAutoFit/>
          </a:bodyPr>
          <a:lstStyle/>
          <a:p>
            <a:pPr algn="ctr" marL="0" indent="0">
              <a:buNone/>
            </a:pPr>
            <a:r>
              <a:rPr lang="en-US" sz="1100" b="0" dirty="0">
                <a:solidFill>
                  <a:srgbClr val="56606B"/>
                </a:solidFill>
                <a:latin typeface="Calibri"/>
                <a:ea typeface="Calibri"/>
                <a:cs typeface="Calibri"/>
              </a:rPr>
              <a:t>conditional variance</a:t>
            </a:r>
          </a:p>
        </p:txBody>
      </p:sp>
      <p:sp>
        <p:nvSpPr>
          <p:cNvPr id="21" name="TextBox 20"/>
          <p:cNvSpPr txBox="1"/>
          <p:nvPr/>
        </p:nvSpPr>
        <p:spPr>
          <a:xfrm>
            <a:off x="4992624" y="2980944"/>
            <a:ext cx="2221992" cy="256032"/>
          </a:xfrm>
          <a:prstGeom prst="rect">
            <a:avLst/>
          </a:prstGeom>
          <a:noFill/>
        </p:spPr>
        <p:txBody>
          <a:bodyPr wrap="square" lIns="0" rIns="0" tIns="0" bIns="0" anchor="t">
            <a:spAutoFit/>
          </a:bodyPr>
          <a:lstStyle/>
          <a:p>
            <a:pPr algn="ctr" marL="0" indent="0">
              <a:buNone/>
            </a:pPr>
            <a:r>
              <a:rPr lang="en-US" sz="1150" b="1" dirty="0">
                <a:solidFill>
                  <a:srgbClr val="C8791A"/>
                </a:solidFill>
                <a:latin typeface="Calibri"/>
                <a:ea typeface="Calibri"/>
                <a:cs typeface="Calibri"/>
              </a:rPr>
              <a:t>→ h(t₀)</a:t>
            </a:r>
          </a:p>
        </p:txBody>
      </p:sp>
      <p:sp>
        <p:nvSpPr>
          <p:cNvPr id="22" name="Oval 21"/>
          <p:cNvSpPr/>
          <p:nvPr/>
        </p:nvSpPr>
        <p:spPr>
          <a:xfrm>
            <a:off x="7996428" y="1691640"/>
            <a:ext cx="658368" cy="658368"/>
          </a:xfrm>
          <a:prstGeom prst="ellipse">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996428" y="1691640"/>
            <a:ext cx="658368" cy="658368"/>
          </a:xfrm>
          <a:prstGeom prst="rect">
            <a:avLst/>
          </a:prstGeom>
          <a:noFill/>
        </p:spPr>
        <p:txBody>
          <a:bodyPr wrap="square" lIns="0" rIns="0" tIns="0" bIns="0" anchor="ctr">
            <a:spAutoFit/>
          </a:bodyPr>
          <a:lstStyle/>
          <a:p>
            <a:pPr algn="ctr" marL="0" indent="0">
              <a:buNone/>
            </a:pPr>
            <a:r>
              <a:rPr lang="en-US" sz="1800" b="1" dirty="0">
                <a:solidFill>
                  <a:srgbClr val="FFFFFF"/>
                </a:solidFill>
                <a:latin typeface="Calibri"/>
                <a:ea typeface="Calibri"/>
                <a:cs typeface="Calibri"/>
              </a:rPr>
              <a:t>4</a:t>
            </a:r>
          </a:p>
        </p:txBody>
      </p:sp>
      <p:cxnSp>
        <p:nvCxnSpPr>
          <p:cNvPr id="24" name="Connector 23"/>
          <p:cNvCxnSpPr/>
          <p:nvPr/>
        </p:nvCxnSpPr>
        <p:spPr>
          <a:xfrm>
            <a:off x="8764524" y="2020824"/>
            <a:ext cx="1344168" cy="0"/>
          </a:xfrm>
          <a:prstGeom prst="line">
            <a:avLst/>
          </a:prstGeom>
          <a:ln w="19050">
            <a:solidFill>
              <a:srgbClr val="1C7293"/>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214616" y="2423160"/>
            <a:ext cx="2221992" cy="310896"/>
          </a:xfrm>
          <a:prstGeom prst="rect">
            <a:avLst/>
          </a:prstGeom>
          <a:noFill/>
        </p:spPr>
        <p:txBody>
          <a:bodyPr wrap="square" lIns="0" rIns="0" tIns="0" bIns="0" anchor="t">
            <a:spAutoFit/>
          </a:bodyPr>
          <a:lstStyle/>
          <a:p>
            <a:pPr algn="ctr" marL="0" indent="0">
              <a:buNone/>
            </a:pPr>
            <a:r>
              <a:rPr lang="en-US" sz="1500" b="1" dirty="0">
                <a:solidFill>
                  <a:srgbClr val="21295C"/>
                </a:solidFill>
                <a:latin typeface="Cambria"/>
                <a:ea typeface="Cambria"/>
                <a:cs typeface="Cambria"/>
              </a:rPr>
              <a:t>CAR(4)</a:t>
            </a:r>
          </a:p>
        </p:txBody>
      </p:sp>
      <p:sp>
        <p:nvSpPr>
          <p:cNvPr id="26" name="TextBox 25"/>
          <p:cNvSpPr txBox="1"/>
          <p:nvPr/>
        </p:nvSpPr>
        <p:spPr>
          <a:xfrm>
            <a:off x="7214616" y="2724912"/>
            <a:ext cx="2221992" cy="256032"/>
          </a:xfrm>
          <a:prstGeom prst="rect">
            <a:avLst/>
          </a:prstGeom>
          <a:noFill/>
        </p:spPr>
        <p:txBody>
          <a:bodyPr wrap="square" lIns="0" rIns="0" tIns="0" bIns="0" anchor="t">
            <a:spAutoFit/>
          </a:bodyPr>
          <a:lstStyle/>
          <a:p>
            <a:pPr algn="ctr" marL="0" indent="0">
              <a:buNone/>
            </a:pPr>
            <a:r>
              <a:rPr lang="en-US" sz="1100" b="0" dirty="0">
                <a:solidFill>
                  <a:srgbClr val="56606B"/>
                </a:solidFill>
                <a:latin typeface="Calibri"/>
                <a:ea typeface="Calibri"/>
                <a:cs typeface="Calibri"/>
              </a:rPr>
              <a:t>continuous-time embedding</a:t>
            </a:r>
          </a:p>
        </p:txBody>
      </p:sp>
      <p:sp>
        <p:nvSpPr>
          <p:cNvPr id="27" name="TextBox 26"/>
          <p:cNvSpPr txBox="1"/>
          <p:nvPr/>
        </p:nvSpPr>
        <p:spPr>
          <a:xfrm>
            <a:off x="7214616" y="2980944"/>
            <a:ext cx="2221992" cy="256032"/>
          </a:xfrm>
          <a:prstGeom prst="rect">
            <a:avLst/>
          </a:prstGeom>
          <a:noFill/>
        </p:spPr>
        <p:txBody>
          <a:bodyPr wrap="square" lIns="0" rIns="0" tIns="0" bIns="0" anchor="t">
            <a:spAutoFit/>
          </a:bodyPr>
          <a:lstStyle/>
          <a:p>
            <a:pPr algn="ctr" marL="0" indent="0">
              <a:buNone/>
            </a:pPr>
            <a:r>
              <a:rPr lang="en-US" sz="1150" b="1" dirty="0">
                <a:solidFill>
                  <a:srgbClr val="1C7293"/>
                </a:solidFill>
                <a:latin typeface="Calibri"/>
                <a:ea typeface="Calibri"/>
                <a:cs typeface="Calibri"/>
              </a:rPr>
              <a:t>→ A, exp(Aτ)</a:t>
            </a:r>
          </a:p>
        </p:txBody>
      </p:sp>
      <p:sp>
        <p:nvSpPr>
          <p:cNvPr id="28" name="Oval 27"/>
          <p:cNvSpPr/>
          <p:nvPr/>
        </p:nvSpPr>
        <p:spPr>
          <a:xfrm>
            <a:off x="10218420" y="1691640"/>
            <a:ext cx="658368" cy="658368"/>
          </a:xfrm>
          <a:prstGeom prst="ellipse">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218420" y="1691640"/>
            <a:ext cx="658368" cy="658368"/>
          </a:xfrm>
          <a:prstGeom prst="rect">
            <a:avLst/>
          </a:prstGeom>
          <a:noFill/>
        </p:spPr>
        <p:txBody>
          <a:bodyPr wrap="square" lIns="0" rIns="0" tIns="0" bIns="0" anchor="ctr">
            <a:spAutoFit/>
          </a:bodyPr>
          <a:lstStyle/>
          <a:p>
            <a:pPr algn="ctr" marL="0" indent="0">
              <a:buNone/>
            </a:pPr>
            <a:r>
              <a:rPr lang="en-US" sz="1800" b="1" dirty="0">
                <a:solidFill>
                  <a:srgbClr val="FFFFFF"/>
                </a:solidFill>
                <a:latin typeface="Calibri"/>
                <a:ea typeface="Calibri"/>
                <a:cs typeface="Calibri"/>
              </a:rPr>
              <a:t>5</a:t>
            </a:r>
          </a:p>
        </p:txBody>
      </p:sp>
      <p:sp>
        <p:nvSpPr>
          <p:cNvPr id="30" name="TextBox 29"/>
          <p:cNvSpPr txBox="1"/>
          <p:nvPr/>
        </p:nvSpPr>
        <p:spPr>
          <a:xfrm>
            <a:off x="9436608" y="2423160"/>
            <a:ext cx="2221992" cy="310896"/>
          </a:xfrm>
          <a:prstGeom prst="rect">
            <a:avLst/>
          </a:prstGeom>
          <a:noFill/>
        </p:spPr>
        <p:txBody>
          <a:bodyPr wrap="square" lIns="0" rIns="0" tIns="0" bIns="0" anchor="t">
            <a:spAutoFit/>
          </a:bodyPr>
          <a:lstStyle/>
          <a:p>
            <a:pPr algn="ctr" marL="0" indent="0">
              <a:buNone/>
            </a:pPr>
            <a:r>
              <a:rPr lang="en-US" sz="1500" b="1" dirty="0">
                <a:solidFill>
                  <a:srgbClr val="21295C"/>
                </a:solidFill>
                <a:latin typeface="Cambria"/>
                <a:ea typeface="Cambria"/>
                <a:cs typeface="Cambria"/>
              </a:rPr>
              <a:t>Stochastic vol.</a:t>
            </a:r>
          </a:p>
        </p:txBody>
      </p:sp>
      <p:sp>
        <p:nvSpPr>
          <p:cNvPr id="31" name="TextBox 30"/>
          <p:cNvSpPr txBox="1"/>
          <p:nvPr/>
        </p:nvSpPr>
        <p:spPr>
          <a:xfrm>
            <a:off x="9436608" y="2724912"/>
            <a:ext cx="2221992" cy="256032"/>
          </a:xfrm>
          <a:prstGeom prst="rect">
            <a:avLst/>
          </a:prstGeom>
          <a:noFill/>
        </p:spPr>
        <p:txBody>
          <a:bodyPr wrap="square" lIns="0" rIns="0" tIns="0" bIns="0" anchor="t">
            <a:spAutoFit/>
          </a:bodyPr>
          <a:lstStyle/>
          <a:p>
            <a:pPr algn="ctr" marL="0" indent="0">
              <a:buNone/>
            </a:pPr>
            <a:r>
              <a:rPr lang="en-US" sz="1100" b="0" dirty="0">
                <a:solidFill>
                  <a:srgbClr val="56606B"/>
                </a:solidFill>
                <a:latin typeface="Calibri"/>
                <a:ea typeface="Calibri"/>
                <a:cs typeface="Calibri"/>
              </a:rPr>
              <a:t>Heston / CIR, theoretical</a:t>
            </a:r>
          </a:p>
        </p:txBody>
      </p:sp>
      <p:sp>
        <p:nvSpPr>
          <p:cNvPr id="32" name="TextBox 31"/>
          <p:cNvSpPr txBox="1"/>
          <p:nvPr/>
        </p:nvSpPr>
        <p:spPr>
          <a:xfrm>
            <a:off x="9436608" y="2980944"/>
            <a:ext cx="2221992" cy="256032"/>
          </a:xfrm>
          <a:prstGeom prst="rect">
            <a:avLst/>
          </a:prstGeom>
          <a:noFill/>
        </p:spPr>
        <p:txBody>
          <a:bodyPr wrap="square" lIns="0" rIns="0" tIns="0" bIns="0" anchor="t">
            <a:spAutoFit/>
          </a:bodyPr>
          <a:lstStyle/>
          <a:p>
            <a:pPr algn="ctr" marL="0" indent="0">
              <a:buNone/>
            </a:pPr>
            <a:r>
              <a:rPr lang="en-US" sz="1150" b="1" dirty="0">
                <a:solidFill>
                  <a:srgbClr val="1C7293"/>
                </a:solidFill>
                <a:latin typeface="Calibri"/>
                <a:ea typeface="Calibri"/>
                <a:cs typeface="Calibri"/>
              </a:rPr>
              <a:t>→ Feller check</a:t>
            </a:r>
          </a:p>
        </p:txBody>
      </p:sp>
      <p:sp>
        <p:nvSpPr>
          <p:cNvPr id="33" name="Rounded Rectangle 32"/>
          <p:cNvSpPr/>
          <p:nvPr/>
        </p:nvSpPr>
        <p:spPr>
          <a:xfrm>
            <a:off x="548640" y="3474720"/>
            <a:ext cx="5349240" cy="1600200"/>
          </a:xfrm>
          <a:prstGeom prst="roundRect">
            <a:avLst>
              <a:gd name="adj" fmla="val 3599"/>
            </a:avLst>
          </a:prstGeom>
          <a:solidFill>
            <a:srgbClr val="F7FAFC"/>
          </a:solidFill>
          <a:ln>
            <a:noFill/>
          </a:ln>
          <a:effectLst>
            <a:outerShdw blurRad="88900" dist="25400" dir="5400000" algn="bl" rotWithShape="0">
              <a:srgbClr val="1C1C1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68680" y="3584448"/>
            <a:ext cx="1737360" cy="685800"/>
          </a:xfrm>
          <a:prstGeom prst="rect">
            <a:avLst/>
          </a:prstGeom>
          <a:noFill/>
        </p:spPr>
        <p:txBody>
          <a:bodyPr wrap="square" lIns="0" rIns="0" tIns="0" bIns="0" anchor="ctr">
            <a:spAutoFit/>
          </a:bodyPr>
          <a:lstStyle/>
          <a:p>
            <a:pPr algn="l" marL="0" indent="0">
              <a:buNone/>
            </a:pPr>
            <a:r>
              <a:rPr lang="en-US" sz="3400" b="1" dirty="0">
                <a:solidFill>
                  <a:srgbClr val="21295C"/>
                </a:solidFill>
                <a:latin typeface="Cambria"/>
                <a:ea typeface="Cambria"/>
                <a:cs typeface="Cambria"/>
              </a:rPr>
              <a:t>C₀</a:t>
            </a:r>
          </a:p>
        </p:txBody>
      </p:sp>
      <p:sp>
        <p:nvSpPr>
          <p:cNvPr id="35" name="TextBox 34"/>
          <p:cNvSpPr txBox="1"/>
          <p:nvPr/>
        </p:nvSpPr>
        <p:spPr>
          <a:xfrm>
            <a:off x="868680" y="4315968"/>
            <a:ext cx="4663440" cy="274320"/>
          </a:xfrm>
          <a:prstGeom prst="rect">
            <a:avLst/>
          </a:prstGeom>
          <a:noFill/>
        </p:spPr>
        <p:txBody>
          <a:bodyPr wrap="square" lIns="0" rIns="0" tIns="0" bIns="0" anchor="t">
            <a:spAutoFit/>
          </a:bodyPr>
          <a:lstStyle/>
          <a:p>
            <a:pPr algn="l" marL="0" indent="0">
              <a:buNone/>
            </a:pPr>
            <a:r>
              <a:rPr lang="en-US" sz="1150" b="0" i="1" dirty="0">
                <a:solidFill>
                  <a:srgbClr val="56606B"/>
                </a:solidFill>
                <a:latin typeface="Calibri"/>
                <a:ea typeface="Calibri"/>
                <a:cs typeface="Calibri"/>
              </a:rPr>
              <a:t>Fourier seasonal-variance mean  (stage 1)</a:t>
            </a:r>
          </a:p>
        </p:txBody>
      </p:sp>
      <p:sp>
        <p:nvSpPr>
          <p:cNvPr id="36" name="TextBox 35"/>
          <p:cNvSpPr txBox="1"/>
          <p:nvPr/>
        </p:nvSpPr>
        <p:spPr>
          <a:xfrm>
            <a:off x="868680" y="4617720"/>
            <a:ext cx="4663440" cy="320040"/>
          </a:xfrm>
          <a:prstGeom prst="rect">
            <a:avLst/>
          </a:prstGeom>
          <a:noFill/>
        </p:spPr>
        <p:txBody>
          <a:bodyPr wrap="square" lIns="0" rIns="0" tIns="0" bIns="0" anchor="t">
            <a:spAutoFit/>
          </a:bodyPr>
          <a:lstStyle/>
          <a:p>
            <a:pPr algn="l" marL="0" indent="0">
              <a:buNone/>
            </a:pPr>
            <a:r>
              <a:rPr lang="en-US" sz="1300" b="0" dirty="0">
                <a:solidFill>
                  <a:srgbClr val="56606B"/>
                </a:solidFill>
                <a:latin typeface="Calibri"/>
                <a:ea typeface="Calibri"/>
                <a:cs typeface="Calibri"/>
              </a:rPr>
              <a:t>Dataset A  </a:t>
            </a:r>
            <a:r>
              <a:rPr lang="en-US" sz="1400" b="1" dirty="0">
                <a:solidFill>
                  <a:srgbClr val="21295C"/>
                </a:solidFill>
                <a:latin typeface="Calibri"/>
                <a:ea typeface="Calibri"/>
                <a:cs typeface="Calibri"/>
              </a:rPr>
              <a:t>0.13138</a:t>
            </a:r>
            <a:r>
              <a:rPr lang="en-US" sz="1300" b="0" dirty="0">
                <a:solidFill>
                  <a:srgbClr val="56606B"/>
                </a:solidFill>
                <a:latin typeface="Calibri"/>
                <a:ea typeface="Calibri"/>
                <a:cs typeface="Calibri"/>
              </a:rPr>
              <a:t>      Dataset B  </a:t>
            </a:r>
            <a:r>
              <a:rPr lang="en-US" sz="1400" b="1" dirty="0">
                <a:solidFill>
                  <a:srgbClr val="21295C"/>
                </a:solidFill>
                <a:latin typeface="Calibri"/>
                <a:ea typeface="Calibri"/>
                <a:cs typeface="Calibri"/>
              </a:rPr>
              <a:t>1.16277</a:t>
            </a:r>
          </a:p>
        </p:txBody>
      </p:sp>
      <p:sp>
        <p:nvSpPr>
          <p:cNvPr id="37" name="Rounded Rectangle 36"/>
          <p:cNvSpPr/>
          <p:nvPr/>
        </p:nvSpPr>
        <p:spPr>
          <a:xfrm>
            <a:off x="4251959" y="3675887"/>
            <a:ext cx="1371600" cy="457200"/>
          </a:xfrm>
          <a:prstGeom prst="roundRect">
            <a:avLst>
              <a:gd name="adj" fmla="val 3599"/>
            </a:avLst>
          </a:prstGeom>
          <a:solidFill>
            <a:srgbClr val="065A8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251959" y="3675887"/>
            <a:ext cx="1371600" cy="457200"/>
          </a:xfrm>
          <a:prstGeom prst="rect">
            <a:avLst/>
          </a:prstGeom>
          <a:noFill/>
        </p:spPr>
        <p:txBody>
          <a:bodyPr wrap="square" lIns="0" rIns="0" tIns="0" bIns="0" anchor="ctr">
            <a:spAutoFit/>
          </a:bodyPr>
          <a:lstStyle/>
          <a:p>
            <a:pPr algn="ctr" marL="0" indent="0">
              <a:buNone/>
            </a:pPr>
            <a:r>
              <a:rPr lang="en-US" sz="1250" b="1" dirty="0">
                <a:solidFill>
                  <a:srgbClr val="FFFFFF"/>
                </a:solidFill>
                <a:latin typeface="Calibri"/>
                <a:ea typeface="Calibri"/>
                <a:cs typeface="Calibri"/>
              </a:rPr>
              <a:t>8.85× gap</a:t>
            </a:r>
          </a:p>
        </p:txBody>
      </p:sp>
      <p:sp>
        <p:nvSpPr>
          <p:cNvPr id="39" name="Rounded Rectangle 38"/>
          <p:cNvSpPr/>
          <p:nvPr/>
        </p:nvSpPr>
        <p:spPr>
          <a:xfrm>
            <a:off x="6309360" y="3474720"/>
            <a:ext cx="5349240" cy="1600200"/>
          </a:xfrm>
          <a:prstGeom prst="roundRect">
            <a:avLst>
              <a:gd name="adj" fmla="val 3599"/>
            </a:avLst>
          </a:prstGeom>
          <a:solidFill>
            <a:srgbClr val="F7FAFC"/>
          </a:solidFill>
          <a:ln>
            <a:noFill/>
          </a:ln>
          <a:effectLst>
            <a:outerShdw blurRad="88900" dist="25400" dir="5400000" algn="bl" rotWithShape="0">
              <a:srgbClr val="1C1C1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629400" y="3584448"/>
            <a:ext cx="1737360" cy="685800"/>
          </a:xfrm>
          <a:prstGeom prst="rect">
            <a:avLst/>
          </a:prstGeom>
          <a:noFill/>
        </p:spPr>
        <p:txBody>
          <a:bodyPr wrap="square" lIns="0" rIns="0" tIns="0" bIns="0" anchor="ctr">
            <a:spAutoFit/>
          </a:bodyPr>
          <a:lstStyle/>
          <a:p>
            <a:pPr algn="l" marL="0" indent="0">
              <a:buNone/>
            </a:pPr>
            <a:r>
              <a:rPr lang="en-US" sz="3400" b="1" dirty="0">
                <a:solidFill>
                  <a:srgbClr val="21295C"/>
                </a:solidFill>
                <a:latin typeface="Cambria"/>
                <a:ea typeface="Cambria"/>
                <a:cs typeface="Cambria"/>
              </a:rPr>
              <a:t>h(t₀)</a:t>
            </a:r>
          </a:p>
        </p:txBody>
      </p:sp>
      <p:sp>
        <p:nvSpPr>
          <p:cNvPr id="41" name="TextBox 40"/>
          <p:cNvSpPr txBox="1"/>
          <p:nvPr/>
        </p:nvSpPr>
        <p:spPr>
          <a:xfrm>
            <a:off x="6629400" y="4315968"/>
            <a:ext cx="4663440" cy="274320"/>
          </a:xfrm>
          <a:prstGeom prst="rect">
            <a:avLst/>
          </a:prstGeom>
          <a:noFill/>
        </p:spPr>
        <p:txBody>
          <a:bodyPr wrap="square" lIns="0" rIns="0" tIns="0" bIns="0" anchor="t">
            <a:spAutoFit/>
          </a:bodyPr>
          <a:lstStyle/>
          <a:p>
            <a:pPr algn="l" marL="0" indent="0">
              <a:buNone/>
            </a:pPr>
            <a:r>
              <a:rPr lang="en-US" sz="1150" b="0" i="1" dirty="0">
                <a:solidFill>
                  <a:srgbClr val="56606B"/>
                </a:solidFill>
                <a:latin typeface="Calibri"/>
                <a:ea typeface="Calibri"/>
                <a:cs typeface="Calibri"/>
              </a:rPr>
              <a:t>GARCH conditional-variance state  (stage 3)</a:t>
            </a:r>
          </a:p>
        </p:txBody>
      </p:sp>
      <p:sp>
        <p:nvSpPr>
          <p:cNvPr id="42" name="TextBox 41"/>
          <p:cNvSpPr txBox="1"/>
          <p:nvPr/>
        </p:nvSpPr>
        <p:spPr>
          <a:xfrm>
            <a:off x="6629400" y="4617720"/>
            <a:ext cx="4663440" cy="320040"/>
          </a:xfrm>
          <a:prstGeom prst="rect">
            <a:avLst/>
          </a:prstGeom>
          <a:noFill/>
        </p:spPr>
        <p:txBody>
          <a:bodyPr wrap="square" lIns="0" rIns="0" tIns="0" bIns="0" anchor="t">
            <a:spAutoFit/>
          </a:bodyPr>
          <a:lstStyle/>
          <a:p>
            <a:pPr algn="l" marL="0" indent="0">
              <a:buNone/>
            </a:pPr>
            <a:r>
              <a:rPr lang="en-US" sz="1300" b="0" dirty="0">
                <a:solidFill>
                  <a:srgbClr val="56606B"/>
                </a:solidFill>
                <a:latin typeface="Calibri"/>
                <a:ea typeface="Calibri"/>
                <a:cs typeface="Calibri"/>
              </a:rPr>
              <a:t>Dataset A  </a:t>
            </a:r>
            <a:r>
              <a:rPr lang="en-US" sz="1400" b="1" dirty="0">
                <a:solidFill>
                  <a:srgbClr val="21295C"/>
                </a:solidFill>
                <a:latin typeface="Calibri"/>
                <a:ea typeface="Calibri"/>
                <a:cs typeface="Calibri"/>
              </a:rPr>
              <a:t>0.4137</a:t>
            </a:r>
            <a:r>
              <a:rPr lang="en-US" sz="1300" b="0" dirty="0">
                <a:solidFill>
                  <a:srgbClr val="56606B"/>
                </a:solidFill>
                <a:latin typeface="Calibri"/>
                <a:ea typeface="Calibri"/>
                <a:cs typeface="Calibri"/>
              </a:rPr>
              <a:t>      Dataset B  </a:t>
            </a:r>
            <a:r>
              <a:rPr lang="en-US" sz="1400" b="1" dirty="0">
                <a:solidFill>
                  <a:srgbClr val="21295C"/>
                </a:solidFill>
                <a:latin typeface="Calibri"/>
                <a:ea typeface="Calibri"/>
                <a:cs typeface="Calibri"/>
              </a:rPr>
              <a:t>0.7511</a:t>
            </a:r>
          </a:p>
        </p:txBody>
      </p:sp>
      <p:sp>
        <p:nvSpPr>
          <p:cNvPr id="43" name="Rounded Rectangle 42"/>
          <p:cNvSpPr/>
          <p:nvPr/>
        </p:nvSpPr>
        <p:spPr>
          <a:xfrm>
            <a:off x="10012680" y="3675887"/>
            <a:ext cx="1371600" cy="457200"/>
          </a:xfrm>
          <a:prstGeom prst="roundRect">
            <a:avLst>
              <a:gd name="adj" fmla="val 3599"/>
            </a:avLst>
          </a:prstGeom>
          <a:solidFill>
            <a:srgbClr val="065A8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012680" y="3675887"/>
            <a:ext cx="1371600" cy="457200"/>
          </a:xfrm>
          <a:prstGeom prst="rect">
            <a:avLst/>
          </a:prstGeom>
          <a:noFill/>
        </p:spPr>
        <p:txBody>
          <a:bodyPr wrap="square" lIns="0" rIns="0" tIns="0" bIns="0" anchor="ctr">
            <a:spAutoFit/>
          </a:bodyPr>
          <a:lstStyle/>
          <a:p>
            <a:pPr algn="ctr" marL="0" indent="0">
              <a:buNone/>
            </a:pPr>
            <a:r>
              <a:rPr lang="en-US" sz="1250" b="1" dirty="0">
                <a:solidFill>
                  <a:srgbClr val="FFFFFF"/>
                </a:solidFill>
                <a:latin typeface="Calibri"/>
                <a:ea typeface="Calibri"/>
                <a:cs typeface="Calibri"/>
              </a:rPr>
              <a:t>1.82× gap</a:t>
            </a:r>
          </a:p>
        </p:txBody>
      </p:sp>
      <p:sp>
        <p:nvSpPr>
          <p:cNvPr id="45" name="Rounded Rectangle 44"/>
          <p:cNvSpPr/>
          <p:nvPr/>
        </p:nvSpPr>
        <p:spPr>
          <a:xfrm>
            <a:off x="548640" y="5257800"/>
            <a:ext cx="11109960" cy="1005840"/>
          </a:xfrm>
          <a:prstGeom prst="roundRect">
            <a:avLst>
              <a:gd name="adj" fmla="val 3599"/>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22960" y="5349240"/>
            <a:ext cx="10607040" cy="411480"/>
          </a:xfrm>
          <a:prstGeom prst="rect">
            <a:avLst/>
          </a:prstGeom>
          <a:noFill/>
        </p:spPr>
        <p:txBody>
          <a:bodyPr wrap="square" lIns="0" rIns="0" tIns="0" bIns="0" anchor="ctr">
            <a:spAutoFit/>
          </a:bodyPr>
          <a:lstStyle/>
          <a:p>
            <a:pPr algn="l" marL="0" indent="0">
              <a:buNone/>
            </a:pPr>
            <a:r>
              <a:rPr lang="en-US" sz="1700" b="1" dirty="0">
                <a:solidFill>
                  <a:srgbClr val="FFFFFF"/>
                </a:solidFill>
                <a:latin typeface="Cambria"/>
                <a:ea typeface="Cambria"/>
                <a:cs typeface="Cambria"/>
              </a:rPr>
              <a:t>Fair strike  K</a:t>
            </a:r>
            <a:r>
              <a:rPr lang="en-US" sz="1700" b="1" baseline="-25000" dirty="0">
                <a:solidFill>
                  <a:srgbClr val="FFFFFF"/>
                </a:solidFill>
                <a:latin typeface="Cambria"/>
                <a:ea typeface="Cambria"/>
                <a:cs typeface="Cambria"/>
              </a:rPr>
              <a:t>var</a:t>
            </a:r>
            <a:r>
              <a:rPr lang="en-US" sz="1700" b="1" dirty="0">
                <a:solidFill>
                  <a:srgbClr val="FFFFFF"/>
                </a:solidFill>
                <a:latin typeface="Cambria"/>
                <a:ea typeface="Cambria"/>
                <a:cs typeface="Cambria"/>
              </a:rPr>
              <a:t>  =  h(t₀) × C₀</a:t>
            </a:r>
            <a:r>
              <a:rPr lang="en-US" sz="1250" b="0" i="1" dirty="0">
                <a:solidFill>
                  <a:srgbClr val="CADCFC"/>
                </a:solidFill>
                <a:latin typeface="Calibri"/>
                <a:ea typeface="Calibri"/>
                <a:cs typeface="Calibri"/>
              </a:rPr>
              <a:t>     piecewise-constant h (Tol 1997), θ = 0 benchmark</a:t>
            </a:r>
          </a:p>
        </p:txBody>
      </p:sp>
      <p:sp>
        <p:nvSpPr>
          <p:cNvPr id="47" name="TextBox 46"/>
          <p:cNvSpPr txBox="1"/>
          <p:nvPr/>
        </p:nvSpPr>
        <p:spPr>
          <a:xfrm>
            <a:off x="822960" y="5779008"/>
            <a:ext cx="10607040" cy="384048"/>
          </a:xfrm>
          <a:prstGeom prst="rect">
            <a:avLst/>
          </a:prstGeom>
          <a:noFill/>
        </p:spPr>
        <p:txBody>
          <a:bodyPr wrap="square" lIns="0" rIns="0" tIns="0" bIns="0" anchor="ctr">
            <a:spAutoFit/>
          </a:bodyPr>
          <a:lstStyle/>
          <a:p>
            <a:pPr algn="l" marL="0" indent="0">
              <a:buNone/>
            </a:pPr>
            <a:r>
              <a:rPr lang="en-US" sz="1600" b="1" dirty="0">
                <a:solidFill>
                  <a:srgbClr val="E8A33D"/>
                </a:solidFill>
                <a:latin typeface="Calibri"/>
                <a:ea typeface="Calibri"/>
                <a:cs typeface="Calibri"/>
              </a:rPr>
              <a:t>0.05435 (Dataset A)</a:t>
            </a:r>
            <a:r>
              <a:rPr lang="en-US" sz="1400" b="0" dirty="0">
                <a:solidFill>
                  <a:srgbClr val="CADCFC"/>
                </a:solidFill>
                <a:latin typeface="Calibri"/>
                <a:ea typeface="Calibri"/>
                <a:cs typeface="Calibri"/>
              </a:rPr>
              <a:t>        vs        </a:t>
            </a:r>
            <a:r>
              <a:rPr lang="en-US" sz="1600" b="1" dirty="0">
                <a:solidFill>
                  <a:srgbClr val="E8A33D"/>
                </a:solidFill>
                <a:latin typeface="Calibri"/>
                <a:ea typeface="Calibri"/>
                <a:cs typeface="Calibri"/>
              </a:rPr>
              <a:t>0.87336 (Dataset B)</a:t>
            </a:r>
          </a:p>
        </p:txBody>
      </p:sp>
      <p:sp>
        <p:nvSpPr>
          <p:cNvPr id="48" name="TextBox 47"/>
          <p:cNvSpPr txBox="1"/>
          <p:nvPr/>
        </p:nvSpPr>
        <p:spPr>
          <a:xfrm>
            <a:off x="548640" y="6510528"/>
            <a:ext cx="8229600" cy="256032"/>
          </a:xfrm>
          <a:prstGeom prst="rect">
            <a:avLst/>
          </a:prstGeom>
          <a:noFill/>
        </p:spPr>
        <p:txBody>
          <a:bodyPr wrap="square" lIns="0" rIns="0" tIns="0" bIns="0" anchor="ctr">
            <a:spAutoFit/>
          </a:bodyPr>
          <a:lstStyle/>
          <a:p>
            <a:pPr algn="l" marL="0" indent="0">
              <a:buNone/>
            </a:pPr>
            <a:r>
              <a:rPr lang="en-US" sz="900" b="0" i="1" dirty="0">
                <a:solidFill>
                  <a:srgbClr val="56606B"/>
                </a:solidFill>
                <a:latin typeface="Calibri"/>
                <a:ea typeface="Calibri"/>
                <a:cs typeface="Calibri"/>
              </a:rPr>
              <a:t>Wind Speed Modelling for Derivatives Pricing — Final Defence</a:t>
            </a:r>
          </a:p>
        </p:txBody>
      </p:sp>
      <p:sp>
        <p:nvSpPr>
          <p:cNvPr id="49" name="TextBox 48"/>
          <p:cNvSpPr txBox="1"/>
          <p:nvPr/>
        </p:nvSpPr>
        <p:spPr>
          <a:xfrm>
            <a:off x="11365992" y="6510528"/>
            <a:ext cx="365760" cy="256032"/>
          </a:xfrm>
          <a:prstGeom prst="rect">
            <a:avLst/>
          </a:prstGeom>
          <a:noFill/>
        </p:spPr>
        <p:txBody>
          <a:bodyPr wrap="square" lIns="0" rIns="0" tIns="0" bIns="0" anchor="ctr">
            <a:spAutoFit/>
          </a:bodyPr>
          <a:lstStyle/>
          <a:p>
            <a:pPr algn="r" marL="0" indent="0">
              <a:buNone/>
            </a:pPr>
            <a:r>
              <a:rPr lang="en-US" sz="900" b="0" dirty="0">
                <a:solidFill>
                  <a:srgbClr val="56606B"/>
                </a:solidFill>
                <a:latin typeface="Calibri"/>
                <a:ea typeface="Calibri"/>
                <a:cs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algn="l" marL="0" indent="0">
              <a:buNone/>
            </a:pPr>
            <a:r>
              <a:rPr lang="en-US" sz="1250" b="1" spc="200" kern="0" dirty="0">
                <a:solidFill>
                  <a:srgbClr val="1C7293"/>
                </a:solidFill>
                <a:latin typeface="Calibri"/>
                <a:ea typeface="Calibri"/>
                <a:cs typeface="Calibri"/>
              </a:rPr>
              <a:t>BACKUP B3 · CH. 2–3 — MODEL VALIDATION</a:t>
            </a:r>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Four specifications, one conditional mean</a:t>
            </a:r>
            <a:endParaRPr lang="en-US" sz="2700" dirty="0"/>
          </a:p>
        </p:txBody>
      </p:sp>
      <p:sp>
        <p:nvSpPr>
          <p:cNvPr id="4" name="Shape 2"/>
          <p:cNvSpPr/>
          <p:nvPr/>
        </p:nvSpPr>
        <p:spPr>
          <a:xfrm>
            <a:off x="548640" y="1783080"/>
            <a:ext cx="11109960" cy="1554480"/>
          </a:xfrm>
          <a:prstGeom prst="roundRect">
            <a:avLst>
              <a:gd name="adj" fmla="val 5294"/>
            </a:avLst>
          </a:prstGeom>
          <a:solidFill>
            <a:srgbClr val="EEF3F7"/>
          </a:solidFill>
          <a:ln/>
        </p:spPr>
        <p:txBody>
          <a:bodyPr/>
          <a:p/>
        </p:txBody>
      </p:sp>
      <p:sp>
        <p:nvSpPr>
          <p:cNvPr id="5" name="Text 3"/>
          <p:cNvSpPr/>
          <p:nvPr/>
        </p:nvSpPr>
        <p:spPr>
          <a:xfrm>
            <a:off x="868680" y="1965960"/>
            <a:ext cx="10424160" cy="411480"/>
          </a:xfrm>
          <a:prstGeom prst="rect">
            <a:avLst/>
          </a:prstGeom>
          <a:noFill/>
          <a:ln/>
        </p:spPr>
        <p:txBody>
          <a:bodyPr wrap="square" lIns="0" tIns="0" rIns="0" bIns="0" rtlCol="0" anchor="ctr"/>
          <a:lstStyle/>
          <a:p>
            <a:pPr indent="0" marL="0">
              <a:buNone/>
            </a:pPr>
            <a:r>
              <a:rPr lang="en-US" sz="1800" b="1" dirty="0">
                <a:solidFill>
                  <a:srgbClr val="21295C"/>
                </a:solidFill>
                <a:latin typeface="Cambria" pitchFamily="34" charset="0"/>
                <a:ea typeface="Cambria" pitchFamily="34" charset="-122"/>
                <a:cs typeface="Cambria" pitchFamily="34" charset="-120"/>
              </a:rPr>
              <a:t>AR(4)  •  AR(4)+GARCH  •  CAR(4)+Gaussian  •  CAR(4)+NIG</a:t>
            </a:r>
            <a:endParaRPr lang="en-US" sz="1800" dirty="0"/>
          </a:p>
        </p:txBody>
      </p:sp>
      <p:sp>
        <p:nvSpPr>
          <p:cNvPr id="6" name="Text 4"/>
          <p:cNvSpPr/>
          <p:nvPr/>
        </p:nvSpPr>
        <p:spPr>
          <a:xfrm>
            <a:off x="868680" y="2423160"/>
            <a:ext cx="10424160" cy="822960"/>
          </a:xfrm>
          <a:prstGeom prst="rect">
            <a:avLst/>
          </a:prstGeom>
          <a:noFill/>
          <a:ln/>
        </p:spPr>
        <p:txBody>
          <a:bodyPr wrap="square" lIns="0" tIns="0" rIns="0" bIns="0" rtlCol="0" anchor="ctr"/>
          <a:lstStyle/>
          <a:p>
            <a:pPr indent="0" marL="0">
              <a:lnSpc>
                <a:spcPct val="120000"/>
              </a:lnSpc>
              <a:buNone/>
            </a:pPr>
            <a:r>
              <a:rPr lang="en-US" sz="1350" dirty="0">
                <a:solidFill>
                  <a:srgbClr val="56606B"/>
                </a:solidFill>
                <a:latin typeface="Calibri" pitchFamily="34" charset="0"/>
                <a:ea typeface="Calibri" pitchFamily="34" charset="-122"/>
                <a:cs typeface="Calibri" pitchFamily="34" charset="-120"/>
              </a:rPr>
              <a:t>share one conditional mean by construction → indistinguishable on one-day-ahead forecast accuracy. They separate only on pricing and hedging criteria — which is why Chapter 3 does not rank them by RMSE alone.</a:t>
            </a:r>
            <a:endParaRPr lang="en-US" sz="1350" dirty="0"/>
          </a:p>
        </p:txBody>
      </p:sp>
      <p:sp>
        <p:nvSpPr>
          <p:cNvPr id="7" name="Text 5"/>
          <p:cNvSpPr/>
          <p:nvPr/>
        </p:nvSpPr>
        <p:spPr>
          <a:xfrm>
            <a:off x="548640" y="3611880"/>
            <a:ext cx="11109960" cy="320040"/>
          </a:xfrm>
          <a:prstGeom prst="rect">
            <a:avLst/>
          </a:prstGeom>
          <a:noFill/>
          <a:ln/>
        </p:spPr>
        <p:txBody>
          <a:bodyPr wrap="square" lIns="0" tIns="0" rIns="0" bIns="0" rtlCol="0" anchor="ctr"/>
          <a:lstStyle/>
          <a:p>
            <a:pPr indent="0" marL="0">
              <a:buNone/>
            </a:pPr>
            <a:r>
              <a:rPr lang="en-US" sz="1250" b="1" spc="150" kern="0" dirty="0">
                <a:solidFill>
                  <a:srgbClr val="1C7293"/>
                </a:solidFill>
                <a:latin typeface="Calibri" pitchFamily="34" charset="0"/>
                <a:ea typeface="Calibri" pitchFamily="34" charset="-122"/>
                <a:cs typeface="Calibri" pitchFamily="34" charset="-120"/>
              </a:rPr>
              <a:t>ALL FOUR STILL REJECT PERSISTENCE, DECISIVELY</a:t>
            </a:r>
            <a:endParaRPr lang="en-US" sz="1250" dirty="0"/>
          </a:p>
        </p:txBody>
      </p:sp>
      <p:sp>
        <p:nvSpPr>
          <p:cNvPr id="8" name="Shape 6"/>
          <p:cNvSpPr/>
          <p:nvPr/>
        </p:nvSpPr>
        <p:spPr>
          <a:xfrm>
            <a:off x="548640" y="4023360"/>
            <a:ext cx="5349240" cy="2057400"/>
          </a:xfrm>
          <a:prstGeom prst="roundRect">
            <a:avLst>
              <a:gd name="adj" fmla="val 4000"/>
            </a:avLst>
          </a:prstGeom>
          <a:solidFill>
            <a:srgbClr val="F7FAFC"/>
          </a:solidFill>
          <a:ln/>
          <a:effectLst>
            <a:outerShdw sx="100000" sy="100000" kx="0" ky="0" algn="bl" rotWithShape="0" blurRad="88900" dist="25400" dir="5400000">
              <a:srgbClr val="1C1C1C">
                <a:alpha val="16000"/>
              </a:srgbClr>
            </a:outerShdw>
          </a:effectLst>
        </p:spPr>
        <p:txBody>
          <a:bodyPr/>
          <a:p/>
        </p:txBody>
      </p:sp>
      <p:sp>
        <p:nvSpPr>
          <p:cNvPr id="9" name="Text 7"/>
          <p:cNvSpPr/>
          <p:nvPr/>
        </p:nvSpPr>
        <p:spPr>
          <a:xfrm>
            <a:off x="914400" y="4297680"/>
            <a:ext cx="4617720" cy="365760"/>
          </a:xfrm>
          <a:prstGeom prst="rect">
            <a:avLst/>
          </a:prstGeom>
          <a:noFill/>
          <a:ln/>
        </p:spPr>
        <p:txBody>
          <a:bodyPr wrap="square" lIns="0" tIns="0" rIns="0" bIns="0" rtlCol="0" anchor="ctr"/>
          <a:lstStyle/>
          <a:p>
            <a:pPr indent="0" marL="0">
              <a:buNone/>
            </a:pPr>
            <a:r>
              <a:rPr lang="en-US" sz="1250" i="1" dirty="0">
                <a:solidFill>
                  <a:srgbClr val="56606B"/>
                </a:solidFill>
                <a:latin typeface="Calibri" pitchFamily="34" charset="0"/>
                <a:ea typeface="Calibri" pitchFamily="34" charset="-122"/>
                <a:cs typeface="Calibri" pitchFamily="34" charset="-120"/>
              </a:rPr>
              <a:t>Diebold–Mariano statistic vs. persistence</a:t>
            </a:r>
            <a:endParaRPr lang="en-US" sz="1250" dirty="0"/>
          </a:p>
        </p:txBody>
      </p:sp>
      <p:sp>
        <p:nvSpPr>
          <p:cNvPr id="10" name="Text 8"/>
          <p:cNvSpPr/>
          <p:nvPr/>
        </p:nvSpPr>
        <p:spPr>
          <a:xfrm>
            <a:off x="914400" y="4617720"/>
            <a:ext cx="4617720" cy="914400"/>
          </a:xfrm>
          <a:prstGeom prst="rect">
            <a:avLst/>
          </a:prstGeom>
          <a:noFill/>
          <a:ln/>
        </p:spPr>
        <p:txBody>
          <a:bodyPr wrap="square" lIns="0" tIns="0" rIns="0" bIns="0" rtlCol="0" anchor="ctr"/>
          <a:lstStyle/>
          <a:p>
            <a:pPr indent="0" marL="0">
              <a:buNone/>
            </a:pPr>
            <a:r>
              <a:rPr lang="en-US" sz="4600" b="1" dirty="0">
                <a:solidFill>
                  <a:srgbClr val="C8791A"/>
                </a:solidFill>
                <a:latin typeface="Cambria" pitchFamily="34" charset="0"/>
                <a:ea typeface="Cambria" pitchFamily="34" charset="-122"/>
                <a:cs typeface="Cambria" pitchFamily="34" charset="-120"/>
              </a:rPr>
              <a:t>+8.27</a:t>
            </a:r>
            <a:endParaRPr lang="en-US" sz="4600" dirty="0"/>
          </a:p>
        </p:txBody>
      </p:sp>
      <p:sp>
        <p:nvSpPr>
          <p:cNvPr id="11" name="Text 9"/>
          <p:cNvSpPr/>
          <p:nvPr/>
        </p:nvSpPr>
        <p:spPr>
          <a:xfrm>
            <a:off x="914400" y="5532120"/>
            <a:ext cx="4617720" cy="457200"/>
          </a:xfrm>
          <a:prstGeom prst="rect">
            <a:avLst/>
          </a:prstGeom>
          <a:noFill/>
          <a:ln/>
        </p:spPr>
        <p:txBody>
          <a:bodyPr wrap="square" lIns="0" tIns="0" rIns="0" bIns="0" rtlCol="0" anchor="ctr"/>
          <a:lstStyle/>
          <a:p>
            <a:pPr algn="l" marL="0" indent="0">
              <a:buNone/>
            </a:pPr>
            <a:r>
              <a:rPr lang="en-US" sz="1250" b="1" dirty="0">
                <a:solidFill>
                  <a:srgbClr val="21295C"/>
                </a:solidFill>
                <a:latin typeface="Calibri"/>
                <a:ea typeface="Calibri"/>
                <a:cs typeface="Calibri"/>
              </a:rPr>
              <a:t>Dataset A — RMSE 0.8868 → 0.7802 (12.0% better than persistence)</a:t>
            </a:r>
          </a:p>
        </p:txBody>
      </p:sp>
      <p:sp>
        <p:nvSpPr>
          <p:cNvPr id="12" name="Shape 10"/>
          <p:cNvSpPr/>
          <p:nvPr/>
        </p:nvSpPr>
        <p:spPr>
          <a:xfrm>
            <a:off x="6309360" y="4023360"/>
            <a:ext cx="5349240" cy="2057400"/>
          </a:xfrm>
          <a:prstGeom prst="roundRect">
            <a:avLst>
              <a:gd name="adj" fmla="val 4000"/>
            </a:avLst>
          </a:prstGeom>
          <a:solidFill>
            <a:srgbClr val="F7FAFC"/>
          </a:solidFill>
          <a:ln/>
          <a:effectLst>
            <a:outerShdw sx="100000" sy="100000" kx="0" ky="0" algn="bl" rotWithShape="0" blurRad="88900" dist="25400" dir="5400000">
              <a:srgbClr val="1C1C1C">
                <a:alpha val="16000"/>
              </a:srgbClr>
            </a:outerShdw>
          </a:effectLst>
        </p:spPr>
        <p:txBody>
          <a:bodyPr/>
          <a:p/>
        </p:txBody>
      </p:sp>
      <p:sp>
        <p:nvSpPr>
          <p:cNvPr id="13" name="Text 11"/>
          <p:cNvSpPr/>
          <p:nvPr/>
        </p:nvSpPr>
        <p:spPr>
          <a:xfrm>
            <a:off x="6675120" y="4297680"/>
            <a:ext cx="4617720" cy="365760"/>
          </a:xfrm>
          <a:prstGeom prst="rect">
            <a:avLst/>
          </a:prstGeom>
          <a:noFill/>
          <a:ln/>
        </p:spPr>
        <p:txBody>
          <a:bodyPr wrap="square" lIns="0" tIns="0" rIns="0" bIns="0" rtlCol="0" anchor="ctr"/>
          <a:lstStyle/>
          <a:p>
            <a:pPr indent="0" marL="0">
              <a:buNone/>
            </a:pPr>
            <a:r>
              <a:rPr lang="en-US" sz="1250" i="1" dirty="0">
                <a:solidFill>
                  <a:srgbClr val="56606B"/>
                </a:solidFill>
                <a:latin typeface="Calibri" pitchFamily="34" charset="0"/>
                <a:ea typeface="Calibri" pitchFamily="34" charset="-122"/>
                <a:cs typeface="Calibri" pitchFamily="34" charset="-120"/>
              </a:rPr>
              <a:t>Diebold–Mariano statistic vs. persistence</a:t>
            </a:r>
            <a:endParaRPr lang="en-US" sz="1250" dirty="0"/>
          </a:p>
        </p:txBody>
      </p:sp>
      <p:sp>
        <p:nvSpPr>
          <p:cNvPr id="14" name="Text 12"/>
          <p:cNvSpPr/>
          <p:nvPr/>
        </p:nvSpPr>
        <p:spPr>
          <a:xfrm>
            <a:off x="6675120" y="4617720"/>
            <a:ext cx="4617720" cy="914400"/>
          </a:xfrm>
          <a:prstGeom prst="rect">
            <a:avLst/>
          </a:prstGeom>
          <a:noFill/>
          <a:ln/>
        </p:spPr>
        <p:txBody>
          <a:bodyPr wrap="square" lIns="0" tIns="0" rIns="0" bIns="0" rtlCol="0" anchor="ctr"/>
          <a:lstStyle/>
          <a:p>
            <a:pPr indent="0" marL="0">
              <a:buNone/>
            </a:pPr>
            <a:r>
              <a:rPr lang="en-US" sz="4600" b="1" dirty="0">
                <a:solidFill>
                  <a:srgbClr val="C8791A"/>
                </a:solidFill>
                <a:latin typeface="Cambria" pitchFamily="34" charset="0"/>
                <a:ea typeface="Cambria" pitchFamily="34" charset="-122"/>
                <a:cs typeface="Cambria" pitchFamily="34" charset="-120"/>
              </a:rPr>
              <a:t>+16.76</a:t>
            </a:r>
            <a:endParaRPr lang="en-US" sz="4600" dirty="0"/>
          </a:p>
        </p:txBody>
      </p:sp>
      <p:sp>
        <p:nvSpPr>
          <p:cNvPr id="15" name="Text 13"/>
          <p:cNvSpPr/>
          <p:nvPr/>
        </p:nvSpPr>
        <p:spPr>
          <a:xfrm>
            <a:off x="6675120" y="5532120"/>
            <a:ext cx="4617720" cy="457200"/>
          </a:xfrm>
          <a:prstGeom prst="rect">
            <a:avLst/>
          </a:prstGeom>
          <a:noFill/>
          <a:ln/>
        </p:spPr>
        <p:txBody>
          <a:bodyPr wrap="square" lIns="0" tIns="0" rIns="0" bIns="0" rtlCol="0" anchor="ctr"/>
          <a:lstStyle/>
          <a:p>
            <a:pPr algn="l" marL="0" indent="0">
              <a:buNone/>
            </a:pPr>
            <a:r>
              <a:rPr lang="en-US" sz="1250" b="1" dirty="0">
                <a:solidFill>
                  <a:srgbClr val="21295C"/>
                </a:solidFill>
                <a:latin typeface="Calibri"/>
                <a:ea typeface="Calibri"/>
                <a:cs typeface="Calibri"/>
              </a:rPr>
              <a:t>Dataset B — RMSE 1.0046 → 0.8681 (13.6% better than persistence)</a:t>
            </a:r>
          </a:p>
        </p:txBody>
      </p:sp>
      <p:sp>
        <p:nvSpPr>
          <p:cNvPr id="16" name="Text 14"/>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7" name="Text 15"/>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18</a:t>
            </a:r>
            <a:endParaRPr lang="en-US" sz="900" dirty="0"/>
          </a:p>
        </p:txBody>
      </p:sp>
      <p:sp>
        <p:nvSpPr>
          <p:cNvPr id="18" name="TextBox 17"/>
          <p:cNvSpPr txBox="1"/>
          <p:nvPr/>
        </p:nvSpPr>
        <p:spPr>
          <a:xfrm>
            <a:off x="548640" y="6144768"/>
            <a:ext cx="11109960" cy="292608"/>
          </a:xfrm>
          <a:prstGeom prst="rect">
            <a:avLst/>
          </a:prstGeom>
          <a:noFill/>
        </p:spPr>
        <p:txBody>
          <a:bodyPr wrap="square" lIns="0" rIns="0" tIns="0" bIns="0" anchor="t">
            <a:spAutoFit/>
          </a:bodyPr>
          <a:lstStyle/>
          <a:p>
            <a:pPr algn="l" marL="0" indent="0">
              <a:buNone/>
            </a:pPr>
            <a:r>
              <a:rPr lang="en-US" sz="1000" b="0" i="1" dirty="0">
                <a:solidFill>
                  <a:srgbClr val="5A6470"/>
                </a:solidFill>
                <a:latin typeface="Calibri"/>
                <a:ea typeface="Calibri"/>
                <a:cs typeface="Calibri"/>
              </a:rPr>
              <a:t>Full standardised series, dₜ = e²(persistence) − e²(model), §3.2. Chapter 2's held-out split reports −3.681 / −7.019 under the reversed sign convention — same test, same conclusion (B4).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algn="l" indent="0" marL="0">
              <a:buNone/>
            </a:pPr>
            <a:r>
              <a:rPr lang="en-US" sz="1250" b="1" spc="200" kern="0" dirty="0">
                <a:solidFill>
                  <a:srgbClr val="1C7293"/>
                </a:solidFill>
                <a:latin typeface="Calibri" pitchFamily="34" charset="0"/>
                <a:ea typeface="Calibri" pitchFamily="34" charset="-122"/>
                <a:cs typeface="Calibri" pitchFamily="34" charset="-120"/>
              </a:rPr>
              <a:t>LOOKING AHEAD</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Limitations, stated — and the work they motivate</a:t>
            </a:r>
            <a:endParaRPr lang="en-US" sz="2700" dirty="0"/>
          </a:p>
        </p:txBody>
      </p:sp>
      <p:sp>
        <p:nvSpPr>
          <p:cNvPr id="4" name="Shape 2"/>
          <p:cNvSpPr/>
          <p:nvPr/>
        </p:nvSpPr>
        <p:spPr>
          <a:xfrm>
            <a:off x="548640" y="1828800"/>
            <a:ext cx="5394960" cy="4160520"/>
          </a:xfrm>
          <a:prstGeom prst="roundRect">
            <a:avLst>
              <a:gd name="adj" fmla="val 1978"/>
            </a:avLst>
          </a:prstGeom>
          <a:solidFill>
            <a:srgbClr val="F7FAFC"/>
          </a:solidFill>
          <a:ln/>
          <a:effectLst>
            <a:outerShdw sx="100000" sy="100000" kx="0" ky="0" algn="bl" rotWithShape="0" blurRad="88900" dist="25400" dir="5400000">
              <a:srgbClr val="1C1C1C">
                <a:alpha val="16000"/>
              </a:srgbClr>
            </a:outerShdw>
          </a:effectLst>
        </p:spPr>
        <p:txBody>
          <a:bodyPr/>
          <a:p/>
        </p:txBody>
      </p:sp>
      <p:sp>
        <p:nvSpPr>
          <p:cNvPr id="5" name="Text 3"/>
          <p:cNvSpPr/>
          <p:nvPr/>
        </p:nvSpPr>
        <p:spPr>
          <a:xfrm>
            <a:off x="868680" y="2057400"/>
            <a:ext cx="4754880" cy="320040"/>
          </a:xfrm>
          <a:prstGeom prst="rect">
            <a:avLst/>
          </a:prstGeom>
          <a:noFill/>
          <a:ln/>
        </p:spPr>
        <p:txBody>
          <a:bodyPr wrap="square" lIns="0" tIns="0" rIns="0" bIns="0" rtlCol="0" anchor="ctr"/>
          <a:lstStyle/>
          <a:p>
            <a:pPr indent="0" marL="0">
              <a:buNone/>
            </a:pPr>
            <a:r>
              <a:rPr lang="en-US" sz="1250" b="1" spc="120" kern="0" dirty="0">
                <a:solidFill>
                  <a:srgbClr val="1C7293"/>
                </a:solidFill>
                <a:latin typeface="Calibri" pitchFamily="34" charset="0"/>
                <a:ea typeface="Calibri" pitchFamily="34" charset="-122"/>
                <a:cs typeface="Calibri" pitchFamily="34" charset="-120"/>
              </a:rPr>
              <a:t>LIMITATIONS</a:t>
            </a:r>
            <a:endParaRPr lang="en-US" sz="1250" dirty="0"/>
          </a:p>
        </p:txBody>
      </p:sp>
      <p:sp>
        <p:nvSpPr>
          <p:cNvPr id="6" name="Text 4"/>
          <p:cNvSpPr/>
          <p:nvPr/>
        </p:nvSpPr>
        <p:spPr>
          <a:xfrm>
            <a:off x="868680" y="2450592"/>
            <a:ext cx="4754880" cy="3383280"/>
          </a:xfrm>
          <a:prstGeom prst="rect">
            <a:avLst/>
          </a:prstGeom>
          <a:noFill/>
          <a:ln/>
        </p:spPr>
        <p:txBody>
          <a:bodyPr wrap="square" lIns="0" tIns="0" rIns="0" bIns="0" rtlCol="0" anchor="t"/>
          <a:lstStyle/>
          <a:p>
            <a:pPr algn="l" marL="228600" indent="-228600">
              <a:lnSpc>
                <a:spcPct val="105000"/>
              </a:lnSpc>
              <a:spcAft>
                <a:spcPts val="700"/>
              </a:spcAft>
              <a:buClr>
                <a:srgbClr val="1C7293"/>
              </a:buClr>
              <a:buFont typeface="Arial"/>
              <a:buChar char="•"/>
            </a:pPr>
            <a:r>
              <a:rPr lang="en-US" sz="1250" b="0" dirty="0">
                <a:solidFill>
                  <a:srgbClr val="56606B"/>
                </a:solidFill>
                <a:latin typeface="Calibri"/>
                <a:ea typeface="Calibri"/>
                <a:cs typeface="Calibri"/>
              </a:rPr>
              <a:t>θ = 0 is a benchmark in the absence of EEX option-implied data — not a claim the risk premium is zero.</a:t>
            </a:r>
          </a:p>
          <a:p>
            <a:pPr algn="l" marL="228600" indent="-228600">
              <a:lnSpc>
                <a:spcPct val="105000"/>
              </a:lnSpc>
              <a:spcAft>
                <a:spcPts val="700"/>
              </a:spcAft>
              <a:buClr>
                <a:srgbClr val="1C7293"/>
              </a:buClr>
              <a:buFont typeface="Arial"/>
              <a:buChar char="•"/>
            </a:pPr>
            <a:r>
              <a:rPr lang="en-US" sz="1250" b="0" dirty="0">
                <a:solidFill>
                  <a:srgbClr val="56606B"/>
                </a:solidFill>
                <a:latin typeface="Calibri"/>
                <a:ea typeface="Calibri"/>
                <a:cs typeface="Calibri"/>
              </a:rPr>
              <a:t>Cross-dataset strikes sit on two Box–Cox scales and two pricing dates: the headline VoI is not scale-free.</a:t>
            </a:r>
          </a:p>
          <a:p>
            <a:pPr algn="l" marL="228600" indent="-228600">
              <a:lnSpc>
                <a:spcPct val="105000"/>
              </a:lnSpc>
              <a:spcAft>
                <a:spcPts val="700"/>
              </a:spcAft>
              <a:buClr>
                <a:srgbClr val="1C7293"/>
              </a:buClr>
              <a:buFont typeface="Arial"/>
              <a:buChar char="•"/>
            </a:pPr>
            <a:r>
              <a:rPr lang="en-US" sz="1250" b="0" dirty="0">
                <a:solidFill>
                  <a:srgbClr val="56606B"/>
                </a:solidFill>
                <a:latin typeface="Calibri"/>
                <a:ea typeface="Calibri"/>
                <a:cs typeface="Calibri"/>
              </a:rPr>
              <a:t>One grid point vs a national fleet: spatial averaging caps R² and explains the 3–4× variance overstatement.</a:t>
            </a:r>
          </a:p>
          <a:p>
            <a:pPr algn="l" marL="228600" indent="-228600">
              <a:lnSpc>
                <a:spcPct val="105000"/>
              </a:lnSpc>
              <a:spcAft>
                <a:spcPts val="700"/>
              </a:spcAft>
              <a:buClr>
                <a:srgbClr val="1C7293"/>
              </a:buClr>
              <a:buFont typeface="Arial"/>
              <a:buChar char="•"/>
            </a:pPr>
            <a:r>
              <a:rPr lang="en-US" sz="1250" b="0" dirty="0">
                <a:solidFill>
                  <a:srgbClr val="56606B"/>
                </a:solidFill>
                <a:latin typeface="Calibri"/>
                <a:ea typeface="Calibri"/>
                <a:cs typeface="Calibri"/>
              </a:rPr>
              <a:t>Daily data leave the SV parameters unidentified; Feller holds for B, estimator-dependent for A (backup).</a:t>
            </a:r>
          </a:p>
          <a:p>
            <a:pPr algn="l" marL="228600" indent="-228600">
              <a:lnSpc>
                <a:spcPct val="105000"/>
              </a:lnSpc>
              <a:spcAft>
                <a:spcPts val="700"/>
              </a:spcAft>
              <a:buClr>
                <a:srgbClr val="1C7293"/>
              </a:buClr>
              <a:buFont typeface="Arial"/>
              <a:buChar char="•"/>
            </a:pPr>
            <a:r>
              <a:rPr lang="en-US" sz="1250" b="0" dirty="0">
                <a:solidFill>
                  <a:srgbClr val="56606B"/>
                </a:solidFill>
                <a:latin typeface="Calibri"/>
                <a:ea typeface="Calibri"/>
                <a:cs typeface="Calibri"/>
              </a:rPr>
              <a:t>4 and 10 annual CAWS observations: tail statistics are descriptive, not inferential.</a:t>
            </a:r>
          </a:p>
        </p:txBody>
      </p:sp>
      <p:sp>
        <p:nvSpPr>
          <p:cNvPr id="7" name="Shape 5"/>
          <p:cNvSpPr/>
          <p:nvPr/>
        </p:nvSpPr>
        <p:spPr>
          <a:xfrm>
            <a:off x="6263640" y="1828800"/>
            <a:ext cx="5394960" cy="4160520"/>
          </a:xfrm>
          <a:prstGeom prst="roundRect">
            <a:avLst>
              <a:gd name="adj" fmla="val 1978"/>
            </a:avLst>
          </a:prstGeom>
          <a:solidFill>
            <a:srgbClr val="EEF3F7"/>
          </a:solidFill>
          <a:ln/>
        </p:spPr>
        <p:txBody>
          <a:bodyPr/>
          <a:p/>
        </p:txBody>
      </p:sp>
      <p:sp>
        <p:nvSpPr>
          <p:cNvPr id="8" name="Text 6"/>
          <p:cNvSpPr/>
          <p:nvPr/>
        </p:nvSpPr>
        <p:spPr>
          <a:xfrm>
            <a:off x="6583680" y="2057400"/>
            <a:ext cx="4754880" cy="320040"/>
          </a:xfrm>
          <a:prstGeom prst="rect">
            <a:avLst/>
          </a:prstGeom>
          <a:noFill/>
          <a:ln/>
        </p:spPr>
        <p:txBody>
          <a:bodyPr wrap="square" lIns="0" tIns="0" rIns="0" bIns="0" rtlCol="0" anchor="ctr"/>
          <a:lstStyle/>
          <a:p>
            <a:pPr indent="0" marL="0">
              <a:buNone/>
            </a:pPr>
            <a:r>
              <a:rPr lang="en-US" sz="1250" b="1" spc="120" kern="0" dirty="0">
                <a:solidFill>
                  <a:srgbClr val="1C7293"/>
                </a:solidFill>
                <a:latin typeface="Calibri" pitchFamily="34" charset="0"/>
                <a:ea typeface="Calibri" pitchFamily="34" charset="-122"/>
                <a:cs typeface="Calibri" pitchFamily="34" charset="-120"/>
              </a:rPr>
              <a:t>FUTURE WORK</a:t>
            </a:r>
            <a:endParaRPr lang="en-US" sz="1250" dirty="0"/>
          </a:p>
        </p:txBody>
      </p:sp>
      <p:sp>
        <p:nvSpPr>
          <p:cNvPr id="9" name="Text 7"/>
          <p:cNvSpPr/>
          <p:nvPr/>
        </p:nvSpPr>
        <p:spPr>
          <a:xfrm>
            <a:off x="6583680" y="2450592"/>
            <a:ext cx="4754880" cy="3383280"/>
          </a:xfrm>
          <a:prstGeom prst="rect">
            <a:avLst/>
          </a:prstGeom>
          <a:noFill/>
          <a:ln/>
        </p:spPr>
        <p:txBody>
          <a:bodyPr wrap="square" lIns="0" tIns="0" rIns="0" bIns="0" rtlCol="0" anchor="t"/>
          <a:lstStyle/>
          <a:p>
            <a:pPr algn="l" marL="228600" indent="-228600">
              <a:lnSpc>
                <a:spcPct val="105000"/>
              </a:lnSpc>
              <a:spcAft>
                <a:spcPts val="700"/>
              </a:spcAft>
              <a:buClr>
                <a:srgbClr val="1C7293"/>
              </a:buClr>
              <a:buFont typeface="Arial"/>
              <a:buChar char="•"/>
            </a:pPr>
            <a:r>
              <a:rPr lang="en-US" sz="1250" b="0" dirty="0">
                <a:solidFill>
                  <a:srgbClr val="56606B"/>
                </a:solidFill>
                <a:latin typeface="Calibri"/>
                <a:ea typeface="Calibri"/>
                <a:cs typeface="Calibri"/>
              </a:rPr>
              <a:t>Option-implied θ from EEX power options — needs a joint price–generation model; Carr–Lee as scaffolding.</a:t>
            </a:r>
          </a:p>
          <a:p>
            <a:pPr algn="l" marL="228600" indent="-228600">
              <a:lnSpc>
                <a:spcPct val="105000"/>
              </a:lnSpc>
              <a:spcAft>
                <a:spcPts val="700"/>
              </a:spcAft>
              <a:buClr>
                <a:srgbClr val="1C7293"/>
              </a:buClr>
              <a:buFont typeface="Arial"/>
              <a:buChar char="•"/>
            </a:pPr>
            <a:r>
              <a:rPr lang="en-US" sz="1250" b="0" dirty="0">
                <a:solidFill>
                  <a:srgbClr val="56606B"/>
                </a:solidFill>
                <a:latin typeface="Calibri"/>
                <a:ea typeface="Calibri"/>
                <a:cs typeface="Calibri"/>
              </a:rPr>
              <a:t>Hourly ERA5 at the same coordinates (24 observations per day instead of one) to identify ξ separately from κᵥ.</a:t>
            </a:r>
          </a:p>
          <a:p>
            <a:pPr algn="l" marL="228600" indent="-228600">
              <a:lnSpc>
                <a:spcPct val="105000"/>
              </a:lnSpc>
              <a:spcAft>
                <a:spcPts val="700"/>
              </a:spcAft>
              <a:buClr>
                <a:srgbClr val="1C7293"/>
              </a:buClr>
              <a:buFont typeface="Arial"/>
              <a:buChar char="•"/>
            </a:pPr>
            <a:r>
              <a:rPr lang="en-US" sz="1250" b="0" dirty="0">
                <a:solidFill>
                  <a:srgbClr val="56606B"/>
                </a:solidFill>
                <a:latin typeface="Calibri"/>
                <a:ea typeface="Calibri"/>
                <a:cs typeface="Calibri"/>
              </a:rPr>
              <a:t>A capacity-weighted, spatially aggregated wind input across the German fleet.</a:t>
            </a:r>
          </a:p>
          <a:p>
            <a:pPr algn="l" marL="228600" indent="-228600">
              <a:lnSpc>
                <a:spcPct val="105000"/>
              </a:lnSpc>
              <a:spcAft>
                <a:spcPts val="700"/>
              </a:spcAft>
              <a:buClr>
                <a:srgbClr val="1C7293"/>
              </a:buClr>
              <a:buFont typeface="Arial"/>
              <a:buChar char="•"/>
            </a:pPr>
            <a:r>
              <a:rPr lang="en-US" sz="1250" b="0" dirty="0">
                <a:solidFill>
                  <a:srgbClr val="56606B"/>
                </a:solidFill>
                <a:latin typeface="Calibri"/>
                <a:ea typeface="Calibri"/>
                <a:cs typeface="Calibri"/>
              </a:rPr>
              <a:t>Screen candidate wind series on power-curve R² before pricing — one OLS fit.</a:t>
            </a:r>
          </a:p>
        </p:txBody>
      </p:sp>
      <p:sp>
        <p:nvSpPr>
          <p:cNvPr id="10" name="Text 8"/>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1" name="Text 9"/>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9079992" y="-2560320"/>
            <a:ext cx="5669280" cy="5669280"/>
          </a:xfrm>
          <a:prstGeom prst="ellipse">
            <a:avLst/>
          </a:prstGeom>
          <a:solidFill>
            <a:srgbClr val="1C7293">
              <a:alpha val="42000"/>
            </a:srgbClr>
          </a:solidFill>
          <a:ln/>
        </p:spPr>
        <p:txBody>
          <a:bodyPr/>
          <a:p/>
        </p:txBody>
      </p:sp>
      <p:sp>
        <p:nvSpPr>
          <p:cNvPr id="3" name="Shape 1"/>
          <p:cNvSpPr/>
          <p:nvPr/>
        </p:nvSpPr>
        <p:spPr>
          <a:xfrm>
            <a:off x="10634472" y="-640080"/>
            <a:ext cx="2743200" cy="2743200"/>
          </a:xfrm>
          <a:prstGeom prst="ellipse">
            <a:avLst/>
          </a:prstGeom>
          <a:solidFill>
            <a:srgbClr val="065A82">
              <a:alpha val="70000"/>
            </a:srgbClr>
          </a:solidFill>
          <a:ln/>
        </p:spPr>
        <p:txBody>
          <a:bodyPr/>
          <a:p/>
        </p:txBody>
      </p:sp>
      <p:sp>
        <p:nvSpPr>
          <p:cNvPr id="4" name="Text 2"/>
          <p:cNvSpPr/>
          <p:nvPr/>
        </p:nvSpPr>
        <p:spPr>
          <a:xfrm>
            <a:off x="822960" y="2651760"/>
            <a:ext cx="9144000" cy="640080"/>
          </a:xfrm>
          <a:prstGeom prst="rect">
            <a:avLst/>
          </a:prstGeom>
          <a:noFill/>
          <a:ln/>
        </p:spPr>
        <p:txBody>
          <a:bodyPr wrap="square" lIns="0" tIns="0" rIns="0" bIns="0" rtlCol="0" anchor="ctr"/>
          <a:lstStyle/>
          <a:p>
            <a:pPr indent="0" marL="0">
              <a:buNone/>
            </a:pPr>
            <a:r>
              <a:rPr lang="en-US" sz="1600" b="1" spc="300" kern="0" dirty="0">
                <a:solidFill>
                  <a:srgbClr val="E8A33D"/>
                </a:solidFill>
                <a:latin typeface="Calibri" pitchFamily="34" charset="0"/>
                <a:ea typeface="Calibri" pitchFamily="34" charset="-122"/>
                <a:cs typeface="Calibri" pitchFamily="34" charset="-120"/>
              </a:rPr>
              <a:t>THANK YOU</a:t>
            </a:r>
            <a:endParaRPr lang="en-US" sz="1600" dirty="0"/>
          </a:p>
        </p:txBody>
      </p:sp>
      <p:sp>
        <p:nvSpPr>
          <p:cNvPr id="5" name="Text 3"/>
          <p:cNvSpPr/>
          <p:nvPr/>
        </p:nvSpPr>
        <p:spPr>
          <a:xfrm>
            <a:off x="822960" y="3154680"/>
            <a:ext cx="960120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Questions and discussion</a:t>
            </a:r>
            <a:endParaRPr lang="en-US" sz="3600" dirty="0"/>
          </a:p>
        </p:txBody>
      </p:sp>
      <p:sp>
        <p:nvSpPr>
          <p:cNvPr id="6" name="Text 4"/>
          <p:cNvSpPr/>
          <p:nvPr/>
        </p:nvSpPr>
        <p:spPr>
          <a:xfrm>
            <a:off x="822960" y="4160520"/>
            <a:ext cx="9601200" cy="457200"/>
          </a:xfrm>
          <a:prstGeom prst="rect">
            <a:avLst/>
          </a:prstGeom>
          <a:noFill/>
          <a:ln/>
        </p:spPr>
        <p:txBody>
          <a:bodyPr wrap="square" lIns="0" tIns="0" rIns="0" bIns="0" rtlCol="0" anchor="ctr"/>
          <a:lstStyle/>
          <a:p>
            <a:pPr algn="l" marL="0" indent="0">
              <a:buNone/>
            </a:pPr>
            <a:r>
              <a:rPr lang="en-US" sz="1300" b="0" i="1" dirty="0">
                <a:solidFill>
                  <a:srgbClr val="EEF3F7"/>
                </a:solidFill>
                <a:latin typeface="Calibri"/>
                <a:ea typeface="Calibri"/>
                <a:cs typeface="Calibri"/>
              </a:rPr>
              <a:t>Enrico Butali · Wind Speed Modelling for Derivatives Pricing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Oval 1"/>
          <p:cNvSpPr/>
          <p:nvPr/>
        </p:nvSpPr>
        <p:spPr>
          <a:xfrm>
            <a:off x="9079992" y="-2560320"/>
            <a:ext cx="5669280" cy="5669280"/>
          </a:xfrm>
          <a:prstGeom prst="ellipse">
            <a:avLst/>
          </a:prstGeom>
          <a:solidFill>
            <a:srgbClr val="1C7293">
              <a:alpha val="4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10634472" y="-640080"/>
            <a:ext cx="2743200" cy="2743200"/>
          </a:xfrm>
          <a:prstGeom prst="ellipse">
            <a:avLst/>
          </a:prstGeom>
          <a:solidFill>
            <a:srgbClr val="065A82">
              <a:alpha val="7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1737360"/>
            <a:ext cx="9144000" cy="365760"/>
          </a:xfrm>
          <a:prstGeom prst="rect">
            <a:avLst/>
          </a:prstGeom>
          <a:noFill/>
        </p:spPr>
        <p:txBody>
          <a:bodyPr wrap="square" lIns="0" rIns="0" tIns="0" bIns="0" anchor="ctr">
            <a:spAutoFit/>
          </a:bodyPr>
          <a:lstStyle/>
          <a:p>
            <a:pPr algn="l" marL="0" indent="0">
              <a:buNone/>
            </a:pPr>
            <a:r>
              <a:rPr lang="en-US" sz="1400" b="1" spc="250" kern="0" dirty="0">
                <a:solidFill>
                  <a:srgbClr val="E8A33D"/>
                </a:solidFill>
                <a:latin typeface="Calibri"/>
                <a:ea typeface="Calibri"/>
                <a:cs typeface="Calibri"/>
              </a:rPr>
              <a:t>BACKUP</a:t>
            </a:r>
          </a:p>
        </p:txBody>
      </p:sp>
      <p:sp>
        <p:nvSpPr>
          <p:cNvPr id="5" name="TextBox 4"/>
          <p:cNvSpPr txBox="1"/>
          <p:nvPr/>
        </p:nvSpPr>
        <p:spPr>
          <a:xfrm>
            <a:off x="822960" y="2148840"/>
            <a:ext cx="9601200" cy="822960"/>
          </a:xfrm>
          <a:prstGeom prst="rect">
            <a:avLst/>
          </a:prstGeom>
          <a:noFill/>
        </p:spPr>
        <p:txBody>
          <a:bodyPr wrap="square" lIns="0" rIns="0" tIns="0" bIns="0" anchor="ctr">
            <a:spAutoFit/>
          </a:bodyPr>
          <a:lstStyle/>
          <a:p>
            <a:pPr algn="l" marL="0" indent="0">
              <a:buNone/>
            </a:pPr>
            <a:r>
              <a:rPr lang="en-US" sz="3400" b="1" dirty="0">
                <a:solidFill>
                  <a:srgbClr val="FFFFFF"/>
                </a:solidFill>
                <a:latin typeface="Cambria"/>
                <a:ea typeface="Cambria"/>
                <a:cs typeface="Cambria"/>
              </a:rPr>
              <a:t>Supporting detail, on request</a:t>
            </a:r>
          </a:p>
        </p:txBody>
      </p:sp>
      <p:sp>
        <p:nvSpPr>
          <p:cNvPr id="6" name="TextBox 5"/>
          <p:cNvSpPr txBox="1"/>
          <p:nvPr/>
        </p:nvSpPr>
        <p:spPr>
          <a:xfrm>
            <a:off x="822960" y="3291840"/>
            <a:ext cx="9601200" cy="2377440"/>
          </a:xfrm>
          <a:prstGeom prst="rect">
            <a:avLst/>
          </a:prstGeom>
          <a:noFill/>
        </p:spPr>
        <p:txBody>
          <a:bodyPr wrap="square" lIns="0" rIns="0" tIns="0" bIns="0" anchor="t">
            <a:spAutoFit/>
          </a:bodyPr>
          <a:lstStyle/>
          <a:p>
            <a:pPr algn="l" marL="0" indent="0">
              <a:spcAft>
                <a:spcPts val="1000"/>
              </a:spcAft>
              <a:buNone/>
            </a:pPr>
            <a:r>
              <a:rPr lang="en-US" sz="1500" b="1" dirty="0">
                <a:solidFill>
                  <a:srgbClr val="E8A33D"/>
                </a:solidFill>
                <a:latin typeface="Calibri"/>
                <a:ea typeface="Calibri"/>
                <a:cs typeface="Calibri"/>
              </a:rPr>
              <a:t>B1  </a:t>
            </a:r>
            <a:r>
              <a:rPr lang="en-US" sz="1500" b="0" dirty="0">
                <a:solidFill>
                  <a:srgbClr val="EEF3F7"/>
                </a:solidFill>
                <a:latin typeface="Calibri"/>
                <a:ea typeface="Calibri"/>
                <a:cs typeface="Calibri"/>
              </a:rPr>
              <a:t>Feller condition — robust for B, estimator-dependent for A</a:t>
            </a:r>
          </a:p>
          <a:p>
            <a:pPr algn="l" marL="0" indent="0">
              <a:spcAft>
                <a:spcPts val="1000"/>
              </a:spcAft>
              <a:buNone/>
            </a:pPr>
            <a:r>
              <a:rPr lang="en-US" sz="1500" b="1" dirty="0">
                <a:solidFill>
                  <a:srgbClr val="E8A33D"/>
                </a:solidFill>
                <a:latin typeface="Calibri"/>
                <a:ea typeface="Calibri"/>
                <a:cs typeface="Calibri"/>
              </a:rPr>
              <a:t>B2  </a:t>
            </a:r>
            <a:r>
              <a:rPr lang="en-US" sz="1500" b="0" dirty="0">
                <a:solidFill>
                  <a:srgbClr val="EEF3F7"/>
                </a:solidFill>
                <a:latin typeface="Calibri"/>
                <a:ea typeface="Calibri"/>
                <a:cs typeface="Calibri"/>
              </a:rPr>
              <a:t>Reconciling Track B into Track A units, both datasets</a:t>
            </a:r>
          </a:p>
          <a:p>
            <a:pPr algn="l" marL="0" indent="0">
              <a:spcAft>
                <a:spcPts val="1000"/>
              </a:spcAft>
              <a:buNone/>
            </a:pPr>
            <a:r>
              <a:rPr lang="en-US" sz="1500" b="1" dirty="0">
                <a:solidFill>
                  <a:srgbClr val="E8A33D"/>
                </a:solidFill>
                <a:latin typeface="Calibri"/>
                <a:ea typeface="Calibri"/>
                <a:cs typeface="Calibri"/>
              </a:rPr>
              <a:t>B3  </a:t>
            </a:r>
            <a:r>
              <a:rPr lang="en-US" sz="1500" b="0" dirty="0">
                <a:solidFill>
                  <a:srgbClr val="EEF3F7"/>
                </a:solidFill>
                <a:latin typeface="Calibri"/>
                <a:ea typeface="Calibri"/>
                <a:cs typeface="Calibri"/>
              </a:rPr>
              <a:t>Model validation — four specifications, one conditional mean</a:t>
            </a:r>
          </a:p>
          <a:p>
            <a:pPr algn="l" marL="0" indent="0">
              <a:spcAft>
                <a:spcPts val="1000"/>
              </a:spcAft>
              <a:buNone/>
            </a:pPr>
            <a:r>
              <a:rPr lang="en-US" sz="1500" b="1" dirty="0">
                <a:solidFill>
                  <a:srgbClr val="E8A33D"/>
                </a:solidFill>
                <a:latin typeface="Calibri"/>
                <a:ea typeface="Calibri"/>
                <a:cs typeface="Calibri"/>
              </a:rPr>
              <a:t>B4  </a:t>
            </a:r>
            <a:r>
              <a:rPr lang="en-US" sz="1500" b="0" dirty="0">
                <a:solidFill>
                  <a:srgbClr val="EEF3F7"/>
                </a:solidFill>
                <a:latin typeface="Calibri"/>
                <a:ea typeface="Calibri"/>
                <a:cs typeface="Calibri"/>
              </a:rPr>
              <a:t>The Diebold–Mariano test in Chapters 2 and 3 — why the signs differ</a:t>
            </a:r>
          </a:p>
          <a:p>
            <a:pPr algn="l" marL="0" indent="0">
              <a:spcAft>
                <a:spcPts val="1000"/>
              </a:spcAft>
              <a:buNone/>
            </a:pPr>
            <a:r>
              <a:rPr lang="en-US" sz="1500" b="1" dirty="0">
                <a:solidFill>
                  <a:srgbClr val="E8A33D"/>
                </a:solidFill>
                <a:latin typeface="Calibri"/>
                <a:ea typeface="Calibri"/>
                <a:cs typeface="Calibri"/>
              </a:rPr>
              <a:t>B5  </a:t>
            </a:r>
            <a:r>
              <a:rPr lang="en-US" sz="1500" b="0" dirty="0">
                <a:solidFill>
                  <a:srgbClr val="EEF3F7"/>
                </a:solidFill>
                <a:latin typeface="Calibri"/>
                <a:ea typeface="Calibri"/>
                <a:cs typeface="Calibri"/>
              </a:rPr>
              <a:t>Height correction: sensitivity to the profile exponent α</a:t>
            </a:r>
          </a:p>
          <a:p>
            <a:pPr algn="l" marL="0" indent="0">
              <a:spcAft>
                <a:spcPts val="1000"/>
              </a:spcAft>
              <a:buNone/>
            </a:pPr>
            <a:r>
              <a:rPr lang="en-US" sz="1500" b="1" dirty="0">
                <a:solidFill>
                  <a:srgbClr val="E8A33D"/>
                </a:solidFill>
                <a:latin typeface="Calibri"/>
                <a:ea typeface="Calibri"/>
                <a:cs typeface="Calibri"/>
              </a:rPr>
              <a:t>B6  </a:t>
            </a:r>
            <a:r>
              <a:rPr lang="en-US" sz="1500" b="0" dirty="0">
                <a:solidFill>
                  <a:srgbClr val="EEF3F7"/>
                </a:solidFill>
                <a:latin typeface="Calibri"/>
                <a:ea typeface="Calibri"/>
                <a:cs typeface="Calibri"/>
              </a:rPr>
              <a:t>Model estimates at a glance — AR(4), GARCH(1,1), CAR(4), NIG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algn="l" marL="0" indent="0">
              <a:buNone/>
            </a:pPr>
            <a:r>
              <a:rPr lang="en-US" sz="1250" b="1" spc="200" kern="0" dirty="0">
                <a:solidFill>
                  <a:srgbClr val="1C7293"/>
                </a:solidFill>
                <a:latin typeface="Calibri"/>
                <a:ea typeface="Calibri"/>
                <a:cs typeface="Calibri"/>
              </a:rPr>
              <a:t>BACKUP B1 · CH. 2 §2.5.3 — FELLER CONDITION</a:t>
            </a:r>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The Feller condition depends on which estimator you trust</a:t>
            </a:r>
            <a:endParaRPr lang="en-US" sz="2700" dirty="0"/>
          </a:p>
        </p:txBody>
      </p:sp>
      <p:sp>
        <p:nvSpPr>
          <p:cNvPr id="4" name="Shape 2"/>
          <p:cNvSpPr/>
          <p:nvPr/>
        </p:nvSpPr>
        <p:spPr>
          <a:xfrm>
            <a:off x="548640" y="1828800"/>
            <a:ext cx="5394960" cy="4206240"/>
          </a:xfrm>
          <a:prstGeom prst="roundRect">
            <a:avLst>
              <a:gd name="adj" fmla="val 1957"/>
            </a:avLst>
          </a:prstGeom>
          <a:solidFill>
            <a:srgbClr val="F7FAFC"/>
          </a:solidFill>
          <a:ln/>
          <a:effectLst>
            <a:outerShdw sx="100000" sy="100000" kx="0" ky="0" algn="bl" rotWithShape="0" blurRad="88900" dist="25400" dir="5400000">
              <a:srgbClr val="1C1C1C">
                <a:alpha val="16000"/>
              </a:srgbClr>
            </a:outerShdw>
          </a:effectLst>
        </p:spPr>
        <p:txBody>
          <a:bodyPr/>
          <a:p/>
        </p:txBody>
      </p:sp>
      <p:sp>
        <p:nvSpPr>
          <p:cNvPr id="5" name="Text 3"/>
          <p:cNvSpPr/>
          <p:nvPr/>
        </p:nvSpPr>
        <p:spPr>
          <a:xfrm>
            <a:off x="868680" y="2057400"/>
            <a:ext cx="4846320" cy="320040"/>
          </a:xfrm>
          <a:prstGeom prst="rect">
            <a:avLst/>
          </a:prstGeom>
          <a:noFill/>
          <a:ln/>
        </p:spPr>
        <p:txBody>
          <a:bodyPr wrap="square" lIns="0" tIns="0" rIns="0" bIns="0" rtlCol="0" anchor="ctr"/>
          <a:lstStyle/>
          <a:p>
            <a:pPr indent="0" marL="0">
              <a:buNone/>
            </a:pPr>
            <a:r>
              <a:rPr lang="en-US" sz="1200" b="1" spc="100" kern="0" dirty="0">
                <a:solidFill>
                  <a:srgbClr val="1C7293"/>
                </a:solidFill>
                <a:latin typeface="Calibri" pitchFamily="34" charset="0"/>
                <a:ea typeface="Calibri" pitchFamily="34" charset="-122"/>
                <a:cs typeface="Calibri" pitchFamily="34" charset="-120"/>
              </a:rPr>
              <a:t>DATASET B — REFERENCE</a:t>
            </a:r>
            <a:endParaRPr lang="en-US" sz="1200" dirty="0"/>
          </a:p>
        </p:txBody>
      </p:sp>
      <p:sp>
        <p:nvSpPr>
          <p:cNvPr id="6" name="Text 4"/>
          <p:cNvSpPr/>
          <p:nvPr/>
        </p:nvSpPr>
        <p:spPr>
          <a:xfrm>
            <a:off x="868680" y="2395728"/>
            <a:ext cx="4846320" cy="502920"/>
          </a:xfrm>
          <a:prstGeom prst="rect">
            <a:avLst/>
          </a:prstGeom>
          <a:noFill/>
          <a:ln/>
        </p:spPr>
        <p:txBody>
          <a:bodyPr wrap="square" lIns="0" tIns="0" rIns="0" bIns="0" rtlCol="0" anchor="ctr"/>
          <a:lstStyle/>
          <a:p>
            <a:pPr indent="0" marL="0">
              <a:buNone/>
            </a:pPr>
            <a:r>
              <a:rPr lang="en-US" sz="2400" b="1" dirty="0">
                <a:solidFill>
                  <a:srgbClr val="21295C"/>
                </a:solidFill>
                <a:latin typeface="Cambria" pitchFamily="34" charset="0"/>
                <a:ea typeface="Cambria" pitchFamily="34" charset="-122"/>
                <a:cs typeface="Cambria" pitchFamily="34" charset="-120"/>
              </a:rPr>
              <a:t>Holds, robustly</a:t>
            </a:r>
            <a:endParaRPr lang="en-US" sz="2400" dirty="0"/>
          </a:p>
        </p:txBody>
      </p:sp>
      <p:sp>
        <p:nvSpPr>
          <p:cNvPr id="7" name="Text 5"/>
          <p:cNvSpPr/>
          <p:nvPr/>
        </p:nvSpPr>
        <p:spPr>
          <a:xfrm>
            <a:off x="868680" y="2971800"/>
            <a:ext cx="4846320" cy="822960"/>
          </a:xfrm>
          <a:prstGeom prst="rect">
            <a:avLst/>
          </a:prstGeom>
          <a:noFill/>
          <a:ln/>
        </p:spPr>
        <p:txBody>
          <a:bodyPr wrap="square" lIns="0" tIns="0" rIns="0" bIns="0" rtlCol="0" anchor="ctr"/>
          <a:lstStyle/>
          <a:p>
            <a:pPr indent="0" marL="0">
              <a:lnSpc>
                <a:spcPct val="120000"/>
              </a:lnSpc>
              <a:buNone/>
            </a:pPr>
            <a:r>
              <a:rPr lang="en-US" sz="1300" dirty="0">
                <a:solidFill>
                  <a:srgbClr val="56606B"/>
                </a:solidFill>
                <a:latin typeface="Calibri" pitchFamily="34" charset="0"/>
                <a:ea typeface="Calibri" pitchFamily="34" charset="-122"/>
                <a:cs typeface="Calibri" pitchFamily="34" charset="-120"/>
              </a:rPr>
              <a:t>2κᵥv̄ = 0.0270 vs ξ² = 0.000959 → margin 28.1×, on every estimator considered.</a:t>
            </a:r>
            <a:endParaRPr lang="en-US" sz="1300" dirty="0"/>
          </a:p>
        </p:txBody>
      </p:sp>
      <p:sp>
        <p:nvSpPr>
          <p:cNvPr id="8" name="Shape 6"/>
          <p:cNvSpPr/>
          <p:nvPr/>
        </p:nvSpPr>
        <p:spPr>
          <a:xfrm>
            <a:off x="6263640" y="1828800"/>
            <a:ext cx="5394960" cy="4206240"/>
          </a:xfrm>
          <a:prstGeom prst="roundRect">
            <a:avLst>
              <a:gd name="adj" fmla="val 1957"/>
            </a:avLst>
          </a:prstGeom>
          <a:solidFill>
            <a:srgbClr val="EEF3F7"/>
          </a:solidFill>
          <a:ln/>
        </p:spPr>
        <p:txBody>
          <a:bodyPr/>
          <a:p/>
        </p:txBody>
      </p:sp>
      <p:sp>
        <p:nvSpPr>
          <p:cNvPr id="9" name="Text 7"/>
          <p:cNvSpPr/>
          <p:nvPr/>
        </p:nvSpPr>
        <p:spPr>
          <a:xfrm>
            <a:off x="6583680" y="2057400"/>
            <a:ext cx="4846320" cy="320040"/>
          </a:xfrm>
          <a:prstGeom prst="rect">
            <a:avLst/>
          </a:prstGeom>
          <a:noFill/>
          <a:ln/>
        </p:spPr>
        <p:txBody>
          <a:bodyPr wrap="square" lIns="0" tIns="0" rIns="0" bIns="0" rtlCol="0" anchor="ctr"/>
          <a:lstStyle/>
          <a:p>
            <a:pPr indent="0" marL="0">
              <a:buNone/>
            </a:pPr>
            <a:r>
              <a:rPr lang="en-US" sz="1200" b="1" spc="100" kern="0" dirty="0">
                <a:solidFill>
                  <a:srgbClr val="C8791A"/>
                </a:solidFill>
                <a:latin typeface="Calibri" pitchFamily="34" charset="0"/>
                <a:ea typeface="Calibri" pitchFamily="34" charset="-122"/>
                <a:cs typeface="Calibri" pitchFamily="34" charset="-120"/>
              </a:rPr>
              <a:t>DATASET A — PROXY</a:t>
            </a:r>
            <a:endParaRPr lang="en-US" sz="1200" dirty="0"/>
          </a:p>
        </p:txBody>
      </p:sp>
      <p:sp>
        <p:nvSpPr>
          <p:cNvPr id="10" name="Text 8"/>
          <p:cNvSpPr/>
          <p:nvPr/>
        </p:nvSpPr>
        <p:spPr>
          <a:xfrm>
            <a:off x="6583680" y="2395728"/>
            <a:ext cx="4846320" cy="502920"/>
          </a:xfrm>
          <a:prstGeom prst="rect">
            <a:avLst/>
          </a:prstGeom>
          <a:noFill/>
          <a:ln/>
        </p:spPr>
        <p:txBody>
          <a:bodyPr wrap="square" lIns="0" tIns="0" rIns="0" bIns="0" rtlCol="0" anchor="ctr"/>
          <a:lstStyle/>
          <a:p>
            <a:pPr indent="0" marL="0">
              <a:buNone/>
            </a:pPr>
            <a:r>
              <a:rPr lang="en-US" sz="2400" b="1" dirty="0">
                <a:solidFill>
                  <a:srgbClr val="21295C"/>
                </a:solidFill>
                <a:latin typeface="Cambria" pitchFamily="34" charset="0"/>
                <a:ea typeface="Cambria" pitchFamily="34" charset="-122"/>
                <a:cs typeface="Cambria" pitchFamily="34" charset="-120"/>
              </a:rPr>
              <a:t>Estimator-dependent</a:t>
            </a:r>
            <a:endParaRPr lang="en-US" sz="2400" dirty="0"/>
          </a:p>
        </p:txBody>
      </p:sp>
      <p:sp>
        <p:nvSpPr>
          <p:cNvPr id="11" name="Text 9"/>
          <p:cNvSpPr/>
          <p:nvPr/>
        </p:nvSpPr>
        <p:spPr>
          <a:xfrm>
            <a:off x="6583680" y="2971800"/>
            <a:ext cx="4846320" cy="1463040"/>
          </a:xfrm>
          <a:prstGeom prst="rect">
            <a:avLst/>
          </a:prstGeom>
          <a:noFill/>
          <a:ln/>
        </p:spPr>
        <p:txBody>
          <a:bodyPr wrap="square" lIns="0" tIns="0" rIns="0" bIns="0" rtlCol="0" anchor="ctr"/>
          <a:lstStyle/>
          <a:p>
            <a:pPr indent="0" marL="0">
              <a:lnSpc>
                <a:spcPct val="120000"/>
              </a:lnSpc>
              <a:buNone/>
            </a:pPr>
            <a:r>
              <a:rPr lang="en-US" sz="1300" dirty="0">
                <a:solidFill>
                  <a:srgbClr val="56606B"/>
                </a:solidFill>
                <a:latin typeface="Calibri" pitchFamily="34" charset="0"/>
                <a:ea typeface="Calibri" pitchFamily="34" charset="-122"/>
                <a:cs typeface="Calibri" pitchFamily="34" charset="-120"/>
              </a:rPr>
              <a:t>Full-sample estimator (same one used for B): margin </a:t>
            </a:r>
            <a:pPr indent="0" marL="0">
              <a:lnSpc>
                <a:spcPct val="120000"/>
              </a:lnSpc>
              <a:buNone/>
            </a:pPr>
            <a:r>
              <a:rPr lang="en-US" sz="1300" b="1" dirty="0">
                <a:solidFill>
                  <a:srgbClr val="C8791A"/>
                </a:solidFill>
                <a:latin typeface="Calibri" pitchFamily="34" charset="0"/>
                <a:ea typeface="Calibri" pitchFamily="34" charset="-122"/>
                <a:cs typeface="Calibri" pitchFamily="34" charset="-120"/>
              </a:rPr>
              <a:t>0.8× — violated.</a:t>
            </a:r>
            <a:pPr indent="0" marL="0">
              <a:lnSpc>
                <a:spcPct val="120000"/>
              </a:lnSpc>
              <a:buNone/>
            </a:pPr>
            <a:endParaRPr lang="en-US" sz="1300" dirty="0"/>
          </a:p>
          <a:p>
            <a:pPr indent="0" marL="0">
              <a:lnSpc>
                <a:spcPct val="120000"/>
              </a:lnSpc>
              <a:buNone/>
            </a:pPr>
            <a:r>
              <a:rPr lang="en-US" sz="1300" dirty="0">
                <a:solidFill>
                  <a:srgbClr val="56606B"/>
                </a:solidFill>
                <a:latin typeface="Calibri" pitchFamily="34" charset="0"/>
                <a:ea typeface="Calibri" pitchFamily="34" charset="-122"/>
                <a:cs typeface="Calibri" pitchFamily="34" charset="-120"/>
              </a:rPr>
              <a:t>30-day rolling estimators: margins ≈5.1× and 3.6× — holds, but on a different estimator than B's.</a:t>
            </a:r>
            <a:endParaRPr lang="en-US" sz="1300" dirty="0"/>
          </a:p>
        </p:txBody>
      </p:sp>
      <p:sp>
        <p:nvSpPr>
          <p:cNvPr id="12" name="Shape 10"/>
          <p:cNvSpPr/>
          <p:nvPr/>
        </p:nvSpPr>
        <p:spPr>
          <a:xfrm>
            <a:off x="548640" y="5166360"/>
            <a:ext cx="11109960" cy="914400"/>
          </a:xfrm>
          <a:prstGeom prst="roundRect">
            <a:avLst>
              <a:gd name="adj" fmla="val 9000"/>
            </a:avLst>
          </a:prstGeom>
          <a:solidFill>
            <a:srgbClr val="21295C"/>
          </a:solidFill>
          <a:ln/>
          <a:effectLst>
            <a:outerShdw sx="100000" sy="100000" kx="0" ky="0" algn="bl" rotWithShape="0" blurRad="88900" dist="25400" dir="5400000">
              <a:srgbClr val="1C1C1C">
                <a:alpha val="16000"/>
              </a:srgbClr>
            </a:outerShdw>
          </a:effectLst>
        </p:spPr>
        <p:txBody>
          <a:bodyPr/>
          <a:p/>
        </p:txBody>
      </p:sp>
      <p:sp>
        <p:nvSpPr>
          <p:cNvPr id="13" name="Text 11"/>
          <p:cNvSpPr/>
          <p:nvPr/>
        </p:nvSpPr>
        <p:spPr>
          <a:xfrm>
            <a:off x="822960" y="5321808"/>
            <a:ext cx="10515600" cy="640080"/>
          </a:xfrm>
          <a:prstGeom prst="rect">
            <a:avLst/>
          </a:prstGeom>
          <a:noFill/>
          <a:ln/>
        </p:spPr>
        <p:txBody>
          <a:bodyPr wrap="square" lIns="0" tIns="0" rIns="0" bIns="0" rtlCol="0" anchor="ctr"/>
          <a:lstStyle/>
          <a:p>
            <a:pPr algn="l" indent="0" marL="0">
              <a:lnSpc>
                <a:spcPct val="118000"/>
              </a:lnSpc>
              <a:buNone/>
            </a:pPr>
            <a:r>
              <a:rPr lang="en-US" sz="1250" b="1" dirty="0">
                <a:solidFill>
                  <a:srgbClr val="E8A33D"/>
                </a:solidFill>
                <a:latin typeface="Calibri" pitchFamily="34" charset="0"/>
                <a:ea typeface="Calibri" pitchFamily="34" charset="-122"/>
                <a:cs typeface="Calibri" pitchFamily="34" charset="-120"/>
              </a:rPr>
              <a:t>The finding is the sensitivity itself: </a:t>
            </a:r>
            <a:pPr algn="l" indent="0" marL="0">
              <a:lnSpc>
                <a:spcPct val="118000"/>
              </a:lnSpc>
              <a:buNone/>
            </a:pPr>
            <a:r>
              <a:rPr lang="en-US" sz="1250" dirty="0">
                <a:solidFill>
                  <a:srgbClr val="EEF3F7"/>
                </a:solidFill>
                <a:latin typeface="Calibri" pitchFamily="34" charset="0"/>
                <a:ea typeface="Calibri" pitchFamily="34" charset="-122"/>
                <a:cs typeface="Calibri" pitchFamily="34" charset="-120"/>
              </a:rPr>
              <a:t>ξ (vol-of-vol) is the least identified of the four CIR parameters at daily frequency — it also reverses an earlier project anchor of 27.9×, which is not reproducible under any estimator tested.</a:t>
            </a:r>
            <a:endParaRPr lang="en-US" sz="1250" dirty="0"/>
          </a:p>
        </p:txBody>
      </p:sp>
      <p:sp>
        <p:nvSpPr>
          <p:cNvPr id="14" name="Text 12"/>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5" name="Text 13"/>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292608"/>
          </a:xfrm>
          <a:prstGeom prst="rect">
            <a:avLst/>
          </a:prstGeom>
          <a:noFill/>
        </p:spPr>
        <p:txBody>
          <a:bodyPr wrap="square" lIns="0" rIns="0" tIns="0" bIns="0" anchor="ctr">
            <a:spAutoFit/>
          </a:bodyPr>
          <a:lstStyle/>
          <a:p>
            <a:pPr algn="l" marL="0" indent="0">
              <a:buNone/>
            </a:pPr>
            <a:r>
              <a:rPr lang="en-US" sz="1250" b="1" spc="200" kern="0" dirty="0">
                <a:solidFill>
                  <a:srgbClr val="1C7293"/>
                </a:solidFill>
                <a:latin typeface="Calibri"/>
                <a:ea typeface="Calibri"/>
                <a:cs typeface="Calibri"/>
              </a:rPr>
              <a:t>BACKUP B2 · CH. 3 §3.1.5 — THE FOUR CONVENTIONS</a:t>
            </a:r>
          </a:p>
        </p:txBody>
      </p:sp>
      <p:sp>
        <p:nvSpPr>
          <p:cNvPr id="3" name="TextBox 2"/>
          <p:cNvSpPr txBox="1"/>
          <p:nvPr/>
        </p:nvSpPr>
        <p:spPr>
          <a:xfrm>
            <a:off x="548640" y="658368"/>
            <a:ext cx="11109960" cy="868680"/>
          </a:xfrm>
          <a:prstGeom prst="rect">
            <a:avLst/>
          </a:prstGeom>
          <a:noFill/>
        </p:spPr>
        <p:txBody>
          <a:bodyPr wrap="square" lIns="0" rIns="0" tIns="0" bIns="0" anchor="ctr">
            <a:spAutoFit/>
          </a:bodyPr>
          <a:lstStyle/>
          <a:p>
            <a:pPr algn="l" marL="0" indent="0">
              <a:buNone/>
            </a:pPr>
            <a:r>
              <a:rPr lang="en-US" sz="2700" b="1" dirty="0">
                <a:solidFill>
                  <a:srgbClr val="21295C"/>
                </a:solidFill>
                <a:latin typeface="Cambria"/>
                <a:ea typeface="Cambria"/>
                <a:cs typeface="Cambria"/>
              </a:rPr>
              <a:t>Reconciling Track B into Track A units, step by step</a:t>
            </a:r>
          </a:p>
        </p:txBody>
      </p:sp>
      <p:graphicFrame>
        <p:nvGraphicFramePr>
          <p:cNvPr id="4" name="Table 3"/>
          <p:cNvGraphicFramePr>
            <a:graphicFrameLocks noGrp="1"/>
          </p:cNvGraphicFramePr>
          <p:nvPr/>
        </p:nvGraphicFramePr>
        <p:xfrm>
          <a:off x="548640" y="1737360"/>
          <a:ext cx="11109959" cy="3456432"/>
        </p:xfrm>
        <a:graphic>
          <a:graphicData uri="http://schemas.openxmlformats.org/drawingml/2006/table">
            <a:tbl>
              <a:tblPr/>
              <a:tblGrid>
                <a:gridCol w="3977639"/>
                <a:gridCol w="3108960"/>
                <a:gridCol w="2011680"/>
                <a:gridCol w="2011680"/>
              </a:tblGrid>
              <a:tr h="384048">
                <a:tc>
                  <a:txBody>
                    <a:bodyPr/>
                    <a:lstStyle/>
                    <a:p>
                      <a:pPr algn="l" marL="0" indent="0">
                        <a:buNone/>
                      </a:pPr>
                      <a:r>
                        <a:rPr lang="en-US" sz="1200" b="1" dirty="0">
                          <a:solidFill>
                            <a:srgbClr val="FFFFFF"/>
                          </a:solidFill>
                          <a:latin typeface="Calibri"/>
                          <a:ea typeface="Calibri"/>
                          <a:cs typeface="Calibri"/>
                        </a:rPr>
                        <a:t>Factor</a:t>
                      </a:r>
                    </a:p>
                  </a:txBody>
                  <a:tcPr marL="91440" marR="91440" marT="36576" marB="36576" anchor="ctr">
                    <a:lnL w="0">
                      <a:noFill/>
                    </a:lnL>
                    <a:lnR w="0">
                      <a:noFill/>
                    </a:lnR>
                    <a:lnT w="0">
                      <a:noFill/>
                    </a:lnT>
                    <a:lnB w="0">
                      <a:noFill/>
                    </a:lnB>
                    <a:solidFill>
                      <a:srgbClr val="21295C"/>
                    </a:solidFill>
                  </a:tcPr>
                </a:tc>
                <a:tc>
                  <a:txBody>
                    <a:bodyPr/>
                    <a:lstStyle/>
                    <a:p>
                      <a:pPr algn="ctr" marL="0" indent="0">
                        <a:buNone/>
                      </a:pPr>
                      <a:r>
                        <a:rPr lang="en-US" sz="1200" b="1" dirty="0">
                          <a:solidFill>
                            <a:srgbClr val="FFFFFF"/>
                          </a:solidFill>
                          <a:latin typeface="Calibri"/>
                          <a:ea typeface="Calibri"/>
                          <a:cs typeface="Calibri"/>
                        </a:rPr>
                        <a:t>Formula</a:t>
                      </a:r>
                    </a:p>
                  </a:txBody>
                  <a:tcPr marL="91440" marR="91440" marT="36576" marB="36576" anchor="ctr">
                    <a:lnL w="0">
                      <a:noFill/>
                    </a:lnL>
                    <a:lnR w="0">
                      <a:noFill/>
                    </a:lnR>
                    <a:lnT w="0">
                      <a:noFill/>
                    </a:lnT>
                    <a:lnB w="0">
                      <a:noFill/>
                    </a:lnB>
                    <a:solidFill>
                      <a:srgbClr val="21295C"/>
                    </a:solidFill>
                  </a:tcPr>
                </a:tc>
                <a:tc>
                  <a:txBody>
                    <a:bodyPr/>
                    <a:lstStyle/>
                    <a:p>
                      <a:pPr algn="ctr" marL="0" indent="0">
                        <a:buNone/>
                      </a:pPr>
                      <a:r>
                        <a:rPr lang="en-US" sz="1200" b="1" dirty="0">
                          <a:solidFill>
                            <a:srgbClr val="FFFFFF"/>
                          </a:solidFill>
                          <a:latin typeface="Calibri"/>
                          <a:ea typeface="Calibri"/>
                          <a:cs typeface="Calibri"/>
                        </a:rPr>
                        <a:t>Dataset A</a:t>
                      </a:r>
                    </a:p>
                  </a:txBody>
                  <a:tcPr marL="91440" marR="91440" marT="36576" marB="36576" anchor="ctr">
                    <a:lnL w="0">
                      <a:noFill/>
                    </a:lnL>
                    <a:lnR w="0">
                      <a:noFill/>
                    </a:lnR>
                    <a:lnT w="0">
                      <a:noFill/>
                    </a:lnT>
                    <a:lnB w="0">
                      <a:noFill/>
                    </a:lnB>
                    <a:solidFill>
                      <a:srgbClr val="21295C"/>
                    </a:solidFill>
                  </a:tcPr>
                </a:tc>
                <a:tc>
                  <a:txBody>
                    <a:bodyPr/>
                    <a:lstStyle/>
                    <a:p>
                      <a:pPr algn="ctr" marL="0" indent="0">
                        <a:buNone/>
                      </a:pPr>
                      <a:r>
                        <a:rPr lang="en-US" sz="1200" b="1" dirty="0">
                          <a:solidFill>
                            <a:srgbClr val="FFFFFF"/>
                          </a:solidFill>
                          <a:latin typeface="Calibri"/>
                          <a:ea typeface="Calibri"/>
                          <a:cs typeface="Calibri"/>
                        </a:rPr>
                        <a:t>Dataset B</a:t>
                      </a:r>
                    </a:p>
                  </a:txBody>
                  <a:tcPr marL="91440" marR="91440" marT="36576" marB="36576" anchor="ctr">
                    <a:lnL w="0">
                      <a:noFill/>
                    </a:lnL>
                    <a:lnR w="0">
                      <a:noFill/>
                    </a:lnR>
                    <a:lnT w="0">
                      <a:noFill/>
                    </a:lnT>
                    <a:lnB w="0">
                      <a:noFill/>
                    </a:lnB>
                    <a:solidFill>
                      <a:srgbClr val="21295C"/>
                    </a:solidFill>
                  </a:tcPr>
                </a:tc>
              </a:tr>
              <a:tr h="384048">
                <a:tc>
                  <a:txBody>
                    <a:bodyPr/>
                    <a:lstStyle/>
                    <a:p>
                      <a:pPr algn="l" marL="0" indent="0">
                        <a:buNone/>
                      </a:pPr>
                      <a:r>
                        <a:rPr lang="en-US" sz="1200" b="1" dirty="0">
                          <a:solidFill>
                            <a:srgbClr val="21295C"/>
                          </a:solidFill>
                          <a:latin typeface="Calibri"/>
                          <a:ea typeface="Calibri"/>
                          <a:cs typeface="Calibri"/>
                        </a:rPr>
                        <a:t>K_var = h(t₀) × C₀ (as recorded)</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0.05435</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0.87336</a:t>
                      </a:r>
                    </a:p>
                  </a:txBody>
                  <a:tcPr marL="91440" marR="91440" marT="36576" marB="36576" anchor="ctr">
                    <a:lnL w="0">
                      <a:noFill/>
                    </a:lnL>
                    <a:lnR w="0">
                      <a:noFill/>
                    </a:lnR>
                    <a:lnT w="0">
                      <a:noFill/>
                    </a:lnT>
                    <a:lnB w="0">
                      <a:noFill/>
                    </a:lnB>
                    <a:solidFill>
                      <a:srgbClr val="FFFFFF"/>
                    </a:solidFill>
                  </a:tcPr>
                </a:tc>
              </a:tr>
              <a:tr h="384048">
                <a:tc>
                  <a:txBody>
                    <a:bodyPr/>
                    <a:lstStyle/>
                    <a:p>
                      <a:pPr algn="l" marL="0" indent="0">
                        <a:buNone/>
                      </a:pPr>
                      <a:r>
                        <a:rPr lang="en-US" sz="1200" b="1" dirty="0">
                          <a:solidFill>
                            <a:srgbClr val="21295C"/>
                          </a:solidFill>
                          <a:latin typeface="Calibri"/>
                          <a:ea typeface="Calibri"/>
                          <a:cs typeface="Calibri"/>
                        </a:rPr>
                        <a:t>× Box–Cox scale</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W̄^(2(1−λ))</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5.088</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8.068</a:t>
                      </a:r>
                    </a:p>
                  </a:txBody>
                  <a:tcPr marL="91440" marR="91440" marT="36576" marB="36576" anchor="ctr">
                    <a:lnL w="0">
                      <a:noFill/>
                    </a:lnL>
                    <a:lnR w="0">
                      <a:noFill/>
                    </a:lnR>
                    <a:lnT w="0">
                      <a:noFill/>
                    </a:lnT>
                    <a:lnB w="0">
                      <a:noFill/>
                    </a:lnB>
                    <a:solidFill>
                      <a:srgbClr val="EEF3F7"/>
                    </a:solidFill>
                  </a:tcPr>
                </a:tc>
              </a:tr>
              <a:tr h="384048">
                <a:tc>
                  <a:txBody>
                    <a:bodyPr/>
                    <a:lstStyle/>
                    <a:p>
                      <a:pPr algn="l" marL="0" indent="0">
                        <a:buNone/>
                      </a:pPr>
                      <a:r>
                        <a:rPr lang="en-US" sz="1200" b="1" dirty="0">
                          <a:solidFill>
                            <a:srgbClr val="21295C"/>
                          </a:solidFill>
                          <a:latin typeface="Calibri"/>
                          <a:ea typeface="Calibri"/>
                          <a:cs typeface="Calibri"/>
                        </a:rPr>
                        <a:t>× innovation → first difference</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(RMSE pers. / RMSE AR(4))²</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1.292</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1.339</a:t>
                      </a:r>
                    </a:p>
                  </a:txBody>
                  <a:tcPr marL="91440" marR="91440" marT="36576" marB="36576" anchor="ctr">
                    <a:lnL w="0">
                      <a:noFill/>
                    </a:lnL>
                    <a:lnR w="0">
                      <a:noFill/>
                    </a:lnR>
                    <a:lnT w="0">
                      <a:noFill/>
                    </a:lnT>
                    <a:lnB w="0">
                      <a:noFill/>
                    </a:lnB>
                    <a:solidFill>
                      <a:srgbClr val="FFFFFF"/>
                    </a:solidFill>
                  </a:tcPr>
                </a:tc>
              </a:tr>
              <a:tr h="384048">
                <a:tc>
                  <a:txBody>
                    <a:bodyPr/>
                    <a:lstStyle/>
                    <a:p>
                      <a:pPr algn="l" marL="0" indent="0">
                        <a:buNone/>
                      </a:pPr>
                      <a:r>
                        <a:rPr lang="en-US" sz="1200" b="1" dirty="0">
                          <a:solidFill>
                            <a:srgbClr val="21295C"/>
                          </a:solidFill>
                          <a:latin typeface="Calibri"/>
                          <a:ea typeface="Calibri"/>
                          <a:cs typeface="Calibri"/>
                        </a:rPr>
                        <a:t>× power curve</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9 / W̄²</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1.4764</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0.13826</a:t>
                      </a:r>
                    </a:p>
                  </a:txBody>
                  <a:tcPr marL="91440" marR="91440" marT="36576" marB="36576" anchor="ctr">
                    <a:lnL w="0">
                      <a:noFill/>
                    </a:lnL>
                    <a:lnR w="0">
                      <a:noFill/>
                    </a:lnR>
                    <a:lnT w="0">
                      <a:noFill/>
                    </a:lnT>
                    <a:lnB w="0">
                      <a:noFill/>
                    </a:lnB>
                    <a:solidFill>
                      <a:srgbClr val="EEF3F7"/>
                    </a:solidFill>
                  </a:tcPr>
                </a:tc>
              </a:tr>
              <a:tr h="384048">
                <a:tc>
                  <a:txBody>
                    <a:bodyPr/>
                    <a:lstStyle/>
                    <a:p>
                      <a:pPr algn="l" marL="0" indent="0">
                        <a:buNone/>
                      </a:pPr>
                      <a:r>
                        <a:rPr lang="en-US" sz="1200" b="1" dirty="0">
                          <a:solidFill>
                            <a:srgbClr val="21295C"/>
                          </a:solidFill>
                          <a:latin typeface="Calibri"/>
                          <a:ea typeface="Calibri"/>
                          <a:cs typeface="Calibri"/>
                        </a:rPr>
                        <a:t>× annualisation</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252</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252</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252</a:t>
                      </a:r>
                    </a:p>
                  </a:txBody>
                  <a:tcPr marL="91440" marR="91440" marT="36576" marB="36576" anchor="ctr">
                    <a:lnL w="0">
                      <a:noFill/>
                    </a:lnL>
                    <a:lnR w="0">
                      <a:noFill/>
                    </a:lnR>
                    <a:lnT w="0">
                      <a:noFill/>
                    </a:lnT>
                    <a:lnB w="0">
                      <a:noFill/>
                    </a:lnB>
                    <a:solidFill>
                      <a:srgbClr val="FFFFFF"/>
                    </a:solidFill>
                  </a:tcPr>
                </a:tc>
              </a:tr>
              <a:tr h="384048">
                <a:tc>
                  <a:txBody>
                    <a:bodyPr/>
                    <a:lstStyle/>
                    <a:p>
                      <a:pPr algn="l" marL="0" indent="0">
                        <a:buNone/>
                      </a:pPr>
                      <a:r>
                        <a:rPr lang="en-US" sz="1200" b="1" dirty="0">
                          <a:solidFill>
                            <a:srgbClr val="21295C"/>
                          </a:solidFill>
                          <a:latin typeface="Calibri"/>
                          <a:ea typeface="Calibri"/>
                          <a:cs typeface="Calibri"/>
                        </a:rPr>
                        <a:t>Reconciled model strike (Track A units)</a:t>
                      </a:r>
                    </a:p>
                  </a:txBody>
                  <a:tcPr marL="91440" marR="91440" marT="36576" marB="36576" anchor="ctr">
                    <a:lnL w="0">
                      <a:noFill/>
                    </a:lnL>
                    <a:lnR w="0">
                      <a:noFill/>
                    </a:lnR>
                    <a:lnT w="0">
                      <a:noFill/>
                    </a:lnT>
                    <a:lnB w="0">
                      <a:noFill/>
                    </a:lnB>
                    <a:solidFill>
                      <a:srgbClr val="FBF1E4"/>
                    </a:solidFill>
                  </a:tcPr>
                </a:tc>
                <a:tc>
                  <a:txBody>
                    <a:bodyPr/>
                    <a:lstStyle/>
                    <a:p>
                      <a:pPr algn="ctr" marL="0" indent="0">
                        <a:buNone/>
                      </a:pPr>
                      <a:r>
                        <a:rPr lang="en-US" sz="1200" b="1" dirty="0">
                          <a:solidFill>
                            <a:srgbClr val="21295C"/>
                          </a:solidFill>
                          <a:latin typeface="Calibri"/>
                          <a:ea typeface="Calibri"/>
                          <a:cs typeface="Calibri"/>
                        </a:rPr>
                        <a:t/>
                      </a:r>
                    </a:p>
                  </a:txBody>
                  <a:tcPr marL="91440" marR="91440" marT="36576" marB="36576" anchor="ctr">
                    <a:lnL w="0">
                      <a:noFill/>
                    </a:lnL>
                    <a:lnR w="0">
                      <a:noFill/>
                    </a:lnR>
                    <a:lnT w="0">
                      <a:noFill/>
                    </a:lnT>
                    <a:lnB w="0">
                      <a:noFill/>
                    </a:lnB>
                    <a:solidFill>
                      <a:srgbClr val="FBF1E4"/>
                    </a:solidFill>
                  </a:tcPr>
                </a:tc>
                <a:tc>
                  <a:txBody>
                    <a:bodyPr/>
                    <a:lstStyle/>
                    <a:p>
                      <a:pPr algn="ctr" marL="0" indent="0">
                        <a:buNone/>
                      </a:pPr>
                      <a:r>
                        <a:rPr lang="en-US" sz="1200" b="1" dirty="0">
                          <a:solidFill>
                            <a:srgbClr val="21295C"/>
                          </a:solidFill>
                          <a:latin typeface="Calibri"/>
                          <a:ea typeface="Calibri"/>
                          <a:cs typeface="Calibri"/>
                        </a:rPr>
                        <a:t>132.9</a:t>
                      </a:r>
                    </a:p>
                  </a:txBody>
                  <a:tcPr marL="91440" marR="91440" marT="36576" marB="36576" anchor="ctr">
                    <a:lnL w="0">
                      <a:noFill/>
                    </a:lnL>
                    <a:lnR w="0">
                      <a:noFill/>
                    </a:lnR>
                    <a:lnT w="0">
                      <a:noFill/>
                    </a:lnT>
                    <a:lnB w="0">
                      <a:noFill/>
                    </a:lnB>
                    <a:solidFill>
                      <a:srgbClr val="FBF1E4"/>
                    </a:solidFill>
                  </a:tcPr>
                </a:tc>
                <a:tc>
                  <a:txBody>
                    <a:bodyPr/>
                    <a:lstStyle/>
                    <a:p>
                      <a:pPr algn="ctr" marL="0" indent="0">
                        <a:buNone/>
                      </a:pPr>
                      <a:r>
                        <a:rPr lang="en-US" sz="1200" b="1" dirty="0">
                          <a:solidFill>
                            <a:srgbClr val="21295C"/>
                          </a:solidFill>
                          <a:latin typeface="Calibri"/>
                          <a:ea typeface="Calibri"/>
                          <a:cs typeface="Calibri"/>
                        </a:rPr>
                        <a:t>328.8</a:t>
                      </a:r>
                    </a:p>
                  </a:txBody>
                  <a:tcPr marL="91440" marR="91440" marT="36576" marB="36576" anchor="ctr">
                    <a:lnL w="0">
                      <a:noFill/>
                    </a:lnL>
                    <a:lnR w="0">
                      <a:noFill/>
                    </a:lnR>
                    <a:lnT w="0">
                      <a:noFill/>
                    </a:lnT>
                    <a:lnB w="0">
                      <a:noFill/>
                    </a:lnB>
                    <a:solidFill>
                      <a:srgbClr val="FBF1E4"/>
                    </a:solidFill>
                  </a:tcPr>
                </a:tc>
              </a:tr>
              <a:tr h="384048">
                <a:tc>
                  <a:txBody>
                    <a:bodyPr/>
                    <a:lstStyle/>
                    <a:p>
                      <a:pPr algn="l" marL="0" indent="0">
                        <a:buNone/>
                      </a:pPr>
                      <a:r>
                        <a:rPr lang="en-US" sz="1200" b="1" dirty="0">
                          <a:solidFill>
                            <a:srgbClr val="21295C"/>
                          </a:solidFill>
                          <a:latin typeface="Calibri"/>
                          <a:ea typeface="Calibri"/>
                          <a:cs typeface="Calibri"/>
                        </a:rPr>
                        <a:t>Track A strike, same sample</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113.999</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113.145</a:t>
                      </a:r>
                    </a:p>
                  </a:txBody>
                  <a:tcPr marL="91440" marR="91440" marT="36576" marB="36576" anchor="ctr">
                    <a:lnL w="0">
                      <a:noFill/>
                    </a:lnL>
                    <a:lnR w="0">
                      <a:noFill/>
                    </a:lnR>
                    <a:lnT w="0">
                      <a:noFill/>
                    </a:lnT>
                    <a:lnB w="0">
                      <a:noFill/>
                    </a:lnB>
                    <a:solidFill>
                      <a:srgbClr val="FFFFFF"/>
                    </a:solidFill>
                  </a:tcPr>
                </a:tc>
              </a:tr>
              <a:tr h="384048">
                <a:tc>
                  <a:txBody>
                    <a:bodyPr/>
                    <a:lstStyle/>
                    <a:p>
                      <a:pPr algn="l" marL="0" indent="0">
                        <a:buNone/>
                      </a:pPr>
                      <a:r>
                        <a:rPr lang="en-US" sz="1200" b="1" dirty="0">
                          <a:solidFill>
                            <a:srgbClr val="21295C"/>
                          </a:solidFill>
                          <a:latin typeface="Calibri"/>
                          <a:ea typeface="Calibri"/>
                          <a:cs typeface="Calibri"/>
                        </a:rPr>
                        <a:t>Ratio model / market  (at h = 1)</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1.17  (2.82)</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2.91  (3.87)</a:t>
                      </a:r>
                    </a:p>
                  </a:txBody>
                  <a:tcPr marL="91440" marR="91440" marT="36576" marB="36576" anchor="ctr">
                    <a:lnL w="0">
                      <a:noFill/>
                    </a:lnL>
                    <a:lnR w="0">
                      <a:noFill/>
                    </a:lnR>
                    <a:lnT w="0">
                      <a:noFill/>
                    </a:lnT>
                    <a:lnB w="0">
                      <a:noFill/>
                    </a:lnB>
                    <a:solidFill>
                      <a:srgbClr val="EEF3F7"/>
                    </a:solidFill>
                  </a:tcPr>
                </a:tc>
              </a:tr>
            </a:tbl>
          </a:graphicData>
        </a:graphic>
      </p:graphicFrame>
      <p:sp>
        <p:nvSpPr>
          <p:cNvPr id="5" name="Rounded Rectangle 4"/>
          <p:cNvSpPr/>
          <p:nvPr/>
        </p:nvSpPr>
        <p:spPr>
          <a:xfrm>
            <a:off x="548640" y="5349240"/>
            <a:ext cx="11109960" cy="914400"/>
          </a:xfrm>
          <a:prstGeom prst="roundRect">
            <a:avLst>
              <a:gd name="adj" fmla="val 3599"/>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5413248"/>
            <a:ext cx="10561320" cy="786384"/>
          </a:xfrm>
          <a:prstGeom prst="rect">
            <a:avLst/>
          </a:prstGeom>
          <a:noFill/>
        </p:spPr>
        <p:txBody>
          <a:bodyPr wrap="square" lIns="0" rIns="0" tIns="0" bIns="0" anchor="ctr">
            <a:spAutoFit/>
          </a:bodyPr>
          <a:lstStyle/>
          <a:p>
            <a:pPr algn="l" marL="0" indent="0">
              <a:lnSpc>
                <a:spcPct val="108000"/>
              </a:lnSpc>
              <a:buNone/>
            </a:pPr>
            <a:r>
              <a:rPr lang="en-US" sz="1200" b="1" dirty="0">
                <a:solidFill>
                  <a:srgbClr val="21295C"/>
                </a:solidFill>
                <a:latin typeface="Calibri"/>
                <a:ea typeface="Calibri"/>
                <a:cs typeface="Calibri"/>
              </a:rPr>
              <a:t>Arithmetic reconciliation, not a frozen phase output. </a:t>
            </a:r>
            <a:r>
              <a:rPr lang="en-US" sz="1200" b="0" dirty="0">
                <a:solidFill>
                  <a:srgbClr val="56606B"/>
                </a:solidFill>
                <a:latin typeface="Calibri"/>
                <a:ea typeface="Calibri"/>
                <a:cs typeface="Calibri"/>
              </a:rPr>
              <a:t>Each step is a first-order delta-method approximation at the sample mean, so the figures are order-of-magnitude statements. Both models overstate the market — the expected effect of calibrating on one grid point against a spatially averaged national fleet.</a:t>
            </a:r>
          </a:p>
        </p:txBody>
      </p:sp>
      <p:sp>
        <p:nvSpPr>
          <p:cNvPr id="7" name="TextBox 6"/>
          <p:cNvSpPr txBox="1"/>
          <p:nvPr/>
        </p:nvSpPr>
        <p:spPr>
          <a:xfrm>
            <a:off x="548640" y="6510528"/>
            <a:ext cx="8229600" cy="256032"/>
          </a:xfrm>
          <a:prstGeom prst="rect">
            <a:avLst/>
          </a:prstGeom>
          <a:noFill/>
        </p:spPr>
        <p:txBody>
          <a:bodyPr wrap="square" lIns="0" rIns="0" tIns="0" bIns="0" anchor="ctr">
            <a:spAutoFit/>
          </a:bodyPr>
          <a:lstStyle/>
          <a:p>
            <a:pPr algn="l" marL="0" indent="0">
              <a:buNone/>
            </a:pPr>
            <a:r>
              <a:rPr lang="en-US" sz="900" b="0" i="1" dirty="0">
                <a:solidFill>
                  <a:srgbClr val="56606B"/>
                </a:solidFill>
                <a:latin typeface="Calibri"/>
                <a:ea typeface="Calibri"/>
                <a:cs typeface="Calibri"/>
              </a:rPr>
              <a:t>Wind Speed Modelling for Derivatives Pricing — Final Defence</a:t>
            </a:r>
          </a:p>
        </p:txBody>
      </p:sp>
      <p:sp>
        <p:nvSpPr>
          <p:cNvPr id="8" name="TextBox 7"/>
          <p:cNvSpPr txBox="1"/>
          <p:nvPr/>
        </p:nvSpPr>
        <p:spPr>
          <a:xfrm>
            <a:off x="11365992" y="6510528"/>
            <a:ext cx="365760" cy="256032"/>
          </a:xfrm>
          <a:prstGeom prst="rect">
            <a:avLst/>
          </a:prstGeom>
          <a:noFill/>
        </p:spPr>
        <p:txBody>
          <a:bodyPr wrap="square" lIns="0" rIns="0" tIns="0" bIns="0" anchor="ctr">
            <a:spAutoFit/>
          </a:bodyPr>
          <a:lstStyle/>
          <a:p>
            <a:pPr algn="r" marL="0" indent="0">
              <a:buNone/>
            </a:pPr>
            <a:r>
              <a:rPr lang="en-US" sz="900" b="0" dirty="0">
                <a:solidFill>
                  <a:srgbClr val="56606B"/>
                </a:solidFill>
                <a:latin typeface="Calibri"/>
                <a:ea typeface="Calibri"/>
                <a:cs typeface="Calibri"/>
              </a:rPr>
              <a:t>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292608"/>
          </a:xfrm>
          <a:prstGeom prst="rect">
            <a:avLst/>
          </a:prstGeom>
          <a:noFill/>
        </p:spPr>
        <p:txBody>
          <a:bodyPr wrap="square" lIns="0" rIns="0" tIns="0" bIns="0" anchor="ctr">
            <a:spAutoFit/>
          </a:bodyPr>
          <a:lstStyle/>
          <a:p>
            <a:pPr algn="l" marL="0" indent="0">
              <a:buNone/>
            </a:pPr>
            <a:r>
              <a:rPr lang="en-US" sz="1250" b="1" spc="200" kern="0" dirty="0">
                <a:solidFill>
                  <a:srgbClr val="1C7293"/>
                </a:solidFill>
                <a:latin typeface="Calibri"/>
                <a:ea typeface="Calibri"/>
                <a:cs typeface="Calibri"/>
              </a:rPr>
              <a:t>BACKUP B4 · CH. 2 §2.2.4 &amp; CH. 3 §3.2.1 — DIEBOLD–MARIANO</a:t>
            </a:r>
          </a:p>
        </p:txBody>
      </p:sp>
      <p:sp>
        <p:nvSpPr>
          <p:cNvPr id="3" name="TextBox 2"/>
          <p:cNvSpPr txBox="1"/>
          <p:nvPr/>
        </p:nvSpPr>
        <p:spPr>
          <a:xfrm>
            <a:off x="548640" y="658368"/>
            <a:ext cx="11109960" cy="868680"/>
          </a:xfrm>
          <a:prstGeom prst="rect">
            <a:avLst/>
          </a:prstGeom>
          <a:noFill/>
        </p:spPr>
        <p:txBody>
          <a:bodyPr wrap="square" lIns="0" rIns="0" tIns="0" bIns="0" anchor="ctr">
            <a:spAutoFit/>
          </a:bodyPr>
          <a:lstStyle/>
          <a:p>
            <a:pPr algn="l" marL="0" indent="0">
              <a:buNone/>
            </a:pPr>
            <a:r>
              <a:rPr lang="en-US" sz="2700" b="1" dirty="0">
                <a:solidFill>
                  <a:srgbClr val="21295C"/>
                </a:solidFill>
                <a:latin typeface="Cambria"/>
                <a:ea typeface="Cambria"/>
                <a:cs typeface="Cambria"/>
              </a:rPr>
              <a:t>The same test, twice — why the signs differ</a:t>
            </a:r>
          </a:p>
        </p:txBody>
      </p:sp>
      <p:graphicFrame>
        <p:nvGraphicFramePr>
          <p:cNvPr id="4" name="Table 3"/>
          <p:cNvGraphicFramePr>
            <a:graphicFrameLocks noGrp="1"/>
          </p:cNvGraphicFramePr>
          <p:nvPr/>
        </p:nvGraphicFramePr>
        <p:xfrm>
          <a:off x="548640" y="1691640"/>
          <a:ext cx="11109960" cy="2926080"/>
        </p:xfrm>
        <a:graphic>
          <a:graphicData uri="http://schemas.openxmlformats.org/drawingml/2006/table">
            <a:tbl>
              <a:tblPr/>
              <a:tblGrid>
                <a:gridCol w="3063240"/>
                <a:gridCol w="4023360"/>
                <a:gridCol w="4023360"/>
              </a:tblGrid>
              <a:tr h="365760">
                <a:tc>
                  <a:txBody>
                    <a:bodyPr/>
                    <a:lstStyle/>
                    <a:p>
                      <a:pPr algn="l" marL="0" indent="0">
                        <a:buNone/>
                      </a:pPr>
                      <a:r>
                        <a:rPr lang="en-US" sz="1200" b="1" dirty="0">
                          <a:solidFill>
                            <a:srgbClr val="FFFFFF"/>
                          </a:solidFill>
                          <a:latin typeface="Calibri"/>
                          <a:ea typeface="Calibri"/>
                          <a:cs typeface="Calibri"/>
                        </a:rPr>
                        <a:t/>
                      </a:r>
                    </a:p>
                  </a:txBody>
                  <a:tcPr marL="91440" marR="91440" marT="36576" marB="36576" anchor="ctr">
                    <a:lnL w="0">
                      <a:noFill/>
                    </a:lnL>
                    <a:lnR w="0">
                      <a:noFill/>
                    </a:lnR>
                    <a:lnT w="0">
                      <a:noFill/>
                    </a:lnT>
                    <a:lnB w="0">
                      <a:noFill/>
                    </a:lnB>
                    <a:solidFill>
                      <a:srgbClr val="21295C"/>
                    </a:solidFill>
                  </a:tcPr>
                </a:tc>
                <a:tc>
                  <a:txBody>
                    <a:bodyPr/>
                    <a:lstStyle/>
                    <a:p>
                      <a:pPr algn="ctr" marL="0" indent="0">
                        <a:buNone/>
                      </a:pPr>
                      <a:r>
                        <a:rPr lang="en-US" sz="1200" b="1" dirty="0">
                          <a:solidFill>
                            <a:srgbClr val="FFFFFF"/>
                          </a:solidFill>
                          <a:latin typeface="Calibri"/>
                          <a:ea typeface="Calibri"/>
                          <a:cs typeface="Calibri"/>
                        </a:rPr>
                        <a:t>Chapter 2, §2.2.4</a:t>
                      </a:r>
                    </a:p>
                  </a:txBody>
                  <a:tcPr marL="91440" marR="91440" marT="36576" marB="36576" anchor="ctr">
                    <a:lnL w="0">
                      <a:noFill/>
                    </a:lnL>
                    <a:lnR w="0">
                      <a:noFill/>
                    </a:lnR>
                    <a:lnT w="0">
                      <a:noFill/>
                    </a:lnT>
                    <a:lnB w="0">
                      <a:noFill/>
                    </a:lnB>
                    <a:solidFill>
                      <a:srgbClr val="21295C"/>
                    </a:solidFill>
                  </a:tcPr>
                </a:tc>
                <a:tc>
                  <a:txBody>
                    <a:bodyPr/>
                    <a:lstStyle/>
                    <a:p>
                      <a:pPr algn="ctr" marL="0" indent="0">
                        <a:buNone/>
                      </a:pPr>
                      <a:r>
                        <a:rPr lang="en-US" sz="1200" b="1" dirty="0">
                          <a:solidFill>
                            <a:srgbClr val="FFFFFF"/>
                          </a:solidFill>
                          <a:latin typeface="Calibri"/>
                          <a:ea typeface="Calibri"/>
                          <a:cs typeface="Calibri"/>
                        </a:rPr>
                        <a:t>Chapter 3, §3.2.1</a:t>
                      </a:r>
                    </a:p>
                  </a:txBody>
                  <a:tcPr marL="91440" marR="91440" marT="36576" marB="36576" anchor="ctr">
                    <a:lnL w="0">
                      <a:noFill/>
                    </a:lnL>
                    <a:lnR w="0">
                      <a:noFill/>
                    </a:lnR>
                    <a:lnT w="0">
                      <a:noFill/>
                    </a:lnT>
                    <a:lnB w="0">
                      <a:noFill/>
                    </a:lnB>
                    <a:solidFill>
                      <a:srgbClr val="21295C"/>
                    </a:solidFill>
                  </a:tcPr>
                </a:tc>
              </a:tr>
              <a:tr h="365760">
                <a:tc>
                  <a:txBody>
                    <a:bodyPr/>
                    <a:lstStyle/>
                    <a:p>
                      <a:pPr algn="l" marL="0" indent="0">
                        <a:buNone/>
                      </a:pPr>
                      <a:r>
                        <a:rPr lang="en-US" sz="1200" b="1" dirty="0">
                          <a:solidFill>
                            <a:srgbClr val="21295C"/>
                          </a:solidFill>
                          <a:latin typeface="Calibri"/>
                          <a:ea typeface="Calibri"/>
                          <a:cs typeface="Calibri"/>
                        </a:rPr>
                        <a:t>Loss differential</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dₜ = e²AR(4) − e²persistence</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dₜ = e²persistence − e²model</a:t>
                      </a:r>
                    </a:p>
                  </a:txBody>
                  <a:tcPr marL="91440" marR="91440" marT="36576" marB="36576" anchor="ctr">
                    <a:lnL w="0">
                      <a:noFill/>
                    </a:lnL>
                    <a:lnR w="0">
                      <a:noFill/>
                    </a:lnR>
                    <a:lnT w="0">
                      <a:noFill/>
                    </a:lnT>
                    <a:lnB w="0">
                      <a:noFill/>
                    </a:lnB>
                    <a:solidFill>
                      <a:srgbClr val="FFFFFF"/>
                    </a:solidFill>
                  </a:tcPr>
                </a:tc>
              </a:tr>
              <a:tr h="365760">
                <a:tc>
                  <a:txBody>
                    <a:bodyPr/>
                    <a:lstStyle/>
                    <a:p>
                      <a:pPr algn="l" marL="0" indent="0">
                        <a:buNone/>
                      </a:pPr>
                      <a:r>
                        <a:rPr lang="en-US" sz="1200" b="1" dirty="0">
                          <a:solidFill>
                            <a:srgbClr val="21295C"/>
                          </a:solidFill>
                          <a:latin typeface="Calibri"/>
                          <a:ea typeface="Calibri"/>
                          <a:cs typeface="Calibri"/>
                        </a:rPr>
                        <a:t>A winning model gives</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a negative statistic</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a positive statistic</a:t>
                      </a:r>
                    </a:p>
                  </a:txBody>
                  <a:tcPr marL="91440" marR="91440" marT="36576" marB="36576" anchor="ctr">
                    <a:lnL w="0">
                      <a:noFill/>
                    </a:lnL>
                    <a:lnR w="0">
                      <a:noFill/>
                    </a:lnR>
                    <a:lnT w="0">
                      <a:noFill/>
                    </a:lnT>
                    <a:lnB w="0">
                      <a:noFill/>
                    </a:lnB>
                    <a:solidFill>
                      <a:srgbClr val="EEF3F7"/>
                    </a:solidFill>
                  </a:tcPr>
                </a:tc>
              </a:tr>
              <a:tr h="365760">
                <a:tc>
                  <a:txBody>
                    <a:bodyPr/>
                    <a:lstStyle/>
                    <a:p>
                      <a:pPr algn="l" marL="0" indent="0">
                        <a:buNone/>
                      </a:pPr>
                      <a:r>
                        <a:rPr lang="en-US" sz="1200" b="1" dirty="0">
                          <a:solidFill>
                            <a:srgbClr val="21295C"/>
                          </a:solidFill>
                          <a:latin typeface="Calibri"/>
                          <a:ea typeface="Calibri"/>
                          <a:cs typeface="Calibri"/>
                        </a:rPr>
                        <a:t>Evaluation sample</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held-out partition (220 / 548 obs.)</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full series (1,461 / 3,652 errors)</a:t>
                      </a:r>
                    </a:p>
                  </a:txBody>
                  <a:tcPr marL="91440" marR="91440" marT="36576" marB="36576" anchor="ctr">
                    <a:lnL w="0">
                      <a:noFill/>
                    </a:lnL>
                    <a:lnR w="0">
                      <a:noFill/>
                    </a:lnR>
                    <a:lnT w="0">
                      <a:noFill/>
                    </a:lnT>
                    <a:lnB w="0">
                      <a:noFill/>
                    </a:lnB>
                    <a:solidFill>
                      <a:srgbClr val="FFFFFF"/>
                    </a:solidFill>
                  </a:tcPr>
                </a:tc>
              </a:tr>
              <a:tr h="365760">
                <a:tc>
                  <a:txBody>
                    <a:bodyPr/>
                    <a:lstStyle/>
                    <a:p>
                      <a:pPr algn="l" marL="0" indent="0">
                        <a:buNone/>
                      </a:pPr>
                      <a:r>
                        <a:rPr lang="en-US" sz="1200" b="1" dirty="0">
                          <a:solidFill>
                            <a:srgbClr val="21295C"/>
                          </a:solidFill>
                          <a:latin typeface="Calibri"/>
                          <a:ea typeface="Calibri"/>
                          <a:cs typeface="Calibri"/>
                        </a:rPr>
                        <a:t>DM statistic (A / B)</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−3.681 / −7.019</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+8.265 / +16.758</a:t>
                      </a:r>
                    </a:p>
                  </a:txBody>
                  <a:tcPr marL="91440" marR="91440" marT="36576" marB="36576" anchor="ctr">
                    <a:lnL w="0">
                      <a:noFill/>
                    </a:lnL>
                    <a:lnR w="0">
                      <a:noFill/>
                    </a:lnR>
                    <a:lnT w="0">
                      <a:noFill/>
                    </a:lnT>
                    <a:lnB w="0">
                      <a:noFill/>
                    </a:lnB>
                    <a:solidFill>
                      <a:srgbClr val="EEF3F7"/>
                    </a:solidFill>
                  </a:tcPr>
                </a:tc>
              </a:tr>
              <a:tr h="365760">
                <a:tc>
                  <a:txBody>
                    <a:bodyPr/>
                    <a:lstStyle/>
                    <a:p>
                      <a:pPr algn="l" marL="0" indent="0">
                        <a:buNone/>
                      </a:pPr>
                      <a:r>
                        <a:rPr lang="en-US" sz="1200" b="1" dirty="0">
                          <a:solidFill>
                            <a:srgbClr val="21295C"/>
                          </a:solidFill>
                          <a:latin typeface="Calibri"/>
                          <a:ea typeface="Calibri"/>
                          <a:cs typeface="Calibri"/>
                        </a:rPr>
                        <a:t>RMSE persistence (A / B)</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0.6856 / 0.9955</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0.8868 / 1.0046</a:t>
                      </a:r>
                    </a:p>
                  </a:txBody>
                  <a:tcPr marL="91440" marR="91440" marT="36576" marB="36576" anchor="ctr">
                    <a:lnL w="0">
                      <a:noFill/>
                    </a:lnL>
                    <a:lnR w="0">
                      <a:noFill/>
                    </a:lnR>
                    <a:lnT w="0">
                      <a:noFill/>
                    </a:lnT>
                    <a:lnB w="0">
                      <a:noFill/>
                    </a:lnB>
                    <a:solidFill>
                      <a:srgbClr val="FFFFFF"/>
                    </a:solidFill>
                  </a:tcPr>
                </a:tc>
              </a:tr>
              <a:tr h="365760">
                <a:tc>
                  <a:txBody>
                    <a:bodyPr/>
                    <a:lstStyle/>
                    <a:p>
                      <a:pPr algn="l" marL="0" indent="0">
                        <a:buNone/>
                      </a:pPr>
                      <a:r>
                        <a:rPr lang="en-US" sz="1200" b="1" dirty="0">
                          <a:solidFill>
                            <a:srgbClr val="21295C"/>
                          </a:solidFill>
                          <a:latin typeface="Calibri"/>
                          <a:ea typeface="Calibri"/>
                          <a:cs typeface="Calibri"/>
                        </a:rPr>
                        <a:t>RMSE AR(4) (A / B)</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0.6017 / 0.8580</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00" b="0" dirty="0">
                          <a:solidFill>
                            <a:srgbClr val="56606B"/>
                          </a:solidFill>
                          <a:latin typeface="Calibri"/>
                          <a:ea typeface="Calibri"/>
                          <a:cs typeface="Calibri"/>
                        </a:rPr>
                        <a:t>0.7802 / 0.8681</a:t>
                      </a:r>
                    </a:p>
                  </a:txBody>
                  <a:tcPr marL="91440" marR="91440" marT="36576" marB="36576" anchor="ctr">
                    <a:lnL w="0">
                      <a:noFill/>
                    </a:lnL>
                    <a:lnR w="0">
                      <a:noFill/>
                    </a:lnR>
                    <a:lnT w="0">
                      <a:noFill/>
                    </a:lnT>
                    <a:lnB w="0">
                      <a:noFill/>
                    </a:lnB>
                    <a:solidFill>
                      <a:srgbClr val="EEF3F7"/>
                    </a:solidFill>
                  </a:tcPr>
                </a:tc>
              </a:tr>
              <a:tr h="365760">
                <a:tc>
                  <a:txBody>
                    <a:bodyPr/>
                    <a:lstStyle/>
                    <a:p>
                      <a:pPr algn="l" marL="0" indent="0">
                        <a:buNone/>
                      </a:pPr>
                      <a:r>
                        <a:rPr lang="en-US" sz="1200" b="1" dirty="0">
                          <a:solidFill>
                            <a:srgbClr val="21295C"/>
                          </a:solidFill>
                          <a:latin typeface="Calibri"/>
                          <a:ea typeface="Calibri"/>
                          <a:cs typeface="Calibri"/>
                        </a:rPr>
                        <a:t>Improvement (A / B)</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12.2% / 13.8%</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00" b="0" dirty="0">
                          <a:solidFill>
                            <a:srgbClr val="56606B"/>
                          </a:solidFill>
                          <a:latin typeface="Calibri"/>
                          <a:ea typeface="Calibri"/>
                          <a:cs typeface="Calibri"/>
                        </a:rPr>
                        <a:t>12.0% / 13.6%</a:t>
                      </a:r>
                    </a:p>
                  </a:txBody>
                  <a:tcPr marL="91440" marR="91440" marT="36576" marB="36576" anchor="ctr">
                    <a:lnL w="0">
                      <a:noFill/>
                    </a:lnL>
                    <a:lnR w="0">
                      <a:noFill/>
                    </a:lnR>
                    <a:lnT w="0">
                      <a:noFill/>
                    </a:lnT>
                    <a:lnB w="0">
                      <a:noFill/>
                    </a:lnB>
                    <a:solidFill>
                      <a:srgbClr val="FFFFFF"/>
                    </a:solidFill>
                  </a:tcPr>
                </a:tc>
              </a:tr>
            </a:tbl>
          </a:graphicData>
        </a:graphic>
      </p:graphicFrame>
      <p:sp>
        <p:nvSpPr>
          <p:cNvPr id="5" name="Rounded Rectangle 4"/>
          <p:cNvSpPr/>
          <p:nvPr/>
        </p:nvSpPr>
        <p:spPr>
          <a:xfrm>
            <a:off x="548640" y="4800600"/>
            <a:ext cx="5394960" cy="1463040"/>
          </a:xfrm>
          <a:prstGeom prst="roundRect">
            <a:avLst>
              <a:gd name="adj" fmla="val 3599"/>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4892040"/>
            <a:ext cx="4937760" cy="1280160"/>
          </a:xfrm>
          <a:prstGeom prst="rect">
            <a:avLst/>
          </a:prstGeom>
          <a:noFill/>
        </p:spPr>
        <p:txBody>
          <a:bodyPr wrap="square" lIns="0" rIns="0" tIns="0" bIns="0" anchor="ctr">
            <a:spAutoFit/>
          </a:bodyPr>
          <a:lstStyle/>
          <a:p>
            <a:pPr algn="l" marL="0" indent="0">
              <a:lnSpc>
                <a:spcPct val="108000"/>
              </a:lnSpc>
              <a:buNone/>
            </a:pPr>
            <a:r>
              <a:rPr lang="en-US" sz="1200" b="1" dirty="0">
                <a:solidFill>
                  <a:srgbClr val="21295C"/>
                </a:solidFill>
                <a:latin typeface="Calibri"/>
                <a:ea typeface="Calibri"/>
                <a:cs typeface="Calibri"/>
              </a:rPr>
              <a:t>The sign is a convention, not a result. </a:t>
            </a:r>
            <a:r>
              <a:rPr lang="en-US" sz="1200" b="0" dirty="0">
                <a:solidFill>
                  <a:srgbClr val="56606B"/>
                </a:solidFill>
                <a:latin typeface="Calibri"/>
                <a:ea typeface="Calibri"/>
                <a:cs typeface="Calibri"/>
              </a:rPr>
              <a:t>Same test, same conclusion: every fitted specification rejects equal accuracy with persistence at any conventional level, on either convention and either sample. Magnitudes scale with √n.</a:t>
            </a:r>
          </a:p>
        </p:txBody>
      </p:sp>
      <p:sp>
        <p:nvSpPr>
          <p:cNvPr id="7" name="Rounded Rectangle 6"/>
          <p:cNvSpPr/>
          <p:nvPr/>
        </p:nvSpPr>
        <p:spPr>
          <a:xfrm>
            <a:off x="6263640" y="4800600"/>
            <a:ext cx="5394960" cy="1463040"/>
          </a:xfrm>
          <a:prstGeom prst="roundRect">
            <a:avLst>
              <a:gd name="adj" fmla="val 3599"/>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92240" y="4892040"/>
            <a:ext cx="4937760" cy="1280160"/>
          </a:xfrm>
          <a:prstGeom prst="rect">
            <a:avLst/>
          </a:prstGeom>
          <a:noFill/>
        </p:spPr>
        <p:txBody>
          <a:bodyPr wrap="square" lIns="0" rIns="0" tIns="0" bIns="0" anchor="ctr">
            <a:spAutoFit/>
          </a:bodyPr>
          <a:lstStyle/>
          <a:p>
            <a:pPr algn="l" marL="0" indent="0">
              <a:lnSpc>
                <a:spcPct val="108000"/>
              </a:lnSpc>
              <a:buNone/>
            </a:pPr>
            <a:r>
              <a:rPr lang="en-US" sz="1200" b="1" dirty="0">
                <a:solidFill>
                  <a:srgbClr val="21295C"/>
                </a:solidFill>
                <a:latin typeface="Calibri"/>
                <a:ea typeface="Calibri"/>
                <a:cs typeface="Calibri"/>
              </a:rPr>
              <a:t>Why A's RMSEs move by 23%, B's by under 1%. </a:t>
            </a:r>
            <a:r>
              <a:rPr lang="en-US" sz="1200" b="0" dirty="0">
                <a:solidFill>
                  <a:srgbClr val="56606B"/>
                </a:solidFill>
                <a:latin typeface="Calibri"/>
                <a:ea typeface="Calibri"/>
                <a:cs typeface="Calibri"/>
              </a:rPr>
              <a:t>A's hold-out ends in a calm spell: √(0.4137/0.608) = 0.825 vs an observed 0.773. B's h(t₀) = 0.7511 sits at its unconditional 0.7522, predicting one vs an observed 0.991.</a:t>
            </a:r>
          </a:p>
        </p:txBody>
      </p:sp>
      <p:sp>
        <p:nvSpPr>
          <p:cNvPr id="9" name="TextBox 8"/>
          <p:cNvSpPr txBox="1"/>
          <p:nvPr/>
        </p:nvSpPr>
        <p:spPr>
          <a:xfrm>
            <a:off x="548640" y="6510528"/>
            <a:ext cx="8229600" cy="256032"/>
          </a:xfrm>
          <a:prstGeom prst="rect">
            <a:avLst/>
          </a:prstGeom>
          <a:noFill/>
        </p:spPr>
        <p:txBody>
          <a:bodyPr wrap="square" lIns="0" rIns="0" tIns="0" bIns="0" anchor="ctr">
            <a:spAutoFit/>
          </a:bodyPr>
          <a:lstStyle/>
          <a:p>
            <a:pPr algn="l" marL="0" indent="0">
              <a:buNone/>
            </a:pPr>
            <a:r>
              <a:rPr lang="en-US" sz="900" b="0" i="1" dirty="0">
                <a:solidFill>
                  <a:srgbClr val="56606B"/>
                </a:solidFill>
                <a:latin typeface="Calibri"/>
                <a:ea typeface="Calibri"/>
                <a:cs typeface="Calibri"/>
              </a:rPr>
              <a:t>Wind Speed Modelling for Derivatives Pricing — Final Defence</a:t>
            </a:r>
          </a:p>
        </p:txBody>
      </p:sp>
      <p:sp>
        <p:nvSpPr>
          <p:cNvPr id="10" name="TextBox 9"/>
          <p:cNvSpPr txBox="1"/>
          <p:nvPr/>
        </p:nvSpPr>
        <p:spPr>
          <a:xfrm>
            <a:off x="11365992" y="6510528"/>
            <a:ext cx="365760" cy="256032"/>
          </a:xfrm>
          <a:prstGeom prst="rect">
            <a:avLst/>
          </a:prstGeom>
          <a:noFill/>
        </p:spPr>
        <p:txBody>
          <a:bodyPr wrap="square" lIns="0" rIns="0" tIns="0" bIns="0" anchor="ctr">
            <a:spAutoFit/>
          </a:bodyPr>
          <a:lstStyle/>
          <a:p>
            <a:pPr algn="r" marL="0" indent="0">
              <a:buNone/>
            </a:pPr>
            <a:r>
              <a:rPr lang="en-US" sz="900" b="0" dirty="0">
                <a:solidFill>
                  <a:srgbClr val="56606B"/>
                </a:solidFill>
                <a:latin typeface="Calibri"/>
                <a:ea typeface="Calibri"/>
                <a:cs typeface="Calibri"/>
              </a:rPr>
              <a:t>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292608"/>
          </a:xfrm>
          <a:prstGeom prst="rect">
            <a:avLst/>
          </a:prstGeom>
          <a:noFill/>
        </p:spPr>
        <p:txBody>
          <a:bodyPr wrap="square" lIns="0" rIns="0" tIns="0" bIns="0" anchor="ctr">
            <a:spAutoFit/>
          </a:bodyPr>
          <a:lstStyle/>
          <a:p>
            <a:pPr algn="l" marL="0" indent="0">
              <a:buNone/>
            </a:pPr>
            <a:r>
              <a:rPr lang="en-US" sz="1250" b="1" spc="200" kern="0" dirty="0">
                <a:solidFill>
                  <a:srgbClr val="1C7293"/>
                </a:solidFill>
                <a:latin typeface="Calibri"/>
                <a:ea typeface="Calibri"/>
                <a:cs typeface="Calibri"/>
              </a:rPr>
              <a:t>BACKUP B5 · CH. 3 §3.3.1 — HEIGHT CORRECTION</a:t>
            </a:r>
          </a:p>
        </p:txBody>
      </p:sp>
      <p:sp>
        <p:nvSpPr>
          <p:cNvPr id="3" name="TextBox 2"/>
          <p:cNvSpPr txBox="1"/>
          <p:nvPr/>
        </p:nvSpPr>
        <p:spPr>
          <a:xfrm>
            <a:off x="548640" y="658368"/>
            <a:ext cx="11109960" cy="868680"/>
          </a:xfrm>
          <a:prstGeom prst="rect">
            <a:avLst/>
          </a:prstGeom>
          <a:noFill/>
        </p:spPr>
        <p:txBody>
          <a:bodyPr wrap="square" lIns="0" rIns="0" tIns="0" bIns="0" anchor="ctr">
            <a:spAutoFit/>
          </a:bodyPr>
          <a:lstStyle/>
          <a:p>
            <a:pPr algn="l" marL="0" indent="0">
              <a:buNone/>
            </a:pPr>
            <a:r>
              <a:rPr lang="en-US" sz="2700" b="1" dirty="0">
                <a:solidFill>
                  <a:srgbClr val="21295C"/>
                </a:solidFill>
                <a:latin typeface="Cambria"/>
                <a:ea typeface="Cambria"/>
                <a:cs typeface="Cambria"/>
              </a:rPr>
              <a:t>No admissible profile exponent turns the gap into a height effect</a:t>
            </a:r>
          </a:p>
        </p:txBody>
      </p:sp>
      <p:graphicFrame>
        <p:nvGraphicFramePr>
          <p:cNvPr id="4" name="Table 3"/>
          <p:cNvGraphicFramePr>
            <a:graphicFrameLocks noGrp="1"/>
          </p:cNvGraphicFramePr>
          <p:nvPr/>
        </p:nvGraphicFramePr>
        <p:xfrm>
          <a:off x="548640" y="1783080"/>
          <a:ext cx="8412480" cy="2468880"/>
        </p:xfrm>
        <a:graphic>
          <a:graphicData uri="http://schemas.openxmlformats.org/drawingml/2006/table">
            <a:tbl>
              <a:tblPr/>
              <a:tblGrid>
                <a:gridCol w="3291840"/>
                <a:gridCol w="1737360"/>
                <a:gridCol w="1828800"/>
                <a:gridCol w="1554480"/>
              </a:tblGrid>
              <a:tr h="411480">
                <a:tc>
                  <a:txBody>
                    <a:bodyPr/>
                    <a:lstStyle/>
                    <a:p>
                      <a:pPr algn="l" marL="0" indent="0">
                        <a:buNone/>
                      </a:pPr>
                      <a:r>
                        <a:rPr lang="en-US" sz="1250" b="1" dirty="0">
                          <a:solidFill>
                            <a:srgbClr val="FFFFFF"/>
                          </a:solidFill>
                          <a:latin typeface="Calibri"/>
                          <a:ea typeface="Calibri"/>
                          <a:cs typeface="Calibri"/>
                        </a:rPr>
                        <a:t>Profile exponent α</a:t>
                      </a:r>
                    </a:p>
                  </a:txBody>
                  <a:tcPr marL="91440" marR="91440" marT="36576" marB="36576" anchor="ctr">
                    <a:lnL w="0">
                      <a:noFill/>
                    </a:lnL>
                    <a:lnR w="0">
                      <a:noFill/>
                    </a:lnR>
                    <a:lnT w="0">
                      <a:noFill/>
                    </a:lnT>
                    <a:lnB w="0">
                      <a:noFill/>
                    </a:lnB>
                    <a:solidFill>
                      <a:srgbClr val="21295C"/>
                    </a:solidFill>
                  </a:tcPr>
                </a:tc>
                <a:tc>
                  <a:txBody>
                    <a:bodyPr/>
                    <a:lstStyle/>
                    <a:p>
                      <a:pPr algn="ctr" marL="0" indent="0">
                        <a:buNone/>
                      </a:pPr>
                      <a:r>
                        <a:rPr lang="en-US" sz="1250" b="1" dirty="0">
                          <a:solidFill>
                            <a:srgbClr val="FFFFFF"/>
                          </a:solidFill>
                          <a:latin typeface="Calibri"/>
                          <a:ea typeface="Calibri"/>
                          <a:cs typeface="Calibri"/>
                        </a:rPr>
                        <a:t>Factor 10^(2α)</a:t>
                      </a:r>
                    </a:p>
                  </a:txBody>
                  <a:tcPr marL="91440" marR="91440" marT="36576" marB="36576" anchor="ctr">
                    <a:lnL w="0">
                      <a:noFill/>
                    </a:lnL>
                    <a:lnR w="0">
                      <a:noFill/>
                    </a:lnR>
                    <a:lnT w="0">
                      <a:noFill/>
                    </a:lnT>
                    <a:lnB w="0">
                      <a:noFill/>
                    </a:lnB>
                    <a:solidFill>
                      <a:srgbClr val="21295C"/>
                    </a:solidFill>
                  </a:tcPr>
                </a:tc>
                <a:tc>
                  <a:txBody>
                    <a:bodyPr/>
                    <a:lstStyle/>
                    <a:p>
                      <a:pPr algn="ctr" marL="0" indent="0">
                        <a:buNone/>
                      </a:pPr>
                      <a:r>
                        <a:rPr lang="en-US" sz="1250" b="1" dirty="0">
                          <a:solidFill>
                            <a:srgbClr val="FFFFFF"/>
                          </a:solidFill>
                          <a:latin typeface="Calibri"/>
                          <a:ea typeface="Calibri"/>
                          <a:cs typeface="Calibri"/>
                        </a:rPr>
                        <a:t>Corrected K, A</a:t>
                      </a:r>
                    </a:p>
                  </a:txBody>
                  <a:tcPr marL="91440" marR="91440" marT="36576" marB="36576" anchor="ctr">
                    <a:lnL w="0">
                      <a:noFill/>
                    </a:lnL>
                    <a:lnR w="0">
                      <a:noFill/>
                    </a:lnR>
                    <a:lnT w="0">
                      <a:noFill/>
                    </a:lnT>
                    <a:lnB w="0">
                      <a:noFill/>
                    </a:lnB>
                    <a:solidFill>
                      <a:srgbClr val="21295C"/>
                    </a:solidFill>
                  </a:tcPr>
                </a:tc>
                <a:tc>
                  <a:txBody>
                    <a:bodyPr/>
                    <a:lstStyle/>
                    <a:p>
                      <a:pPr algn="ctr" marL="0" indent="0">
                        <a:buNone/>
                      </a:pPr>
                      <a:r>
                        <a:rPr lang="en-US" sz="1250" b="1" dirty="0">
                          <a:solidFill>
                            <a:srgbClr val="FFFFFF"/>
                          </a:solidFill>
                          <a:latin typeface="Calibri"/>
                          <a:ea typeface="Calibri"/>
                          <a:cs typeface="Calibri"/>
                        </a:rPr>
                        <a:t>Mispricing</a:t>
                      </a:r>
                    </a:p>
                  </a:txBody>
                  <a:tcPr marL="91440" marR="91440" marT="36576" marB="36576" anchor="ctr">
                    <a:lnL w="0">
                      <a:noFill/>
                    </a:lnL>
                    <a:lnR w="0">
                      <a:noFill/>
                    </a:lnR>
                    <a:lnT w="0">
                      <a:noFill/>
                    </a:lnT>
                    <a:lnB w="0">
                      <a:noFill/>
                    </a:lnB>
                    <a:solidFill>
                      <a:srgbClr val="21295C"/>
                    </a:solidFill>
                  </a:tcPr>
                </a:tc>
              </a:tr>
              <a:tr h="411480">
                <a:tc>
                  <a:txBody>
                    <a:bodyPr/>
                    <a:lstStyle/>
                    <a:p>
                      <a:pPr algn="l" marL="0" indent="0">
                        <a:buNone/>
                      </a:pPr>
                      <a:r>
                        <a:rPr lang="en-US" sz="1250" b="1" dirty="0">
                          <a:solidFill>
                            <a:srgbClr val="21295C"/>
                          </a:solidFill>
                          <a:latin typeface="Calibri"/>
                          <a:ea typeface="Calibri"/>
                          <a:cs typeface="Calibri"/>
                        </a:rPr>
                        <a:t>1/10 (open water)</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50" b="0" dirty="0">
                          <a:solidFill>
                            <a:srgbClr val="56606B"/>
                          </a:solidFill>
                          <a:latin typeface="Calibri"/>
                          <a:ea typeface="Calibri"/>
                          <a:cs typeface="Calibri"/>
                        </a:rPr>
                        <a:t>1.585</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50" b="0" dirty="0">
                          <a:solidFill>
                            <a:srgbClr val="56606B"/>
                          </a:solidFill>
                          <a:latin typeface="Calibri"/>
                          <a:ea typeface="Calibri"/>
                          <a:cs typeface="Calibri"/>
                        </a:rPr>
                        <a:t>0.0861</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50" b="0" dirty="0">
                          <a:solidFill>
                            <a:srgbClr val="56606B"/>
                          </a:solidFill>
                          <a:latin typeface="Calibri"/>
                          <a:ea typeface="Calibri"/>
                          <a:cs typeface="Calibri"/>
                        </a:rPr>
                        <a:t>90.1%</a:t>
                      </a:r>
                    </a:p>
                  </a:txBody>
                  <a:tcPr marL="91440" marR="91440" marT="36576" marB="36576" anchor="ctr">
                    <a:lnL w="0">
                      <a:noFill/>
                    </a:lnL>
                    <a:lnR w="0">
                      <a:noFill/>
                    </a:lnR>
                    <a:lnT w="0">
                      <a:noFill/>
                    </a:lnT>
                    <a:lnB w="0">
                      <a:noFill/>
                    </a:lnB>
                    <a:solidFill>
                      <a:srgbClr val="FFFFFF"/>
                    </a:solidFill>
                  </a:tcPr>
                </a:tc>
              </a:tr>
              <a:tr h="411480">
                <a:tc>
                  <a:txBody>
                    <a:bodyPr/>
                    <a:lstStyle/>
                    <a:p>
                      <a:pPr algn="l" marL="0" indent="0">
                        <a:buNone/>
                      </a:pPr>
                      <a:r>
                        <a:rPr lang="en-US" sz="1250" b="1" dirty="0">
                          <a:solidFill>
                            <a:srgbClr val="21295C"/>
                          </a:solidFill>
                          <a:latin typeface="Calibri"/>
                          <a:ea typeface="Calibri"/>
                          <a:cs typeface="Calibri"/>
                        </a:rPr>
                        <a:t>1/7 (adopted)</a:t>
                      </a:r>
                    </a:p>
                  </a:txBody>
                  <a:tcPr marL="91440" marR="91440" marT="36576" marB="36576" anchor="ctr">
                    <a:lnL w="0">
                      <a:noFill/>
                    </a:lnL>
                    <a:lnR w="0">
                      <a:noFill/>
                    </a:lnR>
                    <a:lnT w="0">
                      <a:noFill/>
                    </a:lnT>
                    <a:lnB w="0">
                      <a:noFill/>
                    </a:lnB>
                    <a:solidFill>
                      <a:srgbClr val="FBF1E4"/>
                    </a:solidFill>
                  </a:tcPr>
                </a:tc>
                <a:tc>
                  <a:txBody>
                    <a:bodyPr/>
                    <a:lstStyle/>
                    <a:p>
                      <a:pPr algn="ctr" marL="0" indent="0">
                        <a:buNone/>
                      </a:pPr>
                      <a:r>
                        <a:rPr lang="en-US" sz="1250" b="1" dirty="0">
                          <a:solidFill>
                            <a:srgbClr val="21295C"/>
                          </a:solidFill>
                          <a:latin typeface="Calibri"/>
                          <a:ea typeface="Calibri"/>
                          <a:cs typeface="Calibri"/>
                        </a:rPr>
                        <a:t>1.931</a:t>
                      </a:r>
                    </a:p>
                  </a:txBody>
                  <a:tcPr marL="91440" marR="91440" marT="36576" marB="36576" anchor="ctr">
                    <a:lnL w="0">
                      <a:noFill/>
                    </a:lnL>
                    <a:lnR w="0">
                      <a:noFill/>
                    </a:lnR>
                    <a:lnT w="0">
                      <a:noFill/>
                    </a:lnT>
                    <a:lnB w="0">
                      <a:noFill/>
                    </a:lnB>
                    <a:solidFill>
                      <a:srgbClr val="FBF1E4"/>
                    </a:solidFill>
                  </a:tcPr>
                </a:tc>
                <a:tc>
                  <a:txBody>
                    <a:bodyPr/>
                    <a:lstStyle/>
                    <a:p>
                      <a:pPr algn="ctr" marL="0" indent="0">
                        <a:buNone/>
                      </a:pPr>
                      <a:r>
                        <a:rPr lang="en-US" sz="1250" b="1" dirty="0">
                          <a:solidFill>
                            <a:srgbClr val="21295C"/>
                          </a:solidFill>
                          <a:latin typeface="Calibri"/>
                          <a:ea typeface="Calibri"/>
                          <a:cs typeface="Calibri"/>
                        </a:rPr>
                        <a:t>0.1049</a:t>
                      </a:r>
                    </a:p>
                  </a:txBody>
                  <a:tcPr marL="91440" marR="91440" marT="36576" marB="36576" anchor="ctr">
                    <a:lnL w="0">
                      <a:noFill/>
                    </a:lnL>
                    <a:lnR w="0">
                      <a:noFill/>
                    </a:lnR>
                    <a:lnT w="0">
                      <a:noFill/>
                    </a:lnT>
                    <a:lnB w="0">
                      <a:noFill/>
                    </a:lnB>
                    <a:solidFill>
                      <a:srgbClr val="FBF1E4"/>
                    </a:solidFill>
                  </a:tcPr>
                </a:tc>
                <a:tc>
                  <a:txBody>
                    <a:bodyPr/>
                    <a:lstStyle/>
                    <a:p>
                      <a:pPr algn="ctr" marL="0" indent="0">
                        <a:buNone/>
                      </a:pPr>
                      <a:r>
                        <a:rPr lang="en-US" sz="1250" b="1" dirty="0">
                          <a:solidFill>
                            <a:srgbClr val="21295C"/>
                          </a:solidFill>
                          <a:latin typeface="Calibri"/>
                          <a:ea typeface="Calibri"/>
                          <a:cs typeface="Calibri"/>
                        </a:rPr>
                        <a:t>88.0%</a:t>
                      </a:r>
                    </a:p>
                  </a:txBody>
                  <a:tcPr marL="91440" marR="91440" marT="36576" marB="36576" anchor="ctr">
                    <a:lnL w="0">
                      <a:noFill/>
                    </a:lnL>
                    <a:lnR w="0">
                      <a:noFill/>
                    </a:lnR>
                    <a:lnT w="0">
                      <a:noFill/>
                    </a:lnT>
                    <a:lnB w="0">
                      <a:noFill/>
                    </a:lnB>
                    <a:solidFill>
                      <a:srgbClr val="FBF1E4"/>
                    </a:solidFill>
                  </a:tcPr>
                </a:tc>
              </a:tr>
              <a:tr h="411480">
                <a:tc>
                  <a:txBody>
                    <a:bodyPr/>
                    <a:lstStyle/>
                    <a:p>
                      <a:pPr algn="l" marL="0" indent="0">
                        <a:buNone/>
                      </a:pPr>
                      <a:r>
                        <a:rPr lang="en-US" sz="1250" b="1" dirty="0">
                          <a:solidFill>
                            <a:srgbClr val="21295C"/>
                          </a:solidFill>
                          <a:latin typeface="Calibri"/>
                          <a:ea typeface="Calibri"/>
                          <a:cs typeface="Calibri"/>
                        </a:rPr>
                        <a:t>0.168 (ERA5 coastal, lower bound)</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50" b="0" dirty="0">
                          <a:solidFill>
                            <a:srgbClr val="56606B"/>
                          </a:solidFill>
                          <a:latin typeface="Calibri"/>
                          <a:ea typeface="Calibri"/>
                          <a:cs typeface="Calibri"/>
                        </a:rPr>
                        <a:t>2.166</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50" b="0" dirty="0">
                          <a:solidFill>
                            <a:srgbClr val="56606B"/>
                          </a:solidFill>
                          <a:latin typeface="Calibri"/>
                          <a:ea typeface="Calibri"/>
                          <a:cs typeface="Calibri"/>
                        </a:rPr>
                        <a:t>0.1177</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50" b="0" dirty="0">
                          <a:solidFill>
                            <a:srgbClr val="56606B"/>
                          </a:solidFill>
                          <a:latin typeface="Calibri"/>
                          <a:ea typeface="Calibri"/>
                          <a:cs typeface="Calibri"/>
                        </a:rPr>
                        <a:t>86.5%</a:t>
                      </a:r>
                    </a:p>
                  </a:txBody>
                  <a:tcPr marL="91440" marR="91440" marT="36576" marB="36576" anchor="ctr">
                    <a:lnL w="0">
                      <a:noFill/>
                    </a:lnL>
                    <a:lnR w="0">
                      <a:noFill/>
                    </a:lnR>
                    <a:lnT w="0">
                      <a:noFill/>
                    </a:lnT>
                    <a:lnB w="0">
                      <a:noFill/>
                    </a:lnB>
                    <a:solidFill>
                      <a:srgbClr val="FFFFFF"/>
                    </a:solidFill>
                  </a:tcPr>
                </a:tc>
              </a:tr>
              <a:tr h="411480">
                <a:tc>
                  <a:txBody>
                    <a:bodyPr/>
                    <a:lstStyle/>
                    <a:p>
                      <a:pPr algn="l" marL="0" indent="0">
                        <a:buNone/>
                      </a:pPr>
                      <a:r>
                        <a:rPr lang="en-US" sz="1250" b="1" dirty="0">
                          <a:solidFill>
                            <a:srgbClr val="21295C"/>
                          </a:solidFill>
                          <a:latin typeface="Calibri"/>
                          <a:ea typeface="Calibri"/>
                          <a:cs typeface="Calibri"/>
                        </a:rPr>
                        <a:t>0.20 (rough inland)</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50" b="0" dirty="0">
                          <a:solidFill>
                            <a:srgbClr val="56606B"/>
                          </a:solidFill>
                          <a:latin typeface="Calibri"/>
                          <a:ea typeface="Calibri"/>
                          <a:cs typeface="Calibri"/>
                        </a:rPr>
                        <a:t>2.512</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50" b="0" dirty="0">
                          <a:solidFill>
                            <a:srgbClr val="56606B"/>
                          </a:solidFill>
                          <a:latin typeface="Calibri"/>
                          <a:ea typeface="Calibri"/>
                          <a:cs typeface="Calibri"/>
                        </a:rPr>
                        <a:t>0.1365</a:t>
                      </a:r>
                    </a:p>
                  </a:txBody>
                  <a:tcPr marL="91440" marR="91440" marT="36576" marB="36576" anchor="ctr">
                    <a:lnL w="0">
                      <a:noFill/>
                    </a:lnL>
                    <a:lnR w="0">
                      <a:noFill/>
                    </a:lnR>
                    <a:lnT w="0">
                      <a:noFill/>
                    </a:lnT>
                    <a:lnB w="0">
                      <a:noFill/>
                    </a:lnB>
                    <a:solidFill>
                      <a:srgbClr val="EEF3F7"/>
                    </a:solidFill>
                  </a:tcPr>
                </a:tc>
                <a:tc>
                  <a:txBody>
                    <a:bodyPr/>
                    <a:lstStyle/>
                    <a:p>
                      <a:pPr algn="ctr" marL="0" indent="0">
                        <a:buNone/>
                      </a:pPr>
                      <a:r>
                        <a:rPr lang="en-US" sz="1250" b="0" dirty="0">
                          <a:solidFill>
                            <a:srgbClr val="56606B"/>
                          </a:solidFill>
                          <a:latin typeface="Calibri"/>
                          <a:ea typeface="Calibri"/>
                          <a:cs typeface="Calibri"/>
                        </a:rPr>
                        <a:t>84.4%</a:t>
                      </a:r>
                    </a:p>
                  </a:txBody>
                  <a:tcPr marL="91440" marR="91440" marT="36576" marB="36576" anchor="ctr">
                    <a:lnL w="0">
                      <a:noFill/>
                    </a:lnL>
                    <a:lnR w="0">
                      <a:noFill/>
                    </a:lnR>
                    <a:lnT w="0">
                      <a:noFill/>
                    </a:lnT>
                    <a:lnB w="0">
                      <a:noFill/>
                    </a:lnB>
                    <a:solidFill>
                      <a:srgbClr val="EEF3F7"/>
                    </a:solidFill>
                  </a:tcPr>
                </a:tc>
              </a:tr>
              <a:tr h="411480">
                <a:tc>
                  <a:txBody>
                    <a:bodyPr/>
                    <a:lstStyle/>
                    <a:p>
                      <a:pPr algn="l" marL="0" indent="0">
                        <a:buNone/>
                      </a:pPr>
                      <a:r>
                        <a:rPr lang="en-US" sz="1250" b="1" dirty="0">
                          <a:solidFill>
                            <a:srgbClr val="21295C"/>
                          </a:solidFill>
                          <a:latin typeface="Calibri"/>
                          <a:ea typeface="Calibri"/>
                          <a:cs typeface="Calibri"/>
                        </a:rPr>
                        <a:t>0.25 (very rough terrain)</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50" b="0" dirty="0">
                          <a:solidFill>
                            <a:srgbClr val="56606B"/>
                          </a:solidFill>
                          <a:latin typeface="Calibri"/>
                          <a:ea typeface="Calibri"/>
                          <a:cs typeface="Calibri"/>
                        </a:rPr>
                        <a:t>3.162</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50" b="0" dirty="0">
                          <a:solidFill>
                            <a:srgbClr val="56606B"/>
                          </a:solidFill>
                          <a:latin typeface="Calibri"/>
                          <a:ea typeface="Calibri"/>
                          <a:cs typeface="Calibri"/>
                        </a:rPr>
                        <a:t>0.1719</a:t>
                      </a:r>
                    </a:p>
                  </a:txBody>
                  <a:tcPr marL="91440" marR="91440" marT="36576" marB="36576" anchor="ctr">
                    <a:lnL w="0">
                      <a:noFill/>
                    </a:lnL>
                    <a:lnR w="0">
                      <a:noFill/>
                    </a:lnR>
                    <a:lnT w="0">
                      <a:noFill/>
                    </a:lnT>
                    <a:lnB w="0">
                      <a:noFill/>
                    </a:lnB>
                    <a:solidFill>
                      <a:srgbClr val="FFFFFF"/>
                    </a:solidFill>
                  </a:tcPr>
                </a:tc>
                <a:tc>
                  <a:txBody>
                    <a:bodyPr/>
                    <a:lstStyle/>
                    <a:p>
                      <a:pPr algn="ctr" marL="0" indent="0">
                        <a:buNone/>
                      </a:pPr>
                      <a:r>
                        <a:rPr lang="en-US" sz="1250" b="0" dirty="0">
                          <a:solidFill>
                            <a:srgbClr val="56606B"/>
                          </a:solidFill>
                          <a:latin typeface="Calibri"/>
                          <a:ea typeface="Calibri"/>
                          <a:cs typeface="Calibri"/>
                        </a:rPr>
                        <a:t>80.3%</a:t>
                      </a:r>
                    </a:p>
                  </a:txBody>
                  <a:tcPr marL="91440" marR="91440" marT="36576" marB="36576" anchor="ctr">
                    <a:lnL w="0">
                      <a:noFill/>
                    </a:lnL>
                    <a:lnR w="0">
                      <a:noFill/>
                    </a:lnR>
                    <a:lnT w="0">
                      <a:noFill/>
                    </a:lnT>
                    <a:lnB w="0">
                      <a:noFill/>
                    </a:lnB>
                    <a:solidFill>
                      <a:srgbClr val="FFFFFF"/>
                    </a:solidFill>
                  </a:tcPr>
                </a:tc>
              </a:tr>
            </a:tbl>
          </a:graphicData>
        </a:graphic>
      </p:graphicFrame>
      <p:sp>
        <p:nvSpPr>
          <p:cNvPr id="5" name="Rounded Rectangle 4"/>
          <p:cNvSpPr/>
          <p:nvPr/>
        </p:nvSpPr>
        <p:spPr>
          <a:xfrm>
            <a:off x="9235440" y="1783080"/>
            <a:ext cx="2423160" cy="2468880"/>
          </a:xfrm>
          <a:prstGeom prst="roundRect">
            <a:avLst>
              <a:gd name="adj" fmla="val 3599"/>
            </a:avLst>
          </a:prstGeom>
          <a:solidFill>
            <a:srgbClr val="F7FAFC"/>
          </a:solidFill>
          <a:ln>
            <a:noFill/>
          </a:ln>
          <a:effectLst>
            <a:outerShdw blurRad="88900" dist="25400" dir="5400000" algn="bl" rotWithShape="0">
              <a:srgbClr val="1C1C1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418320" y="1920240"/>
            <a:ext cx="2103120" cy="274320"/>
          </a:xfrm>
          <a:prstGeom prst="rect">
            <a:avLst/>
          </a:prstGeom>
          <a:noFill/>
        </p:spPr>
        <p:txBody>
          <a:bodyPr wrap="square" lIns="0" rIns="0" tIns="0" bIns="0" anchor="t">
            <a:spAutoFit/>
          </a:bodyPr>
          <a:lstStyle/>
          <a:p>
            <a:pPr algn="l" marL="0" indent="0">
              <a:buNone/>
            </a:pPr>
            <a:r>
              <a:rPr lang="en-US" sz="1100" b="1" spc="100" kern="0" dirty="0">
                <a:solidFill>
                  <a:srgbClr val="1C7293"/>
                </a:solidFill>
                <a:latin typeface="Calibri"/>
                <a:ea typeface="Calibri"/>
                <a:cs typeface="Calibri"/>
              </a:rPr>
              <a:t>TO CLOSE 16.07×</a:t>
            </a:r>
          </a:p>
        </p:txBody>
      </p:sp>
      <p:sp>
        <p:nvSpPr>
          <p:cNvPr id="7" name="TextBox 6"/>
          <p:cNvSpPr txBox="1"/>
          <p:nvPr/>
        </p:nvSpPr>
        <p:spPr>
          <a:xfrm>
            <a:off x="9418320" y="2240280"/>
            <a:ext cx="2103120" cy="777240"/>
          </a:xfrm>
          <a:prstGeom prst="rect">
            <a:avLst/>
          </a:prstGeom>
          <a:noFill/>
        </p:spPr>
        <p:txBody>
          <a:bodyPr wrap="square" lIns="0" rIns="0" tIns="0" bIns="0" anchor="ctr">
            <a:spAutoFit/>
          </a:bodyPr>
          <a:lstStyle/>
          <a:p>
            <a:pPr algn="l" marL="0" indent="0">
              <a:buNone/>
            </a:pPr>
            <a:r>
              <a:rPr lang="en-US" sz="3200" b="1" dirty="0">
                <a:solidFill>
                  <a:srgbClr val="C8791A"/>
                </a:solidFill>
                <a:latin typeface="Cambria"/>
                <a:ea typeface="Cambria"/>
                <a:cs typeface="Cambria"/>
              </a:rPr>
              <a:t>α = 0.60</a:t>
            </a:r>
          </a:p>
        </p:txBody>
      </p:sp>
      <p:sp>
        <p:nvSpPr>
          <p:cNvPr id="8" name="TextBox 7"/>
          <p:cNvSpPr txBox="1"/>
          <p:nvPr/>
        </p:nvSpPr>
        <p:spPr>
          <a:xfrm>
            <a:off x="9418320" y="3063240"/>
            <a:ext cx="2103120" cy="1097280"/>
          </a:xfrm>
          <a:prstGeom prst="rect">
            <a:avLst/>
          </a:prstGeom>
          <a:noFill/>
        </p:spPr>
        <p:txBody>
          <a:bodyPr wrap="square" lIns="0" rIns="0" tIns="0" bIns="0" anchor="t">
            <a:spAutoFit/>
          </a:bodyPr>
          <a:lstStyle/>
          <a:p>
            <a:pPr algn="l" marL="0" indent="0">
              <a:lnSpc>
                <a:spcPct val="110000"/>
              </a:lnSpc>
              <a:buNone/>
            </a:pPr>
            <a:r>
              <a:rPr lang="en-US" sz="1100" b="0" i="1" dirty="0">
                <a:solidFill>
                  <a:srgbClr val="56606B"/>
                </a:solidFill>
                <a:latin typeface="Calibri"/>
                <a:ea typeface="Calibri"/>
                <a:cs typeface="Calibri"/>
              </a:rPr>
              <a:t>four times the Hellmann value, outside any surface in Peterson &amp; Hennessey (1978).</a:t>
            </a:r>
          </a:p>
        </p:txBody>
      </p:sp>
      <p:sp>
        <p:nvSpPr>
          <p:cNvPr id="9" name="Rounded Rectangle 8"/>
          <p:cNvSpPr/>
          <p:nvPr/>
        </p:nvSpPr>
        <p:spPr>
          <a:xfrm>
            <a:off x="548640" y="4526280"/>
            <a:ext cx="11109960" cy="1691640"/>
          </a:xfrm>
          <a:prstGeom prst="roundRect">
            <a:avLst>
              <a:gd name="adj" fmla="val 3599"/>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60" y="4617720"/>
            <a:ext cx="10561320" cy="1508760"/>
          </a:xfrm>
          <a:prstGeom prst="rect">
            <a:avLst/>
          </a:prstGeom>
          <a:noFill/>
        </p:spPr>
        <p:txBody>
          <a:bodyPr wrap="square" lIns="0" rIns="0" tIns="0" bIns="0" anchor="ctr">
            <a:spAutoFit/>
          </a:bodyPr>
          <a:lstStyle/>
          <a:p>
            <a:pPr algn="l" marL="0" indent="0">
              <a:lnSpc>
                <a:spcPct val="108000"/>
              </a:lnSpc>
              <a:spcAft>
                <a:spcPts val="600"/>
              </a:spcAft>
              <a:buNone/>
            </a:pPr>
            <a:r>
              <a:rPr lang="en-US" sz="1200" b="1" dirty="0">
                <a:solidFill>
                  <a:srgbClr val="21295C"/>
                </a:solidFill>
                <a:latin typeface="Calibri"/>
                <a:ea typeface="Calibri"/>
                <a:cs typeface="Calibri"/>
              </a:rPr>
              <a:t>Only the 1/7 row is a frozen phase output; </a:t>
            </a:r>
            <a:r>
              <a:rPr lang="en-US" sz="1200" b="0" dirty="0">
                <a:solidFill>
                  <a:srgbClr val="56606B"/>
                </a:solidFill>
                <a:latin typeface="Calibri"/>
                <a:ea typeface="Calibri"/>
                <a:cs typeface="Calibri"/>
              </a:rPr>
              <a:t>the other four are an arithmetic sensitivity computed for Chapter 3.</a:t>
            </a:r>
          </a:p>
          <a:p>
            <a:pPr algn="l" marL="0" indent="0">
              <a:lnSpc>
                <a:spcPct val="108000"/>
              </a:lnSpc>
              <a:spcAft>
                <a:spcPts val="600"/>
              </a:spcAft>
              <a:buNone/>
            </a:pPr>
            <a:r>
              <a:rPr lang="en-US" sz="1200" b="0" dirty="0">
                <a:solidFill>
                  <a:srgbClr val="56606B"/>
                </a:solidFill>
                <a:latin typeface="Calibri"/>
                <a:ea typeface="Calibri"/>
                <a:cs typeface="Calibri"/>
              </a:rPr>
              <a:t>0.168 is measured at Nordfriesland (ERA5 10 m vs 100 m means, 5.4825 vs 8.0682 m/s) and is a lower bound for Bologna's sheltered Po-Valley site. A larger α means a smaller residual, so 88.0% is an upper bound on the share attributable to geography — the operative result is the 80.3% floor.</a:t>
            </a:r>
          </a:p>
        </p:txBody>
      </p:sp>
      <p:sp>
        <p:nvSpPr>
          <p:cNvPr id="11" name="TextBox 10"/>
          <p:cNvSpPr txBox="1"/>
          <p:nvPr/>
        </p:nvSpPr>
        <p:spPr>
          <a:xfrm>
            <a:off x="548640" y="6510528"/>
            <a:ext cx="8229600" cy="256032"/>
          </a:xfrm>
          <a:prstGeom prst="rect">
            <a:avLst/>
          </a:prstGeom>
          <a:noFill/>
        </p:spPr>
        <p:txBody>
          <a:bodyPr wrap="square" lIns="0" rIns="0" tIns="0" bIns="0" anchor="ctr">
            <a:spAutoFit/>
          </a:bodyPr>
          <a:lstStyle/>
          <a:p>
            <a:pPr algn="l" marL="0" indent="0">
              <a:buNone/>
            </a:pPr>
            <a:r>
              <a:rPr lang="en-US" sz="900" b="0" i="1" dirty="0">
                <a:solidFill>
                  <a:srgbClr val="56606B"/>
                </a:solidFill>
                <a:latin typeface="Calibri"/>
                <a:ea typeface="Calibri"/>
                <a:cs typeface="Calibri"/>
              </a:rPr>
              <a:t>Wind Speed Modelling for Derivatives Pricing — Final Defence</a:t>
            </a:r>
          </a:p>
        </p:txBody>
      </p:sp>
      <p:sp>
        <p:nvSpPr>
          <p:cNvPr id="12" name="TextBox 11"/>
          <p:cNvSpPr txBox="1"/>
          <p:nvPr/>
        </p:nvSpPr>
        <p:spPr>
          <a:xfrm>
            <a:off x="11365992" y="6510528"/>
            <a:ext cx="365760" cy="256032"/>
          </a:xfrm>
          <a:prstGeom prst="rect">
            <a:avLst/>
          </a:prstGeom>
          <a:noFill/>
        </p:spPr>
        <p:txBody>
          <a:bodyPr wrap="square" lIns="0" rIns="0" tIns="0" bIns="0" anchor="ctr">
            <a:spAutoFit/>
          </a:bodyPr>
          <a:lstStyle/>
          <a:p>
            <a:pPr algn="r" marL="0" indent="0">
              <a:buNone/>
            </a:pPr>
            <a:r>
              <a:rPr lang="en-US" sz="900" b="0" dirty="0">
                <a:solidFill>
                  <a:srgbClr val="56606B"/>
                </a:solidFill>
                <a:latin typeface="Calibri"/>
                <a:ea typeface="Calibri"/>
                <a:cs typeface="Calibri"/>
              </a:rPr>
              <a:t>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365760"/>
            <a:ext cx="11064240" cy="292608"/>
          </a:xfrm>
          <a:prstGeom prst="rect">
            <a:avLst/>
          </a:prstGeom>
          <a:noFill/>
          <a:ln/>
        </p:spPr>
        <p:txBody>
          <a:bodyPr wrap="square" lIns="0" tIns="0" rIns="0" bIns="0" rtlCol="0" anchor="ctr"/>
          <a:lstStyle/>
          <a:p>
            <a:pPr algn="l" indent="0" marL="0">
              <a:buNone/>
            </a:pPr>
            <a:r>
              <a:rPr lang="en-US" sz="1250" b="1" spc="200" kern="0" dirty="0">
                <a:solidFill>
                  <a:srgbClr val="1C7293"/>
                </a:solidFill>
                <a:latin typeface="Calibri" pitchFamily="34" charset="0"/>
                <a:ea typeface="Calibri" pitchFamily="34" charset="-122"/>
                <a:cs typeface="Calibri" pitchFamily="34" charset="-120"/>
              </a:rPr>
              <a:t>CH. 1 · AIM AND SCOPE</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What the thesis sets out to do</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3</a:t>
            </a:r>
            <a:endParaRPr lang="en-US" sz="900" dirty="0"/>
          </a:p>
        </p:txBody>
      </p:sp>
      <p:sp>
        <p:nvSpPr>
          <p:cNvPr id="14" name="Rounded Rectangle 13"/>
          <p:cNvSpPr/>
          <p:nvPr/>
        </p:nvSpPr>
        <p:spPr>
          <a:xfrm>
            <a:off x="548640" y="1783080"/>
            <a:ext cx="11109960" cy="1371600"/>
          </a:xfrm>
          <a:prstGeom prst="roundRect">
            <a:avLst>
              <a:gd name="adj" fmla="val 6000"/>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p>
        </p:txBody>
      </p:sp>
      <p:sp>
        <p:nvSpPr>
          <p:cNvPr id="15" name="TextBox 14"/>
          <p:cNvSpPr txBox="1"/>
          <p:nvPr/>
        </p:nvSpPr>
        <p:spPr>
          <a:xfrm>
            <a:off x="868680" y="1892807"/>
            <a:ext cx="5486400" cy="274320"/>
          </a:xfrm>
          <a:prstGeom prst="rect">
            <a:avLst/>
          </a:prstGeom>
          <a:noFill/>
        </p:spPr>
        <p:txBody>
          <a:bodyPr wrap="square" lIns="0" rIns="0" tIns="0" bIns="0" anchor="ctr">
            <a:spAutoFit/>
          </a:bodyPr>
          <a:lstStyle/>
          <a:p>
            <a:pPr algn="l"/>
            <a:r>
              <a:rPr sz="1200" b="1" i="0" spc="100">
                <a:solidFill>
                  <a:srgbClr val="E8A33D"/>
                </a:solidFill>
                <a:latin typeface="Calibri"/>
              </a:rPr>
              <a:t>THE QUESTION</a:t>
            </a:r>
          </a:p>
        </p:txBody>
      </p:sp>
      <p:sp>
        <p:nvSpPr>
          <p:cNvPr id="16" name="TextBox 15"/>
          <p:cNvSpPr txBox="1"/>
          <p:nvPr/>
        </p:nvSpPr>
        <p:spPr>
          <a:xfrm>
            <a:off x="868680" y="2194560"/>
            <a:ext cx="10469880" cy="868680"/>
          </a:xfrm>
          <a:prstGeom prst="rect">
            <a:avLst/>
          </a:prstGeom>
          <a:noFill/>
        </p:spPr>
        <p:txBody>
          <a:bodyPr wrap="square" lIns="0" rIns="0" tIns="0" bIns="0" anchor="ctr">
            <a:spAutoFit/>
          </a:bodyPr>
          <a:lstStyle/>
          <a:p>
            <a:pPr algn="l">
              <a:lnSpc>
                <a:spcPct val="105000"/>
              </a:lnSpc>
            </a:pPr>
            <a:r>
              <a:rPr sz="2000" b="1" i="0">
                <a:solidFill>
                  <a:srgbClr val="FFFFFF"/>
                </a:solidFill>
                <a:latin typeface="Cambria"/>
              </a:rPr>
              <a:t>Can a continuous-time wind-speed model price a German onshore producer’s volumetric risk — and how much does that price depend on calibrating it on the right wind data?</a:t>
            </a:r>
          </a:p>
        </p:txBody>
      </p:sp>
      <p:sp>
        <p:nvSpPr>
          <p:cNvPr id="17" name="Rounded Rectangle 16"/>
          <p:cNvSpPr/>
          <p:nvPr/>
        </p:nvSpPr>
        <p:spPr>
          <a:xfrm>
            <a:off x="548640" y="3383280"/>
            <a:ext cx="6766560" cy="2880360"/>
          </a:xfrm>
          <a:prstGeom prst="roundRect">
            <a:avLst>
              <a:gd name="adj" fmla="val 2857"/>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18" name="TextBox 17"/>
          <p:cNvSpPr txBox="1"/>
          <p:nvPr/>
        </p:nvSpPr>
        <p:spPr>
          <a:xfrm>
            <a:off x="868680" y="3493008"/>
            <a:ext cx="5486400" cy="274320"/>
          </a:xfrm>
          <a:prstGeom prst="rect">
            <a:avLst/>
          </a:prstGeom>
          <a:noFill/>
        </p:spPr>
        <p:txBody>
          <a:bodyPr wrap="square" lIns="0" rIns="0" tIns="0" bIns="0" anchor="ctr">
            <a:spAutoFit/>
          </a:bodyPr>
          <a:lstStyle/>
          <a:p>
            <a:pPr algn="l"/>
            <a:r>
              <a:rPr sz="1200" b="1" i="0" spc="100">
                <a:solidFill>
                  <a:srgbClr val="1C7293"/>
                </a:solidFill>
                <a:latin typeface="Calibri"/>
              </a:rPr>
              <a:t>SCOPE</a:t>
            </a:r>
          </a:p>
        </p:txBody>
      </p:sp>
      <p:sp>
        <p:nvSpPr>
          <p:cNvPr id="19" name="TextBox 18"/>
          <p:cNvSpPr txBox="1"/>
          <p:nvPr/>
        </p:nvSpPr>
        <p:spPr>
          <a:xfrm>
            <a:off x="868680" y="3794760"/>
            <a:ext cx="6172200" cy="2423160"/>
          </a:xfrm>
          <a:prstGeom prst="rect">
            <a:avLst/>
          </a:prstGeom>
          <a:noFill/>
        </p:spPr>
        <p:txBody>
          <a:bodyPr wrap="square" lIns="0" rIns="0" tIns="0" bIns="0" anchor="t">
            <a:spAutoFit/>
          </a:bodyPr>
          <a:lstStyle/>
          <a:p>
            <a:pPr algn="l">
              <a:lnSpc>
                <a:spcPct val="110000"/>
              </a:lnSpc>
              <a:spcAft>
                <a:spcPts val="600"/>
              </a:spcAft>
            </a:pPr>
            <a:r>
              <a:rPr sz="1350" b="1" i="0">
                <a:solidFill>
                  <a:srgbClr val="21295C"/>
                </a:solidFill>
                <a:latin typeface="Calibri"/>
              </a:rPr>
              <a:t>Starting point. </a:t>
            </a:r>
            <a:r>
              <a:rPr sz="1350" b="0" i="0">
                <a:solidFill>
                  <a:srgbClr val="56606B"/>
                </a:solidFill>
                <a:latin typeface="Calibri"/>
              </a:rPr>
              <a:t>After the weak merit-order hedge (ρ = −0.16) a producer keeps a volumetric risk, priced here on German onshore wind generation (SMARD, 2015–2024).</a:t>
            </a:r>
          </a:p>
          <a:p>
            <a:pPr algn="l">
              <a:lnSpc>
                <a:spcPct val="110000"/>
              </a:lnSpc>
              <a:spcAft>
                <a:spcPts val="600"/>
              </a:spcAft>
            </a:pPr>
            <a:r>
              <a:rPr sz="1350" b="1" i="0">
                <a:solidFill>
                  <a:srgbClr val="21295C"/>
                </a:solidFill>
                <a:latin typeface="Calibri"/>
              </a:rPr>
              <a:t>Method. </a:t>
            </a:r>
            <a:r>
              <a:rPr sz="1350" b="0" i="0">
                <a:solidFill>
                  <a:srgbClr val="56606B"/>
                </a:solidFill>
                <a:latin typeface="Calibri"/>
              </a:rPr>
              <a:t>One pipeline — Box–Cox and Fourier deseasonalisation, AR(4), GARCH(1,1), CAR(4) — yields a closed-form variance-swap fair strike.</a:t>
            </a:r>
          </a:p>
          <a:p>
            <a:pPr algn="l">
              <a:lnSpc>
                <a:spcPct val="110000"/>
              </a:lnSpc>
              <a:spcAft>
                <a:spcPts val="600"/>
              </a:spcAft>
            </a:pPr>
            <a:r>
              <a:rPr sz="1350" b="1" i="0">
                <a:solidFill>
                  <a:srgbClr val="21295C"/>
                </a:solidFill>
                <a:latin typeface="Calibri"/>
              </a:rPr>
              <a:t>Design. </a:t>
            </a:r>
            <a:r>
              <a:rPr sz="1350" b="0" i="0">
                <a:solidFill>
                  <a:srgbClr val="56606B"/>
                </a:solidFill>
                <a:latin typeface="Calibri"/>
              </a:rPr>
              <a:t>The identical pipeline runs on a misaligned proxy (Bologna, 10 m) and an aligned reference (Nordfriesland, 100 m): the gap between the two prices is the Value of Information.</a:t>
            </a:r>
          </a:p>
          <a:p>
            <a:pPr algn="l">
              <a:lnSpc>
                <a:spcPct val="110000"/>
              </a:lnSpc>
            </a:pPr>
            <a:r>
              <a:rPr sz="1200" b="0" i="1">
                <a:solidFill>
                  <a:srgbClr val="56606B"/>
                </a:solidFill>
                <a:latin typeface="Calibri"/>
              </a:rPr>
              <a:t>θ = 0 is adopted as a benchmark assumption in the absence of EEX option-implied data; all strikes are physical-measure expectations.</a:t>
            </a:r>
          </a:p>
        </p:txBody>
      </p:sp>
      <p:sp>
        <p:nvSpPr>
          <p:cNvPr id="20" name="Rounded Rectangle 19"/>
          <p:cNvSpPr/>
          <p:nvPr/>
        </p:nvSpPr>
        <p:spPr>
          <a:xfrm>
            <a:off x="7543800" y="3383280"/>
            <a:ext cx="4114800" cy="868680"/>
          </a:xfrm>
          <a:prstGeom prst="roundRect">
            <a:avLst>
              <a:gd name="adj" fmla="val 9473"/>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21" name="Oval 20"/>
          <p:cNvSpPr/>
          <p:nvPr/>
        </p:nvSpPr>
        <p:spPr>
          <a:xfrm>
            <a:off x="7726679" y="3566160"/>
            <a:ext cx="502920" cy="502920"/>
          </a:xfrm>
          <a:prstGeom prst="ellipse">
            <a:avLst/>
          </a:prstGeom>
          <a:solidFill>
            <a:srgbClr val="1C7293"/>
          </a:solidFill>
          <a:ln>
            <a:noFill/>
          </a:ln>
        </p:spPr>
        <p:txBody>
          <a:bodyPr rtlCol="0" anchor="ctr"/>
          <a:lstStyle/>
          <a:p>
            <a:pPr algn="ctr"/>
          </a:p>
        </p:txBody>
      </p:sp>
      <p:sp>
        <p:nvSpPr>
          <p:cNvPr id="22" name="TextBox 21"/>
          <p:cNvSpPr txBox="1"/>
          <p:nvPr/>
        </p:nvSpPr>
        <p:spPr>
          <a:xfrm>
            <a:off x="7726679" y="3566160"/>
            <a:ext cx="502920" cy="502920"/>
          </a:xfrm>
          <a:prstGeom prst="rect">
            <a:avLst/>
          </a:prstGeom>
          <a:noFill/>
        </p:spPr>
        <p:txBody>
          <a:bodyPr wrap="square" lIns="0" rIns="0" tIns="0" bIns="0" anchor="ctr">
            <a:spAutoFit/>
          </a:bodyPr>
          <a:lstStyle/>
          <a:p>
            <a:pPr algn="ctr"/>
            <a:r>
              <a:rPr sz="1500" b="1" i="0">
                <a:solidFill>
                  <a:srgbClr val="FFFFFF"/>
                </a:solidFill>
                <a:latin typeface="Calibri"/>
              </a:rPr>
              <a:t>1</a:t>
            </a:r>
          </a:p>
        </p:txBody>
      </p:sp>
      <p:sp>
        <p:nvSpPr>
          <p:cNvPr id="23" name="TextBox 22"/>
          <p:cNvSpPr txBox="1"/>
          <p:nvPr/>
        </p:nvSpPr>
        <p:spPr>
          <a:xfrm>
            <a:off x="8412480" y="3456432"/>
            <a:ext cx="3108960" cy="274320"/>
          </a:xfrm>
          <a:prstGeom prst="rect">
            <a:avLst/>
          </a:prstGeom>
          <a:noFill/>
        </p:spPr>
        <p:txBody>
          <a:bodyPr wrap="square" lIns="0" rIns="0" tIns="0" bIns="0" anchor="ctr">
            <a:spAutoFit/>
          </a:bodyPr>
          <a:lstStyle/>
          <a:p>
            <a:pPr algn="l"/>
            <a:r>
              <a:rPr sz="1150" b="1" i="0" spc="100">
                <a:solidFill>
                  <a:srgbClr val="C8791A"/>
                </a:solidFill>
                <a:latin typeface="Calibri"/>
              </a:rPr>
              <a:t>PRICE</a:t>
            </a:r>
          </a:p>
        </p:txBody>
      </p:sp>
      <p:sp>
        <p:nvSpPr>
          <p:cNvPr id="24" name="TextBox 23"/>
          <p:cNvSpPr txBox="1"/>
          <p:nvPr/>
        </p:nvSpPr>
        <p:spPr>
          <a:xfrm>
            <a:off x="8412480" y="3730752"/>
            <a:ext cx="3108960" cy="502920"/>
          </a:xfrm>
          <a:prstGeom prst="rect">
            <a:avLst/>
          </a:prstGeom>
          <a:noFill/>
        </p:spPr>
        <p:txBody>
          <a:bodyPr wrap="square" lIns="0" rIns="0" tIns="0" bIns="0" anchor="t">
            <a:spAutoFit/>
          </a:bodyPr>
          <a:lstStyle/>
          <a:p>
            <a:pPr algn="l">
              <a:lnSpc>
                <a:spcPct val="100000"/>
              </a:lnSpc>
            </a:pPr>
            <a:r>
              <a:rPr sz="1250" b="0" i="0">
                <a:solidFill>
                  <a:srgbClr val="56606B"/>
                </a:solidFill>
                <a:latin typeface="Calibri"/>
              </a:rPr>
              <a:t>A synthetic variance swap on wind generation — can it be priced in closed form?</a:t>
            </a:r>
          </a:p>
        </p:txBody>
      </p:sp>
      <p:sp>
        <p:nvSpPr>
          <p:cNvPr id="25" name="Rounded Rectangle 24"/>
          <p:cNvSpPr/>
          <p:nvPr/>
        </p:nvSpPr>
        <p:spPr>
          <a:xfrm>
            <a:off x="7543800" y="4370832"/>
            <a:ext cx="4114800" cy="868680"/>
          </a:xfrm>
          <a:prstGeom prst="roundRect">
            <a:avLst>
              <a:gd name="adj" fmla="val 9473"/>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26" name="Oval 25"/>
          <p:cNvSpPr/>
          <p:nvPr/>
        </p:nvSpPr>
        <p:spPr>
          <a:xfrm>
            <a:off x="7726679" y="4553712"/>
            <a:ext cx="502920" cy="502920"/>
          </a:xfrm>
          <a:prstGeom prst="ellipse">
            <a:avLst/>
          </a:prstGeom>
          <a:solidFill>
            <a:srgbClr val="1C7293"/>
          </a:solidFill>
          <a:ln>
            <a:noFill/>
          </a:ln>
        </p:spPr>
        <p:txBody>
          <a:bodyPr rtlCol="0" anchor="ctr"/>
          <a:lstStyle/>
          <a:p>
            <a:pPr algn="ctr"/>
          </a:p>
        </p:txBody>
      </p:sp>
      <p:sp>
        <p:nvSpPr>
          <p:cNvPr id="27" name="TextBox 26"/>
          <p:cNvSpPr txBox="1"/>
          <p:nvPr/>
        </p:nvSpPr>
        <p:spPr>
          <a:xfrm>
            <a:off x="7726679" y="4553712"/>
            <a:ext cx="502920" cy="502920"/>
          </a:xfrm>
          <a:prstGeom prst="rect">
            <a:avLst/>
          </a:prstGeom>
          <a:noFill/>
        </p:spPr>
        <p:txBody>
          <a:bodyPr wrap="square" lIns="0" rIns="0" tIns="0" bIns="0" anchor="ctr">
            <a:spAutoFit/>
          </a:bodyPr>
          <a:lstStyle/>
          <a:p>
            <a:pPr algn="ctr"/>
            <a:r>
              <a:rPr sz="1500" b="1" i="0">
                <a:solidFill>
                  <a:srgbClr val="FFFFFF"/>
                </a:solidFill>
                <a:latin typeface="Calibri"/>
              </a:rPr>
              <a:t>2</a:t>
            </a:r>
          </a:p>
        </p:txBody>
      </p:sp>
      <p:sp>
        <p:nvSpPr>
          <p:cNvPr id="28" name="TextBox 27"/>
          <p:cNvSpPr txBox="1"/>
          <p:nvPr/>
        </p:nvSpPr>
        <p:spPr>
          <a:xfrm>
            <a:off x="8412480" y="4443984"/>
            <a:ext cx="3108960" cy="274320"/>
          </a:xfrm>
          <a:prstGeom prst="rect">
            <a:avLst/>
          </a:prstGeom>
          <a:noFill/>
        </p:spPr>
        <p:txBody>
          <a:bodyPr wrap="square" lIns="0" rIns="0" tIns="0" bIns="0" anchor="ctr">
            <a:spAutoFit/>
          </a:bodyPr>
          <a:lstStyle/>
          <a:p>
            <a:pPr algn="l"/>
            <a:r>
              <a:rPr sz="1150" b="1" i="0" spc="100">
                <a:solidFill>
                  <a:srgbClr val="C8791A"/>
                </a:solidFill>
                <a:latin typeface="Calibri"/>
              </a:rPr>
              <a:t>HEDGE</a:t>
            </a:r>
          </a:p>
        </p:txBody>
      </p:sp>
      <p:sp>
        <p:nvSpPr>
          <p:cNvPr id="29" name="TextBox 28"/>
          <p:cNvSpPr txBox="1"/>
          <p:nvPr/>
        </p:nvSpPr>
        <p:spPr>
          <a:xfrm>
            <a:off x="8412480" y="4718304"/>
            <a:ext cx="3108960" cy="502920"/>
          </a:xfrm>
          <a:prstGeom prst="rect">
            <a:avLst/>
          </a:prstGeom>
          <a:noFill/>
        </p:spPr>
        <p:txBody>
          <a:bodyPr wrap="square" lIns="0" rIns="0" tIns="0" bIns="0" anchor="t">
            <a:spAutoFit/>
          </a:bodyPr>
          <a:lstStyle/>
          <a:p>
            <a:pPr algn="l">
              <a:lnSpc>
                <a:spcPct val="100000"/>
              </a:lnSpc>
            </a:pPr>
            <a:r>
              <a:rPr sz="1250" b="0" i="0">
                <a:solidFill>
                  <a:srgbClr val="56606B"/>
                </a:solidFill>
                <a:latin typeface="Calibri"/>
              </a:rPr>
              <a:t>A CAWS instrument for the calm years a variance swap cannot see.</a:t>
            </a:r>
          </a:p>
        </p:txBody>
      </p:sp>
      <p:sp>
        <p:nvSpPr>
          <p:cNvPr id="30" name="Rounded Rectangle 29"/>
          <p:cNvSpPr/>
          <p:nvPr/>
        </p:nvSpPr>
        <p:spPr>
          <a:xfrm>
            <a:off x="7543800" y="5358384"/>
            <a:ext cx="4114800" cy="868680"/>
          </a:xfrm>
          <a:prstGeom prst="roundRect">
            <a:avLst>
              <a:gd name="adj" fmla="val 9473"/>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31" name="Oval 30"/>
          <p:cNvSpPr/>
          <p:nvPr/>
        </p:nvSpPr>
        <p:spPr>
          <a:xfrm>
            <a:off x="7726679" y="5541264"/>
            <a:ext cx="502920" cy="502920"/>
          </a:xfrm>
          <a:prstGeom prst="ellipse">
            <a:avLst/>
          </a:prstGeom>
          <a:solidFill>
            <a:srgbClr val="C8791A"/>
          </a:solidFill>
          <a:ln>
            <a:noFill/>
          </a:ln>
        </p:spPr>
        <p:txBody>
          <a:bodyPr rtlCol="0" anchor="ctr"/>
          <a:lstStyle/>
          <a:p>
            <a:pPr algn="ctr"/>
          </a:p>
        </p:txBody>
      </p:sp>
      <p:sp>
        <p:nvSpPr>
          <p:cNvPr id="32" name="TextBox 31"/>
          <p:cNvSpPr txBox="1"/>
          <p:nvPr/>
        </p:nvSpPr>
        <p:spPr>
          <a:xfrm>
            <a:off x="7726679" y="5541264"/>
            <a:ext cx="502920" cy="502920"/>
          </a:xfrm>
          <a:prstGeom prst="rect">
            <a:avLst/>
          </a:prstGeom>
          <a:noFill/>
        </p:spPr>
        <p:txBody>
          <a:bodyPr wrap="square" lIns="0" rIns="0" tIns="0" bIns="0" anchor="ctr">
            <a:spAutoFit/>
          </a:bodyPr>
          <a:lstStyle/>
          <a:p>
            <a:pPr algn="ctr"/>
            <a:r>
              <a:rPr sz="1500" b="1" i="0">
                <a:solidFill>
                  <a:srgbClr val="FFFFFF"/>
                </a:solidFill>
                <a:latin typeface="Calibri"/>
              </a:rPr>
              <a:t>3</a:t>
            </a:r>
          </a:p>
        </p:txBody>
      </p:sp>
      <p:sp>
        <p:nvSpPr>
          <p:cNvPr id="33" name="TextBox 32"/>
          <p:cNvSpPr txBox="1"/>
          <p:nvPr/>
        </p:nvSpPr>
        <p:spPr>
          <a:xfrm>
            <a:off x="8412480" y="5431536"/>
            <a:ext cx="3108960" cy="274320"/>
          </a:xfrm>
          <a:prstGeom prst="rect">
            <a:avLst/>
          </a:prstGeom>
          <a:noFill/>
        </p:spPr>
        <p:txBody>
          <a:bodyPr wrap="square" lIns="0" rIns="0" tIns="0" bIns="0" anchor="ctr">
            <a:spAutoFit/>
          </a:bodyPr>
          <a:lstStyle/>
          <a:p>
            <a:pPr algn="l"/>
            <a:r>
              <a:rPr sz="1150" b="1" i="0" spc="100">
                <a:solidFill>
                  <a:srgbClr val="C8791A"/>
                </a:solidFill>
                <a:latin typeface="Calibri"/>
              </a:rPr>
              <a:t>DATA · VALUE OF INFORMATION</a:t>
            </a:r>
          </a:p>
        </p:txBody>
      </p:sp>
      <p:sp>
        <p:nvSpPr>
          <p:cNvPr id="34" name="TextBox 33"/>
          <p:cNvSpPr txBox="1"/>
          <p:nvPr/>
        </p:nvSpPr>
        <p:spPr>
          <a:xfrm>
            <a:off x="8412480" y="5705856"/>
            <a:ext cx="3108960" cy="502920"/>
          </a:xfrm>
          <a:prstGeom prst="rect">
            <a:avLst/>
          </a:prstGeom>
          <a:noFill/>
        </p:spPr>
        <p:txBody>
          <a:bodyPr wrap="square" lIns="0" rIns="0" tIns="0" bIns="0" anchor="t">
            <a:spAutoFit/>
          </a:bodyPr>
          <a:lstStyle/>
          <a:p>
            <a:pPr algn="l">
              <a:lnSpc>
                <a:spcPct val="100000"/>
              </a:lnSpc>
            </a:pPr>
            <a:r>
              <a:rPr sz="1250" b="0" i="0">
                <a:solidFill>
                  <a:srgbClr val="56606B"/>
                </a:solidFill>
                <a:latin typeface="Calibri"/>
              </a:rPr>
              <a:t>What does the wrong wind data cost — before and after a height correction?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365760"/>
            <a:ext cx="11064240" cy="292608"/>
          </a:xfrm>
          <a:prstGeom prst="rect">
            <a:avLst/>
          </a:prstGeom>
          <a:noFill/>
          <a:ln/>
        </p:spPr>
        <p:txBody>
          <a:bodyPr wrap="square" lIns="0" tIns="0" rIns="0" bIns="0" rtlCol="0" anchor="ctr"/>
          <a:lstStyle/>
          <a:p>
            <a:pPr algn="l" indent="0" marL="0">
              <a:buNone/>
            </a:pPr>
            <a:r>
              <a:rPr lang="en-US" sz="1250" b="1" spc="200" kern="0" dirty="0">
                <a:solidFill>
                  <a:srgbClr val="1C7293"/>
                </a:solidFill>
                <a:latin typeface="Calibri" pitchFamily="34" charset="0"/>
                <a:ea typeface="Calibri" pitchFamily="34" charset="-122"/>
                <a:cs typeface="Calibri" pitchFamily="34" charset="-120"/>
              </a:rPr>
              <a:t>CH. 3 · VARIANCE SWAP — THE MARKET STRIKE</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The instrument: a variance swap on German wind generation</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6</a:t>
            </a:r>
            <a:endParaRPr lang="en-US" sz="900" dirty="0"/>
          </a:p>
        </p:txBody>
      </p:sp>
      <p:sp>
        <p:nvSpPr>
          <p:cNvPr id="14" name="Rounded Rectangle 13"/>
          <p:cNvSpPr/>
          <p:nvPr/>
        </p:nvSpPr>
        <p:spPr>
          <a:xfrm>
            <a:off x="548640" y="1783080"/>
            <a:ext cx="4572000" cy="4480560"/>
          </a:xfrm>
          <a:prstGeom prst="roundRect">
            <a:avLst>
              <a:gd name="adj" fmla="val 183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15" name="TextBox 14"/>
          <p:cNvSpPr txBox="1"/>
          <p:nvPr/>
        </p:nvSpPr>
        <p:spPr>
          <a:xfrm>
            <a:off x="868680" y="1938528"/>
            <a:ext cx="4023360" cy="274320"/>
          </a:xfrm>
          <a:prstGeom prst="rect">
            <a:avLst/>
          </a:prstGeom>
          <a:noFill/>
        </p:spPr>
        <p:txBody>
          <a:bodyPr wrap="square" lIns="0" rIns="0" tIns="0" bIns="0" anchor="ctr">
            <a:spAutoFit/>
          </a:bodyPr>
          <a:lstStyle/>
          <a:p>
            <a:pPr algn="l"/>
            <a:r>
              <a:rPr sz="1200" b="1" i="0" spc="100">
                <a:solidFill>
                  <a:srgbClr val="1C7293"/>
                </a:solidFill>
                <a:latin typeface="Calibri"/>
              </a:rPr>
              <a:t>THE CONTRACT</a:t>
            </a:r>
          </a:p>
        </p:txBody>
      </p:sp>
      <p:sp>
        <p:nvSpPr>
          <p:cNvPr id="16" name="TextBox 15"/>
          <p:cNvSpPr txBox="1"/>
          <p:nvPr/>
        </p:nvSpPr>
        <p:spPr>
          <a:xfrm>
            <a:off x="868680" y="2286000"/>
            <a:ext cx="4023360" cy="777240"/>
          </a:xfrm>
          <a:prstGeom prst="rect">
            <a:avLst/>
          </a:prstGeom>
          <a:noFill/>
        </p:spPr>
        <p:txBody>
          <a:bodyPr wrap="square" lIns="0" rIns="0" tIns="0" bIns="0" anchor="t">
            <a:spAutoFit/>
          </a:bodyPr>
          <a:lstStyle/>
          <a:p>
            <a:pPr algn="l">
              <a:spcAft>
                <a:spcPts val="200"/>
              </a:spcAft>
            </a:pPr>
            <a:r>
              <a:rPr sz="2000" b="1" i="0">
                <a:solidFill>
                  <a:srgbClr val="21295C"/>
                </a:solidFill>
                <a:latin typeface="Cambria"/>
              </a:rPr>
              <a:t>Π = RV[t,T] − K</a:t>
            </a:r>
          </a:p>
          <a:p>
            <a:pPr algn="l"/>
            <a:r>
              <a:rPr sz="1700" b="0" i="0">
                <a:solidFill>
                  <a:srgbClr val="21295C"/>
                </a:solidFill>
                <a:latin typeface="Cambria"/>
              </a:rPr>
              <a:t>RV = (252 / N) · Σ rₛ²</a:t>
            </a:r>
          </a:p>
        </p:txBody>
      </p:sp>
      <p:sp>
        <p:nvSpPr>
          <p:cNvPr id="17" name="TextBox 16"/>
          <p:cNvSpPr txBox="1"/>
          <p:nvPr/>
        </p:nvSpPr>
        <p:spPr>
          <a:xfrm>
            <a:off x="868680" y="3154680"/>
            <a:ext cx="3977639" cy="1600200"/>
          </a:xfrm>
          <a:prstGeom prst="rect">
            <a:avLst/>
          </a:prstGeom>
          <a:noFill/>
        </p:spPr>
        <p:txBody>
          <a:bodyPr wrap="square" lIns="0" rIns="0" tIns="0" bIns="0" anchor="t">
            <a:spAutoFit/>
          </a:bodyPr>
          <a:lstStyle/>
          <a:p>
            <a:pPr algn="l">
              <a:lnSpc>
                <a:spcPct val="108000"/>
              </a:lnSpc>
              <a:spcAft>
                <a:spcPts val="500"/>
              </a:spcAft>
            </a:pPr>
            <a:r>
              <a:rPr sz="1250" b="0" i="0">
                <a:solidFill>
                  <a:srgbClr val="56606B"/>
                </a:solidFill>
                <a:latin typeface="Calibri"/>
              </a:rPr>
              <a:t>rₛ: daily log-return of SMARD German onshore wind generation.</a:t>
            </a:r>
          </a:p>
          <a:p>
            <a:pPr algn="l">
              <a:lnSpc>
                <a:spcPct val="108000"/>
              </a:lnSpc>
              <a:spcAft>
                <a:spcPts val="500"/>
              </a:spcAft>
            </a:pPr>
            <a:r>
              <a:rPr sz="1250" b="0" i="0">
                <a:solidFill>
                  <a:srgbClr val="56606B"/>
                </a:solidFill>
                <a:latin typeface="Calibri"/>
              </a:rPr>
              <a:t>The long side receives realised variance; the producer (long volume, short its stability) sells it and receives K − RV.</a:t>
            </a:r>
          </a:p>
          <a:p>
            <a:pPr algn="l">
              <a:lnSpc>
                <a:spcPct val="108000"/>
              </a:lnSpc>
            </a:pPr>
            <a:r>
              <a:rPr sz="1250" b="0" i="0">
                <a:solidFill>
                  <a:srgbClr val="56606B"/>
                </a:solidFill>
                <a:latin typeface="Calibri"/>
              </a:rPr>
              <a:t>Linear in RV: no gamma, no path-dependent convexity.</a:t>
            </a:r>
          </a:p>
        </p:txBody>
      </p:sp>
      <p:sp>
        <p:nvSpPr>
          <p:cNvPr id="18" name="Rectangle 17"/>
          <p:cNvSpPr/>
          <p:nvPr/>
        </p:nvSpPr>
        <p:spPr>
          <a:xfrm>
            <a:off x="868680" y="4846320"/>
            <a:ext cx="3931920" cy="13716"/>
          </a:xfrm>
          <a:prstGeom prst="rect">
            <a:avLst/>
          </a:prstGeom>
          <a:solidFill>
            <a:srgbClr val="D5DEE6"/>
          </a:solidFill>
          <a:ln>
            <a:noFill/>
          </a:ln>
        </p:spPr>
        <p:txBody>
          <a:bodyPr rtlCol="0" anchor="ctr"/>
          <a:lstStyle/>
          <a:p>
            <a:pPr algn="ctr"/>
          </a:p>
        </p:txBody>
      </p:sp>
      <p:sp>
        <p:nvSpPr>
          <p:cNvPr id="19" name="TextBox 18"/>
          <p:cNvSpPr txBox="1"/>
          <p:nvPr/>
        </p:nvSpPr>
        <p:spPr>
          <a:xfrm>
            <a:off x="868680" y="4919472"/>
            <a:ext cx="4023360" cy="274320"/>
          </a:xfrm>
          <a:prstGeom prst="rect">
            <a:avLst/>
          </a:prstGeom>
          <a:noFill/>
        </p:spPr>
        <p:txBody>
          <a:bodyPr wrap="square" lIns="0" rIns="0" tIns="0" bIns="0" anchor="ctr">
            <a:spAutoFit/>
          </a:bodyPr>
          <a:lstStyle/>
          <a:p>
            <a:pPr algn="l"/>
            <a:r>
              <a:rPr sz="1200" b="1" i="0" spc="100">
                <a:solidFill>
                  <a:srgbClr val="1C7293"/>
                </a:solidFill>
                <a:latin typeface="Calibri"/>
              </a:rPr>
              <a:t>TRACK A — EMPIRICAL FAIR STRIKE</a:t>
            </a:r>
          </a:p>
        </p:txBody>
      </p:sp>
      <p:sp>
        <p:nvSpPr>
          <p:cNvPr id="20" name="TextBox 19"/>
          <p:cNvSpPr txBox="1"/>
          <p:nvPr/>
        </p:nvSpPr>
        <p:spPr>
          <a:xfrm>
            <a:off x="868680" y="5230368"/>
            <a:ext cx="1463040" cy="640080"/>
          </a:xfrm>
          <a:prstGeom prst="rect">
            <a:avLst/>
          </a:prstGeom>
          <a:noFill/>
        </p:spPr>
        <p:txBody>
          <a:bodyPr wrap="square" lIns="0" rIns="0" tIns="0" bIns="0" anchor="ctr">
            <a:spAutoFit/>
          </a:bodyPr>
          <a:lstStyle/>
          <a:p>
            <a:pPr algn="l"/>
            <a:r>
              <a:rPr sz="3200" b="1" i="0">
                <a:solidFill>
                  <a:srgbClr val="C8791A"/>
                </a:solidFill>
                <a:latin typeface="Cambria"/>
              </a:rPr>
              <a:t>113.1</a:t>
            </a:r>
          </a:p>
        </p:txBody>
      </p:sp>
      <p:sp>
        <p:nvSpPr>
          <p:cNvPr id="21" name="TextBox 20"/>
          <p:cNvSpPr txBox="1"/>
          <p:nvPr/>
        </p:nvSpPr>
        <p:spPr>
          <a:xfrm>
            <a:off x="2331720" y="5166360"/>
            <a:ext cx="2560320" cy="914400"/>
          </a:xfrm>
          <a:prstGeom prst="rect">
            <a:avLst/>
          </a:prstGeom>
          <a:noFill/>
        </p:spPr>
        <p:txBody>
          <a:bodyPr wrap="square" lIns="0" rIns="0" tIns="0" bIns="0" anchor="ctr">
            <a:spAutoFit/>
          </a:bodyPr>
          <a:lstStyle/>
          <a:p>
            <a:pPr algn="l">
              <a:lnSpc>
                <a:spcPct val="105000"/>
              </a:lnSpc>
            </a:pPr>
            <a:r>
              <a:rPr sz="1150" b="0" i="0">
                <a:solidFill>
                  <a:srgbClr val="56606B"/>
                </a:solidFill>
                <a:latin typeface="Calibri"/>
              </a:rPr>
              <a:t>252× rolling mean realised variance, 2015–2024. A realised quantity — nothing is backed out of a traded price.</a:t>
            </a:r>
          </a:p>
        </p:txBody>
      </p:sp>
      <p:sp>
        <p:nvSpPr>
          <p:cNvPr id="22" name="Rounded Rectangle 21"/>
          <p:cNvSpPr/>
          <p:nvPr/>
        </p:nvSpPr>
        <p:spPr>
          <a:xfrm>
            <a:off x="5349240" y="1783080"/>
            <a:ext cx="6309360" cy="4480560"/>
          </a:xfrm>
          <a:prstGeom prst="roundRect">
            <a:avLst>
              <a:gd name="adj" fmla="val 183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23" name="TextBox 22"/>
          <p:cNvSpPr txBox="1"/>
          <p:nvPr/>
        </p:nvSpPr>
        <p:spPr>
          <a:xfrm>
            <a:off x="5623560" y="1938528"/>
            <a:ext cx="5852160" cy="274320"/>
          </a:xfrm>
          <a:prstGeom prst="rect">
            <a:avLst/>
          </a:prstGeom>
          <a:noFill/>
        </p:spPr>
        <p:txBody>
          <a:bodyPr wrap="square" lIns="0" rIns="0" tIns="0" bIns="0" anchor="ctr">
            <a:spAutoFit/>
          </a:bodyPr>
          <a:lstStyle/>
          <a:p>
            <a:pPr algn="l"/>
            <a:r>
              <a:rPr sz="1200" b="1" i="0" spc="100">
                <a:solidFill>
                  <a:srgbClr val="1C7293"/>
                </a:solidFill>
                <a:latin typeface="Calibri"/>
              </a:rPr>
              <a:t>ANNUAL PAYOFF OF A LONG UNIT-NOTIONAL SWAP STRUCK AT K = 113.1</a:t>
            </a:r>
          </a:p>
        </p:txBody>
      </p:sp>
      <p:graphicFrame>
        <p:nvGraphicFramePr>
          <p:cNvPr id="24" name="Chart 23"/>
          <p:cNvGraphicFramePr>
            <a:graphicFrameLocks noGrp="1"/>
          </p:cNvGraphicFramePr>
          <p:nvPr/>
        </p:nvGraphicFramePr>
        <p:xfrm>
          <a:off x="5486400" y="2240280"/>
          <a:ext cx="6035040" cy="2926080"/>
        </p:xfrm>
        <a:graphic>
          <a:graphicData uri="http://schemas.openxmlformats.org/drawingml/2006/chart">
            <c:chart xmlns:c="http://schemas.openxmlformats.org/drawingml/2006/chart" r:id="rId3"/>
          </a:graphicData>
        </a:graphic>
      </p:graphicFrame>
      <p:sp>
        <p:nvSpPr>
          <p:cNvPr id="25" name="TextBox 24"/>
          <p:cNvSpPr txBox="1"/>
          <p:nvPr/>
        </p:nvSpPr>
        <p:spPr>
          <a:xfrm>
            <a:off x="5623560" y="5257800"/>
            <a:ext cx="1874519" cy="365760"/>
          </a:xfrm>
          <a:prstGeom prst="rect">
            <a:avLst/>
          </a:prstGeom>
          <a:noFill/>
        </p:spPr>
        <p:txBody>
          <a:bodyPr wrap="square" lIns="0" rIns="0" tIns="0" bIns="0" anchor="ctr">
            <a:spAutoFit/>
          </a:bodyPr>
          <a:lstStyle/>
          <a:p>
            <a:pPr algn="l"/>
            <a:r>
              <a:rPr sz="1700" b="1" i="0">
                <a:solidFill>
                  <a:srgbClr val="C8791A"/>
                </a:solidFill>
                <a:latin typeface="Cambria"/>
              </a:rPr>
              <a:t>95.5 – 132.0</a:t>
            </a:r>
          </a:p>
        </p:txBody>
      </p:sp>
      <p:sp>
        <p:nvSpPr>
          <p:cNvPr id="26" name="TextBox 25"/>
          <p:cNvSpPr txBox="1"/>
          <p:nvPr/>
        </p:nvSpPr>
        <p:spPr>
          <a:xfrm>
            <a:off x="5623560" y="5623560"/>
            <a:ext cx="1874519" cy="502920"/>
          </a:xfrm>
          <a:prstGeom prst="rect">
            <a:avLst/>
          </a:prstGeom>
          <a:noFill/>
        </p:spPr>
        <p:txBody>
          <a:bodyPr wrap="square" lIns="0" rIns="0" tIns="0" bIns="0" anchor="t">
            <a:spAutoFit/>
          </a:bodyPr>
          <a:lstStyle/>
          <a:p>
            <a:pPr algn="l">
              <a:lnSpc>
                <a:spcPct val="100000"/>
              </a:lnSpc>
            </a:pPr>
            <a:r>
              <a:rPr sz="1100" b="0" i="0">
                <a:solidFill>
                  <a:srgbClr val="56606B"/>
                </a:solidFill>
                <a:latin typeface="Calibri"/>
              </a:rPr>
              <a:t>annual realised variance, 2019 – 2024</a:t>
            </a:r>
          </a:p>
        </p:txBody>
      </p:sp>
      <p:sp>
        <p:nvSpPr>
          <p:cNvPr id="27" name="TextBox 26"/>
          <p:cNvSpPr txBox="1"/>
          <p:nvPr/>
        </p:nvSpPr>
        <p:spPr>
          <a:xfrm>
            <a:off x="7607808" y="5257800"/>
            <a:ext cx="1874519" cy="365760"/>
          </a:xfrm>
          <a:prstGeom prst="rect">
            <a:avLst/>
          </a:prstGeom>
          <a:noFill/>
        </p:spPr>
        <p:txBody>
          <a:bodyPr wrap="square" lIns="0" rIns="0" tIns="0" bIns="0" anchor="ctr">
            <a:spAutoFit/>
          </a:bodyPr>
          <a:lstStyle/>
          <a:p>
            <a:pPr algn="l"/>
            <a:r>
              <a:rPr sz="1700" b="1" i="0">
                <a:solidFill>
                  <a:srgbClr val="C8791A"/>
                </a:solidFill>
                <a:latin typeface="Cambria"/>
              </a:rPr>
              <a:t>+2.34</a:t>
            </a:r>
          </a:p>
        </p:txBody>
      </p:sp>
      <p:sp>
        <p:nvSpPr>
          <p:cNvPr id="28" name="TextBox 27"/>
          <p:cNvSpPr txBox="1"/>
          <p:nvPr/>
        </p:nvSpPr>
        <p:spPr>
          <a:xfrm>
            <a:off x="7607808" y="5623560"/>
            <a:ext cx="1874519" cy="502920"/>
          </a:xfrm>
          <a:prstGeom prst="rect">
            <a:avLst/>
          </a:prstGeom>
          <a:noFill/>
        </p:spPr>
        <p:txBody>
          <a:bodyPr wrap="square" lIns="0" rIns="0" tIns="0" bIns="0" anchor="t">
            <a:spAutoFit/>
          </a:bodyPr>
          <a:lstStyle/>
          <a:p>
            <a:pPr algn="l">
              <a:lnSpc>
                <a:spcPct val="100000"/>
              </a:lnSpc>
            </a:pPr>
            <a:r>
              <a:rPr sz="1100" b="0" i="0">
                <a:solidFill>
                  <a:srgbClr val="56606B"/>
                </a:solidFill>
                <a:latin typeface="Calibri"/>
              </a:rPr>
              <a:t>mean payoff: the strike was close to fair</a:t>
            </a:r>
          </a:p>
        </p:txBody>
      </p:sp>
      <p:sp>
        <p:nvSpPr>
          <p:cNvPr id="29" name="TextBox 28"/>
          <p:cNvSpPr txBox="1"/>
          <p:nvPr/>
        </p:nvSpPr>
        <p:spPr>
          <a:xfrm>
            <a:off x="9592056" y="5257800"/>
            <a:ext cx="1874519" cy="365760"/>
          </a:xfrm>
          <a:prstGeom prst="rect">
            <a:avLst/>
          </a:prstGeom>
          <a:noFill/>
        </p:spPr>
        <p:txBody>
          <a:bodyPr wrap="square" lIns="0" rIns="0" tIns="0" bIns="0" anchor="ctr">
            <a:spAutoFit/>
          </a:bodyPr>
          <a:lstStyle/>
          <a:p>
            <a:pPr algn="l"/>
            <a:r>
              <a:rPr sz="1700" b="1" i="0">
                <a:solidFill>
                  <a:srgbClr val="C8791A"/>
                </a:solidFill>
                <a:latin typeface="Cambria"/>
              </a:rPr>
              <a:t>−14.8</a:t>
            </a:r>
          </a:p>
        </p:txBody>
      </p:sp>
      <p:sp>
        <p:nvSpPr>
          <p:cNvPr id="30" name="TextBox 29"/>
          <p:cNvSpPr txBox="1"/>
          <p:nvPr/>
        </p:nvSpPr>
        <p:spPr>
          <a:xfrm>
            <a:off x="9592056" y="5623560"/>
            <a:ext cx="1874519" cy="502920"/>
          </a:xfrm>
          <a:prstGeom prst="rect">
            <a:avLst/>
          </a:prstGeom>
          <a:noFill/>
        </p:spPr>
        <p:txBody>
          <a:bodyPr wrap="square" lIns="0" rIns="0" tIns="0" bIns="0" anchor="t">
            <a:spAutoFit/>
          </a:bodyPr>
          <a:lstStyle/>
          <a:p>
            <a:pPr algn="l">
              <a:lnSpc>
                <a:spcPct val="100000"/>
              </a:lnSpc>
            </a:pPr>
            <a:r>
              <a:rPr sz="1100" b="0" i="0">
                <a:solidFill>
                  <a:srgbClr val="56606B"/>
                </a:solidFill>
                <a:latin typeface="Calibri"/>
              </a:rPr>
              <a:t>5th-percentile year, ≈13% of strike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365760"/>
            <a:ext cx="11064240" cy="292608"/>
          </a:xfrm>
          <a:prstGeom prst="rect">
            <a:avLst/>
          </a:prstGeom>
          <a:noFill/>
          <a:ln/>
        </p:spPr>
        <p:txBody>
          <a:bodyPr wrap="square" lIns="0" tIns="0" rIns="0" bIns="0" rtlCol="0" anchor="ctr"/>
          <a:lstStyle/>
          <a:p>
            <a:pPr algn="l" indent="0" marL="0">
              <a:buNone/>
            </a:pPr>
            <a:r>
              <a:rPr lang="en-US" sz="1250" b="1" spc="200" kern="0" dirty="0">
                <a:solidFill>
                  <a:srgbClr val="1C7293"/>
                </a:solidFill>
                <a:latin typeface="Calibri" pitchFamily="34" charset="0"/>
                <a:ea typeface="Calibri" pitchFamily="34" charset="-122"/>
                <a:cs typeface="Calibri" pitchFamily="34" charset="-120"/>
              </a:rPr>
              <a:t>CH. 3 · VARIANCE SWAP — THE MODEL STRIKE</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Reconciled, model and market strikes share an order of magnitude</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7</a:t>
            </a:r>
            <a:endParaRPr lang="en-US" sz="900" dirty="0"/>
          </a:p>
        </p:txBody>
      </p:sp>
      <p:sp>
        <p:nvSpPr>
          <p:cNvPr id="14" name="Rounded Rectangle 13"/>
          <p:cNvSpPr/>
          <p:nvPr/>
        </p:nvSpPr>
        <p:spPr>
          <a:xfrm>
            <a:off x="548640" y="1783080"/>
            <a:ext cx="6766560" cy="4480560"/>
          </a:xfrm>
          <a:prstGeom prst="roundRect">
            <a:avLst>
              <a:gd name="adj" fmla="val 183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15" name="TextBox 14"/>
          <p:cNvSpPr txBox="1"/>
          <p:nvPr/>
        </p:nvSpPr>
        <p:spPr>
          <a:xfrm>
            <a:off x="868680" y="1938528"/>
            <a:ext cx="6217920" cy="274320"/>
          </a:xfrm>
          <a:prstGeom prst="rect">
            <a:avLst/>
          </a:prstGeom>
          <a:noFill/>
        </p:spPr>
        <p:txBody>
          <a:bodyPr wrap="square" lIns="0" rIns="0" tIns="0" bIns="0" anchor="ctr">
            <a:spAutoFit/>
          </a:bodyPr>
          <a:lstStyle/>
          <a:p>
            <a:pPr algn="l"/>
            <a:r>
              <a:rPr sz="1200" b="1" i="0" spc="100">
                <a:solidFill>
                  <a:srgbClr val="1C7293"/>
                </a:solidFill>
                <a:latin typeface="Calibri"/>
              </a:rPr>
              <a:t>DATASET B — FROM h(t₀)·C₀ TO TRACK A UNITS  (LOG SCALE)</a:t>
            </a:r>
          </a:p>
        </p:txBody>
      </p:sp>
      <p:graphicFrame>
        <p:nvGraphicFramePr>
          <p:cNvPr id="16" name="Chart 15"/>
          <p:cNvGraphicFramePr>
            <a:graphicFrameLocks noGrp="1"/>
          </p:cNvGraphicFramePr>
          <p:nvPr/>
        </p:nvGraphicFramePr>
        <p:xfrm>
          <a:off x="685800" y="2286000"/>
          <a:ext cx="6492240" cy="3429000"/>
        </p:xfrm>
        <a:graphic>
          <a:graphicData uri="http://schemas.openxmlformats.org/drawingml/2006/chart">
            <c:chart xmlns:c="http://schemas.openxmlformats.org/drawingml/2006/chart" r:id="rId3"/>
          </a:graphicData>
        </a:graphic>
      </p:graphicFrame>
      <p:sp>
        <p:nvSpPr>
          <p:cNvPr id="17" name="TextBox 16"/>
          <p:cNvSpPr txBox="1"/>
          <p:nvPr/>
        </p:nvSpPr>
        <p:spPr>
          <a:xfrm>
            <a:off x="868680" y="5760720"/>
            <a:ext cx="6217920" cy="411480"/>
          </a:xfrm>
          <a:prstGeom prst="rect">
            <a:avLst/>
          </a:prstGeom>
          <a:noFill/>
        </p:spPr>
        <p:txBody>
          <a:bodyPr wrap="square" lIns="0" rIns="0" tIns="0" bIns="0" anchor="t">
            <a:spAutoFit/>
          </a:bodyPr>
          <a:lstStyle/>
          <a:p>
            <a:pPr algn="l">
              <a:lnSpc>
                <a:spcPct val="100000"/>
              </a:lnSpc>
            </a:pPr>
            <a:r>
              <a:rPr sz="1050" b="0" i="1">
                <a:solidFill>
                  <a:srgbClr val="56606B"/>
                </a:solidFill>
                <a:latin typeface="Calibri"/>
              </a:rPr>
              <a:t>Each step is a first-order delta-method factor (thesis Table 20): an arithmetic reconciliation, not a frozen phase output.</a:t>
            </a:r>
          </a:p>
        </p:txBody>
      </p:sp>
      <p:sp>
        <p:nvSpPr>
          <p:cNvPr id="18" name="Rounded Rectangle 17"/>
          <p:cNvSpPr/>
          <p:nvPr/>
        </p:nvSpPr>
        <p:spPr>
          <a:xfrm>
            <a:off x="7543800" y="1783080"/>
            <a:ext cx="4114800" cy="1463040"/>
          </a:xfrm>
          <a:prstGeom prst="roundRect">
            <a:avLst>
              <a:gd name="adj" fmla="val 5624"/>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p>
        </p:txBody>
      </p:sp>
      <p:sp>
        <p:nvSpPr>
          <p:cNvPr id="19" name="TextBox 18"/>
          <p:cNvSpPr txBox="1"/>
          <p:nvPr/>
        </p:nvSpPr>
        <p:spPr>
          <a:xfrm>
            <a:off x="7818120" y="1920240"/>
            <a:ext cx="3657600" cy="274320"/>
          </a:xfrm>
          <a:prstGeom prst="rect">
            <a:avLst/>
          </a:prstGeom>
          <a:noFill/>
        </p:spPr>
        <p:txBody>
          <a:bodyPr wrap="square" lIns="0" rIns="0" tIns="0" bIns="0" anchor="ctr">
            <a:spAutoFit/>
          </a:bodyPr>
          <a:lstStyle/>
          <a:p>
            <a:pPr algn="l"/>
            <a:r>
              <a:rPr sz="1200" b="1" i="0" spc="100">
                <a:solidFill>
                  <a:srgbClr val="E8A33D"/>
                </a:solidFill>
                <a:latin typeface="Calibri"/>
              </a:rPr>
              <a:t>TRACK B — MODEL-IMPLIED</a:t>
            </a:r>
          </a:p>
        </p:txBody>
      </p:sp>
      <p:sp>
        <p:nvSpPr>
          <p:cNvPr id="20" name="TextBox 19"/>
          <p:cNvSpPr txBox="1"/>
          <p:nvPr/>
        </p:nvSpPr>
        <p:spPr>
          <a:xfrm>
            <a:off x="7818120" y="2240280"/>
            <a:ext cx="3657600" cy="457200"/>
          </a:xfrm>
          <a:prstGeom prst="rect">
            <a:avLst/>
          </a:prstGeom>
          <a:noFill/>
        </p:spPr>
        <p:txBody>
          <a:bodyPr wrap="square" lIns="0" rIns="0" tIns="0" bIns="0" anchor="ctr">
            <a:spAutoFit/>
          </a:bodyPr>
          <a:lstStyle/>
          <a:p>
            <a:pPr algn="l"/>
            <a:r>
              <a:rPr sz="2000" b="1" i="0">
                <a:solidFill>
                  <a:srgbClr val="FFFFFF"/>
                </a:solidFill>
                <a:latin typeface="Cambria"/>
              </a:rPr>
              <a:t>K = h(t₀) × C₀ = 0.873</a:t>
            </a:r>
          </a:p>
        </p:txBody>
      </p:sp>
      <p:sp>
        <p:nvSpPr>
          <p:cNvPr id="21" name="TextBox 20"/>
          <p:cNvSpPr txBox="1"/>
          <p:nvPr/>
        </p:nvSpPr>
        <p:spPr>
          <a:xfrm>
            <a:off x="7818120" y="2715768"/>
            <a:ext cx="3657600" cy="457200"/>
          </a:xfrm>
          <a:prstGeom prst="rect">
            <a:avLst/>
          </a:prstGeom>
          <a:noFill/>
        </p:spPr>
        <p:txBody>
          <a:bodyPr wrap="square" lIns="0" rIns="0" tIns="0" bIns="0" anchor="t">
            <a:spAutoFit/>
          </a:bodyPr>
          <a:lstStyle/>
          <a:p>
            <a:pPr algn="l">
              <a:lnSpc>
                <a:spcPct val="100000"/>
              </a:lnSpc>
            </a:pPr>
            <a:r>
              <a:rPr sz="1100" b="0" i="0">
                <a:solidFill>
                  <a:srgbClr val="D9E2EA"/>
                </a:solidFill>
                <a:latin typeface="Calibri"/>
              </a:rPr>
              <a:t>0.7511 × 1.16277 · piecewise-constant h (Tol 1997) · θ = 0 benchmark</a:t>
            </a:r>
          </a:p>
        </p:txBody>
      </p:sp>
      <p:sp>
        <p:nvSpPr>
          <p:cNvPr id="22" name="Rounded Rectangle 21"/>
          <p:cNvSpPr/>
          <p:nvPr/>
        </p:nvSpPr>
        <p:spPr>
          <a:xfrm>
            <a:off x="7543800" y="3429000"/>
            <a:ext cx="4114800" cy="1325880"/>
          </a:xfrm>
          <a:prstGeom prst="roundRect">
            <a:avLst>
              <a:gd name="adj" fmla="val 620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23" name="TextBox 22"/>
          <p:cNvSpPr txBox="1"/>
          <p:nvPr/>
        </p:nvSpPr>
        <p:spPr>
          <a:xfrm>
            <a:off x="7818120" y="3547872"/>
            <a:ext cx="3657600" cy="274320"/>
          </a:xfrm>
          <a:prstGeom prst="rect">
            <a:avLst/>
          </a:prstGeom>
          <a:noFill/>
        </p:spPr>
        <p:txBody>
          <a:bodyPr wrap="square" lIns="0" rIns="0" tIns="0" bIns="0" anchor="ctr">
            <a:spAutoFit/>
          </a:bodyPr>
          <a:lstStyle/>
          <a:p>
            <a:pPr algn="l"/>
            <a:r>
              <a:rPr sz="1200" b="1" i="0" spc="100">
                <a:solidFill>
                  <a:srgbClr val="1C7293"/>
                </a:solidFill>
                <a:latin typeface="Calibri"/>
              </a:rPr>
              <a:t>RAW GAP ≈ 130×</a:t>
            </a:r>
          </a:p>
        </p:txBody>
      </p:sp>
      <p:sp>
        <p:nvSpPr>
          <p:cNvPr id="24" name="TextBox 23"/>
          <p:cNvSpPr txBox="1"/>
          <p:nvPr/>
        </p:nvSpPr>
        <p:spPr>
          <a:xfrm>
            <a:off x="7818120" y="3840480"/>
            <a:ext cx="3611880" cy="868680"/>
          </a:xfrm>
          <a:prstGeom prst="rect">
            <a:avLst/>
          </a:prstGeom>
          <a:noFill/>
        </p:spPr>
        <p:txBody>
          <a:bodyPr wrap="square" lIns="0" rIns="0" tIns="0" bIns="0" anchor="t">
            <a:spAutoFit/>
          </a:bodyPr>
          <a:lstStyle/>
          <a:p>
            <a:pPr algn="l">
              <a:lnSpc>
                <a:spcPct val="105000"/>
              </a:lnSpc>
            </a:pPr>
            <a:r>
              <a:rPr sz="1250" b="0" i="0">
                <a:solidFill>
                  <a:srgbClr val="56606B"/>
                </a:solidFill>
                <a:latin typeface="Calibri"/>
              </a:rPr>
              <a:t>A units artefact, not model error: Track B is un-annualised, in Box–Cox units, and measures a wind innovation — not a generation log-return.</a:t>
            </a:r>
          </a:p>
        </p:txBody>
      </p:sp>
      <p:sp>
        <p:nvSpPr>
          <p:cNvPr id="25" name="Rounded Rectangle 24"/>
          <p:cNvSpPr/>
          <p:nvPr/>
        </p:nvSpPr>
        <p:spPr>
          <a:xfrm>
            <a:off x="7543800" y="4937760"/>
            <a:ext cx="4114800" cy="1325880"/>
          </a:xfrm>
          <a:prstGeom prst="roundRect">
            <a:avLst>
              <a:gd name="adj" fmla="val 620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26" name="TextBox 25"/>
          <p:cNvSpPr txBox="1"/>
          <p:nvPr/>
        </p:nvSpPr>
        <p:spPr>
          <a:xfrm>
            <a:off x="7818120" y="5056632"/>
            <a:ext cx="3657600" cy="274320"/>
          </a:xfrm>
          <a:prstGeom prst="rect">
            <a:avLst/>
          </a:prstGeom>
          <a:noFill/>
        </p:spPr>
        <p:txBody>
          <a:bodyPr wrap="square" lIns="0" rIns="0" tIns="0" bIns="0" anchor="ctr">
            <a:spAutoFit/>
          </a:bodyPr>
          <a:lstStyle/>
          <a:p>
            <a:pPr algn="l"/>
            <a:r>
              <a:rPr sz="1200" b="1" i="0" spc="100">
                <a:solidFill>
                  <a:srgbClr val="C8791A"/>
                </a:solidFill>
                <a:latin typeface="Calibri"/>
              </a:rPr>
              <a:t>RECONCILED: 328.8 vs 113.1</a:t>
            </a:r>
          </a:p>
        </p:txBody>
      </p:sp>
      <p:sp>
        <p:nvSpPr>
          <p:cNvPr id="27" name="TextBox 26"/>
          <p:cNvSpPr txBox="1"/>
          <p:nvPr/>
        </p:nvSpPr>
        <p:spPr>
          <a:xfrm>
            <a:off x="7818120" y="5349240"/>
            <a:ext cx="3611880" cy="868680"/>
          </a:xfrm>
          <a:prstGeom prst="rect">
            <a:avLst/>
          </a:prstGeom>
          <a:noFill/>
        </p:spPr>
        <p:txBody>
          <a:bodyPr wrap="square" lIns="0" rIns="0" tIns="0" bIns="0" anchor="t">
            <a:spAutoFit/>
          </a:bodyPr>
          <a:lstStyle/>
          <a:p>
            <a:pPr algn="l">
              <a:lnSpc>
                <a:spcPct val="105000"/>
              </a:lnSpc>
            </a:pPr>
            <a:r>
              <a:rPr sz="1250" b="0" i="0">
                <a:solidFill>
                  <a:srgbClr val="56606B"/>
                </a:solidFill>
                <a:latin typeface="Calibri"/>
              </a:rPr>
              <a:t>Model ≈ 2.9× above the market — expected when one grid point stands in for a spatially averaged national fleet.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365760"/>
            <a:ext cx="11064240" cy="292608"/>
          </a:xfrm>
          <a:prstGeom prst="rect">
            <a:avLst/>
          </a:prstGeom>
          <a:noFill/>
          <a:ln/>
        </p:spPr>
        <p:txBody>
          <a:bodyPr wrap="square" lIns="0" tIns="0" rIns="0" bIns="0" rtlCol="0" anchor="ctr"/>
          <a:lstStyle/>
          <a:p>
            <a:pPr algn="l" indent="0" marL="0">
              <a:buNone/>
            </a:pPr>
            <a:r>
              <a:rPr lang="en-US" sz="1250" b="1" spc="200" kern="0" dirty="0">
                <a:solidFill>
                  <a:srgbClr val="1C7293"/>
                </a:solidFill>
                <a:latin typeface="Calibri" pitchFamily="34" charset="0"/>
                <a:ea typeface="Calibri" pitchFamily="34" charset="-122"/>
                <a:cs typeface="Calibri" pitchFamily="34" charset="-120"/>
              </a:rPr>
              <a:t>CH. 3 · RISK MANAGEMENT — CAWS</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CAWS: the left-tail complement — it pays in the calm years</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8</a:t>
            </a:r>
            <a:endParaRPr lang="en-US" sz="900" dirty="0"/>
          </a:p>
        </p:txBody>
      </p:sp>
      <p:sp>
        <p:nvSpPr>
          <p:cNvPr id="14" name="Rounded Rectangle 13"/>
          <p:cNvSpPr/>
          <p:nvPr/>
        </p:nvSpPr>
        <p:spPr>
          <a:xfrm>
            <a:off x="548640" y="1783080"/>
            <a:ext cx="6949440" cy="4480560"/>
          </a:xfrm>
          <a:prstGeom prst="roundRect">
            <a:avLst>
              <a:gd name="adj" fmla="val 183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15" name="TextBox 14"/>
          <p:cNvSpPr txBox="1"/>
          <p:nvPr/>
        </p:nvSpPr>
        <p:spPr>
          <a:xfrm>
            <a:off x="868680" y="1938528"/>
            <a:ext cx="6400800" cy="274320"/>
          </a:xfrm>
          <a:prstGeom prst="rect">
            <a:avLst/>
          </a:prstGeom>
          <a:noFill/>
        </p:spPr>
        <p:txBody>
          <a:bodyPr wrap="square" lIns="0" rIns="0" tIns="0" bIns="0" anchor="ctr">
            <a:spAutoFit/>
          </a:bodyPr>
          <a:lstStyle/>
          <a:p>
            <a:pPr algn="l"/>
            <a:r>
              <a:rPr sz="1200" b="1" i="0" spc="100">
                <a:solidFill>
                  <a:srgbClr val="1C7293"/>
                </a:solidFill>
                <a:latin typeface="Calibri"/>
              </a:rPr>
              <a:t>ANNUAL PAYOFF  Π = K − CAWS,  % OF STRIKE  (NON-OVERLAPPING YEARS)</a:t>
            </a:r>
          </a:p>
        </p:txBody>
      </p:sp>
      <p:graphicFrame>
        <p:nvGraphicFramePr>
          <p:cNvPr id="16" name="Chart 15"/>
          <p:cNvGraphicFramePr>
            <a:graphicFrameLocks noGrp="1"/>
          </p:cNvGraphicFramePr>
          <p:nvPr/>
        </p:nvGraphicFramePr>
        <p:xfrm>
          <a:off x="685800" y="2240280"/>
          <a:ext cx="6675120" cy="3429000"/>
        </p:xfrm>
        <a:graphic>
          <a:graphicData uri="http://schemas.openxmlformats.org/drawingml/2006/chart">
            <c:chart xmlns:c="http://schemas.openxmlformats.org/drawingml/2006/chart" r:id="rId3"/>
          </a:graphicData>
        </a:graphic>
      </p:graphicFrame>
      <p:sp>
        <p:nvSpPr>
          <p:cNvPr id="17" name="TextBox 16"/>
          <p:cNvSpPr txBox="1"/>
          <p:nvPr/>
        </p:nvSpPr>
        <p:spPr>
          <a:xfrm>
            <a:off x="868680" y="5760720"/>
            <a:ext cx="6400800" cy="411480"/>
          </a:xfrm>
          <a:prstGeom prst="rect">
            <a:avLst/>
          </a:prstGeom>
          <a:noFill/>
        </p:spPr>
        <p:txBody>
          <a:bodyPr wrap="square" lIns="0" rIns="0" tIns="0" bIns="0" anchor="t">
            <a:spAutoFit/>
          </a:bodyPr>
          <a:lstStyle/>
          <a:p>
            <a:pPr algn="l">
              <a:lnSpc>
                <a:spcPct val="100000"/>
              </a:lnSpc>
            </a:pPr>
            <a:r>
              <a:rPr sz="1100" b="0" i="1">
                <a:solidFill>
                  <a:srgbClr val="56606B"/>
                </a:solidFill>
                <a:latin typeface="Calibri"/>
              </a:rPr>
              <a:t>Above zero: a calm year — the protection leg pays.  Below zero: a windy year — the producer pays the premium.</a:t>
            </a:r>
          </a:p>
        </p:txBody>
      </p:sp>
      <p:sp>
        <p:nvSpPr>
          <p:cNvPr id="18" name="Rounded Rectangle 17"/>
          <p:cNvSpPr/>
          <p:nvPr/>
        </p:nvSpPr>
        <p:spPr>
          <a:xfrm>
            <a:off x="7726679" y="1783080"/>
            <a:ext cx="3931920" cy="2606040"/>
          </a:xfrm>
          <a:prstGeom prst="roundRect">
            <a:avLst>
              <a:gd name="adj" fmla="val 3157"/>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19" name="TextBox 18"/>
          <p:cNvSpPr txBox="1"/>
          <p:nvPr/>
        </p:nvSpPr>
        <p:spPr>
          <a:xfrm>
            <a:off x="7955279" y="1920240"/>
            <a:ext cx="3566160" cy="274320"/>
          </a:xfrm>
          <a:prstGeom prst="rect">
            <a:avLst/>
          </a:prstGeom>
          <a:noFill/>
        </p:spPr>
        <p:txBody>
          <a:bodyPr wrap="square" lIns="0" rIns="0" tIns="0" bIns="0" anchor="ctr">
            <a:spAutoFit/>
          </a:bodyPr>
          <a:lstStyle/>
          <a:p>
            <a:pPr algn="l"/>
            <a:r>
              <a:rPr sz="1200" b="1" i="0" spc="100">
                <a:solidFill>
                  <a:srgbClr val="1C7293"/>
                </a:solidFill>
                <a:latin typeface="Calibri"/>
              </a:rPr>
              <a:t>READ THE RIGHT TAIL</a:t>
            </a:r>
          </a:p>
        </p:txBody>
      </p:sp>
      <p:graphicFrame>
        <p:nvGraphicFramePr>
          <p:cNvPr id="20" name="Table 19"/>
          <p:cNvGraphicFramePr>
            <a:graphicFrameLocks noGrp="1"/>
          </p:cNvGraphicFramePr>
          <p:nvPr/>
        </p:nvGraphicFramePr>
        <p:xfrm>
          <a:off x="7955279" y="2240280"/>
          <a:ext cx="3520440" cy="1554480"/>
        </p:xfrm>
        <a:graphic>
          <a:graphicData uri="http://schemas.openxmlformats.org/drawingml/2006/table">
            <a:tbl>
              <a:tblPr firstRow="0" bandRow="0">
                <a:tableStyleId>{5C22544A-7EE6-4342-B048-85BDC9FD1C3A}</a:tableStyleId>
              </a:tblPr>
              <a:tblGrid>
                <a:gridCol w="1325880"/>
                <a:gridCol w="1097280"/>
                <a:gridCol w="1097280"/>
              </a:tblGrid>
              <a:tr h="310896">
                <a:tc>
                  <a:txBody>
                    <a:bodyPr wrap="square"/>
                    <a:lstStyle/>
                    <a:p>
                      <a:pPr algn="l"/>
                      <a:r>
                        <a:rPr sz="1100" b="1">
                          <a:solidFill>
                            <a:srgbClr val="FFFFFF"/>
                          </a:solidFill>
                          <a:latin typeface="Calibri"/>
                        </a:rPr>
                        <a:t/>
                      </a:r>
                    </a:p>
                  </a:txBody>
                  <a:tcPr marL="91440" marR="91440" marT="36576" marB="36576" anchor="ctr">
                    <a:lnB w="0">
                      <a:noFill/>
                    </a:lnB>
                    <a:lnT w="0">
                      <a:noFill/>
                    </a:lnT>
                    <a:lnR w="0">
                      <a:noFill/>
                    </a:lnR>
                    <a:lnL w="0">
                      <a:noFill/>
                    </a:lnL>
                    <a:solidFill>
                      <a:srgbClr val="21295C"/>
                    </a:solidFill>
                  </a:tcPr>
                </a:tc>
                <a:tc>
                  <a:txBody>
                    <a:bodyPr wrap="square"/>
                    <a:lstStyle/>
                    <a:p>
                      <a:pPr algn="ctr"/>
                      <a:r>
                        <a:rPr sz="1100" b="1">
                          <a:solidFill>
                            <a:srgbClr val="FFFFFF"/>
                          </a:solidFill>
                          <a:latin typeface="Calibri"/>
                        </a:rPr>
                        <a:t>A · Bologna</a:t>
                      </a:r>
                    </a:p>
                  </a:txBody>
                  <a:tcPr marL="91440" marR="91440" marT="36576" marB="36576" anchor="ctr">
                    <a:lnB w="0">
                      <a:noFill/>
                    </a:lnB>
                    <a:lnT w="0">
                      <a:noFill/>
                    </a:lnT>
                    <a:lnR w="0">
                      <a:noFill/>
                    </a:lnR>
                    <a:lnL w="0">
                      <a:noFill/>
                    </a:lnL>
                    <a:solidFill>
                      <a:srgbClr val="21295C"/>
                    </a:solidFill>
                  </a:tcPr>
                </a:tc>
                <a:tc>
                  <a:txBody>
                    <a:bodyPr wrap="square"/>
                    <a:lstStyle/>
                    <a:p>
                      <a:pPr algn="ctr"/>
                      <a:r>
                        <a:rPr sz="1100" b="1">
                          <a:solidFill>
                            <a:srgbClr val="FFFFFF"/>
                          </a:solidFill>
                          <a:latin typeface="Calibri"/>
                        </a:rPr>
                        <a:t>B · Nordfr.</a:t>
                      </a:r>
                    </a:p>
                  </a:txBody>
                  <a:tcPr marL="91440" marR="91440" marT="36576" marB="36576" anchor="ctr">
                    <a:lnB w="0">
                      <a:noFill/>
                    </a:lnB>
                    <a:lnT w="0">
                      <a:noFill/>
                    </a:lnT>
                    <a:lnR w="0">
                      <a:noFill/>
                    </a:lnR>
                    <a:lnL w="0">
                      <a:noFill/>
                    </a:lnL>
                    <a:solidFill>
                      <a:srgbClr val="21295C"/>
                    </a:solidFill>
                  </a:tcPr>
                </a:tc>
              </a:tr>
              <a:tr h="310896">
                <a:tc>
                  <a:txBody>
                    <a:bodyPr wrap="square"/>
                    <a:lstStyle/>
                    <a:p>
                      <a:pPr algn="l"/>
                      <a:r>
                        <a:rPr sz="1100" b="1">
                          <a:solidFill>
                            <a:srgbClr val="21295C"/>
                          </a:solidFill>
                          <a:latin typeface="Calibri"/>
                        </a:rPr>
                        <a:t>Strike K</a:t>
                      </a:r>
                    </a:p>
                  </a:txBody>
                  <a:tcPr marL="91440" marR="91440" marT="36576" marB="36576" anchor="ctr">
                    <a:lnB w="0">
                      <a:noFill/>
                    </a:lnB>
                    <a:lnT w="0">
                      <a:noFill/>
                    </a:lnT>
                    <a:lnR w="0">
                      <a:noFill/>
                    </a:lnR>
                    <a:lnL w="0">
                      <a:noFill/>
                    </a:lnL>
                    <a:solidFill>
                      <a:srgbClr val="FFFFFF"/>
                    </a:solidFill>
                  </a:tcPr>
                </a:tc>
                <a:tc>
                  <a:txBody>
                    <a:bodyPr wrap="square"/>
                    <a:lstStyle/>
                    <a:p>
                      <a:pPr algn="ctr"/>
                      <a:r>
                        <a:rPr sz="1100">
                          <a:solidFill>
                            <a:srgbClr val="56606B"/>
                          </a:solidFill>
                          <a:latin typeface="Calibri"/>
                        </a:rPr>
                        <a:t>2.4644 m/s</a:t>
                      </a:r>
                    </a:p>
                  </a:txBody>
                  <a:tcPr marL="91440" marR="91440" marT="36576" marB="36576" anchor="ctr">
                    <a:lnB w="0">
                      <a:noFill/>
                    </a:lnB>
                    <a:lnT w="0">
                      <a:noFill/>
                    </a:lnT>
                    <a:lnR w="0">
                      <a:noFill/>
                    </a:lnR>
                    <a:lnL w="0">
                      <a:noFill/>
                    </a:lnL>
                    <a:solidFill>
                      <a:srgbClr val="FFFFFF"/>
                    </a:solidFill>
                  </a:tcPr>
                </a:tc>
                <a:tc>
                  <a:txBody>
                    <a:bodyPr wrap="square"/>
                    <a:lstStyle/>
                    <a:p>
                      <a:pPr algn="ctr"/>
                      <a:r>
                        <a:rPr sz="1100">
                          <a:solidFill>
                            <a:srgbClr val="56606B"/>
                          </a:solidFill>
                          <a:latin typeface="Calibri"/>
                        </a:rPr>
                        <a:t>8.0531 m/s</a:t>
                      </a:r>
                    </a:p>
                  </a:txBody>
                  <a:tcPr marL="91440" marR="91440" marT="36576" marB="36576" anchor="ctr">
                    <a:lnB w="0">
                      <a:noFill/>
                    </a:lnB>
                    <a:lnT w="0">
                      <a:noFill/>
                    </a:lnT>
                    <a:lnR w="0">
                      <a:noFill/>
                    </a:lnR>
                    <a:lnL w="0">
                      <a:noFill/>
                    </a:lnL>
                    <a:solidFill>
                      <a:srgbClr val="FFFFFF"/>
                    </a:solidFill>
                  </a:tcPr>
                </a:tc>
              </a:tr>
              <a:tr h="310896">
                <a:tc>
                  <a:txBody>
                    <a:bodyPr wrap="square"/>
                    <a:lstStyle/>
                    <a:p>
                      <a:pPr algn="l"/>
                      <a:r>
                        <a:rPr sz="1100" b="1">
                          <a:solidFill>
                            <a:srgbClr val="21295C"/>
                          </a:solidFill>
                          <a:latin typeface="Calibri"/>
                        </a:rPr>
                        <a:t>Calmest year</a:t>
                      </a:r>
                    </a:p>
                  </a:txBody>
                  <a:tcPr marL="91440" marR="91440" marT="36576" marB="36576" anchor="ctr">
                    <a:lnB w="0">
                      <a:noFill/>
                    </a:lnB>
                    <a:lnT w="0">
                      <a:noFill/>
                    </a:lnT>
                    <a:lnR w="0">
                      <a:noFill/>
                    </a:lnR>
                    <a:lnL w="0">
                      <a:noFill/>
                    </a:lnL>
                    <a:solidFill>
                      <a:srgbClr val="FBF1E4"/>
                    </a:solidFill>
                  </a:tcPr>
                </a:tc>
                <a:tc>
                  <a:txBody>
                    <a:bodyPr wrap="square"/>
                    <a:lstStyle/>
                    <a:p>
                      <a:pPr algn="ctr"/>
                      <a:r>
                        <a:rPr sz="1100">
                          <a:solidFill>
                            <a:srgbClr val="56606B"/>
                          </a:solidFill>
                          <a:latin typeface="Calibri"/>
                        </a:rPr>
                        <a:t>+6.70% (2017)</a:t>
                      </a:r>
                    </a:p>
                  </a:txBody>
                  <a:tcPr marL="91440" marR="91440" marT="36576" marB="36576" anchor="ctr">
                    <a:lnB w="0">
                      <a:noFill/>
                    </a:lnB>
                    <a:lnT w="0">
                      <a:noFill/>
                    </a:lnT>
                    <a:lnR w="0">
                      <a:noFill/>
                    </a:lnR>
                    <a:lnL w="0">
                      <a:noFill/>
                    </a:lnL>
                    <a:solidFill>
                      <a:srgbClr val="FBF1E4"/>
                    </a:solidFill>
                  </a:tcPr>
                </a:tc>
                <a:tc>
                  <a:txBody>
                    <a:bodyPr wrap="square"/>
                    <a:lstStyle/>
                    <a:p>
                      <a:pPr algn="ctr"/>
                      <a:r>
                        <a:rPr sz="1100">
                          <a:solidFill>
                            <a:srgbClr val="56606B"/>
                          </a:solidFill>
                          <a:latin typeface="Calibri"/>
                        </a:rPr>
                        <a:t>+4.99% (2021)</a:t>
                      </a:r>
                    </a:p>
                  </a:txBody>
                  <a:tcPr marL="91440" marR="91440" marT="36576" marB="36576" anchor="ctr">
                    <a:lnB w="0">
                      <a:noFill/>
                    </a:lnB>
                    <a:lnT w="0">
                      <a:noFill/>
                    </a:lnT>
                    <a:lnR w="0">
                      <a:noFill/>
                    </a:lnR>
                    <a:lnL w="0">
                      <a:noFill/>
                    </a:lnL>
                    <a:solidFill>
                      <a:srgbClr val="FBF1E4"/>
                    </a:solidFill>
                  </a:tcPr>
                </a:tc>
              </a:tr>
              <a:tr h="310896">
                <a:tc>
                  <a:txBody>
                    <a:bodyPr wrap="square"/>
                    <a:lstStyle/>
                    <a:p>
                      <a:pPr algn="l"/>
                      <a:r>
                        <a:rPr sz="1100" b="1">
                          <a:solidFill>
                            <a:srgbClr val="21295C"/>
                          </a:solidFill>
                          <a:latin typeface="Calibri"/>
                        </a:rPr>
                        <a:t>Windiest = CVaR₅%</a:t>
                      </a:r>
                    </a:p>
                  </a:txBody>
                  <a:tcPr marL="91440" marR="91440" marT="36576" marB="36576" anchor="ctr">
                    <a:lnB w="0">
                      <a:noFill/>
                    </a:lnB>
                    <a:lnT w="0">
                      <a:noFill/>
                    </a:lnT>
                    <a:lnR w="0">
                      <a:noFill/>
                    </a:lnR>
                    <a:lnL w="0">
                      <a:noFill/>
                    </a:lnL>
                    <a:solidFill>
                      <a:srgbClr val="FFFFFF"/>
                    </a:solidFill>
                  </a:tcPr>
                </a:tc>
                <a:tc>
                  <a:txBody>
                    <a:bodyPr wrap="square"/>
                    <a:lstStyle/>
                    <a:p>
                      <a:pPr algn="ctr"/>
                      <a:r>
                        <a:rPr sz="1100">
                          <a:solidFill>
                            <a:srgbClr val="56606B"/>
                          </a:solidFill>
                          <a:latin typeface="Calibri"/>
                        </a:rPr>
                        <a:t>−4.91% (2018)</a:t>
                      </a:r>
                    </a:p>
                  </a:txBody>
                  <a:tcPr marL="91440" marR="91440" marT="36576" marB="36576" anchor="ctr">
                    <a:lnB w="0">
                      <a:noFill/>
                    </a:lnB>
                    <a:lnT w="0">
                      <a:noFill/>
                    </a:lnT>
                    <a:lnR w="0">
                      <a:noFill/>
                    </a:lnR>
                    <a:lnL w="0">
                      <a:noFill/>
                    </a:lnL>
                    <a:solidFill>
                      <a:srgbClr val="FFFFFF"/>
                    </a:solidFill>
                  </a:tcPr>
                </a:tc>
                <a:tc>
                  <a:txBody>
                    <a:bodyPr wrap="square"/>
                    <a:lstStyle/>
                    <a:p>
                      <a:pPr algn="ctr"/>
                      <a:r>
                        <a:rPr sz="1100">
                          <a:solidFill>
                            <a:srgbClr val="56606B"/>
                          </a:solidFill>
                          <a:latin typeface="Calibri"/>
                        </a:rPr>
                        <a:t>−6.33% (2015)</a:t>
                      </a:r>
                    </a:p>
                  </a:txBody>
                  <a:tcPr marL="91440" marR="91440" marT="36576" marB="36576" anchor="ctr">
                    <a:lnB w="0">
                      <a:noFill/>
                    </a:lnB>
                    <a:lnT w="0">
                      <a:noFill/>
                    </a:lnT>
                    <a:lnR w="0">
                      <a:noFill/>
                    </a:lnR>
                    <a:lnL w="0">
                      <a:noFill/>
                    </a:lnL>
                    <a:solidFill>
                      <a:srgbClr val="FFFFFF"/>
                    </a:solidFill>
                  </a:tcPr>
                </a:tc>
              </a:tr>
              <a:tr h="310896">
                <a:tc>
                  <a:txBody>
                    <a:bodyPr wrap="square"/>
                    <a:lstStyle/>
                    <a:p>
                      <a:pPr algn="l"/>
                      <a:r>
                        <a:rPr sz="1100" b="1">
                          <a:solidFill>
                            <a:srgbClr val="21295C"/>
                          </a:solidFill>
                          <a:latin typeface="Calibri"/>
                        </a:rPr>
                        <a:t>Annual obs.</a:t>
                      </a:r>
                    </a:p>
                  </a:txBody>
                  <a:tcPr marL="91440" marR="91440" marT="36576" marB="36576" anchor="ctr">
                    <a:lnB w="0">
                      <a:noFill/>
                    </a:lnB>
                    <a:lnT w="0">
                      <a:noFill/>
                    </a:lnT>
                    <a:lnR w="0">
                      <a:noFill/>
                    </a:lnR>
                    <a:lnL w="0">
                      <a:noFill/>
                    </a:lnL>
                    <a:solidFill>
                      <a:srgbClr val="EEF3F7"/>
                    </a:solidFill>
                  </a:tcPr>
                </a:tc>
                <a:tc>
                  <a:txBody>
                    <a:bodyPr wrap="square"/>
                    <a:lstStyle/>
                    <a:p>
                      <a:pPr algn="ctr"/>
                      <a:r>
                        <a:rPr sz="1100">
                          <a:solidFill>
                            <a:srgbClr val="56606B"/>
                          </a:solidFill>
                          <a:latin typeface="Calibri"/>
                        </a:rPr>
                        <a:t>4</a:t>
                      </a:r>
                    </a:p>
                  </a:txBody>
                  <a:tcPr marL="91440" marR="91440" marT="36576" marB="36576" anchor="ctr">
                    <a:lnB w="0">
                      <a:noFill/>
                    </a:lnB>
                    <a:lnT w="0">
                      <a:noFill/>
                    </a:lnT>
                    <a:lnR w="0">
                      <a:noFill/>
                    </a:lnR>
                    <a:lnL w="0">
                      <a:noFill/>
                    </a:lnL>
                    <a:solidFill>
                      <a:srgbClr val="EEF3F7"/>
                    </a:solidFill>
                  </a:tcPr>
                </a:tc>
                <a:tc>
                  <a:txBody>
                    <a:bodyPr wrap="square"/>
                    <a:lstStyle/>
                    <a:p>
                      <a:pPr algn="ctr"/>
                      <a:r>
                        <a:rPr sz="1100">
                          <a:solidFill>
                            <a:srgbClr val="56606B"/>
                          </a:solidFill>
                          <a:latin typeface="Calibri"/>
                        </a:rPr>
                        <a:t>10</a:t>
                      </a:r>
                    </a:p>
                  </a:txBody>
                  <a:tcPr marL="91440" marR="91440" marT="36576" marB="36576" anchor="ctr">
                    <a:lnB w="0">
                      <a:noFill/>
                    </a:lnB>
                    <a:lnT w="0">
                      <a:noFill/>
                    </a:lnT>
                    <a:lnR w="0">
                      <a:noFill/>
                    </a:lnR>
                    <a:lnL w="0">
                      <a:noFill/>
                    </a:lnL>
                    <a:solidFill>
                      <a:srgbClr val="EEF3F7"/>
                    </a:solidFill>
                  </a:tcPr>
                </a:tc>
              </a:tr>
            </a:tbl>
          </a:graphicData>
        </a:graphic>
      </p:graphicFrame>
      <p:sp>
        <p:nvSpPr>
          <p:cNvPr id="21" name="TextBox 20"/>
          <p:cNvSpPr txBox="1"/>
          <p:nvPr/>
        </p:nvSpPr>
        <p:spPr>
          <a:xfrm>
            <a:off x="7955279" y="3840480"/>
            <a:ext cx="3520440" cy="502920"/>
          </a:xfrm>
          <a:prstGeom prst="rect">
            <a:avLst/>
          </a:prstGeom>
          <a:noFill/>
        </p:spPr>
        <p:txBody>
          <a:bodyPr wrap="square" lIns="0" rIns="0" tIns="0" bIns="0" anchor="t">
            <a:spAutoFit/>
          </a:bodyPr>
          <a:lstStyle/>
          <a:p>
            <a:pPr algn="l">
              <a:lnSpc>
                <a:spcPct val="100000"/>
              </a:lnSpc>
            </a:pPr>
            <a:r>
              <a:rPr sz="1050" b="0" i="1">
                <a:solidFill>
                  <a:srgbClr val="56606B"/>
                </a:solidFill>
                <a:latin typeface="Calibri"/>
              </a:rPr>
              <a:t>CVaR₅% is the premium leg, and on 4 and 10 points a sample minimum: descriptive, not inferential.</a:t>
            </a:r>
          </a:p>
        </p:txBody>
      </p:sp>
      <p:sp>
        <p:nvSpPr>
          <p:cNvPr id="22" name="Rounded Rectangle 21"/>
          <p:cNvSpPr/>
          <p:nvPr/>
        </p:nvSpPr>
        <p:spPr>
          <a:xfrm>
            <a:off x="7726679" y="4526280"/>
            <a:ext cx="3931920" cy="1737360"/>
          </a:xfrm>
          <a:prstGeom prst="roundRect">
            <a:avLst>
              <a:gd name="adj" fmla="val 4736"/>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p>
        </p:txBody>
      </p:sp>
      <p:sp>
        <p:nvSpPr>
          <p:cNvPr id="23" name="TextBox 22"/>
          <p:cNvSpPr txBox="1"/>
          <p:nvPr/>
        </p:nvSpPr>
        <p:spPr>
          <a:xfrm>
            <a:off x="7955279" y="4617720"/>
            <a:ext cx="3566160" cy="274320"/>
          </a:xfrm>
          <a:prstGeom prst="rect">
            <a:avLst/>
          </a:prstGeom>
          <a:noFill/>
        </p:spPr>
        <p:txBody>
          <a:bodyPr wrap="square" lIns="0" rIns="0" tIns="0" bIns="0" anchor="ctr">
            <a:spAutoFit/>
          </a:bodyPr>
          <a:lstStyle/>
          <a:p>
            <a:pPr algn="l"/>
            <a:r>
              <a:rPr sz="1100" b="1" i="0" spc="100">
                <a:solidFill>
                  <a:srgbClr val="E8A33D"/>
                </a:solidFill>
                <a:latin typeface="Calibri"/>
              </a:rPr>
              <a:t>CALM-YEAR TRANSLATION · 2021, ILLUSTRATIVE</a:t>
            </a:r>
          </a:p>
        </p:txBody>
      </p:sp>
      <p:sp>
        <p:nvSpPr>
          <p:cNvPr id="24" name="TextBox 23"/>
          <p:cNvSpPr txBox="1"/>
          <p:nvPr/>
        </p:nvSpPr>
        <p:spPr>
          <a:xfrm>
            <a:off x="7955279" y="4910328"/>
            <a:ext cx="3566160" cy="411480"/>
          </a:xfrm>
          <a:prstGeom prst="rect">
            <a:avLst/>
          </a:prstGeom>
          <a:noFill/>
        </p:spPr>
        <p:txBody>
          <a:bodyPr wrap="square" lIns="0" rIns="0" tIns="0" bIns="0" anchor="ctr">
            <a:spAutoFit/>
          </a:bodyPr>
          <a:lstStyle/>
          <a:p>
            <a:pPr algn="l"/>
            <a:r>
              <a:rPr sz="2600" b="1" i="0">
                <a:solidFill>
                  <a:srgbClr val="E8A33D"/>
                </a:solidFill>
                <a:latin typeface="Cambria"/>
              </a:rPr>
              <a:t>≈ €2.3m</a:t>
            </a:r>
          </a:p>
        </p:txBody>
      </p:sp>
      <p:sp>
        <p:nvSpPr>
          <p:cNvPr id="25" name="TextBox 24"/>
          <p:cNvSpPr txBox="1"/>
          <p:nvPr/>
        </p:nvSpPr>
        <p:spPr>
          <a:xfrm>
            <a:off x="7955279" y="5349240"/>
            <a:ext cx="3566160" cy="868680"/>
          </a:xfrm>
          <a:prstGeom prst="rect">
            <a:avLst/>
          </a:prstGeom>
          <a:noFill/>
        </p:spPr>
        <p:txBody>
          <a:bodyPr wrap="square" lIns="0" rIns="0" tIns="0" bIns="0" anchor="t">
            <a:spAutoFit/>
          </a:bodyPr>
          <a:lstStyle/>
          <a:p>
            <a:pPr algn="l">
              <a:lnSpc>
                <a:spcPct val="100000"/>
              </a:lnSpc>
            </a:pPr>
            <a:r>
              <a:rPr sz="1100" b="0" i="0">
                <a:solidFill>
                  <a:srgbClr val="E6ECF1"/>
                </a:solidFill>
                <a:latin typeface="Calibri"/>
              </a:rPr>
              <a:t>4.99% less wind → ≈14% less generation → ≈32,000 MWh on the 100 MW farm at €71.38/MWh. Not a 2021 P&amp;L: that year’s price spike may have more than offset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365760"/>
            <a:ext cx="11064240" cy="292608"/>
          </a:xfrm>
          <a:prstGeom prst="rect">
            <a:avLst/>
          </a:prstGeom>
          <a:noFill/>
          <a:ln/>
        </p:spPr>
        <p:txBody>
          <a:bodyPr wrap="square" lIns="0" tIns="0" rIns="0" bIns="0" rtlCol="0" anchor="ctr"/>
          <a:lstStyle/>
          <a:p>
            <a:pPr algn="l" indent="0" marL="0">
              <a:buNone/>
            </a:pPr>
            <a:r>
              <a:rPr lang="en-US" sz="1250" b="1" spc="200" kern="0" dirty="0">
                <a:solidFill>
                  <a:srgbClr val="1C7293"/>
                </a:solidFill>
                <a:latin typeface="Calibri" pitchFamily="34" charset="0"/>
                <a:ea typeface="Calibri" pitchFamily="34" charset="-122"/>
                <a:cs typeface="Calibri" pitchFamily="34" charset="-120"/>
              </a:rPr>
              <a:t>CH. 3 · VALUE OF INFORMATION — THE HEADLINE</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Proxy strike: 94% short — still 88% after height correction</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9</a:t>
            </a:r>
            <a:endParaRPr lang="en-US" sz="900" dirty="0"/>
          </a:p>
        </p:txBody>
      </p:sp>
      <p:sp>
        <p:nvSpPr>
          <p:cNvPr id="14" name="Rounded Rectangle 13"/>
          <p:cNvSpPr/>
          <p:nvPr/>
        </p:nvSpPr>
        <p:spPr>
          <a:xfrm>
            <a:off x="548640" y="1783080"/>
            <a:ext cx="5486400"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15" name="TextBox 14"/>
          <p:cNvSpPr txBox="1"/>
          <p:nvPr/>
        </p:nvSpPr>
        <p:spPr>
          <a:xfrm>
            <a:off x="868680" y="1920240"/>
            <a:ext cx="5029200" cy="274320"/>
          </a:xfrm>
          <a:prstGeom prst="rect">
            <a:avLst/>
          </a:prstGeom>
          <a:noFill/>
        </p:spPr>
        <p:txBody>
          <a:bodyPr wrap="square" lIns="0" rIns="0" tIns="0" bIns="0" anchor="ctr">
            <a:spAutoFit/>
          </a:bodyPr>
          <a:lstStyle/>
          <a:p>
            <a:pPr algn="l"/>
            <a:r>
              <a:rPr sz="1200" b="1" i="0" spc="100">
                <a:solidFill>
                  <a:srgbClr val="1C7293"/>
                </a:solidFill>
                <a:latin typeface="Calibri"/>
              </a:rPr>
              <a:t>MODEL-IMPLIED FAIR STRIKE  K = h(t₀)·C₀</a:t>
            </a:r>
          </a:p>
        </p:txBody>
      </p:sp>
      <p:graphicFrame>
        <p:nvGraphicFramePr>
          <p:cNvPr id="16" name="Chart 15"/>
          <p:cNvGraphicFramePr>
            <a:graphicFrameLocks noGrp="1"/>
          </p:cNvGraphicFramePr>
          <p:nvPr/>
        </p:nvGraphicFramePr>
        <p:xfrm>
          <a:off x="685800" y="2194560"/>
          <a:ext cx="5212080" cy="2743200"/>
        </p:xfrm>
        <a:graphic>
          <a:graphicData uri="http://schemas.openxmlformats.org/drawingml/2006/chart">
            <c:chart xmlns:c="http://schemas.openxmlformats.org/drawingml/2006/chart" r:id="rId3"/>
          </a:graphicData>
        </a:graphic>
      </p:graphicFrame>
      <p:sp>
        <p:nvSpPr>
          <p:cNvPr id="17" name="Rounded Rectangle 16"/>
          <p:cNvSpPr/>
          <p:nvPr/>
        </p:nvSpPr>
        <p:spPr>
          <a:xfrm>
            <a:off x="6263640" y="1783080"/>
            <a:ext cx="5394960"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18" name="TextBox 17"/>
          <p:cNvSpPr txBox="1"/>
          <p:nvPr/>
        </p:nvSpPr>
        <p:spPr>
          <a:xfrm>
            <a:off x="6537960" y="1920240"/>
            <a:ext cx="4937760" cy="274320"/>
          </a:xfrm>
          <a:prstGeom prst="rect">
            <a:avLst/>
          </a:prstGeom>
          <a:noFill/>
        </p:spPr>
        <p:txBody>
          <a:bodyPr wrap="square" lIns="0" rIns="0" tIns="0" bIns="0" anchor="ctr">
            <a:spAutoFit/>
          </a:bodyPr>
          <a:lstStyle/>
          <a:p>
            <a:pPr algn="l"/>
            <a:r>
              <a:rPr sz="1200" b="1" i="0" spc="100">
                <a:solidFill>
                  <a:srgbClr val="1C7293"/>
                </a:solidFill>
                <a:latin typeface="Calibri"/>
              </a:rPr>
              <a:t>SHORTFALL vs WIND-PROFILE EXPONENT α</a:t>
            </a:r>
          </a:p>
        </p:txBody>
      </p:sp>
      <p:graphicFrame>
        <p:nvGraphicFramePr>
          <p:cNvPr id="19" name="Chart 18"/>
          <p:cNvGraphicFramePr>
            <a:graphicFrameLocks noGrp="1"/>
          </p:cNvGraphicFramePr>
          <p:nvPr/>
        </p:nvGraphicFramePr>
        <p:xfrm>
          <a:off x="6400800" y="2194560"/>
          <a:ext cx="5120640" cy="2377440"/>
        </p:xfrm>
        <a:graphic>
          <a:graphicData uri="http://schemas.openxmlformats.org/drawingml/2006/chart">
            <c:chart xmlns:c="http://schemas.openxmlformats.org/drawingml/2006/chart" r:id="rId4"/>
          </a:graphicData>
        </a:graphic>
      </p:graphicFrame>
      <p:sp>
        <p:nvSpPr>
          <p:cNvPr id="20" name="TextBox 19"/>
          <p:cNvSpPr txBox="1"/>
          <p:nvPr/>
        </p:nvSpPr>
        <p:spPr>
          <a:xfrm>
            <a:off x="6537960" y="4572000"/>
            <a:ext cx="4937760" cy="411480"/>
          </a:xfrm>
          <a:prstGeom prst="rect">
            <a:avLst/>
          </a:prstGeom>
          <a:noFill/>
        </p:spPr>
        <p:txBody>
          <a:bodyPr wrap="square" lIns="0" rIns="0" tIns="0" bIns="0" anchor="t">
            <a:spAutoFit/>
          </a:bodyPr>
          <a:lstStyle/>
          <a:p>
            <a:pPr algn="l">
              <a:lnSpc>
                <a:spcPct val="100000"/>
              </a:lnSpc>
            </a:pPr>
            <a:r>
              <a:rPr sz="1100" b="0" i="1">
                <a:solidFill>
                  <a:srgbClr val="56606B"/>
                </a:solidFill>
                <a:latin typeface="Calibri"/>
              </a:rPr>
              <a:t>Open water → very rough terrain. Closing the full 16.07× would need α = 0.60.</a:t>
            </a:r>
          </a:p>
        </p:txBody>
      </p:sp>
      <p:sp>
        <p:nvSpPr>
          <p:cNvPr id="21" name="Rounded Rectangle 20"/>
          <p:cNvSpPr/>
          <p:nvPr/>
        </p:nvSpPr>
        <p:spPr>
          <a:xfrm>
            <a:off x="548640" y="5212080"/>
            <a:ext cx="11109960" cy="1051560"/>
          </a:xfrm>
          <a:prstGeom prst="roundRect">
            <a:avLst>
              <a:gd name="adj" fmla="val 7826"/>
            </a:avLst>
          </a:prstGeom>
          <a:solidFill>
            <a:srgbClr val="EEF3F7"/>
          </a:solidFill>
          <a:ln>
            <a:noFill/>
          </a:ln>
        </p:spPr>
        <p:txBody>
          <a:bodyPr rtlCol="0" anchor="ctr"/>
          <a:lstStyle/>
          <a:p>
            <a:pPr algn="ctr"/>
          </a:p>
        </p:txBody>
      </p:sp>
      <p:sp>
        <p:nvSpPr>
          <p:cNvPr id="22" name="TextBox 21"/>
          <p:cNvSpPr txBox="1"/>
          <p:nvPr/>
        </p:nvSpPr>
        <p:spPr>
          <a:xfrm>
            <a:off x="868680" y="5303520"/>
            <a:ext cx="5486400" cy="274320"/>
          </a:xfrm>
          <a:prstGeom prst="rect">
            <a:avLst/>
          </a:prstGeom>
          <a:noFill/>
        </p:spPr>
        <p:txBody>
          <a:bodyPr wrap="square" lIns="0" rIns="0" tIns="0" bIns="0" anchor="ctr">
            <a:spAutoFit/>
          </a:bodyPr>
          <a:lstStyle/>
          <a:p>
            <a:pPr algn="l"/>
            <a:r>
              <a:rPr sz="1200" b="1" i="0" spc="100">
                <a:solidFill>
                  <a:srgbClr val="1C7293"/>
                </a:solidFill>
                <a:latin typeface="Calibri"/>
              </a:rPr>
              <a:t>WHERE THE 16.07× STRIKE RATIO SITS  (LOG SCALE)</a:t>
            </a:r>
          </a:p>
        </p:txBody>
      </p:sp>
      <p:sp>
        <p:nvSpPr>
          <p:cNvPr id="23" name="Rectangle 22"/>
          <p:cNvSpPr/>
          <p:nvPr/>
        </p:nvSpPr>
        <p:spPr>
          <a:xfrm>
            <a:off x="868680" y="5650992"/>
            <a:ext cx="5312988" cy="457200"/>
          </a:xfrm>
          <a:prstGeom prst="rect">
            <a:avLst/>
          </a:prstGeom>
          <a:solidFill>
            <a:srgbClr val="21295C"/>
          </a:solidFill>
          <a:ln>
            <a:noFill/>
          </a:ln>
        </p:spPr>
        <p:txBody>
          <a:bodyPr rtlCol="0" anchor="ctr"/>
          <a:lstStyle/>
          <a:p>
            <a:pPr algn="ctr"/>
          </a:p>
        </p:txBody>
      </p:sp>
      <p:sp>
        <p:nvSpPr>
          <p:cNvPr id="24" name="Rectangle 23"/>
          <p:cNvSpPr/>
          <p:nvPr/>
        </p:nvSpPr>
        <p:spPr>
          <a:xfrm>
            <a:off x="6181668" y="5650992"/>
            <a:ext cx="1453571" cy="457200"/>
          </a:xfrm>
          <a:prstGeom prst="rect">
            <a:avLst/>
          </a:prstGeom>
          <a:solidFill>
            <a:srgbClr val="1C7293"/>
          </a:solidFill>
          <a:ln>
            <a:noFill/>
          </a:ln>
        </p:spPr>
        <p:txBody>
          <a:bodyPr rtlCol="0" anchor="ctr"/>
          <a:lstStyle/>
          <a:p>
            <a:pPr algn="ctr"/>
          </a:p>
        </p:txBody>
      </p:sp>
      <p:sp>
        <p:nvSpPr>
          <p:cNvPr id="25" name="TextBox 24"/>
          <p:cNvSpPr txBox="1"/>
          <p:nvPr/>
        </p:nvSpPr>
        <p:spPr>
          <a:xfrm>
            <a:off x="1005840" y="5650992"/>
            <a:ext cx="5130108" cy="457200"/>
          </a:xfrm>
          <a:prstGeom prst="rect">
            <a:avLst/>
          </a:prstGeom>
          <a:noFill/>
        </p:spPr>
        <p:txBody>
          <a:bodyPr wrap="square" lIns="0" rIns="0" tIns="0" bIns="0" anchor="ctr">
            <a:spAutoFit/>
          </a:bodyPr>
          <a:lstStyle/>
          <a:p>
            <a:pPr algn="l"/>
            <a:r>
              <a:rPr sz="1250" b="1" i="0">
                <a:solidFill>
                  <a:srgbClr val="FFFFFF"/>
                </a:solidFill>
                <a:latin typeface="Calibri"/>
              </a:rPr>
              <a:t>8.85×  C₀ — seasonal-variance level</a:t>
            </a:r>
          </a:p>
        </p:txBody>
      </p:sp>
      <p:sp>
        <p:nvSpPr>
          <p:cNvPr id="26" name="TextBox 25"/>
          <p:cNvSpPr txBox="1"/>
          <p:nvPr/>
        </p:nvSpPr>
        <p:spPr>
          <a:xfrm>
            <a:off x="6273108" y="5650992"/>
            <a:ext cx="1316411" cy="457200"/>
          </a:xfrm>
          <a:prstGeom prst="rect">
            <a:avLst/>
          </a:prstGeom>
          <a:noFill/>
        </p:spPr>
        <p:txBody>
          <a:bodyPr wrap="square" lIns="0" rIns="0" tIns="0" bIns="0" anchor="ctr">
            <a:spAutoFit/>
          </a:bodyPr>
          <a:lstStyle/>
          <a:p>
            <a:pPr algn="l"/>
            <a:r>
              <a:rPr sz="1250" b="1" i="0">
                <a:solidFill>
                  <a:srgbClr val="FFFFFF"/>
                </a:solidFill>
                <a:latin typeface="Calibri"/>
              </a:rPr>
              <a:t>1.82×  h(t₀)</a:t>
            </a:r>
          </a:p>
        </p:txBody>
      </p:sp>
      <p:sp>
        <p:nvSpPr>
          <p:cNvPr id="27" name="TextBox 26"/>
          <p:cNvSpPr txBox="1"/>
          <p:nvPr/>
        </p:nvSpPr>
        <p:spPr>
          <a:xfrm>
            <a:off x="7909560" y="5349240"/>
            <a:ext cx="3520440" cy="868680"/>
          </a:xfrm>
          <a:prstGeom prst="rect">
            <a:avLst/>
          </a:prstGeom>
          <a:noFill/>
        </p:spPr>
        <p:txBody>
          <a:bodyPr wrap="square" lIns="0" rIns="0" tIns="0" bIns="0" anchor="ctr">
            <a:spAutoFit/>
          </a:bodyPr>
          <a:lstStyle/>
          <a:p>
            <a:pPr algn="l">
              <a:lnSpc>
                <a:spcPct val="105000"/>
              </a:lnSpc>
            </a:pPr>
            <a:r>
              <a:rPr sz="1250" b="1" i="0">
                <a:solidFill>
                  <a:srgbClr val="21295C"/>
                </a:solidFill>
                <a:latin typeface="Calibri"/>
              </a:rPr>
              <a:t>≈ four-fifths of the gap is C₀. </a:t>
            </a:r>
            <a:r>
              <a:rPr sz="1250" b="0" i="0">
                <a:solidFill>
                  <a:srgbClr val="56606B"/>
                </a:solidFill>
                <a:latin typeface="Calibri"/>
              </a:rPr>
              <a:t>But C₀ is measured on two different Box–Cox scales — next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365760"/>
            <a:ext cx="11064240" cy="292608"/>
          </a:xfrm>
          <a:prstGeom prst="rect">
            <a:avLst/>
          </a:prstGeom>
          <a:noFill/>
          <a:ln/>
        </p:spPr>
        <p:txBody>
          <a:bodyPr wrap="square" lIns="0" tIns="0" rIns="0" bIns="0" rtlCol="0" anchor="ctr"/>
          <a:lstStyle/>
          <a:p>
            <a:pPr algn="l" indent="0" marL="0">
              <a:buNone/>
            </a:pPr>
            <a:r>
              <a:rPr lang="en-US" sz="1250" b="1" spc="200" kern="0" dirty="0">
                <a:solidFill>
                  <a:srgbClr val="1C7293"/>
                </a:solidFill>
                <a:latin typeface="Calibri" pitchFamily="34" charset="0"/>
                <a:ea typeface="Calibri" pitchFamily="34" charset="-122"/>
                <a:cs typeface="Calibri" pitchFamily="34" charset="-120"/>
              </a:rPr>
              <a:t>CH. 3 · VALUE OF INFORMATION — ON A COMMON SCALE</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On a common scale, the two sites look alike</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10</a:t>
            </a:r>
            <a:endParaRPr lang="en-US" sz="900" dirty="0"/>
          </a:p>
        </p:txBody>
      </p:sp>
      <p:sp>
        <p:nvSpPr>
          <p:cNvPr id="14" name="Rounded Rectangle 13"/>
          <p:cNvSpPr/>
          <p:nvPr/>
        </p:nvSpPr>
        <p:spPr>
          <a:xfrm>
            <a:off x="548640" y="1783080"/>
            <a:ext cx="5486400"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15" name="TextBox 14"/>
          <p:cNvSpPr txBox="1"/>
          <p:nvPr/>
        </p:nvSpPr>
        <p:spPr>
          <a:xfrm>
            <a:off x="868680" y="1920240"/>
            <a:ext cx="5029200" cy="274320"/>
          </a:xfrm>
          <a:prstGeom prst="rect">
            <a:avLst/>
          </a:prstGeom>
          <a:noFill/>
        </p:spPr>
        <p:txBody>
          <a:bodyPr wrap="square" lIns="0" rIns="0" tIns="0" bIns="0" anchor="ctr">
            <a:spAutoFit/>
          </a:bodyPr>
          <a:lstStyle/>
          <a:p>
            <a:pPr algn="l"/>
            <a:r>
              <a:rPr sz="1200" b="1" i="0" spc="100">
                <a:solidFill>
                  <a:srgbClr val="1C7293"/>
                </a:solidFill>
                <a:latin typeface="Calibri"/>
              </a:rPr>
              <a:t>STRIKE RATIO  B / A</a:t>
            </a:r>
          </a:p>
        </p:txBody>
      </p:sp>
      <p:graphicFrame>
        <p:nvGraphicFramePr>
          <p:cNvPr id="16" name="Chart 15"/>
          <p:cNvGraphicFramePr>
            <a:graphicFrameLocks noGrp="1"/>
          </p:cNvGraphicFramePr>
          <p:nvPr/>
        </p:nvGraphicFramePr>
        <p:xfrm>
          <a:off x="685800" y="2194560"/>
          <a:ext cx="5212080" cy="2743200"/>
        </p:xfrm>
        <a:graphic>
          <a:graphicData uri="http://schemas.openxmlformats.org/drawingml/2006/chart">
            <c:chart xmlns:c="http://schemas.openxmlformats.org/drawingml/2006/chart" r:id="rId3"/>
          </a:graphicData>
        </a:graphic>
      </p:graphicFrame>
      <p:sp>
        <p:nvSpPr>
          <p:cNvPr id="17" name="Rounded Rectangle 16"/>
          <p:cNvSpPr/>
          <p:nvPr/>
        </p:nvSpPr>
        <p:spPr>
          <a:xfrm>
            <a:off x="6263640" y="1783080"/>
            <a:ext cx="5394960"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18" name="TextBox 17"/>
          <p:cNvSpPr txBox="1"/>
          <p:nvPr/>
        </p:nvSpPr>
        <p:spPr>
          <a:xfrm>
            <a:off x="6537960" y="1920240"/>
            <a:ext cx="4937760" cy="274320"/>
          </a:xfrm>
          <a:prstGeom prst="rect">
            <a:avLst/>
          </a:prstGeom>
          <a:noFill/>
        </p:spPr>
        <p:txBody>
          <a:bodyPr wrap="square" lIns="0" rIns="0" tIns="0" bIns="0" anchor="ctr">
            <a:spAutoFit/>
          </a:bodyPr>
          <a:lstStyle/>
          <a:p>
            <a:pPr algn="l"/>
            <a:r>
              <a:rPr sz="1200" b="1" i="0" spc="100">
                <a:solidFill>
                  <a:srgbClr val="1C7293"/>
                </a:solidFill>
                <a:latin typeface="Calibri"/>
              </a:rPr>
              <a:t>RECONCILED MODEL STRIKE ÷ MARKET STRIKE</a:t>
            </a:r>
          </a:p>
        </p:txBody>
      </p:sp>
      <p:graphicFrame>
        <p:nvGraphicFramePr>
          <p:cNvPr id="19" name="Chart 18"/>
          <p:cNvGraphicFramePr>
            <a:graphicFrameLocks noGrp="1"/>
          </p:cNvGraphicFramePr>
          <p:nvPr/>
        </p:nvGraphicFramePr>
        <p:xfrm>
          <a:off x="6400800" y="2194560"/>
          <a:ext cx="5120640" cy="2743200"/>
        </p:xfrm>
        <a:graphic>
          <a:graphicData uri="http://schemas.openxmlformats.org/drawingml/2006/chart">
            <c:chart xmlns:c="http://schemas.openxmlformats.org/drawingml/2006/chart" r:id="rId4"/>
          </a:graphicData>
        </a:graphic>
      </p:graphicFrame>
      <p:sp>
        <p:nvSpPr>
          <p:cNvPr id="20" name="TextBox 19"/>
          <p:cNvSpPr txBox="1"/>
          <p:nvPr/>
        </p:nvSpPr>
        <p:spPr>
          <a:xfrm>
            <a:off x="8778240" y="1920240"/>
            <a:ext cx="2743200" cy="274320"/>
          </a:xfrm>
          <a:prstGeom prst="rect">
            <a:avLst/>
          </a:prstGeom>
          <a:noFill/>
        </p:spPr>
        <p:txBody>
          <a:bodyPr wrap="square" lIns="0" rIns="0" tIns="0" bIns="0" anchor="ctr">
            <a:spAutoFit/>
          </a:bodyPr>
          <a:lstStyle/>
          <a:p>
            <a:pPr algn="r"/>
            <a:r>
              <a:rPr sz="1100" b="0" i="1">
                <a:solidFill>
                  <a:srgbClr val="56606B"/>
                </a:solidFill>
                <a:latin typeface="Calibri"/>
              </a:rPr>
              <a:t>1.0× = market</a:t>
            </a:r>
          </a:p>
        </p:txBody>
      </p:sp>
      <p:sp>
        <p:nvSpPr>
          <p:cNvPr id="21" name="Rounded Rectangle 20"/>
          <p:cNvSpPr/>
          <p:nvPr/>
        </p:nvSpPr>
        <p:spPr>
          <a:xfrm>
            <a:off x="548640" y="5212080"/>
            <a:ext cx="3557016" cy="1051560"/>
          </a:xfrm>
          <a:prstGeom prst="roundRect">
            <a:avLst>
              <a:gd name="adj" fmla="val 7826"/>
            </a:avLst>
          </a:prstGeom>
          <a:solidFill>
            <a:srgbClr val="EEF3F7"/>
          </a:solidFill>
          <a:ln>
            <a:noFill/>
          </a:ln>
        </p:spPr>
        <p:txBody>
          <a:bodyPr rtlCol="0" anchor="ctr"/>
          <a:lstStyle/>
          <a:p>
            <a:pPr algn="ctr"/>
          </a:p>
        </p:txBody>
      </p:sp>
      <p:sp>
        <p:nvSpPr>
          <p:cNvPr id="22" name="TextBox 21"/>
          <p:cNvSpPr txBox="1"/>
          <p:nvPr/>
        </p:nvSpPr>
        <p:spPr>
          <a:xfrm>
            <a:off x="777240" y="5303520"/>
            <a:ext cx="3200400" cy="274320"/>
          </a:xfrm>
          <a:prstGeom prst="rect">
            <a:avLst/>
          </a:prstGeom>
          <a:noFill/>
        </p:spPr>
        <p:txBody>
          <a:bodyPr wrap="square" lIns="0" rIns="0" tIns="0" bIns="0" anchor="ctr">
            <a:spAutoFit/>
          </a:bodyPr>
          <a:lstStyle/>
          <a:p>
            <a:pPr algn="l"/>
            <a:r>
              <a:rPr sz="1150" b="1" i="0" spc="100">
                <a:solidFill>
                  <a:srgbClr val="C8791A"/>
                </a:solidFill>
                <a:latin typeface="Calibri"/>
              </a:rPr>
              <a:t>TWO MEASUREMENT SCALES</a:t>
            </a:r>
          </a:p>
        </p:txBody>
      </p:sp>
      <p:sp>
        <p:nvSpPr>
          <p:cNvPr id="23" name="TextBox 22"/>
          <p:cNvSpPr txBox="1"/>
          <p:nvPr/>
        </p:nvSpPr>
        <p:spPr>
          <a:xfrm>
            <a:off x="777240" y="5596128"/>
            <a:ext cx="3154680" cy="621792"/>
          </a:xfrm>
          <a:prstGeom prst="rect">
            <a:avLst/>
          </a:prstGeom>
          <a:noFill/>
        </p:spPr>
        <p:txBody>
          <a:bodyPr wrap="square" lIns="0" rIns="0" tIns="0" bIns="0" anchor="t">
            <a:spAutoFit/>
          </a:bodyPr>
          <a:lstStyle/>
          <a:p>
            <a:pPr algn="l">
              <a:lnSpc>
                <a:spcPct val="105000"/>
              </a:lnSpc>
            </a:pPr>
            <a:r>
              <a:rPr sz="1250" b="0" i="0">
                <a:solidFill>
                  <a:srgbClr val="56606B"/>
                </a:solidFill>
                <a:latin typeface="Calibri"/>
              </a:rPr>
              <a:t>C₀ is a variance in Box–Cox units: λ = 0.1 (A) vs λ = 0.5 (B).</a:t>
            </a:r>
          </a:p>
        </p:txBody>
      </p:sp>
      <p:sp>
        <p:nvSpPr>
          <p:cNvPr id="24" name="Rounded Rectangle 23"/>
          <p:cNvSpPr/>
          <p:nvPr/>
        </p:nvSpPr>
        <p:spPr>
          <a:xfrm>
            <a:off x="4325112" y="5212080"/>
            <a:ext cx="3557016" cy="1051560"/>
          </a:xfrm>
          <a:prstGeom prst="roundRect">
            <a:avLst>
              <a:gd name="adj" fmla="val 7826"/>
            </a:avLst>
          </a:prstGeom>
          <a:solidFill>
            <a:srgbClr val="EEF3F7"/>
          </a:solidFill>
          <a:ln>
            <a:noFill/>
          </a:ln>
        </p:spPr>
        <p:txBody>
          <a:bodyPr rtlCol="0" anchor="ctr"/>
          <a:lstStyle/>
          <a:p>
            <a:pPr algn="ctr"/>
          </a:p>
        </p:txBody>
      </p:sp>
      <p:sp>
        <p:nvSpPr>
          <p:cNvPr id="25" name="TextBox 24"/>
          <p:cNvSpPr txBox="1"/>
          <p:nvPr/>
        </p:nvSpPr>
        <p:spPr>
          <a:xfrm>
            <a:off x="4553712" y="5303520"/>
            <a:ext cx="3200400" cy="274320"/>
          </a:xfrm>
          <a:prstGeom prst="rect">
            <a:avLst/>
          </a:prstGeom>
          <a:noFill/>
        </p:spPr>
        <p:txBody>
          <a:bodyPr wrap="square" lIns="0" rIns="0" tIns="0" bIns="0" anchor="ctr">
            <a:spAutoFit/>
          </a:bodyPr>
          <a:lstStyle/>
          <a:p>
            <a:pPr algn="l"/>
            <a:r>
              <a:rPr sz="1150" b="1" i="0" spc="100">
                <a:solidFill>
                  <a:srgbClr val="C8791A"/>
                </a:solidFill>
                <a:latin typeface="Calibri"/>
              </a:rPr>
              <a:t>TWO PRICING DATES</a:t>
            </a:r>
          </a:p>
        </p:txBody>
      </p:sp>
      <p:sp>
        <p:nvSpPr>
          <p:cNvPr id="26" name="TextBox 25"/>
          <p:cNvSpPr txBox="1"/>
          <p:nvPr/>
        </p:nvSpPr>
        <p:spPr>
          <a:xfrm>
            <a:off x="4553712" y="5596128"/>
            <a:ext cx="3154680" cy="621792"/>
          </a:xfrm>
          <a:prstGeom prst="rect">
            <a:avLst/>
          </a:prstGeom>
          <a:noFill/>
        </p:spPr>
        <p:txBody>
          <a:bodyPr wrap="square" lIns="0" rIns="0" tIns="0" bIns="0" anchor="t">
            <a:spAutoFit/>
          </a:bodyPr>
          <a:lstStyle/>
          <a:p>
            <a:pPr algn="l">
              <a:lnSpc>
                <a:spcPct val="105000"/>
              </a:lnSpc>
            </a:pPr>
            <a:r>
              <a:rPr sz="1250" b="0" i="0">
                <a:solidFill>
                  <a:srgbClr val="56606B"/>
                </a:solidFill>
                <a:latin typeface="Calibri"/>
              </a:rPr>
              <a:t>h(t₀) on 31 Dec 2018 vs 31 Dec 2024: the 1.82× compares dates, not sites.</a:t>
            </a:r>
          </a:p>
        </p:txBody>
      </p:sp>
      <p:sp>
        <p:nvSpPr>
          <p:cNvPr id="27" name="Rounded Rectangle 26"/>
          <p:cNvSpPr/>
          <p:nvPr/>
        </p:nvSpPr>
        <p:spPr>
          <a:xfrm>
            <a:off x="8101583" y="5212080"/>
            <a:ext cx="3557016" cy="1051560"/>
          </a:xfrm>
          <a:prstGeom prst="roundRect">
            <a:avLst>
              <a:gd name="adj" fmla="val 7826"/>
            </a:avLst>
          </a:prstGeom>
          <a:solidFill>
            <a:srgbClr val="EEF3F7"/>
          </a:solidFill>
          <a:ln>
            <a:noFill/>
          </a:ln>
        </p:spPr>
        <p:txBody>
          <a:bodyPr rtlCol="0" anchor="ctr"/>
          <a:lstStyle/>
          <a:p>
            <a:pPr algn="ctr"/>
          </a:p>
        </p:txBody>
      </p:sp>
      <p:sp>
        <p:nvSpPr>
          <p:cNvPr id="28" name="TextBox 27"/>
          <p:cNvSpPr txBox="1"/>
          <p:nvPr/>
        </p:nvSpPr>
        <p:spPr>
          <a:xfrm>
            <a:off x="8330183" y="5303520"/>
            <a:ext cx="3200400" cy="274320"/>
          </a:xfrm>
          <a:prstGeom prst="rect">
            <a:avLst/>
          </a:prstGeom>
          <a:noFill/>
        </p:spPr>
        <p:txBody>
          <a:bodyPr wrap="square" lIns="0" rIns="0" tIns="0" bIns="0" anchor="ctr">
            <a:spAutoFit/>
          </a:bodyPr>
          <a:lstStyle/>
          <a:p>
            <a:pPr algn="l"/>
            <a:r>
              <a:rPr sz="1150" b="1" i="0" spc="100">
                <a:solidFill>
                  <a:srgbClr val="C8791A"/>
                </a:solidFill>
                <a:latin typeface="Calibri"/>
              </a:rPr>
              <a:t>SAME RELATIVE VARIABILITY</a:t>
            </a:r>
          </a:p>
        </p:txBody>
      </p:sp>
      <p:sp>
        <p:nvSpPr>
          <p:cNvPr id="29" name="TextBox 28"/>
          <p:cNvSpPr txBox="1"/>
          <p:nvPr/>
        </p:nvSpPr>
        <p:spPr>
          <a:xfrm>
            <a:off x="8330183" y="5596128"/>
            <a:ext cx="3154680" cy="621792"/>
          </a:xfrm>
          <a:prstGeom prst="rect">
            <a:avLst/>
          </a:prstGeom>
          <a:noFill/>
        </p:spPr>
        <p:txBody>
          <a:bodyPr wrap="square" lIns="0" rIns="0" tIns="0" bIns="0" anchor="t">
            <a:spAutoFit/>
          </a:bodyPr>
          <a:lstStyle/>
          <a:p>
            <a:pPr algn="l">
              <a:lnSpc>
                <a:spcPct val="105000"/>
              </a:lnSpc>
            </a:pPr>
            <a:r>
              <a:rPr sz="1250" b="0" i="0">
                <a:solidFill>
                  <a:srgbClr val="56606B"/>
                </a:solidFill>
                <a:latin typeface="Calibri"/>
              </a:rPr>
              <a:t>Coefficient of variation 0.384 (Bologna) vs 0.401 (Nordfriesland).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365760"/>
            <a:ext cx="11064240" cy="292608"/>
          </a:xfrm>
          <a:prstGeom prst="rect">
            <a:avLst/>
          </a:prstGeom>
          <a:noFill/>
          <a:ln/>
        </p:spPr>
        <p:txBody>
          <a:bodyPr wrap="square" lIns="0" tIns="0" rIns="0" bIns="0" rtlCol="0" anchor="ctr"/>
          <a:lstStyle/>
          <a:p>
            <a:pPr algn="l" indent="0" marL="0">
              <a:buNone/>
            </a:pPr>
            <a:r>
              <a:rPr lang="en-US" sz="1250" b="1" spc="200" kern="0" dirty="0">
                <a:solidFill>
                  <a:srgbClr val="1C7293"/>
                </a:solidFill>
                <a:latin typeface="Calibri" pitchFamily="34" charset="0"/>
                <a:ea typeface="Calibri" pitchFamily="34" charset="-122"/>
                <a:cs typeface="Calibri" pitchFamily="34" charset="-120"/>
              </a:rPr>
              <a:t>CH. 3 · VALUE OF INFORMATION — WHERE IT REALLY SITS</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The proxy carries no information about what it would hedge</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11</a:t>
            </a:r>
            <a:endParaRPr lang="en-US" sz="900" dirty="0"/>
          </a:p>
        </p:txBody>
      </p:sp>
      <p:sp>
        <p:nvSpPr>
          <p:cNvPr id="14" name="Rounded Rectangle 13"/>
          <p:cNvSpPr/>
          <p:nvPr/>
        </p:nvSpPr>
        <p:spPr>
          <a:xfrm>
            <a:off x="548640" y="1783080"/>
            <a:ext cx="8732520" cy="3291840"/>
          </a:xfrm>
          <a:prstGeom prst="roundRect">
            <a:avLst>
              <a:gd name="adj" fmla="val 2500"/>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pic>
        <p:nvPicPr>
          <p:cNvPr id="15" name="Picture 14" descr="pcA.png"/>
          <p:cNvPicPr>
            <a:picLocks noChangeAspect="1"/>
          </p:cNvPicPr>
          <p:nvPr/>
        </p:nvPicPr>
        <p:blipFill>
          <a:blip r:embed="rId3"/>
          <a:stretch>
            <a:fillRect/>
          </a:stretch>
        </p:blipFill>
        <p:spPr>
          <a:xfrm>
            <a:off x="731520" y="1965960"/>
            <a:ext cx="4425071" cy="2606040"/>
          </a:xfrm>
          <a:prstGeom prst="rect">
            <a:avLst/>
          </a:prstGeom>
        </p:spPr>
      </p:pic>
      <p:pic>
        <p:nvPicPr>
          <p:cNvPr id="16" name="Picture 15" descr="pcB.png"/>
          <p:cNvPicPr>
            <a:picLocks noChangeAspect="1"/>
          </p:cNvPicPr>
          <p:nvPr/>
        </p:nvPicPr>
        <p:blipFill>
          <a:blip r:embed="rId4"/>
          <a:stretch>
            <a:fillRect/>
          </a:stretch>
        </p:blipFill>
        <p:spPr>
          <a:xfrm>
            <a:off x="5303520" y="1965960"/>
            <a:ext cx="3831653" cy="2606040"/>
          </a:xfrm>
          <a:prstGeom prst="rect">
            <a:avLst/>
          </a:prstGeom>
        </p:spPr>
      </p:pic>
      <p:sp>
        <p:nvSpPr>
          <p:cNvPr id="17" name="TextBox 16"/>
          <p:cNvSpPr txBox="1"/>
          <p:nvPr/>
        </p:nvSpPr>
        <p:spPr>
          <a:xfrm>
            <a:off x="731520" y="4663440"/>
            <a:ext cx="4480560" cy="320040"/>
          </a:xfrm>
          <a:prstGeom prst="rect">
            <a:avLst/>
          </a:prstGeom>
          <a:noFill/>
        </p:spPr>
        <p:txBody>
          <a:bodyPr wrap="square" lIns="0" rIns="0" tIns="0" bIns="0" anchor="ctr">
            <a:spAutoFit/>
          </a:bodyPr>
          <a:lstStyle/>
          <a:p>
            <a:pPr algn="l"/>
            <a:r>
              <a:rPr sz="1200" b="1" i="0">
                <a:solidFill>
                  <a:srgbClr val="C8791A"/>
                </a:solidFill>
                <a:latin typeface="Calibri"/>
              </a:rPr>
              <a:t>A — Bologna 10 m: </a:t>
            </a:r>
            <a:r>
              <a:rPr sz="1200" b="0" i="0">
                <a:solidFill>
                  <a:srgbClr val="56606B"/>
                </a:solidFill>
                <a:latin typeface="Calibri"/>
              </a:rPr>
              <a:t>R² = 0.0001, slope p = 0.723</a:t>
            </a:r>
          </a:p>
        </p:txBody>
      </p:sp>
      <p:sp>
        <p:nvSpPr>
          <p:cNvPr id="18" name="TextBox 17"/>
          <p:cNvSpPr txBox="1"/>
          <p:nvPr/>
        </p:nvSpPr>
        <p:spPr>
          <a:xfrm>
            <a:off x="5303520" y="4663440"/>
            <a:ext cx="3840480" cy="320040"/>
          </a:xfrm>
          <a:prstGeom prst="rect">
            <a:avLst/>
          </a:prstGeom>
          <a:noFill/>
        </p:spPr>
        <p:txBody>
          <a:bodyPr wrap="square" lIns="0" rIns="0" tIns="0" bIns="0" anchor="ctr">
            <a:spAutoFit/>
          </a:bodyPr>
          <a:lstStyle/>
          <a:p>
            <a:pPr algn="l"/>
            <a:r>
              <a:rPr sz="1200" b="1" i="0">
                <a:solidFill>
                  <a:srgbClr val="1C7293"/>
                </a:solidFill>
                <a:latin typeface="Calibri"/>
              </a:rPr>
              <a:t>B — Nordfriesland 100 m: </a:t>
            </a:r>
            <a:r>
              <a:rPr sz="1200" b="0" i="0">
                <a:solidFill>
                  <a:srgbClr val="56606B"/>
                </a:solidFill>
                <a:latin typeface="Calibri"/>
              </a:rPr>
              <a:t>R² = 0.587, p &lt; 0.001</a:t>
            </a:r>
          </a:p>
        </p:txBody>
      </p:sp>
      <p:sp>
        <p:nvSpPr>
          <p:cNvPr id="19" name="Rounded Rectangle 18"/>
          <p:cNvSpPr/>
          <p:nvPr/>
        </p:nvSpPr>
        <p:spPr>
          <a:xfrm>
            <a:off x="9509760" y="1783080"/>
            <a:ext cx="2148840" cy="3291840"/>
          </a:xfrm>
          <a:prstGeom prst="roundRect">
            <a:avLst>
              <a:gd name="adj" fmla="val 3829"/>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20" name="TextBox 19"/>
          <p:cNvSpPr txBox="1"/>
          <p:nvPr/>
        </p:nvSpPr>
        <p:spPr>
          <a:xfrm>
            <a:off x="9692640" y="1920240"/>
            <a:ext cx="1828800" cy="274320"/>
          </a:xfrm>
          <a:prstGeom prst="rect">
            <a:avLst/>
          </a:prstGeom>
          <a:noFill/>
        </p:spPr>
        <p:txBody>
          <a:bodyPr wrap="square" lIns="0" rIns="0" tIns="0" bIns="0" anchor="ctr">
            <a:spAutoFit/>
          </a:bodyPr>
          <a:lstStyle/>
          <a:p>
            <a:pPr algn="l"/>
            <a:r>
              <a:rPr sz="1050" b="1" i="0" spc="100">
                <a:solidFill>
                  <a:srgbClr val="1C7293"/>
                </a:solidFill>
                <a:latin typeface="Calibri"/>
              </a:rPr>
              <a:t>GENERATION EXPLAINED</a:t>
            </a:r>
          </a:p>
        </p:txBody>
      </p:sp>
      <p:sp>
        <p:nvSpPr>
          <p:cNvPr id="21" name="TextBox 20"/>
          <p:cNvSpPr txBox="1"/>
          <p:nvPr/>
        </p:nvSpPr>
        <p:spPr>
          <a:xfrm>
            <a:off x="9692640" y="2286000"/>
            <a:ext cx="1828800" cy="594360"/>
          </a:xfrm>
          <a:prstGeom prst="rect">
            <a:avLst/>
          </a:prstGeom>
          <a:noFill/>
        </p:spPr>
        <p:txBody>
          <a:bodyPr wrap="square" lIns="0" rIns="0" tIns="0" bIns="0" anchor="ctr">
            <a:spAutoFit/>
          </a:bodyPr>
          <a:lstStyle/>
          <a:p>
            <a:pPr algn="l"/>
            <a:r>
              <a:rPr sz="3200" b="1" i="0">
                <a:solidFill>
                  <a:srgbClr val="1C7293"/>
                </a:solidFill>
                <a:latin typeface="Cambria"/>
              </a:rPr>
              <a:t>58.7%</a:t>
            </a:r>
          </a:p>
        </p:txBody>
      </p:sp>
      <p:sp>
        <p:nvSpPr>
          <p:cNvPr id="22" name="TextBox 21"/>
          <p:cNvSpPr txBox="1"/>
          <p:nvPr/>
        </p:nvSpPr>
        <p:spPr>
          <a:xfrm>
            <a:off x="9692640" y="2852928"/>
            <a:ext cx="1828800" cy="274320"/>
          </a:xfrm>
          <a:prstGeom prst="rect">
            <a:avLst/>
          </a:prstGeom>
          <a:noFill/>
        </p:spPr>
        <p:txBody>
          <a:bodyPr wrap="square" lIns="0" rIns="0" tIns="0" bIns="0" anchor="t">
            <a:spAutoFit/>
          </a:bodyPr>
          <a:lstStyle/>
          <a:p>
            <a:pPr algn="l"/>
            <a:r>
              <a:rPr sz="1100" b="0" i="0">
                <a:solidFill>
                  <a:srgbClr val="56606B"/>
                </a:solidFill>
                <a:latin typeface="Calibri"/>
              </a:rPr>
              <a:t>Nordfriesland 100 m</a:t>
            </a:r>
          </a:p>
        </p:txBody>
      </p:sp>
      <p:sp>
        <p:nvSpPr>
          <p:cNvPr id="23" name="TextBox 22"/>
          <p:cNvSpPr txBox="1"/>
          <p:nvPr/>
        </p:nvSpPr>
        <p:spPr>
          <a:xfrm>
            <a:off x="9692640" y="3291840"/>
            <a:ext cx="1828800" cy="594360"/>
          </a:xfrm>
          <a:prstGeom prst="rect">
            <a:avLst/>
          </a:prstGeom>
          <a:noFill/>
        </p:spPr>
        <p:txBody>
          <a:bodyPr wrap="square" lIns="0" rIns="0" tIns="0" bIns="0" anchor="ctr">
            <a:spAutoFit/>
          </a:bodyPr>
          <a:lstStyle/>
          <a:p>
            <a:pPr algn="l"/>
            <a:r>
              <a:rPr sz="3200" b="1" i="0">
                <a:solidFill>
                  <a:srgbClr val="C8791A"/>
                </a:solidFill>
                <a:latin typeface="Cambria"/>
              </a:rPr>
              <a:t>0.01%</a:t>
            </a:r>
          </a:p>
        </p:txBody>
      </p:sp>
      <p:sp>
        <p:nvSpPr>
          <p:cNvPr id="24" name="TextBox 23"/>
          <p:cNvSpPr txBox="1"/>
          <p:nvPr/>
        </p:nvSpPr>
        <p:spPr>
          <a:xfrm>
            <a:off x="9692640" y="3858768"/>
            <a:ext cx="1828800" cy="274320"/>
          </a:xfrm>
          <a:prstGeom prst="rect">
            <a:avLst/>
          </a:prstGeom>
          <a:noFill/>
        </p:spPr>
        <p:txBody>
          <a:bodyPr wrap="square" lIns="0" rIns="0" tIns="0" bIns="0" anchor="t">
            <a:spAutoFit/>
          </a:bodyPr>
          <a:lstStyle/>
          <a:p>
            <a:pPr algn="l"/>
            <a:r>
              <a:rPr sz="1100" b="0" i="0">
                <a:solidFill>
                  <a:srgbClr val="56606B"/>
                </a:solidFill>
                <a:latin typeface="Calibri"/>
              </a:rPr>
              <a:t>Bologna 10 m</a:t>
            </a:r>
          </a:p>
        </p:txBody>
      </p:sp>
      <p:sp>
        <p:nvSpPr>
          <p:cNvPr id="25" name="TextBox 24"/>
          <p:cNvSpPr txBox="1"/>
          <p:nvPr/>
        </p:nvSpPr>
        <p:spPr>
          <a:xfrm>
            <a:off x="9692640" y="4251960"/>
            <a:ext cx="1828800" cy="731520"/>
          </a:xfrm>
          <a:prstGeom prst="rect">
            <a:avLst/>
          </a:prstGeom>
          <a:noFill/>
        </p:spPr>
        <p:txBody>
          <a:bodyPr wrap="square" lIns="0" rIns="0" tIns="0" bIns="0" anchor="t">
            <a:spAutoFit/>
          </a:bodyPr>
          <a:lstStyle/>
          <a:p>
            <a:pPr algn="l">
              <a:lnSpc>
                <a:spcPct val="100000"/>
              </a:lnSpc>
            </a:pPr>
            <a:r>
              <a:rPr sz="1050" b="0" i="1">
                <a:solidFill>
                  <a:srgbClr val="56606B"/>
                </a:solidFill>
                <a:latin typeface="Calibri"/>
              </a:rPr>
              <a:t>SMARD Gₜ = c·Wₜ³ + b, daily OLS</a:t>
            </a:r>
          </a:p>
        </p:txBody>
      </p:sp>
      <p:sp>
        <p:nvSpPr>
          <p:cNvPr id="26" name="Rounded Rectangle 25"/>
          <p:cNvSpPr/>
          <p:nvPr/>
        </p:nvSpPr>
        <p:spPr>
          <a:xfrm>
            <a:off x="548640" y="5257800"/>
            <a:ext cx="6309360" cy="1005840"/>
          </a:xfrm>
          <a:prstGeom prst="roundRect">
            <a:avLst>
              <a:gd name="adj" fmla="val 8181"/>
            </a:avLst>
          </a:prstGeom>
          <a:solidFill>
            <a:srgbClr val="EEF3F7"/>
          </a:solidFill>
          <a:ln>
            <a:noFill/>
          </a:ln>
        </p:spPr>
        <p:txBody>
          <a:bodyPr rtlCol="0" anchor="ctr"/>
          <a:lstStyle/>
          <a:p>
            <a:pPr algn="ctr"/>
          </a:p>
        </p:txBody>
      </p:sp>
      <p:sp>
        <p:nvSpPr>
          <p:cNvPr id="27" name="TextBox 26"/>
          <p:cNvSpPr txBox="1"/>
          <p:nvPr/>
        </p:nvSpPr>
        <p:spPr>
          <a:xfrm>
            <a:off x="822960" y="5321808"/>
            <a:ext cx="5852160" cy="868680"/>
          </a:xfrm>
          <a:prstGeom prst="rect">
            <a:avLst/>
          </a:prstGeom>
          <a:noFill/>
        </p:spPr>
        <p:txBody>
          <a:bodyPr wrap="square" lIns="0" rIns="0" tIns="0" bIns="0" anchor="ctr">
            <a:spAutoFit/>
          </a:bodyPr>
          <a:lstStyle/>
          <a:p>
            <a:pPr algn="l">
              <a:lnSpc>
                <a:spcPct val="105000"/>
              </a:lnSpc>
            </a:pPr>
            <a:r>
              <a:rPr sz="1250" b="0" i="0">
                <a:solidFill>
                  <a:srgbClr val="56606B"/>
                </a:solidFill>
                <a:latin typeface="Calibri"/>
              </a:rPr>
              <a:t>One grid point cannot reach R² = 1 against a national fleet: compare 0.587 with 0.0001, not with 1. </a:t>
            </a:r>
            <a:r>
              <a:rPr sz="1250" b="1" i="0">
                <a:solidFill>
                  <a:srgbClr val="21295C"/>
                </a:solidFill>
                <a:latin typeface="Calibri"/>
              </a:rPr>
              <a:t>It costs one OLS fit — screen wind series on it before pricing.</a:t>
            </a:r>
          </a:p>
        </p:txBody>
      </p:sp>
      <p:sp>
        <p:nvSpPr>
          <p:cNvPr id="28" name="Rounded Rectangle 27"/>
          <p:cNvSpPr/>
          <p:nvPr/>
        </p:nvSpPr>
        <p:spPr>
          <a:xfrm>
            <a:off x="7086600" y="5257800"/>
            <a:ext cx="4572000" cy="1005840"/>
          </a:xfrm>
          <a:prstGeom prst="roundRect">
            <a:avLst>
              <a:gd name="adj" fmla="val 8181"/>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p>
        </p:txBody>
      </p:sp>
      <p:sp>
        <p:nvSpPr>
          <p:cNvPr id="29" name="TextBox 28"/>
          <p:cNvSpPr txBox="1"/>
          <p:nvPr/>
        </p:nvSpPr>
        <p:spPr>
          <a:xfrm>
            <a:off x="7315200" y="5321808"/>
            <a:ext cx="4160520" cy="868680"/>
          </a:xfrm>
          <a:prstGeom prst="rect">
            <a:avLst/>
          </a:prstGeom>
          <a:noFill/>
        </p:spPr>
        <p:txBody>
          <a:bodyPr wrap="square" lIns="0" rIns="0" tIns="0" bIns="0" anchor="ctr">
            <a:spAutoFit/>
          </a:bodyPr>
          <a:lstStyle/>
          <a:p>
            <a:pPr algn="l">
              <a:lnSpc>
                <a:spcPct val="100000"/>
              </a:lnSpc>
            </a:pPr>
            <a:r>
              <a:rPr sz="1250" b="0" i="1">
                <a:solidFill>
                  <a:srgbClr val="FFFFFF"/>
                </a:solidFill>
                <a:latin typeface="Cambria"/>
              </a:rPr>
              <a:t>A proxy that quotes a plausible number while carrying no information is more dangerous than an obviously wrong one — only the second announces itself.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365760"/>
            <a:ext cx="11064240" cy="292608"/>
          </a:xfrm>
          <a:prstGeom prst="rect">
            <a:avLst/>
          </a:prstGeom>
          <a:noFill/>
          <a:ln/>
        </p:spPr>
        <p:txBody>
          <a:bodyPr wrap="square" lIns="0" tIns="0" rIns="0" bIns="0" rtlCol="0" anchor="ctr"/>
          <a:lstStyle/>
          <a:p>
            <a:pPr algn="l" indent="0" marL="0">
              <a:buNone/>
            </a:pPr>
            <a:r>
              <a:rPr lang="en-US" sz="1250" b="1" spc="200" kern="0" dirty="0">
                <a:solidFill>
                  <a:srgbClr val="1C7293"/>
                </a:solidFill>
                <a:latin typeface="Calibri" pitchFamily="34" charset="0"/>
                <a:ea typeface="Calibri" pitchFamily="34" charset="-122"/>
                <a:cs typeface="Calibri" pitchFamily="34" charset="-120"/>
              </a:rPr>
              <a:t>SUMMARY</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The question, answered</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12</a:t>
            </a:r>
            <a:endParaRPr lang="en-US" sz="900" dirty="0"/>
          </a:p>
        </p:txBody>
      </p:sp>
      <p:sp>
        <p:nvSpPr>
          <p:cNvPr id="14" name="Rounded Rectangle 13"/>
          <p:cNvSpPr/>
          <p:nvPr/>
        </p:nvSpPr>
        <p:spPr>
          <a:xfrm>
            <a:off x="548640" y="1783080"/>
            <a:ext cx="3593592"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15" name="Oval 14"/>
          <p:cNvSpPr/>
          <p:nvPr/>
        </p:nvSpPr>
        <p:spPr>
          <a:xfrm>
            <a:off x="841247" y="2011680"/>
            <a:ext cx="502920" cy="502920"/>
          </a:xfrm>
          <a:prstGeom prst="ellipse">
            <a:avLst/>
          </a:prstGeom>
          <a:solidFill>
            <a:srgbClr val="1C7293"/>
          </a:solidFill>
          <a:ln>
            <a:noFill/>
          </a:ln>
        </p:spPr>
        <p:txBody>
          <a:bodyPr rtlCol="0" anchor="ctr"/>
          <a:lstStyle/>
          <a:p>
            <a:pPr algn="ctr"/>
          </a:p>
        </p:txBody>
      </p:sp>
      <p:sp>
        <p:nvSpPr>
          <p:cNvPr id="16" name="TextBox 15"/>
          <p:cNvSpPr txBox="1"/>
          <p:nvPr/>
        </p:nvSpPr>
        <p:spPr>
          <a:xfrm>
            <a:off x="841247" y="2011680"/>
            <a:ext cx="502920" cy="502920"/>
          </a:xfrm>
          <a:prstGeom prst="rect">
            <a:avLst/>
          </a:prstGeom>
          <a:noFill/>
        </p:spPr>
        <p:txBody>
          <a:bodyPr wrap="square" lIns="0" rIns="0" tIns="0" bIns="0" anchor="ctr">
            <a:spAutoFit/>
          </a:bodyPr>
          <a:lstStyle/>
          <a:p>
            <a:pPr algn="ctr"/>
            <a:r>
              <a:rPr sz="1500" b="1" i="0">
                <a:solidFill>
                  <a:srgbClr val="FFFFFF"/>
                </a:solidFill>
                <a:latin typeface="Calibri"/>
              </a:rPr>
              <a:t>1</a:t>
            </a:r>
          </a:p>
        </p:txBody>
      </p:sp>
      <p:sp>
        <p:nvSpPr>
          <p:cNvPr id="17" name="TextBox 16"/>
          <p:cNvSpPr txBox="1"/>
          <p:nvPr/>
        </p:nvSpPr>
        <p:spPr>
          <a:xfrm>
            <a:off x="1508760" y="2130552"/>
            <a:ext cx="2468880" cy="274320"/>
          </a:xfrm>
          <a:prstGeom prst="rect">
            <a:avLst/>
          </a:prstGeom>
          <a:noFill/>
        </p:spPr>
        <p:txBody>
          <a:bodyPr wrap="square" lIns="0" rIns="0" tIns="0" bIns="0" anchor="ctr">
            <a:spAutoFit/>
          </a:bodyPr>
          <a:lstStyle/>
          <a:p>
            <a:pPr algn="l"/>
            <a:r>
              <a:rPr sz="1200" b="1" i="0" spc="100">
                <a:solidFill>
                  <a:srgbClr val="C8791A"/>
                </a:solidFill>
                <a:latin typeface="Calibri"/>
              </a:rPr>
              <a:t>PRICE</a:t>
            </a:r>
          </a:p>
        </p:txBody>
      </p:sp>
      <p:sp>
        <p:nvSpPr>
          <p:cNvPr id="18" name="TextBox 17"/>
          <p:cNvSpPr txBox="1"/>
          <p:nvPr/>
        </p:nvSpPr>
        <p:spPr>
          <a:xfrm>
            <a:off x="841247" y="2697480"/>
            <a:ext cx="3017520" cy="365760"/>
          </a:xfrm>
          <a:prstGeom prst="rect">
            <a:avLst/>
          </a:prstGeom>
          <a:noFill/>
        </p:spPr>
        <p:txBody>
          <a:bodyPr wrap="square" lIns="0" rIns="0" tIns="0" bIns="0" anchor="ctr">
            <a:spAutoFit/>
          </a:bodyPr>
          <a:lstStyle/>
          <a:p>
            <a:pPr algn="l"/>
            <a:r>
              <a:rPr sz="1700" b="1" i="0">
                <a:solidFill>
                  <a:srgbClr val="21295C"/>
                </a:solidFill>
                <a:latin typeface="Cambria"/>
              </a:rPr>
              <a:t>Yes — in closed form</a:t>
            </a:r>
          </a:p>
        </p:txBody>
      </p:sp>
      <p:sp>
        <p:nvSpPr>
          <p:cNvPr id="19" name="TextBox 18"/>
          <p:cNvSpPr txBox="1"/>
          <p:nvPr/>
        </p:nvSpPr>
        <p:spPr>
          <a:xfrm>
            <a:off x="841247" y="3154680"/>
            <a:ext cx="3017520" cy="1783080"/>
          </a:xfrm>
          <a:prstGeom prst="rect">
            <a:avLst/>
          </a:prstGeom>
          <a:noFill/>
        </p:spPr>
        <p:txBody>
          <a:bodyPr wrap="square" lIns="0" rIns="0" tIns="0" bIns="0" anchor="t">
            <a:spAutoFit/>
          </a:bodyPr>
          <a:lstStyle/>
          <a:p>
            <a:pPr algn="l">
              <a:lnSpc>
                <a:spcPct val="112000"/>
              </a:lnSpc>
            </a:pPr>
            <a:r>
              <a:rPr sz="1450" b="0" i="0">
                <a:solidFill>
                  <a:srgbClr val="56606B"/>
                </a:solidFill>
                <a:latin typeface="Calibri"/>
              </a:rPr>
              <a:t>K = h(t₀)·C₀ under θ = 0. Reconciled to market units, the Nordfriesland strike is the market’s order of magnitude (328.8 vs 113.1). It prices a variance swap, not an option on variance.</a:t>
            </a:r>
          </a:p>
        </p:txBody>
      </p:sp>
      <p:sp>
        <p:nvSpPr>
          <p:cNvPr id="20" name="Rounded Rectangle 19"/>
          <p:cNvSpPr/>
          <p:nvPr/>
        </p:nvSpPr>
        <p:spPr>
          <a:xfrm>
            <a:off x="4306824" y="1783080"/>
            <a:ext cx="3593592"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21" name="Oval 20"/>
          <p:cNvSpPr/>
          <p:nvPr/>
        </p:nvSpPr>
        <p:spPr>
          <a:xfrm>
            <a:off x="4599432" y="2011680"/>
            <a:ext cx="502920" cy="502920"/>
          </a:xfrm>
          <a:prstGeom prst="ellipse">
            <a:avLst/>
          </a:prstGeom>
          <a:solidFill>
            <a:srgbClr val="1C7293"/>
          </a:solidFill>
          <a:ln>
            <a:noFill/>
          </a:ln>
        </p:spPr>
        <p:txBody>
          <a:bodyPr rtlCol="0" anchor="ctr"/>
          <a:lstStyle/>
          <a:p>
            <a:pPr algn="ctr"/>
          </a:p>
        </p:txBody>
      </p:sp>
      <p:sp>
        <p:nvSpPr>
          <p:cNvPr id="22" name="TextBox 21"/>
          <p:cNvSpPr txBox="1"/>
          <p:nvPr/>
        </p:nvSpPr>
        <p:spPr>
          <a:xfrm>
            <a:off x="4599432" y="2011680"/>
            <a:ext cx="502920" cy="502920"/>
          </a:xfrm>
          <a:prstGeom prst="rect">
            <a:avLst/>
          </a:prstGeom>
          <a:noFill/>
        </p:spPr>
        <p:txBody>
          <a:bodyPr wrap="square" lIns="0" rIns="0" tIns="0" bIns="0" anchor="ctr">
            <a:spAutoFit/>
          </a:bodyPr>
          <a:lstStyle/>
          <a:p>
            <a:pPr algn="ctr"/>
            <a:r>
              <a:rPr sz="1500" b="1" i="0">
                <a:solidFill>
                  <a:srgbClr val="FFFFFF"/>
                </a:solidFill>
                <a:latin typeface="Calibri"/>
              </a:rPr>
              <a:t>2</a:t>
            </a:r>
          </a:p>
        </p:txBody>
      </p:sp>
      <p:sp>
        <p:nvSpPr>
          <p:cNvPr id="23" name="TextBox 22"/>
          <p:cNvSpPr txBox="1"/>
          <p:nvPr/>
        </p:nvSpPr>
        <p:spPr>
          <a:xfrm>
            <a:off x="5266944" y="2130552"/>
            <a:ext cx="2468880" cy="274320"/>
          </a:xfrm>
          <a:prstGeom prst="rect">
            <a:avLst/>
          </a:prstGeom>
          <a:noFill/>
        </p:spPr>
        <p:txBody>
          <a:bodyPr wrap="square" lIns="0" rIns="0" tIns="0" bIns="0" anchor="ctr">
            <a:spAutoFit/>
          </a:bodyPr>
          <a:lstStyle/>
          <a:p>
            <a:pPr algn="l"/>
            <a:r>
              <a:rPr sz="1200" b="1" i="0" spc="100">
                <a:solidFill>
                  <a:srgbClr val="C8791A"/>
                </a:solidFill>
                <a:latin typeface="Calibri"/>
              </a:rPr>
              <a:t>HEDGE</a:t>
            </a:r>
          </a:p>
        </p:txBody>
      </p:sp>
      <p:sp>
        <p:nvSpPr>
          <p:cNvPr id="24" name="TextBox 23"/>
          <p:cNvSpPr txBox="1"/>
          <p:nvPr/>
        </p:nvSpPr>
        <p:spPr>
          <a:xfrm>
            <a:off x="4599432" y="2697480"/>
            <a:ext cx="3017520" cy="365760"/>
          </a:xfrm>
          <a:prstGeom prst="rect">
            <a:avLst/>
          </a:prstGeom>
          <a:noFill/>
        </p:spPr>
        <p:txBody>
          <a:bodyPr wrap="square" lIns="0" rIns="0" tIns="0" bIns="0" anchor="ctr">
            <a:spAutoFit/>
          </a:bodyPr>
          <a:lstStyle/>
          <a:p>
            <a:pPr algn="l"/>
            <a:r>
              <a:rPr sz="1700" b="1" i="0">
                <a:solidFill>
                  <a:srgbClr val="21295C"/>
                </a:solidFill>
                <a:latin typeface="Cambria"/>
              </a:rPr>
              <a:t>CAWS covers the left tail</a:t>
            </a:r>
          </a:p>
        </p:txBody>
      </p:sp>
      <p:sp>
        <p:nvSpPr>
          <p:cNvPr id="25" name="TextBox 24"/>
          <p:cNvSpPr txBox="1"/>
          <p:nvPr/>
        </p:nvSpPr>
        <p:spPr>
          <a:xfrm>
            <a:off x="4599432" y="3154680"/>
            <a:ext cx="3017520" cy="1783080"/>
          </a:xfrm>
          <a:prstGeom prst="rect">
            <a:avLst/>
          </a:prstGeom>
          <a:noFill/>
        </p:spPr>
        <p:txBody>
          <a:bodyPr wrap="square" lIns="0" rIns="0" tIns="0" bIns="0" anchor="t">
            <a:spAutoFit/>
          </a:bodyPr>
          <a:lstStyle/>
          <a:p>
            <a:pPr algn="l">
              <a:lnSpc>
                <a:spcPct val="112000"/>
              </a:lnSpc>
            </a:pPr>
            <a:r>
              <a:rPr sz="1450" b="0" i="0">
                <a:solidFill>
                  <a:srgbClr val="56606B"/>
                </a:solidFill>
                <a:latin typeface="Calibri"/>
              </a:rPr>
              <a:t>It pays in the calm years that depress revenue — 2021: +4.99% of strike, ≈ €2.3m on 100 MW, illustrative. Tail statistics are descriptive (n = 4, 10).</a:t>
            </a:r>
          </a:p>
        </p:txBody>
      </p:sp>
      <p:sp>
        <p:nvSpPr>
          <p:cNvPr id="26" name="Rounded Rectangle 25"/>
          <p:cNvSpPr/>
          <p:nvPr/>
        </p:nvSpPr>
        <p:spPr>
          <a:xfrm>
            <a:off x="8065008" y="1783080"/>
            <a:ext cx="3593592"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p>
        </p:txBody>
      </p:sp>
      <p:sp>
        <p:nvSpPr>
          <p:cNvPr id="27" name="Oval 26"/>
          <p:cNvSpPr/>
          <p:nvPr/>
        </p:nvSpPr>
        <p:spPr>
          <a:xfrm>
            <a:off x="8357616" y="2011680"/>
            <a:ext cx="502920" cy="502920"/>
          </a:xfrm>
          <a:prstGeom prst="ellipse">
            <a:avLst/>
          </a:prstGeom>
          <a:solidFill>
            <a:srgbClr val="C8791A"/>
          </a:solidFill>
          <a:ln>
            <a:noFill/>
          </a:ln>
        </p:spPr>
        <p:txBody>
          <a:bodyPr rtlCol="0" anchor="ctr"/>
          <a:lstStyle/>
          <a:p>
            <a:pPr algn="ctr"/>
          </a:p>
        </p:txBody>
      </p:sp>
      <p:sp>
        <p:nvSpPr>
          <p:cNvPr id="28" name="TextBox 27"/>
          <p:cNvSpPr txBox="1"/>
          <p:nvPr/>
        </p:nvSpPr>
        <p:spPr>
          <a:xfrm>
            <a:off x="8357616" y="2011680"/>
            <a:ext cx="502920" cy="502920"/>
          </a:xfrm>
          <a:prstGeom prst="rect">
            <a:avLst/>
          </a:prstGeom>
          <a:noFill/>
        </p:spPr>
        <p:txBody>
          <a:bodyPr wrap="square" lIns="0" rIns="0" tIns="0" bIns="0" anchor="ctr">
            <a:spAutoFit/>
          </a:bodyPr>
          <a:lstStyle/>
          <a:p>
            <a:pPr algn="ctr"/>
            <a:r>
              <a:rPr sz="1500" b="1" i="0">
                <a:solidFill>
                  <a:srgbClr val="FFFFFF"/>
                </a:solidFill>
                <a:latin typeface="Calibri"/>
              </a:rPr>
              <a:t>3</a:t>
            </a:r>
          </a:p>
        </p:txBody>
      </p:sp>
      <p:sp>
        <p:nvSpPr>
          <p:cNvPr id="29" name="TextBox 28"/>
          <p:cNvSpPr txBox="1"/>
          <p:nvPr/>
        </p:nvSpPr>
        <p:spPr>
          <a:xfrm>
            <a:off x="9025128" y="2130552"/>
            <a:ext cx="2468880" cy="274320"/>
          </a:xfrm>
          <a:prstGeom prst="rect">
            <a:avLst/>
          </a:prstGeom>
          <a:noFill/>
        </p:spPr>
        <p:txBody>
          <a:bodyPr wrap="square" lIns="0" rIns="0" tIns="0" bIns="0" anchor="ctr">
            <a:spAutoFit/>
          </a:bodyPr>
          <a:lstStyle/>
          <a:p>
            <a:pPr algn="l"/>
            <a:r>
              <a:rPr sz="1200" b="1" i="0" spc="100">
                <a:solidFill>
                  <a:srgbClr val="C8791A"/>
                </a:solidFill>
                <a:latin typeface="Calibri"/>
              </a:rPr>
              <a:t>DATA</a:t>
            </a:r>
          </a:p>
        </p:txBody>
      </p:sp>
      <p:sp>
        <p:nvSpPr>
          <p:cNvPr id="30" name="TextBox 29"/>
          <p:cNvSpPr txBox="1"/>
          <p:nvPr/>
        </p:nvSpPr>
        <p:spPr>
          <a:xfrm>
            <a:off x="8357616" y="2697480"/>
            <a:ext cx="3017520" cy="365760"/>
          </a:xfrm>
          <a:prstGeom prst="rect">
            <a:avLst/>
          </a:prstGeom>
          <a:noFill/>
        </p:spPr>
        <p:txBody>
          <a:bodyPr wrap="square" lIns="0" rIns="0" tIns="0" bIns="0" anchor="ctr">
            <a:spAutoFit/>
          </a:bodyPr>
          <a:lstStyle/>
          <a:p>
            <a:pPr algn="l"/>
            <a:r>
              <a:rPr sz="1700" b="1" i="0">
                <a:solidFill>
                  <a:srgbClr val="21295C"/>
                </a:solidFill>
                <a:latin typeface="Cambria"/>
              </a:rPr>
              <a:t>Alignment is decisive</a:t>
            </a:r>
          </a:p>
        </p:txBody>
      </p:sp>
      <p:sp>
        <p:nvSpPr>
          <p:cNvPr id="31" name="TextBox 30"/>
          <p:cNvSpPr txBox="1"/>
          <p:nvPr/>
        </p:nvSpPr>
        <p:spPr>
          <a:xfrm>
            <a:off x="8357616" y="3154680"/>
            <a:ext cx="3017520" cy="1783080"/>
          </a:xfrm>
          <a:prstGeom prst="rect">
            <a:avLst/>
          </a:prstGeom>
          <a:noFill/>
        </p:spPr>
        <p:txBody>
          <a:bodyPr wrap="square" lIns="0" rIns="0" tIns="0" bIns="0" anchor="t">
            <a:spAutoFit/>
          </a:bodyPr>
          <a:lstStyle/>
          <a:p>
            <a:pPr algn="l">
              <a:lnSpc>
                <a:spcPct val="112000"/>
              </a:lnSpc>
            </a:pPr>
            <a:r>
              <a:rPr sz="1450" b="0" i="0">
                <a:solidFill>
                  <a:srgbClr val="56606B"/>
                </a:solidFill>
                <a:latin typeface="Calibri"/>
              </a:rPr>
              <a:t>On the proxy the strike falls 94% short (88% height-corrected), yet on a common scale the sites look alike. The decisive evidence is the power curve: R² = 58.7% vs 0.01%.</a:t>
            </a:r>
          </a:p>
        </p:txBody>
      </p:sp>
      <p:sp>
        <p:nvSpPr>
          <p:cNvPr id="32" name="Rounded Rectangle 31"/>
          <p:cNvSpPr/>
          <p:nvPr/>
        </p:nvSpPr>
        <p:spPr>
          <a:xfrm>
            <a:off x="548640" y="5257800"/>
            <a:ext cx="11109960" cy="1005840"/>
          </a:xfrm>
          <a:prstGeom prst="roundRect">
            <a:avLst>
              <a:gd name="adj" fmla="val 8181"/>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p>
        </p:txBody>
      </p:sp>
      <p:sp>
        <p:nvSpPr>
          <p:cNvPr id="33" name="TextBox 32"/>
          <p:cNvSpPr txBox="1"/>
          <p:nvPr/>
        </p:nvSpPr>
        <p:spPr>
          <a:xfrm>
            <a:off x="868680" y="5303520"/>
            <a:ext cx="10469880" cy="914400"/>
          </a:xfrm>
          <a:prstGeom prst="rect">
            <a:avLst/>
          </a:prstGeom>
          <a:noFill/>
        </p:spPr>
        <p:txBody>
          <a:bodyPr wrap="square" lIns="0" rIns="0" tIns="0" bIns="0" anchor="ctr">
            <a:spAutoFit/>
          </a:bodyPr>
          <a:lstStyle/>
          <a:p>
            <a:pPr algn="ctr">
              <a:lnSpc>
                <a:spcPct val="105000"/>
              </a:lnSpc>
            </a:pPr>
            <a:r>
              <a:rPr sz="1700" b="0" i="1">
                <a:solidFill>
                  <a:srgbClr val="FFFFFF"/>
                </a:solidFill>
                <a:latin typeface="Cambria"/>
              </a:rPr>
              <a:t>“Data alignment is not a refinement to be added once the model works — it is a precondition for the model meaning anything.”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365760"/>
            <a:ext cx="11064240" cy="292608"/>
          </a:xfrm>
          <a:prstGeom prst="rect">
            <a:avLst/>
          </a:prstGeom>
          <a:noFill/>
          <a:ln/>
        </p:spPr>
        <p:txBody>
          <a:bodyPr wrap="square" lIns="0" tIns="0" rIns="0" bIns="0" rtlCol="0" anchor="ctr"/>
          <a:lstStyle/>
          <a:p>
            <a:pPr algn="l" indent="0" marL="0">
              <a:buNone/>
            </a:pPr>
            <a:r>
              <a:rPr lang="en-US" sz="1250" b="1" spc="200" kern="0" dirty="0">
                <a:solidFill>
                  <a:srgbClr val="1C7293"/>
                </a:solidFill>
                <a:latin typeface="Calibri" pitchFamily="34" charset="0"/>
                <a:ea typeface="Calibri" pitchFamily="34" charset="-122"/>
                <a:cs typeface="Calibri" pitchFamily="34" charset="-120"/>
              </a:rPr>
              <a:t>BACKUP B6 · CH. 2 — MODEL ESTIMATES</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algn="l" indent="0" marL="0">
              <a:lnSpc>
                <a:spcPct val="104000"/>
              </a:lnSpc>
              <a:buNone/>
            </a:pPr>
            <a:r>
              <a:rPr lang="en-US" sz="2700" b="1" dirty="0">
                <a:solidFill>
                  <a:srgbClr val="21295C"/>
                </a:solidFill>
                <a:latin typeface="Cambria" pitchFamily="34" charset="0"/>
                <a:ea typeface="Cambria" pitchFamily="34" charset="-122"/>
                <a:cs typeface="Cambria" pitchFamily="34" charset="-120"/>
              </a:rPr>
              <a:t>The pipeline’s fitted parameters, both datasets</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algn="l" indent="0" marL="0">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algn="r" indent="0" marL="0">
              <a:buNone/>
            </a:pPr>
            <a:r>
              <a:rPr lang="en-US" sz="900" dirty="0">
                <a:solidFill>
                  <a:srgbClr val="56606B"/>
                </a:solidFill>
                <a:latin typeface="Calibri" pitchFamily="34" charset="0"/>
                <a:ea typeface="Calibri" pitchFamily="34" charset="-122"/>
                <a:cs typeface="Calibri" pitchFamily="34" charset="-120"/>
              </a:rPr>
              <a:t>21</a:t>
            </a:r>
            <a:endParaRPr lang="en-US" sz="900" dirty="0"/>
          </a:p>
        </p:txBody>
      </p:sp>
      <p:graphicFrame>
        <p:nvGraphicFramePr>
          <p:cNvPr id="14" name="Table 13"/>
          <p:cNvGraphicFramePr>
            <a:graphicFrameLocks noGrp="1"/>
          </p:cNvGraphicFramePr>
          <p:nvPr/>
        </p:nvGraphicFramePr>
        <p:xfrm>
          <a:off x="548640" y="1737360"/>
          <a:ext cx="11109960" cy="4023360"/>
        </p:xfrm>
        <a:graphic>
          <a:graphicData uri="http://schemas.openxmlformats.org/drawingml/2006/table">
            <a:tbl>
              <a:tblPr firstRow="0" bandRow="0">
                <a:tableStyleId>{5C22544A-7EE6-4342-B048-85BDC9FD1C3A}</a:tableStyleId>
              </a:tblPr>
              <a:tblGrid>
                <a:gridCol w="3794760"/>
                <a:gridCol w="3657600"/>
                <a:gridCol w="3657600"/>
              </a:tblGrid>
              <a:tr h="365760">
                <a:tc>
                  <a:txBody>
                    <a:bodyPr wrap="square"/>
                    <a:lstStyle/>
                    <a:p>
                      <a:pPr algn="l"/>
                      <a:r>
                        <a:rPr sz="1200" b="1">
                          <a:solidFill>
                            <a:srgbClr val="FFFFFF"/>
                          </a:solidFill>
                          <a:latin typeface="Calibri"/>
                        </a:rPr>
                        <a:t>Quantity</a:t>
                      </a:r>
                    </a:p>
                  </a:txBody>
                  <a:tcPr marL="91440" marR="91440" marT="36576" marB="36576" anchor="ctr">
                    <a:lnB w="0">
                      <a:noFill/>
                    </a:lnB>
                    <a:lnT w="0">
                      <a:noFill/>
                    </a:lnT>
                    <a:lnR w="0">
                      <a:noFill/>
                    </a:lnR>
                    <a:lnL w="0">
                      <a:noFill/>
                    </a:lnL>
                    <a:solidFill>
                      <a:srgbClr val="21295C"/>
                    </a:solidFill>
                  </a:tcPr>
                </a:tc>
                <a:tc>
                  <a:txBody>
                    <a:bodyPr wrap="square"/>
                    <a:lstStyle/>
                    <a:p>
                      <a:pPr algn="ctr"/>
                      <a:r>
                        <a:rPr sz="1200" b="1">
                          <a:solidFill>
                            <a:srgbClr val="FFFFFF"/>
                          </a:solidFill>
                          <a:latin typeface="Calibri"/>
                        </a:rPr>
                        <a:t>Dataset A — Bologna 10 m</a:t>
                      </a:r>
                    </a:p>
                  </a:txBody>
                  <a:tcPr marL="91440" marR="91440" marT="36576" marB="36576" anchor="ctr">
                    <a:lnB w="0">
                      <a:noFill/>
                    </a:lnB>
                    <a:lnT w="0">
                      <a:noFill/>
                    </a:lnT>
                    <a:lnR w="0">
                      <a:noFill/>
                    </a:lnR>
                    <a:lnL w="0">
                      <a:noFill/>
                    </a:lnL>
                    <a:solidFill>
                      <a:srgbClr val="21295C"/>
                    </a:solidFill>
                  </a:tcPr>
                </a:tc>
                <a:tc>
                  <a:txBody>
                    <a:bodyPr wrap="square"/>
                    <a:lstStyle/>
                    <a:p>
                      <a:pPr algn="ctr"/>
                      <a:r>
                        <a:rPr sz="1200" b="1">
                          <a:solidFill>
                            <a:srgbClr val="FFFFFF"/>
                          </a:solidFill>
                          <a:latin typeface="Calibri"/>
                        </a:rPr>
                        <a:t>Dataset B — Nordfriesland 100 m</a:t>
                      </a:r>
                    </a:p>
                  </a:txBody>
                  <a:tcPr marL="91440" marR="91440" marT="36576" marB="36576" anchor="ctr">
                    <a:lnB w="0">
                      <a:noFill/>
                    </a:lnB>
                    <a:lnT w="0">
                      <a:noFill/>
                    </a:lnT>
                    <a:lnR w="0">
                      <a:noFill/>
                    </a:lnR>
                    <a:lnL w="0">
                      <a:noFill/>
                    </a:lnL>
                    <a:solidFill>
                      <a:srgbClr val="21295C"/>
                    </a:solidFill>
                  </a:tcPr>
                </a:tc>
              </a:tr>
              <a:tr h="365760">
                <a:tc>
                  <a:txBody>
                    <a:bodyPr wrap="square"/>
                    <a:lstStyle/>
                    <a:p>
                      <a:pPr algn="l"/>
                      <a:r>
                        <a:rPr sz="1200" b="1">
                          <a:solidFill>
                            <a:srgbClr val="21295C"/>
                          </a:solidFill>
                          <a:latin typeface="Calibri"/>
                        </a:rPr>
                        <a:t>Box–Cox λ (optimum → adopted, 1/λ ∈ ℤ⁺)</a:t>
                      </a:r>
                    </a:p>
                  </a:txBody>
                  <a:tcPr marL="91440" marR="91440" marT="36576" marB="36576" anchor="ctr">
                    <a:lnB w="0">
                      <a:noFill/>
                    </a:lnB>
                    <a:lnT w="0">
                      <a:noFill/>
                    </a:lnT>
                    <a:lnR w="0">
                      <a:noFill/>
                    </a:lnR>
                    <a:lnL w="0">
                      <a:noFill/>
                    </a:lnL>
                    <a:solidFill>
                      <a:srgbClr val="FFFFFF"/>
                    </a:solidFill>
                  </a:tcPr>
                </a:tc>
                <a:tc>
                  <a:txBody>
                    <a:bodyPr wrap="square"/>
                    <a:lstStyle/>
                    <a:p>
                      <a:pPr algn="ctr"/>
                      <a:r>
                        <a:rPr sz="1200">
                          <a:solidFill>
                            <a:srgbClr val="56606B"/>
                          </a:solidFill>
                          <a:latin typeface="Calibri"/>
                        </a:rPr>
                        <a:t>−0.450 → 0.1</a:t>
                      </a:r>
                    </a:p>
                  </a:txBody>
                  <a:tcPr marL="91440" marR="91440" marT="36576" marB="36576" anchor="ctr">
                    <a:lnB w="0">
                      <a:noFill/>
                    </a:lnB>
                    <a:lnT w="0">
                      <a:noFill/>
                    </a:lnT>
                    <a:lnR w="0">
                      <a:noFill/>
                    </a:lnR>
                    <a:lnL w="0">
                      <a:noFill/>
                    </a:lnL>
                    <a:solidFill>
                      <a:srgbClr val="FFFFFF"/>
                    </a:solidFill>
                  </a:tcPr>
                </a:tc>
                <a:tc>
                  <a:txBody>
                    <a:bodyPr wrap="square"/>
                    <a:lstStyle/>
                    <a:p>
                      <a:pPr algn="ctr"/>
                      <a:r>
                        <a:rPr sz="1200">
                          <a:solidFill>
                            <a:srgbClr val="56606B"/>
                          </a:solidFill>
                          <a:latin typeface="Calibri"/>
                        </a:rPr>
                        <a:t>0.404 → 0.5</a:t>
                      </a:r>
                    </a:p>
                  </a:txBody>
                  <a:tcPr marL="91440" marR="91440" marT="36576" marB="36576" anchor="ctr">
                    <a:lnB w="0">
                      <a:noFill/>
                    </a:lnB>
                    <a:lnT w="0">
                      <a:noFill/>
                    </a:lnT>
                    <a:lnR w="0">
                      <a:noFill/>
                    </a:lnR>
                    <a:lnL w="0">
                      <a:noFill/>
                    </a:lnL>
                    <a:solidFill>
                      <a:srgbClr val="FFFFFF"/>
                    </a:solidFill>
                  </a:tcPr>
                </a:tc>
              </a:tr>
              <a:tr h="365760">
                <a:tc>
                  <a:txBody>
                    <a:bodyPr wrap="square"/>
                    <a:lstStyle/>
                    <a:p>
                      <a:pPr algn="l"/>
                      <a:r>
                        <a:rPr sz="1200" b="1">
                          <a:solidFill>
                            <a:srgbClr val="21295C"/>
                          </a:solidFill>
                          <a:latin typeface="Calibri"/>
                        </a:rPr>
                        <a:t>AR(4) β₁, β₂, β₃, β₄</a:t>
                      </a:r>
                    </a:p>
                  </a:txBody>
                  <a:tcPr marL="91440" marR="91440" marT="36576" marB="36576" anchor="ctr">
                    <a:lnB w="0">
                      <a:noFill/>
                    </a:lnB>
                    <a:lnT w="0">
                      <a:noFill/>
                    </a:lnT>
                    <a:lnR w="0">
                      <a:noFill/>
                    </a:lnR>
                    <a:lnL w="0">
                      <a:noFill/>
                    </a:lnL>
                    <a:solidFill>
                      <a:srgbClr val="EEF3F7"/>
                    </a:solidFill>
                  </a:tcPr>
                </a:tc>
                <a:tc>
                  <a:txBody>
                    <a:bodyPr wrap="square"/>
                    <a:lstStyle/>
                    <a:p>
                      <a:pPr algn="ctr"/>
                      <a:r>
                        <a:rPr sz="1200">
                          <a:solidFill>
                            <a:srgbClr val="56606B"/>
                          </a:solidFill>
                          <a:latin typeface="Calibri"/>
                        </a:rPr>
                        <a:t>0.6299, −0.1443, 0.0926, 0.0310</a:t>
                      </a:r>
                    </a:p>
                  </a:txBody>
                  <a:tcPr marL="91440" marR="91440" marT="36576" marB="36576" anchor="ctr">
                    <a:lnB w="0">
                      <a:noFill/>
                    </a:lnB>
                    <a:lnT w="0">
                      <a:noFill/>
                    </a:lnT>
                    <a:lnR w="0">
                      <a:noFill/>
                    </a:lnR>
                    <a:lnL w="0">
                      <a:noFill/>
                    </a:lnL>
                    <a:solidFill>
                      <a:srgbClr val="EEF3F7"/>
                    </a:solidFill>
                  </a:tcPr>
                </a:tc>
                <a:tc>
                  <a:txBody>
                    <a:bodyPr wrap="square"/>
                    <a:lstStyle/>
                    <a:p>
                      <a:pPr algn="ctr"/>
                      <a:r>
                        <a:rPr sz="1200">
                          <a:solidFill>
                            <a:srgbClr val="56606B"/>
                          </a:solidFill>
                          <a:latin typeface="Calibri"/>
                        </a:rPr>
                        <a:t>0.5324, −0.0763, 0.0324, −0.0074</a:t>
                      </a:r>
                    </a:p>
                  </a:txBody>
                  <a:tcPr marL="91440" marR="91440" marT="36576" marB="36576" anchor="ctr">
                    <a:lnB w="0">
                      <a:noFill/>
                    </a:lnB>
                    <a:lnT w="0">
                      <a:noFill/>
                    </a:lnT>
                    <a:lnR w="0">
                      <a:noFill/>
                    </a:lnR>
                    <a:lnL w="0">
                      <a:noFill/>
                    </a:lnL>
                    <a:solidFill>
                      <a:srgbClr val="EEF3F7"/>
                    </a:solidFill>
                  </a:tcPr>
                </a:tc>
              </a:tr>
              <a:tr h="365760">
                <a:tc>
                  <a:txBody>
                    <a:bodyPr wrap="square"/>
                    <a:lstStyle/>
                    <a:p>
                      <a:pPr algn="l"/>
                      <a:r>
                        <a:rPr sz="1200" b="1">
                          <a:solidFill>
                            <a:srgbClr val="21295C"/>
                          </a:solidFill>
                          <a:latin typeface="Calibri"/>
                        </a:rPr>
                        <a:t>AIC advantage of AR(3) over AR(4)</a:t>
                      </a:r>
                    </a:p>
                  </a:txBody>
                  <a:tcPr marL="91440" marR="91440" marT="36576" marB="36576" anchor="ctr">
                    <a:lnB w="0">
                      <a:noFill/>
                    </a:lnB>
                    <a:lnT w="0">
                      <a:noFill/>
                    </a:lnT>
                    <a:lnR w="0">
                      <a:noFill/>
                    </a:lnR>
                    <a:lnL w="0">
                      <a:noFill/>
                    </a:lnL>
                    <a:solidFill>
                      <a:srgbClr val="FFFFFF"/>
                    </a:solidFill>
                  </a:tcPr>
                </a:tc>
                <a:tc>
                  <a:txBody>
                    <a:bodyPr wrap="square"/>
                    <a:lstStyle/>
                    <a:p>
                      <a:pPr algn="ctr"/>
                      <a:r>
                        <a:rPr sz="1200">
                          <a:solidFill>
                            <a:srgbClr val="56606B"/>
                          </a:solidFill>
                          <a:latin typeface="Calibri"/>
                        </a:rPr>
                        <a:t>0.59</a:t>
                      </a:r>
                    </a:p>
                  </a:txBody>
                  <a:tcPr marL="91440" marR="91440" marT="36576" marB="36576" anchor="ctr">
                    <a:lnB w="0">
                      <a:noFill/>
                    </a:lnB>
                    <a:lnT w="0">
                      <a:noFill/>
                    </a:lnT>
                    <a:lnR w="0">
                      <a:noFill/>
                    </a:lnR>
                    <a:lnL w="0">
                      <a:noFill/>
                    </a:lnL>
                    <a:solidFill>
                      <a:srgbClr val="FFFFFF"/>
                    </a:solidFill>
                  </a:tcPr>
                </a:tc>
                <a:tc>
                  <a:txBody>
                    <a:bodyPr wrap="square"/>
                    <a:lstStyle/>
                    <a:p>
                      <a:pPr algn="ctr"/>
                      <a:r>
                        <a:rPr sz="1200">
                          <a:solidFill>
                            <a:srgbClr val="56606B"/>
                          </a:solidFill>
                          <a:latin typeface="Calibri"/>
                        </a:rPr>
                        <a:t>1.8</a:t>
                      </a:r>
                    </a:p>
                  </a:txBody>
                  <a:tcPr marL="91440" marR="91440" marT="36576" marB="36576" anchor="ctr">
                    <a:lnB w="0">
                      <a:noFill/>
                    </a:lnB>
                    <a:lnT w="0">
                      <a:noFill/>
                    </a:lnT>
                    <a:lnR w="0">
                      <a:noFill/>
                    </a:lnR>
                    <a:lnL w="0">
                      <a:noFill/>
                    </a:lnL>
                    <a:solidFill>
                      <a:srgbClr val="FFFFFF"/>
                    </a:solidFill>
                  </a:tcPr>
                </a:tc>
              </a:tr>
              <a:tr h="365760">
                <a:tc>
                  <a:txBody>
                    <a:bodyPr wrap="square"/>
                    <a:lstStyle/>
                    <a:p>
                      <a:pPr algn="l"/>
                      <a:r>
                        <a:rPr sz="1200" b="1">
                          <a:solidFill>
                            <a:srgbClr val="21295C"/>
                          </a:solidFill>
                          <a:latin typeface="Calibri"/>
                        </a:rPr>
                        <a:t>GARCH ω, α, β</a:t>
                      </a:r>
                    </a:p>
                  </a:txBody>
                  <a:tcPr marL="91440" marR="91440" marT="36576" marB="36576" anchor="ctr">
                    <a:lnB w="0">
                      <a:noFill/>
                    </a:lnB>
                    <a:lnT w="0">
                      <a:noFill/>
                    </a:lnT>
                    <a:lnR w="0">
                      <a:noFill/>
                    </a:lnR>
                    <a:lnL w="0">
                      <a:noFill/>
                    </a:lnL>
                    <a:solidFill>
                      <a:srgbClr val="EEF3F7"/>
                    </a:solidFill>
                  </a:tcPr>
                </a:tc>
                <a:tc>
                  <a:txBody>
                    <a:bodyPr wrap="square"/>
                    <a:lstStyle/>
                    <a:p>
                      <a:pPr algn="ctr"/>
                      <a:r>
                        <a:rPr sz="1200">
                          <a:solidFill>
                            <a:srgbClr val="56606B"/>
                          </a:solidFill>
                          <a:latin typeface="Calibri"/>
                        </a:rPr>
                        <a:t>0.01004, 0.03105, 0.95242</a:t>
                      </a:r>
                    </a:p>
                  </a:txBody>
                  <a:tcPr marL="91440" marR="91440" marT="36576" marB="36576" anchor="ctr">
                    <a:lnB w="0">
                      <a:noFill/>
                    </a:lnB>
                    <a:lnT w="0">
                      <a:noFill/>
                    </a:lnT>
                    <a:lnR w="0">
                      <a:noFill/>
                    </a:lnR>
                    <a:lnL w="0">
                      <a:noFill/>
                    </a:lnL>
                    <a:solidFill>
                      <a:srgbClr val="EEF3F7"/>
                    </a:solidFill>
                  </a:tcPr>
                </a:tc>
                <a:tc>
                  <a:txBody>
                    <a:bodyPr wrap="square"/>
                    <a:lstStyle/>
                    <a:p>
                      <a:pPr algn="ctr"/>
                      <a:r>
                        <a:rPr sz="1200">
                          <a:solidFill>
                            <a:srgbClr val="56606B"/>
                          </a:solidFill>
                          <a:latin typeface="Calibri"/>
                        </a:rPr>
                        <a:t>0.01348, 0.00590, 0.97618</a:t>
                      </a:r>
                    </a:p>
                  </a:txBody>
                  <a:tcPr marL="91440" marR="91440" marT="36576" marB="36576" anchor="ctr">
                    <a:lnB w="0">
                      <a:noFill/>
                    </a:lnB>
                    <a:lnT w="0">
                      <a:noFill/>
                    </a:lnT>
                    <a:lnR w="0">
                      <a:noFill/>
                    </a:lnR>
                    <a:lnL w="0">
                      <a:noFill/>
                    </a:lnL>
                    <a:solidFill>
                      <a:srgbClr val="EEF3F7"/>
                    </a:solidFill>
                  </a:tcPr>
                </a:tc>
              </a:tr>
              <a:tr h="365760">
                <a:tc>
                  <a:txBody>
                    <a:bodyPr wrap="square"/>
                    <a:lstStyle/>
                    <a:p>
                      <a:pPr algn="l"/>
                      <a:r>
                        <a:rPr sz="1200" b="1">
                          <a:solidFill>
                            <a:srgbClr val="21295C"/>
                          </a:solidFill>
                          <a:latin typeface="Calibri"/>
                        </a:rPr>
                        <a:t>Persistence α + β · volatility half-life</a:t>
                      </a:r>
                    </a:p>
                  </a:txBody>
                  <a:tcPr marL="91440" marR="91440" marT="36576" marB="36576" anchor="ctr">
                    <a:lnB w="0">
                      <a:noFill/>
                    </a:lnB>
                    <a:lnT w="0">
                      <a:noFill/>
                    </a:lnT>
                    <a:lnR w="0">
                      <a:noFill/>
                    </a:lnR>
                    <a:lnL w="0">
                      <a:noFill/>
                    </a:lnL>
                    <a:solidFill>
                      <a:srgbClr val="FFFFFF"/>
                    </a:solidFill>
                  </a:tcPr>
                </a:tc>
                <a:tc>
                  <a:txBody>
                    <a:bodyPr wrap="square"/>
                    <a:lstStyle/>
                    <a:p>
                      <a:pPr algn="ctr"/>
                      <a:r>
                        <a:rPr sz="1200">
                          <a:solidFill>
                            <a:srgbClr val="56606B"/>
                          </a:solidFill>
                          <a:latin typeface="Calibri"/>
                        </a:rPr>
                        <a:t>0.9835 · 41.6 days</a:t>
                      </a:r>
                    </a:p>
                  </a:txBody>
                  <a:tcPr marL="91440" marR="91440" marT="36576" marB="36576" anchor="ctr">
                    <a:lnB w="0">
                      <a:noFill/>
                    </a:lnB>
                    <a:lnT w="0">
                      <a:noFill/>
                    </a:lnT>
                    <a:lnR w="0">
                      <a:noFill/>
                    </a:lnR>
                    <a:lnL w="0">
                      <a:noFill/>
                    </a:lnL>
                    <a:solidFill>
                      <a:srgbClr val="FFFFFF"/>
                    </a:solidFill>
                  </a:tcPr>
                </a:tc>
                <a:tc>
                  <a:txBody>
                    <a:bodyPr wrap="square"/>
                    <a:lstStyle/>
                    <a:p>
                      <a:pPr algn="ctr"/>
                      <a:r>
                        <a:rPr sz="1200">
                          <a:solidFill>
                            <a:srgbClr val="56606B"/>
                          </a:solidFill>
                          <a:latin typeface="Calibri"/>
                        </a:rPr>
                        <a:t>0.9821 · 38.3 days</a:t>
                      </a:r>
                    </a:p>
                  </a:txBody>
                  <a:tcPr marL="91440" marR="91440" marT="36576" marB="36576" anchor="ctr">
                    <a:lnB w="0">
                      <a:noFill/>
                    </a:lnB>
                    <a:lnT w="0">
                      <a:noFill/>
                    </a:lnT>
                    <a:lnR w="0">
                      <a:noFill/>
                    </a:lnR>
                    <a:lnL w="0">
                      <a:noFill/>
                    </a:lnL>
                    <a:solidFill>
                      <a:srgbClr val="FFFFFF"/>
                    </a:solidFill>
                  </a:tcPr>
                </a:tc>
              </a:tr>
              <a:tr h="365760">
                <a:tc>
                  <a:txBody>
                    <a:bodyPr wrap="square"/>
                    <a:lstStyle/>
                    <a:p>
                      <a:pPr algn="l"/>
                      <a:r>
                        <a:rPr sz="1200" b="1">
                          <a:solidFill>
                            <a:srgbClr val="21295C"/>
                          </a:solidFill>
                          <a:latin typeface="Calibri"/>
                        </a:rPr>
                        <a:t>CAR(4) α₁, α₂, α₃, α₄</a:t>
                      </a:r>
                    </a:p>
                  </a:txBody>
                  <a:tcPr marL="91440" marR="91440" marT="36576" marB="36576" anchor="ctr">
                    <a:lnB w="0">
                      <a:noFill/>
                    </a:lnB>
                    <a:lnT w="0">
                      <a:noFill/>
                    </a:lnT>
                    <a:lnR w="0">
                      <a:noFill/>
                    </a:lnR>
                    <a:lnL w="0">
                      <a:noFill/>
                    </a:lnL>
                    <a:solidFill>
                      <a:srgbClr val="EEF3F7"/>
                    </a:solidFill>
                  </a:tcPr>
                </a:tc>
                <a:tc>
                  <a:txBody>
                    <a:bodyPr wrap="square"/>
                    <a:lstStyle/>
                    <a:p>
                      <a:pPr algn="ctr"/>
                      <a:r>
                        <a:rPr sz="1200">
                          <a:solidFill>
                            <a:srgbClr val="56606B"/>
                          </a:solidFill>
                          <a:latin typeface="Calibri"/>
                        </a:rPr>
                        <a:t>3.3701, 4.2546, 2.3063, 0.3908</a:t>
                      </a:r>
                    </a:p>
                  </a:txBody>
                  <a:tcPr marL="91440" marR="91440" marT="36576" marB="36576" anchor="ctr">
                    <a:lnB w="0">
                      <a:noFill/>
                    </a:lnB>
                    <a:lnT w="0">
                      <a:noFill/>
                    </a:lnT>
                    <a:lnR w="0">
                      <a:noFill/>
                    </a:lnR>
                    <a:lnL w="0">
                      <a:noFill/>
                    </a:lnL>
                    <a:solidFill>
                      <a:srgbClr val="EEF3F7"/>
                    </a:solidFill>
                  </a:tcPr>
                </a:tc>
                <a:tc>
                  <a:txBody>
                    <a:bodyPr wrap="square"/>
                    <a:lstStyle/>
                    <a:p>
                      <a:pPr algn="ctr"/>
                      <a:r>
                        <a:rPr sz="1200">
                          <a:solidFill>
                            <a:srgbClr val="56606B"/>
                          </a:solidFill>
                          <a:latin typeface="Calibri"/>
                        </a:rPr>
                        <a:t>3.4676, 4.4789, 2.5228, 0.5188</a:t>
                      </a:r>
                    </a:p>
                  </a:txBody>
                  <a:tcPr marL="91440" marR="91440" marT="36576" marB="36576" anchor="ctr">
                    <a:lnB w="0">
                      <a:noFill/>
                    </a:lnB>
                    <a:lnT w="0">
                      <a:noFill/>
                    </a:lnT>
                    <a:lnR w="0">
                      <a:noFill/>
                    </a:lnR>
                    <a:lnL w="0">
                      <a:noFill/>
                    </a:lnL>
                    <a:solidFill>
                      <a:srgbClr val="EEF3F7"/>
                    </a:solidFill>
                  </a:tcPr>
                </a:tc>
              </a:tr>
              <a:tr h="365760">
                <a:tc>
                  <a:txBody>
                    <a:bodyPr wrap="square"/>
                    <a:lstStyle/>
                    <a:p>
                      <a:pPr algn="l"/>
                      <a:r>
                        <a:rPr sz="1200" b="1">
                          <a:solidFill>
                            <a:srgbClr val="21295C"/>
                          </a:solidFill>
                          <a:latin typeface="Calibri"/>
                        </a:rPr>
                        <a:t>Eigenvalues of A</a:t>
                      </a:r>
                    </a:p>
                  </a:txBody>
                  <a:tcPr marL="91440" marR="91440" marT="36576" marB="36576" anchor="ctr">
                    <a:lnB w="0">
                      <a:noFill/>
                    </a:lnB>
                    <a:lnT w="0">
                      <a:noFill/>
                    </a:lnT>
                    <a:lnR w="0">
                      <a:noFill/>
                    </a:lnR>
                    <a:lnL w="0">
                      <a:noFill/>
                    </a:lnL>
                    <a:solidFill>
                      <a:srgbClr val="FFFFFF"/>
                    </a:solidFill>
                  </a:tcPr>
                </a:tc>
                <a:tc>
                  <a:txBody>
                    <a:bodyPr wrap="square"/>
                    <a:lstStyle/>
                    <a:p>
                      <a:pPr algn="ctr"/>
                      <a:r>
                        <a:rPr sz="1200">
                          <a:solidFill>
                            <a:srgbClr val="56606B"/>
                          </a:solidFill>
                          <a:latin typeface="Calibri"/>
                        </a:rPr>
                        <a:t>−0.9358 ± 0.4653i, −1.2004, −0.2980</a:t>
                      </a:r>
                    </a:p>
                  </a:txBody>
                  <a:tcPr marL="91440" marR="91440" marT="36576" marB="36576" anchor="ctr">
                    <a:lnB w="0">
                      <a:noFill/>
                    </a:lnB>
                    <a:lnT w="0">
                      <a:noFill/>
                    </a:lnT>
                    <a:lnR w="0">
                      <a:noFill/>
                    </a:lnR>
                    <a:lnL w="0">
                      <a:noFill/>
                    </a:lnL>
                    <a:solidFill>
                      <a:srgbClr val="FFFFFF"/>
                    </a:solidFill>
                  </a:tcPr>
                </a:tc>
                <a:tc>
                  <a:txBody>
                    <a:bodyPr wrap="square"/>
                    <a:lstStyle/>
                    <a:p>
                      <a:pPr algn="ctr"/>
                      <a:r>
                        <a:rPr sz="1200">
                          <a:solidFill>
                            <a:srgbClr val="56606B"/>
                          </a:solidFill>
                          <a:latin typeface="Calibri"/>
                        </a:rPr>
                        <a:t>−1.0730 ± 0.2550i, −0.7614, −0.5602</a:t>
                      </a:r>
                    </a:p>
                  </a:txBody>
                  <a:tcPr marL="91440" marR="91440" marT="36576" marB="36576" anchor="ctr">
                    <a:lnB w="0">
                      <a:noFill/>
                    </a:lnB>
                    <a:lnT w="0">
                      <a:noFill/>
                    </a:lnT>
                    <a:lnR w="0">
                      <a:noFill/>
                    </a:lnR>
                    <a:lnL w="0">
                      <a:noFill/>
                    </a:lnL>
                    <a:solidFill>
                      <a:srgbClr val="FFFFFF"/>
                    </a:solidFill>
                  </a:tcPr>
                </a:tc>
              </a:tr>
              <a:tr h="365760">
                <a:tc>
                  <a:txBody>
                    <a:bodyPr wrap="square"/>
                    <a:lstStyle/>
                    <a:p>
                      <a:pPr algn="l"/>
                      <a:r>
                        <a:rPr sz="1200" b="1">
                          <a:solidFill>
                            <a:srgbClr val="21295C"/>
                          </a:solidFill>
                          <a:latin typeface="Calibri"/>
                        </a:rPr>
                        <a:t>Oscillatory period · mean-reversion half-life</a:t>
                      </a:r>
                    </a:p>
                  </a:txBody>
                  <a:tcPr marL="91440" marR="91440" marT="36576" marB="36576" anchor="ctr">
                    <a:lnB w="0">
                      <a:noFill/>
                    </a:lnB>
                    <a:lnT w="0">
                      <a:noFill/>
                    </a:lnT>
                    <a:lnR w="0">
                      <a:noFill/>
                    </a:lnR>
                    <a:lnL w="0">
                      <a:noFill/>
                    </a:lnL>
                    <a:solidFill>
                      <a:srgbClr val="EEF3F7"/>
                    </a:solidFill>
                  </a:tcPr>
                </a:tc>
                <a:tc>
                  <a:txBody>
                    <a:bodyPr wrap="square"/>
                    <a:lstStyle/>
                    <a:p>
                      <a:pPr algn="ctr"/>
                      <a:r>
                        <a:rPr sz="1200">
                          <a:solidFill>
                            <a:srgbClr val="56606B"/>
                          </a:solidFill>
                          <a:latin typeface="Calibri"/>
                        </a:rPr>
                        <a:t>13.5 days · 2.33 days</a:t>
                      </a:r>
                    </a:p>
                  </a:txBody>
                  <a:tcPr marL="91440" marR="91440" marT="36576" marB="36576" anchor="ctr">
                    <a:lnB w="0">
                      <a:noFill/>
                    </a:lnB>
                    <a:lnT w="0">
                      <a:noFill/>
                    </a:lnT>
                    <a:lnR w="0">
                      <a:noFill/>
                    </a:lnR>
                    <a:lnL w="0">
                      <a:noFill/>
                    </a:lnL>
                    <a:solidFill>
                      <a:srgbClr val="EEF3F7"/>
                    </a:solidFill>
                  </a:tcPr>
                </a:tc>
                <a:tc>
                  <a:txBody>
                    <a:bodyPr wrap="square"/>
                    <a:lstStyle/>
                    <a:p>
                      <a:pPr algn="ctr"/>
                      <a:r>
                        <a:rPr sz="1200">
                          <a:solidFill>
                            <a:srgbClr val="56606B"/>
                          </a:solidFill>
                          <a:latin typeface="Calibri"/>
                        </a:rPr>
                        <a:t>24.6 days · 1.24 days</a:t>
                      </a:r>
                    </a:p>
                  </a:txBody>
                  <a:tcPr marL="91440" marR="91440" marT="36576" marB="36576" anchor="ctr">
                    <a:lnB w="0">
                      <a:noFill/>
                    </a:lnB>
                    <a:lnT w="0">
                      <a:noFill/>
                    </a:lnT>
                    <a:lnR w="0">
                      <a:noFill/>
                    </a:lnR>
                    <a:lnL w="0">
                      <a:noFill/>
                    </a:lnL>
                    <a:solidFill>
                      <a:srgbClr val="EEF3F7"/>
                    </a:solidFill>
                  </a:tcPr>
                </a:tc>
              </a:tr>
              <a:tr h="365760">
                <a:tc>
                  <a:txBody>
                    <a:bodyPr wrap="square"/>
                    <a:lstStyle/>
                    <a:p>
                      <a:pPr algn="l"/>
                      <a:r>
                        <a:rPr sz="1200" b="1">
                          <a:solidFill>
                            <a:srgbClr val="21295C"/>
                          </a:solidFill>
                          <a:latin typeface="Calibri"/>
                        </a:rPr>
                        <a:t>NIG α̂ · KS p (NIG / Gaussian)</a:t>
                      </a:r>
                    </a:p>
                  </a:txBody>
                  <a:tcPr marL="91440" marR="91440" marT="36576" marB="36576" anchor="ctr">
                    <a:lnB w="0">
                      <a:noFill/>
                    </a:lnB>
                    <a:lnT w="0">
                      <a:noFill/>
                    </a:lnT>
                    <a:lnR w="0">
                      <a:noFill/>
                    </a:lnR>
                    <a:lnL w="0">
                      <a:noFill/>
                    </a:lnL>
                    <a:solidFill>
                      <a:srgbClr val="FFFFFF"/>
                    </a:solidFill>
                  </a:tcPr>
                </a:tc>
                <a:tc>
                  <a:txBody>
                    <a:bodyPr wrap="square"/>
                    <a:lstStyle/>
                    <a:p>
                      <a:pPr algn="ctr"/>
                      <a:r>
                        <a:rPr sz="1200">
                          <a:solidFill>
                            <a:srgbClr val="56606B"/>
                          </a:solidFill>
                          <a:latin typeface="Calibri"/>
                        </a:rPr>
                        <a:t>4.374 · 0.120 / 0.079</a:t>
                      </a:r>
                    </a:p>
                  </a:txBody>
                  <a:tcPr marL="91440" marR="91440" marT="36576" marB="36576" anchor="ctr">
                    <a:lnB w="0">
                      <a:noFill/>
                    </a:lnB>
                    <a:lnT w="0">
                      <a:noFill/>
                    </a:lnT>
                    <a:lnR w="0">
                      <a:noFill/>
                    </a:lnR>
                    <a:lnL w="0">
                      <a:noFill/>
                    </a:lnL>
                    <a:solidFill>
                      <a:srgbClr val="FFFFFF"/>
                    </a:solidFill>
                  </a:tcPr>
                </a:tc>
                <a:tc>
                  <a:txBody>
                    <a:bodyPr wrap="square"/>
                    <a:lstStyle/>
                    <a:p>
                      <a:pPr algn="ctr"/>
                      <a:r>
                        <a:rPr sz="1200">
                          <a:solidFill>
                            <a:srgbClr val="56606B"/>
                          </a:solidFill>
                          <a:latin typeface="Calibri"/>
                        </a:rPr>
                        <a:t>2,649.57 · 0.0275 / 0.0269</a:t>
                      </a:r>
                    </a:p>
                  </a:txBody>
                  <a:tcPr marL="91440" marR="91440" marT="36576" marB="36576" anchor="ctr">
                    <a:lnB w="0">
                      <a:noFill/>
                    </a:lnB>
                    <a:lnT w="0">
                      <a:noFill/>
                    </a:lnT>
                    <a:lnR w="0">
                      <a:noFill/>
                    </a:lnR>
                    <a:lnL w="0">
                      <a:noFill/>
                    </a:lnL>
                    <a:solidFill>
                      <a:srgbClr val="FFFFFF"/>
                    </a:solidFill>
                  </a:tcPr>
                </a:tc>
              </a:tr>
              <a:tr h="365760">
                <a:tc>
                  <a:txBody>
                    <a:bodyPr wrap="square"/>
                    <a:lstStyle/>
                    <a:p>
                      <a:pPr algn="l"/>
                      <a:r>
                        <a:rPr sz="1200" b="1">
                          <a:solidFill>
                            <a:srgbClr val="21295C"/>
                          </a:solidFill>
                          <a:latin typeface="Calibri"/>
                        </a:rPr>
                        <a:t>GARCH standardised residuals</a:t>
                      </a:r>
                    </a:p>
                  </a:txBody>
                  <a:tcPr marL="91440" marR="91440" marT="36576" marB="36576" anchor="ctr">
                    <a:lnB w="0">
                      <a:noFill/>
                    </a:lnB>
                    <a:lnT w="0">
                      <a:noFill/>
                    </a:lnT>
                    <a:lnR w="0">
                      <a:noFill/>
                    </a:lnR>
                    <a:lnL w="0">
                      <a:noFill/>
                    </a:lnL>
                    <a:solidFill>
                      <a:srgbClr val="EEF3F7"/>
                    </a:solidFill>
                  </a:tcPr>
                </a:tc>
                <a:tc>
                  <a:txBody>
                    <a:bodyPr wrap="square"/>
                    <a:lstStyle/>
                    <a:p>
                      <a:pPr algn="ctr"/>
                      <a:r>
                        <a:rPr sz="1200">
                          <a:solidFill>
                            <a:srgbClr val="56606B"/>
                          </a:solidFill>
                          <a:latin typeface="Calibri"/>
                        </a:rPr>
                        <a:t>all diagnostics pass</a:t>
                      </a:r>
                    </a:p>
                  </a:txBody>
                  <a:tcPr marL="91440" marR="91440" marT="36576" marB="36576" anchor="ctr">
                    <a:lnB w="0">
                      <a:noFill/>
                    </a:lnB>
                    <a:lnT w="0">
                      <a:noFill/>
                    </a:lnT>
                    <a:lnR w="0">
                      <a:noFill/>
                    </a:lnR>
                    <a:lnL w="0">
                      <a:noFill/>
                    </a:lnL>
                    <a:solidFill>
                      <a:srgbClr val="EEF3F7"/>
                    </a:solidFill>
                  </a:tcPr>
                </a:tc>
                <a:tc>
                  <a:txBody>
                    <a:bodyPr wrap="square"/>
                    <a:lstStyle/>
                    <a:p>
                      <a:pPr algn="ctr"/>
                      <a:r>
                        <a:rPr sz="1200">
                          <a:solidFill>
                            <a:srgbClr val="56606B"/>
                          </a:solidFill>
                          <a:latin typeface="Calibri"/>
                        </a:rPr>
                        <a:t>z² lag 5 p = 0.0167; ARCH-LM p = 0.0185</a:t>
                      </a:r>
                    </a:p>
                  </a:txBody>
                  <a:tcPr marL="91440" marR="91440" marT="36576" marB="36576" anchor="ctr">
                    <a:lnB w="0">
                      <a:noFill/>
                    </a:lnB>
                    <a:lnT w="0">
                      <a:noFill/>
                    </a:lnT>
                    <a:lnR w="0">
                      <a:noFill/>
                    </a:lnR>
                    <a:lnL w="0">
                      <a:noFill/>
                    </a:lnL>
                    <a:solidFill>
                      <a:srgbClr val="EEF3F7"/>
                    </a:solidFill>
                  </a:tcPr>
                </a:tc>
              </a:tr>
            </a:tbl>
          </a:graphicData>
        </a:graphic>
      </p:graphicFrame>
      <p:sp>
        <p:nvSpPr>
          <p:cNvPr id="15" name="Rounded Rectangle 14"/>
          <p:cNvSpPr/>
          <p:nvPr/>
        </p:nvSpPr>
        <p:spPr>
          <a:xfrm>
            <a:off x="548640" y="5852160"/>
            <a:ext cx="11109960" cy="457200"/>
          </a:xfrm>
          <a:prstGeom prst="roundRect">
            <a:avLst>
              <a:gd name="adj" fmla="val 18000"/>
            </a:avLst>
          </a:prstGeom>
          <a:solidFill>
            <a:srgbClr val="EEF3F7"/>
          </a:solidFill>
          <a:ln>
            <a:noFill/>
          </a:ln>
        </p:spPr>
        <p:txBody>
          <a:bodyPr rtlCol="0" anchor="ctr"/>
          <a:lstStyle/>
          <a:p>
            <a:pPr algn="ctr"/>
          </a:p>
        </p:txBody>
      </p:sp>
      <p:sp>
        <p:nvSpPr>
          <p:cNvPr id="16" name="TextBox 15"/>
          <p:cNvSpPr txBox="1"/>
          <p:nvPr/>
        </p:nvSpPr>
        <p:spPr>
          <a:xfrm>
            <a:off x="822960" y="5870448"/>
            <a:ext cx="10607040" cy="411480"/>
          </a:xfrm>
          <a:prstGeom prst="rect">
            <a:avLst/>
          </a:prstGeom>
          <a:noFill/>
        </p:spPr>
        <p:txBody>
          <a:bodyPr wrap="square" lIns="0" rIns="0" tIns="0" bIns="0" anchor="ctr">
            <a:spAutoFit/>
          </a:bodyPr>
          <a:lstStyle/>
          <a:p>
            <a:pPr algn="l"/>
            <a:r>
              <a:rPr sz="1150" b="1" i="0">
                <a:solidFill>
                  <a:srgbClr val="21295C"/>
                </a:solidFill>
                <a:latin typeface="Calibri"/>
              </a:rPr>
              <a:t>Frozen phase outputs (thesis Tables 5, 7, 10, 13, 14, 16, 24). </a:t>
            </a:r>
            <a:r>
              <a:rPr sz="1150" b="0" i="0">
                <a:solidFill>
                  <a:srgbClr val="56606B"/>
                </a:solidFill>
                <a:latin typeface="Calibri"/>
              </a:rPr>
              <a:t>AR(4) is retained on structural grounds: CAR(4) needs a four-dimensional companion matrix.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2026-09-24T10:39:50Z</dcterms:created>
  <dcterms:modified xsi:type="dcterms:W3CDTF">2026-09-24T10:39:50Z</dcterms:modified>
</cp:coreProperties>
</file>