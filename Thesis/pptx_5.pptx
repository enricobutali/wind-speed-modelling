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7.xml" ContentType="application/vnd.openxmlformats-officedocument.presentationml.notesSlide+xml"/>
  <Override PartName="/ppt/charts/chart6.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76" r:id="rId4"/>
    <p:sldId id="286" r:id="rId5"/>
    <p:sldId id="270" r:id="rId6"/>
    <p:sldId id="278" r:id="rId7"/>
    <p:sldId id="279" r:id="rId8"/>
    <p:sldId id="280" r:id="rId9"/>
    <p:sldId id="282" r:id="rId10"/>
    <p:sldId id="283" r:id="rId11"/>
    <p:sldId id="268" r:id="rId12"/>
    <p:sldId id="269" r:id="rId13"/>
    <p:sldId id="272" r:id="rId14"/>
    <p:sldId id="262" r:id="rId15"/>
    <p:sldId id="273" r:id="rId16"/>
    <p:sldId id="263" r:id="rId17"/>
    <p:sldId id="274" r:id="rId18"/>
    <p:sldId id="275" r:id="rId19"/>
    <p:sldId id="284" r:id="rId20"/>
    <p:sldId id="281" r:id="rId21"/>
    <p:sldId id="285"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zione senza titolo" id="{D353D032-D7F5-414C-878B-B0179CE92F68}">
          <p14:sldIdLst>
            <p14:sldId id="256"/>
            <p14:sldId id="257"/>
            <p14:sldId id="276"/>
            <p14:sldId id="286"/>
            <p14:sldId id="270"/>
            <p14:sldId id="278"/>
            <p14:sldId id="279"/>
            <p14:sldId id="280"/>
            <p14:sldId id="282"/>
            <p14:sldId id="283"/>
            <p14:sldId id="268"/>
            <p14:sldId id="269"/>
            <p14:sldId id="272"/>
            <p14:sldId id="262"/>
            <p14:sldId id="273"/>
            <p14:sldId id="263"/>
            <p14:sldId id="274"/>
            <p14:sldId id="275"/>
            <p14:sldId id="284"/>
            <p14:sldId id="281"/>
            <p14:sldId id="285"/>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3380" autoAdjust="0"/>
  </p:normalViewPr>
  <p:slideViewPr>
    <p:cSldViewPr snapToGrid="0" snapToObjects="1">
      <p:cViewPr varScale="1">
        <p:scale>
          <a:sx n="48" d="100"/>
          <a:sy n="48" d="100"/>
        </p:scale>
        <p:origin x="134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Strike</c:v>
                </c:pt>
              </c:strCache>
            </c:strRef>
          </c:tx>
          <c:spPr>
            <a:solidFill>
              <a:srgbClr val="21295C"/>
            </a:solidFill>
          </c:spPr>
          <c:invertIfNegative val="0"/>
          <c:dPt>
            <c:idx val="0"/>
            <c:invertIfNegative val="0"/>
            <c:bubble3D val="0"/>
            <c:spPr>
              <a:solidFill>
                <a:srgbClr val="C8791A"/>
              </a:solidFill>
            </c:spPr>
            <c:extLst>
              <c:ext xmlns:c16="http://schemas.microsoft.com/office/drawing/2014/chart" uri="{C3380CC4-5D6E-409C-BE32-E72D297353CC}">
                <c16:uniqueId val="{00000001-C526-4FBD-89FC-DBDD1FB02254}"/>
              </c:ext>
            </c:extLst>
          </c:dPt>
          <c:dPt>
            <c:idx val="1"/>
            <c:invertIfNegative val="0"/>
            <c:bubble3D val="0"/>
            <c:spPr>
              <a:solidFill>
                <a:srgbClr val="56606B"/>
              </a:solidFill>
            </c:spPr>
            <c:extLst>
              <c:ext xmlns:c16="http://schemas.microsoft.com/office/drawing/2014/chart" uri="{C3380CC4-5D6E-409C-BE32-E72D297353CC}">
                <c16:uniqueId val="{00000003-C526-4FBD-89FC-DBDD1FB02254}"/>
              </c:ext>
            </c:extLst>
          </c:dPt>
          <c:dLbls>
            <c:dLbl>
              <c:idx val="0"/>
              <c:tx>
                <c:rich>
                  <a:bodyPr/>
                  <a:lstStyle/>
                  <a:p>
                    <a:r>
                      <a:rPr lang="en-US" sz="1200" b="1">
                        <a:solidFill>
                          <a:srgbClr val="21295C"/>
                        </a:solidFill>
                      </a:rPr>
                      <a:t>328.8</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526-4FBD-89FC-DBDD1FB02254}"/>
                </c:ext>
              </c:extLst>
            </c:dLbl>
            <c:dLbl>
              <c:idx val="1"/>
              <c:tx>
                <c:rich>
                  <a:bodyPr/>
                  <a:lstStyle/>
                  <a:p>
                    <a:r>
                      <a:rPr lang="en-US" sz="1200" b="1">
                        <a:solidFill>
                          <a:srgbClr val="21295C"/>
                        </a:solidFill>
                      </a:rPr>
                      <a:t>113.1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C526-4FBD-89FC-DBDD1FB0225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Model (in market units)</c:v>
                </c:pt>
                <c:pt idx="1">
                  <c:v>Market benchmark</c:v>
                </c:pt>
              </c:strCache>
            </c:strRef>
          </c:cat>
          <c:val>
            <c:numRef>
              <c:f>Sheet1!$B$2:$B$3</c:f>
              <c:numCache>
                <c:formatCode>General</c:formatCode>
                <c:ptCount val="2"/>
                <c:pt idx="0">
                  <c:v>328.72812088535682</c:v>
                </c:pt>
                <c:pt idx="1">
                  <c:v>113.145</c:v>
                </c:pt>
              </c:numCache>
            </c:numRef>
          </c:val>
          <c:extLst>
            <c:ext xmlns:c16="http://schemas.microsoft.com/office/drawing/2014/chart" uri="{C3380CC4-5D6E-409C-BE32-E72D297353CC}">
              <c16:uniqueId val="{0000000C-A364-4728-BF1B-BD37C6E4C4A3}"/>
            </c:ext>
          </c:extLst>
        </c:ser>
        <c:dLbls>
          <c:dLblPos val="outEnd"/>
          <c:showLegendKey val="0"/>
          <c:showVal val="1"/>
          <c:showCatName val="0"/>
          <c:showSerName val="0"/>
          <c:showPercent val="0"/>
          <c:showBubbleSize val="0"/>
        </c:dLbls>
        <c:gapWidth val="11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8C4CF"/>
            </a:solidFill>
          </a:ln>
        </c:spPr>
        <c:txPr>
          <a:bodyPr/>
          <a:lstStyle/>
          <a:p>
            <a:pPr>
              <a:defRPr sz="1200"/>
            </a:pPr>
            <a:endParaRPr lang="it-IT"/>
          </a:p>
        </c:txPr>
        <c:crossAx val="-2113994440"/>
        <c:crosses val="autoZero"/>
        <c:auto val="1"/>
        <c:lblAlgn val="ctr"/>
        <c:lblOffset val="100"/>
        <c:noMultiLvlLbl val="0"/>
      </c:catAx>
      <c:valAx>
        <c:axId val="-2113994440"/>
        <c:scaling>
          <c:orientation val="minMax"/>
          <c:max val="400"/>
          <c:min val="0"/>
        </c:scaling>
        <c:delete val="0"/>
        <c:axPos val="l"/>
        <c:majorGridlines>
          <c:spPr>
            <a:ln w="9525">
              <a:solidFill>
                <a:srgbClr val="E1E8EE"/>
              </a:solidFill>
            </a:ln>
          </c:spPr>
        </c:majorGridlines>
        <c:numFmt formatCode="0" sourceLinked="0"/>
        <c:majorTickMark val="none"/>
        <c:minorTickMark val="none"/>
        <c:tickLblPos val="nextTo"/>
        <c:spPr>
          <a:ln>
            <a:noFill/>
          </a:ln>
        </c:spPr>
        <c:txPr>
          <a:bodyPr/>
          <a:lstStyle/>
          <a:p>
            <a:pPr>
              <a:defRPr sz="1000"/>
            </a:pPr>
            <a:endParaRPr lang="it-IT"/>
          </a:p>
        </c:txPr>
        <c:crossAx val="-2068027336"/>
        <c:crosses val="autoZero"/>
        <c:crossBetween val="between"/>
      </c:valAx>
    </c:plotArea>
    <c:plotVisOnly val="1"/>
    <c:dispBlanksAs val="gap"/>
    <c:showDLblsOverMax val="1"/>
  </c:chart>
  <c:spPr>
    <a:noFill/>
    <a:ln>
      <a:noFill/>
    </a:ln>
  </c:spPr>
  <c:txPr>
    <a:bodyPr/>
    <a:lstStyle/>
    <a:p>
      <a:pPr>
        <a:defRPr sz="1100">
          <a:solidFill>
            <a:srgbClr val="56606B"/>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Sheet1!$C$1</c:f>
              <c:strCache>
                <c:ptCount val="1"/>
                <c:pt idx="0">
                  <c:v>Dataset B — Nordfriesland 100 m (n = 10)</c:v>
                </c:pt>
              </c:strCache>
            </c:strRef>
          </c:tx>
          <c:spPr>
            <a:solidFill>
              <a:srgbClr val="1C7293"/>
            </a:solidFill>
          </c:spPr>
          <c:invertIfNegative val="0"/>
          <c:dPt>
            <c:idx val="6"/>
            <c:invertIfNegative val="0"/>
            <c:bubble3D val="0"/>
            <c:spPr>
              <a:solidFill>
                <a:srgbClr val="C8791A"/>
              </a:solidFill>
            </c:spPr>
            <c:extLst>
              <c:ext xmlns:c16="http://schemas.microsoft.com/office/drawing/2014/chart" uri="{C3380CC4-5D6E-409C-BE32-E72D297353CC}">
                <c16:uniqueId val="{00000001-3931-4B30-8920-DE5B8DD76826}"/>
              </c:ext>
            </c:extLst>
          </c:dPt>
          <c:dLbls>
            <c:dLbl>
              <c:idx val="6"/>
              <c:tx>
                <c:rich>
                  <a:bodyPr/>
                  <a:lstStyle/>
                  <a:p>
                    <a:r>
                      <a:rPr lang="en-US" sz="1200" b="1">
                        <a:solidFill>
                          <a:srgbClr val="C8791A"/>
                        </a:solidFill>
                      </a:rPr>
                      <a:t>Calmest year</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931-4B30-8920-DE5B8DD76826}"/>
                </c:ext>
              </c:extLst>
            </c:dLbl>
            <c:numFmt formatCode="\+0.0;\−0.0" sourceLinked="0"/>
            <c:spPr>
              <a:noFill/>
              <a:ln>
                <a:noFill/>
              </a:ln>
              <a:effectLst/>
            </c:spPr>
            <c:txPr>
              <a:bodyPr/>
              <a:lstStyle/>
              <a:p>
                <a:pPr>
                  <a:defRPr sz="1050" b="1">
                    <a:solidFill>
                      <a:srgbClr val="21295C"/>
                    </a:solidFill>
                  </a:defRPr>
                </a:pPr>
                <a:endParaRPr lang="it-IT"/>
              </a:p>
            </c:txPr>
            <c:dLblPos val="outEnd"/>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Sheet1!$A$2:$A$11</c:f>
              <c:strCache>
                <c:ptCount val="10"/>
                <c:pt idx="0">
                  <c:v>2015</c:v>
                </c:pt>
                <c:pt idx="1">
                  <c:v>2016</c:v>
                </c:pt>
                <c:pt idx="2">
                  <c:v>2017</c:v>
                </c:pt>
                <c:pt idx="3">
                  <c:v>2018</c:v>
                </c:pt>
                <c:pt idx="4">
                  <c:v>2019</c:v>
                </c:pt>
                <c:pt idx="5">
                  <c:v>2020</c:v>
                </c:pt>
                <c:pt idx="6">
                  <c:v>2021</c:v>
                </c:pt>
                <c:pt idx="7">
                  <c:v>2022</c:v>
                </c:pt>
                <c:pt idx="8">
                  <c:v>2023</c:v>
                </c:pt>
                <c:pt idx="9">
                  <c:v>2024</c:v>
                </c:pt>
              </c:strCache>
            </c:strRef>
          </c:cat>
          <c:val>
            <c:numRef>
              <c:f>Sheet1!$C$2:$C$11</c:f>
              <c:numCache>
                <c:formatCode>General</c:formatCode>
                <c:ptCount val="10"/>
                <c:pt idx="0">
                  <c:v>-6.3267561560144534</c:v>
                </c:pt>
                <c:pt idx="1">
                  <c:v>4.1834821373135807</c:v>
                </c:pt>
                <c:pt idx="2">
                  <c:v>-0.43088996783847211</c:v>
                </c:pt>
                <c:pt idx="3">
                  <c:v>2.6511529721473712</c:v>
                </c:pt>
                <c:pt idx="4">
                  <c:v>-2.477306875613118</c:v>
                </c:pt>
                <c:pt idx="5">
                  <c:v>-2.8548012566589258</c:v>
                </c:pt>
                <c:pt idx="6">
                  <c:v>4.9893829705330859</c:v>
                </c:pt>
                <c:pt idx="7">
                  <c:v>-0.66061516683016464</c:v>
                </c:pt>
                <c:pt idx="8">
                  <c:v>-1.098955681662962</c:v>
                </c:pt>
                <c:pt idx="9">
                  <c:v>0.15025269771889085</c:v>
                </c:pt>
              </c:numCache>
            </c:numRef>
          </c:val>
          <c:extLst>
            <c:ext xmlns:c16="http://schemas.microsoft.com/office/drawing/2014/chart" uri="{C3380CC4-5D6E-409C-BE32-E72D297353CC}">
              <c16:uniqueId val="{00000001-E9D7-4013-BEAE-EBA84B2ED656}"/>
            </c:ext>
          </c:extLst>
        </c:ser>
        <c:dLbls>
          <c:dLblPos val="outEnd"/>
          <c:showLegendKey val="0"/>
          <c:showVal val="1"/>
          <c:showCatName val="0"/>
          <c:showSerName val="0"/>
          <c:showPercent val="0"/>
          <c:showBubbleSize val="0"/>
        </c:dLbls>
        <c:gapWidth val="45"/>
        <c:overlap val="-5"/>
        <c:axId val="-2068027336"/>
        <c:axId val="-2113994440"/>
      </c:barChart>
      <c:catAx>
        <c:axId val="-2068027336"/>
        <c:scaling>
          <c:orientation val="minMax"/>
        </c:scaling>
        <c:delete val="0"/>
        <c:axPos val="b"/>
        <c:numFmt formatCode="General" sourceLinked="0"/>
        <c:majorTickMark val="none"/>
        <c:minorTickMark val="none"/>
        <c:tickLblPos val="low"/>
        <c:spPr>
          <a:ln>
            <a:solidFill>
              <a:srgbClr val="B8C4CF"/>
            </a:solidFill>
          </a:ln>
        </c:spPr>
        <c:txPr>
          <a:bodyPr/>
          <a:lstStyle/>
          <a:p>
            <a:pPr>
              <a:defRPr sz="1050"/>
            </a:pPr>
            <a:endParaRPr lang="it-IT"/>
          </a:p>
        </c:txPr>
        <c:crossAx val="-2113994440"/>
        <c:crosses val="autoZero"/>
        <c:auto val="1"/>
        <c:lblAlgn val="ctr"/>
        <c:lblOffset val="100"/>
        <c:noMultiLvlLbl val="0"/>
      </c:catAx>
      <c:valAx>
        <c:axId val="-2113994440"/>
        <c:scaling>
          <c:orientation val="minMax"/>
          <c:max val="8"/>
          <c:min val="-8"/>
        </c:scaling>
        <c:delete val="0"/>
        <c:axPos val="l"/>
        <c:majorGridlines>
          <c:spPr>
            <a:ln w="9525">
              <a:solidFill>
                <a:srgbClr val="E1E8EE"/>
              </a:solidFill>
            </a:ln>
          </c:spPr>
        </c:majorGridlines>
        <c:numFmt formatCode="\+0&quot;%&quot;;\−0&quot;%&quot;;0&quot;%&quot;" sourceLinked="0"/>
        <c:majorTickMark val="none"/>
        <c:minorTickMark val="none"/>
        <c:tickLblPos val="nextTo"/>
        <c:spPr>
          <a:ln>
            <a:noFill/>
          </a:ln>
        </c:spPr>
        <c:txPr>
          <a:bodyPr/>
          <a:lstStyle/>
          <a:p>
            <a:pPr>
              <a:defRPr sz="950"/>
            </a:pPr>
            <a:endParaRPr lang="it-IT"/>
          </a:p>
        </c:txPr>
        <c:crossAx val="-2068027336"/>
        <c:crosses val="autoZero"/>
        <c:crossBetween val="between"/>
        <c:majorUnit val="2"/>
      </c:valAx>
    </c:plotArea>
    <c:plotVisOnly val="1"/>
    <c:dispBlanksAs val="gap"/>
    <c:showDLblsOverMax val="1"/>
  </c:chart>
  <c:spPr>
    <a:noFill/>
    <a:ln>
      <a:noFill/>
    </a:ln>
  </c:spPr>
  <c:txPr>
    <a:bodyPr/>
    <a:lstStyle/>
    <a:p>
      <a:pPr>
        <a:defRPr sz="1050">
          <a:solidFill>
            <a:srgbClr val="56606B"/>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K</c:v>
                </c:pt>
              </c:strCache>
            </c:strRef>
          </c:tx>
          <c:spPr>
            <a:solidFill>
              <a:srgbClr val="21295C"/>
            </a:solidFill>
          </c:spPr>
          <c:invertIfNegative val="0"/>
          <c:dPt>
            <c:idx val="0"/>
            <c:invertIfNegative val="1"/>
            <c:bubble3D val="0"/>
            <c:spPr>
              <a:solidFill>
                <a:srgbClr val="C8791A"/>
              </a:solidFill>
            </c:spPr>
            <c:extLst>
              <c:ext xmlns:c16="http://schemas.microsoft.com/office/drawing/2014/chart" uri="{C3380CC4-5D6E-409C-BE32-E72D297353CC}">
                <c16:uniqueId val="{00000001-53EE-4DA2-BFEF-7C229CBA4940}"/>
              </c:ext>
            </c:extLst>
          </c:dPt>
          <c:dPt>
            <c:idx val="1"/>
            <c:invertIfNegative val="1"/>
            <c:bubble3D val="0"/>
            <c:spPr>
              <a:solidFill>
                <a:srgbClr val="E8A33D"/>
              </a:solidFill>
            </c:spPr>
            <c:extLst>
              <c:ext xmlns:c16="http://schemas.microsoft.com/office/drawing/2014/chart" uri="{C3380CC4-5D6E-409C-BE32-E72D297353CC}">
                <c16:uniqueId val="{00000003-53EE-4DA2-BFEF-7C229CBA4940}"/>
              </c:ext>
            </c:extLst>
          </c:dPt>
          <c:dPt>
            <c:idx val="2"/>
            <c:invertIfNegative val="1"/>
            <c:bubble3D val="0"/>
            <c:spPr>
              <a:solidFill>
                <a:srgbClr val="1C7293"/>
              </a:solidFill>
            </c:spPr>
            <c:extLst>
              <c:ext xmlns:c16="http://schemas.microsoft.com/office/drawing/2014/chart" uri="{C3380CC4-5D6E-409C-BE32-E72D297353CC}">
                <c16:uniqueId val="{00000005-53EE-4DA2-BFEF-7C229CBA4940}"/>
              </c:ext>
            </c:extLst>
          </c:dPt>
          <c:dLbls>
            <c:dLbl>
              <c:idx val="0"/>
              <c:tx>
                <c:rich>
                  <a:bodyPr/>
                  <a:lstStyle/>
                  <a:p>
                    <a:r>
                      <a:rPr lang="en-US" sz="1200" b="1">
                        <a:solidFill>
                          <a:srgbClr val="21295C"/>
                        </a:solidFill>
                      </a:rPr>
                      <a:t>−94%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53EE-4DA2-BFEF-7C229CBA4940}"/>
                </c:ext>
              </c:extLst>
            </c:dLbl>
            <c:dLbl>
              <c:idx val="1"/>
              <c:tx>
                <c:rich>
                  <a:bodyPr/>
                  <a:lstStyle/>
                  <a:p>
                    <a:r>
                      <a:rPr lang="en-US" sz="1200" b="1">
                        <a:solidFill>
                          <a:srgbClr val="21295C"/>
                        </a:solidFill>
                      </a:rPr>
                      <a:t>−88%</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53EE-4DA2-BFEF-7C229CBA4940}"/>
                </c:ext>
              </c:extLst>
            </c:dLbl>
            <c:dLbl>
              <c:idx val="2"/>
              <c:tx>
                <c:rich>
                  <a:bodyPr/>
                  <a:lstStyle/>
                  <a:p>
                    <a:r>
                      <a:rPr lang="en-US" sz="1200" b="1">
                        <a:solidFill>
                          <a:srgbClr val="21295C"/>
                        </a:solidFill>
                      </a:rPr>
                      <a:t>reference</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53EE-4DA2-BFEF-7C229CBA494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Bologna 10 m</c:v>
                </c:pt>
                <c:pt idx="1">
                  <c:v>Bologna, height-corrected</c:v>
                </c:pt>
                <c:pt idx="2">
                  <c:v>German site 100 m</c:v>
                </c:pt>
              </c:strCache>
            </c:strRef>
          </c:cat>
          <c:val>
            <c:numRef>
              <c:f>Sheet1!$B$2:$B$4</c:f>
              <c:numCache>
                <c:formatCode>General</c:formatCode>
                <c:ptCount val="3"/>
                <c:pt idx="0">
                  <c:v>5.4351905999999998E-2</c:v>
                </c:pt>
                <c:pt idx="1">
                  <c:v>0.104937101</c:v>
                </c:pt>
                <c:pt idx="2">
                  <c:v>0.87336000000000003</c:v>
                </c:pt>
              </c:numCache>
            </c:numRef>
          </c:val>
          <c:extLst>
            <c:ext xmlns:c16="http://schemas.microsoft.com/office/drawing/2014/chart" uri="{C3380CC4-5D6E-409C-BE32-E72D297353CC}">
              <c16:uniqueId val="{00000006-53EE-4DA2-BFEF-7C229CBA4940}"/>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8C4CF"/>
            </a:solidFill>
          </a:ln>
        </c:spPr>
        <c:txPr>
          <a:bodyPr/>
          <a:lstStyle/>
          <a:p>
            <a:pPr>
              <a:defRPr sz="1200"/>
            </a:pPr>
            <a:endParaRPr lang="it-IT"/>
          </a:p>
        </c:txPr>
        <c:crossAx val="-2113994440"/>
        <c:crosses val="autoZero"/>
        <c:auto val="1"/>
        <c:lblAlgn val="ctr"/>
        <c:lblOffset val="100"/>
        <c:noMultiLvlLbl val="0"/>
      </c:catAx>
      <c:valAx>
        <c:axId val="-2113994440"/>
        <c:scaling>
          <c:orientation val="minMax"/>
          <c:max val="1"/>
          <c:min val="0"/>
        </c:scaling>
        <c:delete val="0"/>
        <c:axPos val="l"/>
        <c:majorGridlines>
          <c:spPr>
            <a:ln w="9525">
              <a:solidFill>
                <a:srgbClr val="E1E8EE"/>
              </a:solidFill>
            </a:ln>
          </c:spPr>
        </c:majorGridlines>
        <c:numFmt formatCode="0.00" sourceLinked="0"/>
        <c:majorTickMark val="none"/>
        <c:minorTickMark val="none"/>
        <c:tickLblPos val="nextTo"/>
        <c:spPr>
          <a:ln>
            <a:noFill/>
          </a:ln>
        </c:spPr>
        <c:txPr>
          <a:bodyPr/>
          <a:lstStyle/>
          <a:p>
            <a:pPr>
              <a:defRPr sz="1000"/>
            </a:pPr>
            <a:endParaRPr lang="it-IT"/>
          </a:p>
        </c:txPr>
        <c:crossAx val="-2068027336"/>
        <c:crosses val="autoZero"/>
        <c:crossBetween val="between"/>
        <c:majorUnit val="0.25"/>
      </c:valAx>
    </c:plotArea>
    <c:plotVisOnly val="1"/>
    <c:dispBlanksAs val="gap"/>
    <c:showDLblsOverMax val="1"/>
  </c:chart>
  <c:spPr>
    <a:noFill/>
    <a:ln>
      <a:noFill/>
    </a:ln>
  </c:spPr>
  <c:txPr>
    <a:bodyPr/>
    <a:lstStyle/>
    <a:p>
      <a:pPr>
        <a:defRPr sz="1100">
          <a:solidFill>
            <a:srgbClr val="56606B"/>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Ratio</c:v>
                </c:pt>
              </c:strCache>
            </c:strRef>
          </c:tx>
          <c:spPr>
            <a:solidFill>
              <a:srgbClr val="21295C"/>
            </a:solidFill>
          </c:spPr>
          <c:invertIfNegative val="0"/>
          <c:dPt>
            <c:idx val="0"/>
            <c:invertIfNegative val="1"/>
            <c:bubble3D val="0"/>
            <c:extLst>
              <c:ext xmlns:c16="http://schemas.microsoft.com/office/drawing/2014/chart" uri="{C3380CC4-5D6E-409C-BE32-E72D297353CC}">
                <c16:uniqueId val="{00000001-3181-4806-B473-94BB078BDC9B}"/>
              </c:ext>
            </c:extLst>
          </c:dPt>
          <c:dPt>
            <c:idx val="1"/>
            <c:invertIfNegative val="1"/>
            <c:bubble3D val="0"/>
            <c:spPr>
              <a:solidFill>
                <a:srgbClr val="1C7293"/>
              </a:solidFill>
            </c:spPr>
            <c:extLst>
              <c:ext xmlns:c16="http://schemas.microsoft.com/office/drawing/2014/chart" uri="{C3380CC4-5D6E-409C-BE32-E72D297353CC}">
                <c16:uniqueId val="{00000003-3181-4806-B473-94BB078BDC9B}"/>
              </c:ext>
            </c:extLst>
          </c:dPt>
          <c:dPt>
            <c:idx val="2"/>
            <c:invertIfNegative val="1"/>
            <c:bubble3D val="0"/>
            <c:spPr>
              <a:solidFill>
                <a:srgbClr val="1C7293"/>
              </a:solidFill>
            </c:spPr>
            <c:extLst>
              <c:ext xmlns:c16="http://schemas.microsoft.com/office/drawing/2014/chart" uri="{C3380CC4-5D6E-409C-BE32-E72D297353CC}">
                <c16:uniqueId val="{00000005-3181-4806-B473-94BB078BDC9B}"/>
              </c:ext>
            </c:extLst>
          </c:dPt>
          <c:dLbls>
            <c:dLbl>
              <c:idx val="0"/>
              <c:tx>
                <c:rich>
                  <a:bodyPr/>
                  <a:lstStyle/>
                  <a:p>
                    <a:r>
                      <a:rPr lang="en-US" sz="1100" b="1">
                        <a:solidFill>
                          <a:srgbClr val="21295C"/>
                        </a:solidFill>
                      </a:rPr>
                      <a:t>16.07×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181-4806-B473-94BB078BDC9B}"/>
                </c:ext>
              </c:extLst>
            </c:dLbl>
            <c:dLbl>
              <c:idx val="1"/>
              <c:tx>
                <c:rich>
                  <a:bodyPr/>
                  <a:lstStyle/>
                  <a:p>
                    <a:r>
                      <a:rPr lang="en-US" sz="1100" b="1">
                        <a:solidFill>
                          <a:srgbClr val="21295C"/>
                        </a:solidFill>
                      </a:rPr>
                      <a:t>≈ 2.5×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181-4806-B473-94BB078BDC9B}"/>
                </c:ext>
              </c:extLst>
            </c:dLbl>
            <c:dLbl>
              <c:idx val="2"/>
              <c:tx>
                <c:rich>
                  <a:bodyPr/>
                  <a:lstStyle/>
                  <a:p>
                    <a:r>
                      <a:rPr lang="en-US" sz="1100" b="1">
                        <a:solidFill>
                          <a:srgbClr val="21295C"/>
                        </a:solidFill>
                      </a:rPr>
                      <a:t>≈ 1.36×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3181-4806-B473-94BB078BDC9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Raw strikes</c:v>
                </c:pt>
                <c:pt idx="1">
                  <c:v>Common scale</c:v>
                </c:pt>
                <c:pt idx="2">
                  <c:v>Climatology only (h = 1)</c:v>
                </c:pt>
              </c:strCache>
            </c:strRef>
          </c:cat>
          <c:val>
            <c:numRef>
              <c:f>Sheet1!$B$2:$B$4</c:f>
              <c:numCache>
                <c:formatCode>General</c:formatCode>
                <c:ptCount val="3"/>
                <c:pt idx="0">
                  <c:v>16.07</c:v>
                </c:pt>
                <c:pt idx="1">
                  <c:v>2.4740406320541761</c:v>
                </c:pt>
                <c:pt idx="2">
                  <c:v>1.3622782446311856</c:v>
                </c:pt>
              </c:numCache>
            </c:numRef>
          </c:val>
          <c:extLst>
            <c:ext xmlns:c16="http://schemas.microsoft.com/office/drawing/2014/chart" uri="{C3380CC4-5D6E-409C-BE32-E72D297353CC}">
              <c16:uniqueId val="{00000006-3181-4806-B473-94BB078BDC9B}"/>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8C4CF"/>
            </a:solidFill>
          </a:ln>
        </c:spPr>
        <c:txPr>
          <a:bodyPr/>
          <a:lstStyle/>
          <a:p>
            <a:pPr>
              <a:defRPr sz="1100"/>
            </a:pPr>
            <a:endParaRPr lang="it-IT"/>
          </a:p>
        </c:txPr>
        <c:crossAx val="-2113994440"/>
        <c:crosses val="autoZero"/>
        <c:auto val="1"/>
        <c:lblAlgn val="ctr"/>
        <c:lblOffset val="100"/>
        <c:noMultiLvlLbl val="0"/>
      </c:catAx>
      <c:valAx>
        <c:axId val="-2113994440"/>
        <c:scaling>
          <c:orientation val="minMax"/>
          <c:max val="20"/>
          <c:min val="0"/>
        </c:scaling>
        <c:delete val="0"/>
        <c:axPos val="l"/>
        <c:majorGridlines>
          <c:spPr>
            <a:ln w="9525">
              <a:solidFill>
                <a:srgbClr val="E1E8EE"/>
              </a:solidFill>
            </a:ln>
          </c:spPr>
        </c:majorGridlines>
        <c:numFmt formatCode="0&quot;×&quot;" sourceLinked="0"/>
        <c:majorTickMark val="none"/>
        <c:minorTickMark val="none"/>
        <c:tickLblPos val="nextTo"/>
        <c:spPr>
          <a:ln>
            <a:noFill/>
          </a:ln>
        </c:spPr>
        <c:txPr>
          <a:bodyPr/>
          <a:lstStyle/>
          <a:p>
            <a:pPr>
              <a:defRPr sz="1000"/>
            </a:pPr>
            <a:endParaRPr lang="it-IT"/>
          </a:p>
        </c:txPr>
        <c:crossAx val="-2068027336"/>
        <c:crosses val="autoZero"/>
        <c:crossBetween val="between"/>
        <c:majorUnit val="5"/>
      </c:valAx>
    </c:plotArea>
    <c:plotVisOnly val="1"/>
    <c:dispBlanksAs val="gap"/>
    <c:showDLblsOverMax val="1"/>
  </c:chart>
  <c:spPr>
    <a:noFill/>
    <a:ln>
      <a:noFill/>
    </a:ln>
  </c:spPr>
  <c:txPr>
    <a:bodyPr/>
    <a:lstStyle/>
    <a:p>
      <a:pPr>
        <a:defRPr sz="1100">
          <a:solidFill>
            <a:srgbClr val="56606B"/>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at h(t₀)</c:v>
                </c:pt>
              </c:strCache>
            </c:strRef>
          </c:tx>
          <c:spPr>
            <a:solidFill>
              <a:srgbClr val="21295C"/>
            </a:solidFill>
          </c:spPr>
          <c:invertIfNegative val="0"/>
          <c:dLbls>
            <c:numFmt formatCode="0.00&quot;×&quot;" sourceLinked="0"/>
            <c:spPr>
              <a:noFill/>
              <a:ln>
                <a:noFill/>
              </a:ln>
              <a:effectLst/>
            </c:spPr>
            <c:txPr>
              <a:bodyPr/>
              <a:lstStyle/>
              <a:p>
                <a:pPr>
                  <a:defRPr sz="1100" b="1">
                    <a:solidFill>
                      <a:srgbClr val="21295C"/>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Dataset A · proxy</c:v>
                </c:pt>
                <c:pt idx="1">
                  <c:v>Dataset B · reference</c:v>
                </c:pt>
              </c:strCache>
            </c:strRef>
          </c:cat>
          <c:val>
            <c:numRef>
              <c:f>Sheet1!$B$2:$B$3</c:f>
              <c:numCache>
                <c:formatCode>General</c:formatCode>
                <c:ptCount val="2"/>
                <c:pt idx="0">
                  <c:v>1.17</c:v>
                </c:pt>
                <c:pt idx="1">
                  <c:v>2.91</c:v>
                </c:pt>
              </c:numCache>
            </c:numRef>
          </c:val>
          <c:extLst>
            <c:ext xmlns:c16="http://schemas.microsoft.com/office/drawing/2014/chart" uri="{C3380CC4-5D6E-409C-BE32-E72D297353CC}">
              <c16:uniqueId val="{00000000-740C-4883-9B68-247D0E570539}"/>
            </c:ext>
          </c:extLst>
        </c:ser>
        <c:ser>
          <c:idx val="1"/>
          <c:order val="1"/>
          <c:tx>
            <c:strRef>
              <c:f>Sheet1!$C$1</c:f>
              <c:strCache>
                <c:ptCount val="1"/>
                <c:pt idx="0">
                  <c:v>at h = 1</c:v>
                </c:pt>
              </c:strCache>
            </c:strRef>
          </c:tx>
          <c:spPr>
            <a:solidFill>
              <a:srgbClr val="9DB0C2"/>
            </a:solidFill>
          </c:spPr>
          <c:invertIfNegative val="0"/>
          <c:dLbls>
            <c:numFmt formatCode="0.00&quot;×&quot;" sourceLinked="0"/>
            <c:spPr>
              <a:noFill/>
              <a:ln>
                <a:noFill/>
              </a:ln>
              <a:effectLst/>
            </c:spPr>
            <c:txPr>
              <a:bodyPr/>
              <a:lstStyle/>
              <a:p>
                <a:pPr>
                  <a:defRPr sz="1100" b="1">
                    <a:solidFill>
                      <a:srgbClr val="21295C"/>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Dataset A · proxy</c:v>
                </c:pt>
                <c:pt idx="1">
                  <c:v>Dataset B · reference</c:v>
                </c:pt>
              </c:strCache>
            </c:strRef>
          </c:cat>
          <c:val>
            <c:numRef>
              <c:f>Sheet1!$C$2:$C$3</c:f>
              <c:numCache>
                <c:formatCode>General</c:formatCode>
                <c:ptCount val="2"/>
                <c:pt idx="0">
                  <c:v>2.82</c:v>
                </c:pt>
                <c:pt idx="1">
                  <c:v>3.87</c:v>
                </c:pt>
              </c:numCache>
            </c:numRef>
          </c:val>
          <c:extLst>
            <c:ext xmlns:c16="http://schemas.microsoft.com/office/drawing/2014/chart" uri="{C3380CC4-5D6E-409C-BE32-E72D297353CC}">
              <c16:uniqueId val="{00000001-740C-4883-9B68-247D0E570539}"/>
            </c:ext>
          </c:extLst>
        </c:ser>
        <c:dLbls>
          <c:dLblPos val="outEnd"/>
          <c:showLegendKey val="0"/>
          <c:showVal val="1"/>
          <c:showCatName val="0"/>
          <c:showSerName val="0"/>
          <c:showPercent val="0"/>
          <c:showBubbleSize val="0"/>
        </c:dLbls>
        <c:gapWidth val="80"/>
        <c:overlap val="-10"/>
        <c:axId val="-2068027336"/>
        <c:axId val="-2113994440"/>
      </c:barChart>
      <c:catAx>
        <c:axId val="-2068027336"/>
        <c:scaling>
          <c:orientation val="minMax"/>
        </c:scaling>
        <c:delete val="0"/>
        <c:axPos val="b"/>
        <c:numFmt formatCode="General" sourceLinked="0"/>
        <c:majorTickMark val="none"/>
        <c:minorTickMark val="none"/>
        <c:tickLblPos val="nextTo"/>
        <c:spPr>
          <a:ln>
            <a:solidFill>
              <a:srgbClr val="B8C4CF"/>
            </a:solidFill>
          </a:ln>
        </c:spPr>
        <c:txPr>
          <a:bodyPr/>
          <a:lstStyle/>
          <a:p>
            <a:pPr>
              <a:defRPr sz="1100"/>
            </a:pPr>
            <a:endParaRPr lang="it-IT"/>
          </a:p>
        </c:txPr>
        <c:crossAx val="-2113994440"/>
        <c:crosses val="autoZero"/>
        <c:auto val="1"/>
        <c:lblAlgn val="ctr"/>
        <c:lblOffset val="100"/>
        <c:noMultiLvlLbl val="0"/>
      </c:catAx>
      <c:valAx>
        <c:axId val="-2113994440"/>
        <c:scaling>
          <c:orientation val="minMax"/>
          <c:max val="5"/>
          <c:min val="0"/>
        </c:scaling>
        <c:delete val="0"/>
        <c:axPos val="l"/>
        <c:majorGridlines>
          <c:spPr>
            <a:ln w="9525">
              <a:solidFill>
                <a:srgbClr val="E1E8EE"/>
              </a:solidFill>
            </a:ln>
          </c:spPr>
        </c:majorGridlines>
        <c:numFmt formatCode="0&quot;×&quot;" sourceLinked="0"/>
        <c:majorTickMark val="none"/>
        <c:minorTickMark val="none"/>
        <c:tickLblPos val="nextTo"/>
        <c:spPr>
          <a:ln>
            <a:noFill/>
          </a:ln>
        </c:spPr>
        <c:txPr>
          <a:bodyPr/>
          <a:lstStyle/>
          <a:p>
            <a:pPr>
              <a:defRPr sz="1000"/>
            </a:pPr>
            <a:endParaRPr lang="it-IT"/>
          </a:p>
        </c:txPr>
        <c:crossAx val="-2068027336"/>
        <c:crosses val="autoZero"/>
        <c:crossBetween val="between"/>
        <c:majorUnit val="1"/>
      </c:valAx>
    </c:plotArea>
    <c:legend>
      <c:legendPos val="b"/>
      <c:overlay val="0"/>
      <c:txPr>
        <a:bodyPr/>
        <a:lstStyle/>
        <a:p>
          <a:pPr>
            <a:defRPr sz="1100"/>
          </a:pPr>
          <a:endParaRPr lang="it-IT"/>
        </a:p>
      </c:txPr>
    </c:legend>
    <c:plotVisOnly val="1"/>
    <c:dispBlanksAs val="gap"/>
    <c:showDLblsOverMax val="1"/>
  </c:chart>
  <c:spPr>
    <a:noFill/>
    <a:ln>
      <a:noFill/>
    </a:ln>
  </c:spPr>
  <c:txPr>
    <a:bodyPr/>
    <a:lstStyle/>
    <a:p>
      <a:pPr>
        <a:defRPr sz="1100">
          <a:solidFill>
            <a:srgbClr val="56606B"/>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col"/>
        <c:grouping val="clustered"/>
        <c:varyColors val="0"/>
        <c:ser>
          <c:idx val="0"/>
          <c:order val="0"/>
          <c:tx>
            <c:strRef>
              <c:f>Sheet1!$B$1</c:f>
              <c:strCache>
                <c:ptCount val="1"/>
                <c:pt idx="0">
                  <c:v>Payoff</c:v>
                </c:pt>
              </c:strCache>
            </c:strRef>
          </c:tx>
          <c:spPr>
            <a:solidFill>
              <a:srgbClr val="21295C"/>
            </a:solidFill>
          </c:spPr>
          <c:invertIfNegative val="0"/>
          <c:dPt>
            <c:idx val="0"/>
            <c:invertIfNegative val="1"/>
            <c:bubble3D val="0"/>
            <c:extLst>
              <c:ext xmlns:c16="http://schemas.microsoft.com/office/drawing/2014/chart" uri="{C3380CC4-5D6E-409C-BE32-E72D297353CC}">
                <c16:uniqueId val="{00000001-1C7B-4633-90B1-A338B997B004}"/>
              </c:ext>
            </c:extLst>
          </c:dPt>
          <c:dPt>
            <c:idx val="1"/>
            <c:invertIfNegative val="1"/>
            <c:bubble3D val="0"/>
            <c:extLst>
              <c:ext xmlns:c16="http://schemas.microsoft.com/office/drawing/2014/chart" uri="{C3380CC4-5D6E-409C-BE32-E72D297353CC}">
                <c16:uniqueId val="{00000003-1C7B-4633-90B1-A338B997B004}"/>
              </c:ext>
            </c:extLst>
          </c:dPt>
          <c:dPt>
            <c:idx val="2"/>
            <c:invertIfNegative val="1"/>
            <c:bubble3D val="0"/>
            <c:extLst>
              <c:ext xmlns:c16="http://schemas.microsoft.com/office/drawing/2014/chart" uri="{C3380CC4-5D6E-409C-BE32-E72D297353CC}">
                <c16:uniqueId val="{00000005-1C7B-4633-90B1-A338B997B004}"/>
              </c:ext>
            </c:extLst>
          </c:dPt>
          <c:dPt>
            <c:idx val="3"/>
            <c:invertIfNegative val="1"/>
            <c:bubble3D val="0"/>
            <c:spPr>
              <a:solidFill>
                <a:srgbClr val="9DB0C2"/>
              </a:solidFill>
            </c:spPr>
            <c:extLst>
              <c:ext xmlns:c16="http://schemas.microsoft.com/office/drawing/2014/chart" uri="{C3380CC4-5D6E-409C-BE32-E72D297353CC}">
                <c16:uniqueId val="{00000007-1C7B-4633-90B1-A338B997B004}"/>
              </c:ext>
            </c:extLst>
          </c:dPt>
          <c:dPt>
            <c:idx val="4"/>
            <c:invertIfNegative val="1"/>
            <c:bubble3D val="0"/>
            <c:spPr>
              <a:solidFill>
                <a:srgbClr val="9DB0C2"/>
              </a:solidFill>
            </c:spPr>
            <c:extLst>
              <c:ext xmlns:c16="http://schemas.microsoft.com/office/drawing/2014/chart" uri="{C3380CC4-5D6E-409C-BE32-E72D297353CC}">
                <c16:uniqueId val="{00000009-1C7B-4633-90B1-A338B997B004}"/>
              </c:ext>
            </c:extLst>
          </c:dPt>
          <c:dPt>
            <c:idx val="5"/>
            <c:invertIfNegative val="1"/>
            <c:bubble3D val="0"/>
            <c:extLst>
              <c:ext xmlns:c16="http://schemas.microsoft.com/office/drawing/2014/chart" uri="{C3380CC4-5D6E-409C-BE32-E72D297353CC}">
                <c16:uniqueId val="{0000000B-1C7B-4633-90B1-A338B997B004}"/>
              </c:ext>
            </c:extLst>
          </c:dPt>
          <c:dPt>
            <c:idx val="6"/>
            <c:invertIfNegative val="1"/>
            <c:bubble3D val="0"/>
            <c:extLst>
              <c:ext xmlns:c16="http://schemas.microsoft.com/office/drawing/2014/chart" uri="{C3380CC4-5D6E-409C-BE32-E72D297353CC}">
                <c16:uniqueId val="{0000000D-1C7B-4633-90B1-A338B997B004}"/>
              </c:ext>
            </c:extLst>
          </c:dPt>
          <c:dPt>
            <c:idx val="7"/>
            <c:invertIfNegative val="1"/>
            <c:bubble3D val="0"/>
            <c:spPr>
              <a:solidFill>
                <a:srgbClr val="9DB0C2"/>
              </a:solidFill>
            </c:spPr>
            <c:extLst>
              <c:ext xmlns:c16="http://schemas.microsoft.com/office/drawing/2014/chart" uri="{C3380CC4-5D6E-409C-BE32-E72D297353CC}">
                <c16:uniqueId val="{0000000F-1C7B-4633-90B1-A338B997B004}"/>
              </c:ext>
            </c:extLst>
          </c:dPt>
          <c:dPt>
            <c:idx val="8"/>
            <c:invertIfNegative val="1"/>
            <c:bubble3D val="0"/>
            <c:extLst>
              <c:ext xmlns:c16="http://schemas.microsoft.com/office/drawing/2014/chart" uri="{C3380CC4-5D6E-409C-BE32-E72D297353CC}">
                <c16:uniqueId val="{00000011-1C7B-4633-90B1-A338B997B004}"/>
              </c:ext>
            </c:extLst>
          </c:dPt>
          <c:dPt>
            <c:idx val="9"/>
            <c:invertIfNegative val="1"/>
            <c:bubble3D val="0"/>
            <c:extLst>
              <c:ext xmlns:c16="http://schemas.microsoft.com/office/drawing/2014/chart" uri="{C3380CC4-5D6E-409C-BE32-E72D297353CC}">
                <c16:uniqueId val="{00000013-1C7B-4633-90B1-A338B997B004}"/>
              </c:ext>
            </c:extLst>
          </c:dPt>
          <c:dLbls>
            <c:numFmt formatCode="\+0.0;\−0.0" sourceLinked="0"/>
            <c:spPr>
              <a:noFill/>
              <a:ln>
                <a:noFill/>
              </a:ln>
              <a:effectLst/>
            </c:spPr>
            <c:txPr>
              <a:bodyPr/>
              <a:lstStyle/>
              <a:p>
                <a:pPr>
                  <a:defRPr sz="1100" b="1">
                    <a:solidFill>
                      <a:srgbClr val="21295C"/>
                    </a:solidFill>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2015</c:v>
                </c:pt>
                <c:pt idx="1">
                  <c:v>2016</c:v>
                </c:pt>
                <c:pt idx="2">
                  <c:v>2017</c:v>
                </c:pt>
                <c:pt idx="3">
                  <c:v>2018</c:v>
                </c:pt>
                <c:pt idx="4">
                  <c:v>2019</c:v>
                </c:pt>
                <c:pt idx="5">
                  <c:v>2020</c:v>
                </c:pt>
                <c:pt idx="6">
                  <c:v>2021</c:v>
                </c:pt>
                <c:pt idx="7">
                  <c:v>2022</c:v>
                </c:pt>
                <c:pt idx="8">
                  <c:v>2023</c:v>
                </c:pt>
                <c:pt idx="9">
                  <c:v>2024</c:v>
                </c:pt>
              </c:strCache>
            </c:strRef>
          </c:cat>
          <c:val>
            <c:numRef>
              <c:f>Sheet1!$B$2:$B$11</c:f>
              <c:numCache>
                <c:formatCode>General</c:formatCode>
                <c:ptCount val="10"/>
                <c:pt idx="0">
                  <c:v>8.48</c:v>
                </c:pt>
                <c:pt idx="1">
                  <c:v>0.09</c:v>
                </c:pt>
                <c:pt idx="2">
                  <c:v>16.03</c:v>
                </c:pt>
                <c:pt idx="3">
                  <c:v>-6.98</c:v>
                </c:pt>
                <c:pt idx="4">
                  <c:v>-17.66</c:v>
                </c:pt>
                <c:pt idx="5">
                  <c:v>3.6</c:v>
                </c:pt>
                <c:pt idx="6">
                  <c:v>5.82</c:v>
                </c:pt>
                <c:pt idx="7">
                  <c:v>-11.35</c:v>
                </c:pt>
                <c:pt idx="8">
                  <c:v>6.56</c:v>
                </c:pt>
                <c:pt idx="9">
                  <c:v>18.850000000000001</c:v>
                </c:pt>
              </c:numCache>
            </c:numRef>
          </c:val>
          <c:extLst>
            <c:ext xmlns:c16="http://schemas.microsoft.com/office/drawing/2014/chart" uri="{C3380CC4-5D6E-409C-BE32-E72D297353CC}">
              <c16:uniqueId val="{00000014-1C7B-4633-90B1-A338B997B004}"/>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b"/>
        <c:numFmt formatCode="General" sourceLinked="0"/>
        <c:majorTickMark val="none"/>
        <c:minorTickMark val="none"/>
        <c:tickLblPos val="low"/>
        <c:spPr>
          <a:ln>
            <a:solidFill>
              <a:srgbClr val="B8C4CF"/>
            </a:solidFill>
          </a:ln>
        </c:spPr>
        <c:txPr>
          <a:bodyPr/>
          <a:lstStyle/>
          <a:p>
            <a:pPr>
              <a:defRPr sz="1100"/>
            </a:pPr>
            <a:endParaRPr lang="it-IT"/>
          </a:p>
        </c:txPr>
        <c:crossAx val="-2113994440"/>
        <c:crosses val="autoZero"/>
        <c:auto val="1"/>
        <c:lblAlgn val="ctr"/>
        <c:lblOffset val="100"/>
        <c:noMultiLvlLbl val="0"/>
      </c:catAx>
      <c:valAx>
        <c:axId val="-2113994440"/>
        <c:scaling>
          <c:orientation val="minMax"/>
          <c:max val="30"/>
          <c:min val="-20"/>
        </c:scaling>
        <c:delete val="0"/>
        <c:axPos val="l"/>
        <c:majorGridlines>
          <c:spPr>
            <a:ln w="9525">
              <a:solidFill>
                <a:srgbClr val="E1E8EE"/>
              </a:solidFill>
            </a:ln>
          </c:spPr>
        </c:majorGridlines>
        <c:numFmt formatCode="\+0;\−0;0" sourceLinked="0"/>
        <c:majorTickMark val="none"/>
        <c:minorTickMark val="none"/>
        <c:tickLblPos val="nextTo"/>
        <c:spPr>
          <a:ln>
            <a:noFill/>
          </a:ln>
        </c:spPr>
        <c:txPr>
          <a:bodyPr/>
          <a:lstStyle/>
          <a:p>
            <a:pPr>
              <a:defRPr sz="1000"/>
            </a:pPr>
            <a:endParaRPr lang="it-IT"/>
          </a:p>
        </c:txPr>
        <c:crossAx val="-2068027336"/>
        <c:crosses val="autoZero"/>
        <c:crossBetween val="between"/>
        <c:majorUnit val="10"/>
      </c:valAx>
    </c:plotArea>
    <c:plotVisOnly val="1"/>
    <c:dispBlanksAs val="gap"/>
    <c:showDLblsOverMax val="1"/>
  </c:chart>
  <c:spPr>
    <a:noFill/>
    <a:ln>
      <a:noFill/>
    </a:ln>
  </c:spPr>
  <c:txPr>
    <a:bodyPr/>
    <a:lstStyle/>
    <a:p>
      <a:pPr>
        <a:defRPr sz="1100">
          <a:solidFill>
            <a:srgbClr val="56606B"/>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9755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Good </a:t>
            </a:r>
            <a:r>
              <a:rPr lang="it-IT" dirty="0" err="1"/>
              <a:t>morning</a:t>
            </a:r>
            <a:r>
              <a:rPr lang="it-IT" dirty="0"/>
              <a:t> </a:t>
            </a:r>
            <a:r>
              <a:rPr lang="it-IT" dirty="0" err="1"/>
              <a:t>members</a:t>
            </a:r>
            <a:r>
              <a:rPr lang="it-IT" dirty="0"/>
              <a:t> of the Committee. The </a:t>
            </a:r>
            <a:r>
              <a:rPr lang="it-IT" dirty="0" err="1"/>
              <a:t>thesis</a:t>
            </a:r>
            <a:r>
              <a:rPr lang="it-IT" dirty="0"/>
              <a:t> I </a:t>
            </a:r>
            <a:r>
              <a:rPr lang="it-IT" dirty="0" err="1"/>
              <a:t>present</a:t>
            </a:r>
            <a:r>
              <a:rPr lang="it-IT" dirty="0"/>
              <a:t> </a:t>
            </a:r>
            <a:r>
              <a:rPr lang="it-IT" dirty="0" err="1"/>
              <a:t>today</a:t>
            </a:r>
            <a:r>
              <a:rPr lang="it-IT" dirty="0"/>
              <a:t>, </a:t>
            </a:r>
            <a:r>
              <a:rPr lang="it-IT" dirty="0" err="1"/>
              <a:t>entitled</a:t>
            </a:r>
            <a:r>
              <a:rPr lang="it-IT" dirty="0"/>
              <a:t> </a:t>
            </a:r>
            <a:r>
              <a:rPr lang="it-IT" i="1" dirty="0"/>
              <a:t>Wind Speed </a:t>
            </a:r>
            <a:r>
              <a:rPr lang="it-IT" i="1" dirty="0" err="1"/>
              <a:t>Modelling</a:t>
            </a:r>
            <a:r>
              <a:rPr lang="it-IT" i="1" dirty="0"/>
              <a:t> for </a:t>
            </a:r>
            <a:r>
              <a:rPr lang="it-IT" i="1" dirty="0" err="1"/>
              <a:t>Derivatives</a:t>
            </a:r>
            <a:r>
              <a:rPr lang="it-IT" i="1" dirty="0"/>
              <a:t> Pricing</a:t>
            </a:r>
            <a:r>
              <a:rPr lang="it-IT" dirty="0"/>
              <a:t>, </a:t>
            </a:r>
            <a:r>
              <a:rPr lang="it-IT" dirty="0" err="1"/>
              <a:t>belongs</a:t>
            </a:r>
            <a:r>
              <a:rPr lang="it-IT" dirty="0"/>
              <a:t> to the </a:t>
            </a:r>
            <a:r>
              <a:rPr lang="it-IT" dirty="0" err="1"/>
              <a:t>context</a:t>
            </a:r>
            <a:r>
              <a:rPr lang="it-IT" dirty="0"/>
              <a:t> of the energy </a:t>
            </a:r>
            <a:r>
              <a:rPr lang="it-IT" dirty="0" err="1"/>
              <a:t>transition</a:t>
            </a:r>
            <a:r>
              <a:rPr lang="it-IT" dirty="0"/>
              <a:t>. </a:t>
            </a:r>
            <a:r>
              <a:rPr lang="it-IT" dirty="0" err="1"/>
              <a:t>It</a:t>
            </a:r>
            <a:r>
              <a:rPr lang="it-IT" dirty="0"/>
              <a:t> </a:t>
            </a:r>
            <a:r>
              <a:rPr lang="it-IT" dirty="0" err="1"/>
              <a:t>addresses</a:t>
            </a:r>
            <a:r>
              <a:rPr lang="it-IT" dirty="0"/>
              <a:t> a </a:t>
            </a:r>
            <a:r>
              <a:rPr lang="it-IT" dirty="0" err="1"/>
              <a:t>central</a:t>
            </a:r>
            <a:r>
              <a:rPr lang="it-IT" dirty="0"/>
              <a:t> </a:t>
            </a:r>
            <a:r>
              <a:rPr lang="it-IT" dirty="0" err="1"/>
              <a:t>problem</a:t>
            </a:r>
            <a:r>
              <a:rPr lang="it-IT" dirty="0"/>
              <a:t> in the risk management of </a:t>
            </a:r>
            <a:r>
              <a:rPr lang="it-IT" dirty="0" err="1"/>
              <a:t>renewable</a:t>
            </a:r>
            <a:r>
              <a:rPr lang="it-IT" dirty="0"/>
              <a:t> producers: </a:t>
            </a:r>
            <a:r>
              <a:rPr lang="it-IT" dirty="0" err="1"/>
              <a:t>how</a:t>
            </a:r>
            <a:r>
              <a:rPr lang="it-IT" dirty="0"/>
              <a:t> to price hedging </a:t>
            </a:r>
            <a:r>
              <a:rPr lang="it-IT" dirty="0" err="1"/>
              <a:t>instruments</a:t>
            </a:r>
            <a:r>
              <a:rPr lang="it-IT" dirty="0"/>
              <a:t> </a:t>
            </a:r>
            <a:r>
              <a:rPr lang="it-IT" dirty="0" err="1"/>
              <a:t>written</a:t>
            </a:r>
            <a:r>
              <a:rPr lang="it-IT" dirty="0"/>
              <a:t> on an </a:t>
            </a:r>
            <a:r>
              <a:rPr lang="it-IT" dirty="0" err="1"/>
              <a:t>underlying</a:t>
            </a:r>
            <a:r>
              <a:rPr lang="it-IT" dirty="0"/>
              <a:t> </a:t>
            </a:r>
            <a:r>
              <a:rPr lang="it-IT" dirty="0" err="1"/>
              <a:t>that</a:t>
            </a:r>
            <a:r>
              <a:rPr lang="it-IT" dirty="0"/>
              <a:t> </a:t>
            </a:r>
            <a:r>
              <a:rPr lang="it-IT" dirty="0" err="1"/>
              <a:t>cannot</a:t>
            </a:r>
            <a:r>
              <a:rPr lang="it-IT" dirty="0"/>
              <a:t> be </a:t>
            </a:r>
            <a:r>
              <a:rPr lang="it-IT" dirty="0" err="1"/>
              <a:t>traded</a:t>
            </a:r>
            <a:r>
              <a:rPr lang="it-IT" dirty="0"/>
              <a:t>, </a:t>
            </a:r>
            <a:r>
              <a:rPr lang="it-IT" dirty="0" err="1"/>
              <a:t>that</a:t>
            </a:r>
            <a:r>
              <a:rPr lang="it-IT" dirty="0"/>
              <a:t> </a:t>
            </a:r>
            <a:r>
              <a:rPr lang="it-IT" dirty="0" err="1"/>
              <a:t>is</a:t>
            </a:r>
            <a:r>
              <a:rPr lang="it-IT" dirty="0"/>
              <a:t> to </a:t>
            </a:r>
            <a:r>
              <a:rPr lang="it-IT" dirty="0" err="1"/>
              <a:t>say</a:t>
            </a:r>
            <a:r>
              <a:rPr lang="it-IT" dirty="0"/>
              <a:t> the wind.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dirty="0"/>
              <a:t>Let me start with the producer.</a:t>
            </a:r>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dirty="0"/>
              <a:t>A wind farm </a:t>
            </a:r>
            <a:r>
              <a:rPr lang="it-IT" dirty="0" err="1"/>
              <a:t>is</a:t>
            </a:r>
            <a:r>
              <a:rPr lang="it-IT" dirty="0"/>
              <a:t> </a:t>
            </a:r>
            <a:r>
              <a:rPr lang="it-IT" dirty="0" err="1"/>
              <a:t>exposed</a:t>
            </a:r>
            <a:r>
              <a:rPr lang="it-IT" dirty="0"/>
              <a:t> on</a:t>
            </a:r>
            <a:r>
              <a:rPr dirty="0"/>
              <a:t> two </a:t>
            </a:r>
            <a:r>
              <a:rPr lang="it-IT" dirty="0" err="1"/>
              <a:t>legs</a:t>
            </a:r>
            <a:r>
              <a:rPr dirty="0"/>
              <a:t>. </a:t>
            </a:r>
            <a:r>
              <a:rPr lang="it-IT" dirty="0"/>
              <a:t>The first </a:t>
            </a:r>
            <a:r>
              <a:rPr lang="it-IT" dirty="0" err="1"/>
              <a:t>is</a:t>
            </a:r>
            <a:r>
              <a:rPr lang="it-IT" dirty="0"/>
              <a:t> </a:t>
            </a:r>
            <a:r>
              <a:rPr lang="it-IT" dirty="0" err="1"/>
              <a:t>volumetric</a:t>
            </a:r>
            <a:r>
              <a:rPr lang="it-IT" dirty="0"/>
              <a:t>: </a:t>
            </a:r>
            <a:r>
              <a:rPr lang="it-IT" dirty="0" err="1"/>
              <a:t>prolonged</a:t>
            </a:r>
            <a:r>
              <a:rPr lang="it-IT" dirty="0"/>
              <a:t> </a:t>
            </a:r>
            <a:r>
              <a:rPr lang="it-IT" dirty="0" err="1"/>
              <a:t>calms</a:t>
            </a:r>
            <a:r>
              <a:rPr lang="it-IT" dirty="0"/>
              <a:t> </a:t>
            </a:r>
            <a:r>
              <a:rPr lang="it-IT" dirty="0" err="1"/>
              <a:t>cut</a:t>
            </a:r>
            <a:r>
              <a:rPr lang="it-IT" dirty="0"/>
              <a:t> generation </a:t>
            </a:r>
            <a:r>
              <a:rPr lang="it-IT" dirty="0" err="1"/>
              <a:t>directly</a:t>
            </a:r>
            <a:r>
              <a:rPr lang="it-IT" dirty="0"/>
              <a:t>, and </a:t>
            </a:r>
            <a:r>
              <a:rPr lang="it-IT" dirty="0" err="1"/>
              <a:t>because</a:t>
            </a:r>
            <a:r>
              <a:rPr lang="it-IT" dirty="0"/>
              <a:t> wind </a:t>
            </a:r>
            <a:r>
              <a:rPr lang="it-IT" dirty="0" err="1"/>
              <a:t>is</a:t>
            </a:r>
            <a:r>
              <a:rPr lang="it-IT" dirty="0"/>
              <a:t> </a:t>
            </a:r>
            <a:r>
              <a:rPr lang="it-IT" dirty="0" err="1"/>
              <a:t>autocorrelated</a:t>
            </a:r>
            <a:r>
              <a:rPr lang="it-IT" dirty="0"/>
              <a:t>, </a:t>
            </a:r>
            <a:r>
              <a:rPr lang="it-IT" dirty="0" err="1"/>
              <a:t>they</a:t>
            </a:r>
            <a:r>
              <a:rPr lang="it-IT" dirty="0"/>
              <a:t> are </a:t>
            </a:r>
            <a:r>
              <a:rPr lang="it-IT" dirty="0" err="1"/>
              <a:t>not</a:t>
            </a:r>
            <a:r>
              <a:rPr lang="it-IT" dirty="0"/>
              <a:t> </a:t>
            </a:r>
            <a:r>
              <a:rPr lang="it-IT" dirty="0" err="1"/>
              <a:t>diversified</a:t>
            </a:r>
            <a:r>
              <a:rPr lang="it-IT" dirty="0"/>
              <a:t> </a:t>
            </a:r>
            <a:r>
              <a:rPr lang="it-IT" dirty="0" err="1"/>
              <a:t>away</a:t>
            </a:r>
            <a:r>
              <a:rPr lang="it-IT" dirty="0"/>
              <a:t>. The second </a:t>
            </a:r>
            <a:r>
              <a:rPr lang="it-IT" dirty="0" err="1"/>
              <a:t>is</a:t>
            </a:r>
            <a:r>
              <a:rPr lang="it-IT" dirty="0"/>
              <a:t> price: </a:t>
            </a:r>
            <a:r>
              <a:rPr lang="it-IT" dirty="0" err="1"/>
              <a:t>through</a:t>
            </a:r>
            <a:r>
              <a:rPr lang="it-IT" dirty="0"/>
              <a:t> the </a:t>
            </a:r>
            <a:r>
              <a:rPr lang="it-IT" dirty="0" err="1"/>
              <a:t>merit-order</a:t>
            </a:r>
            <a:r>
              <a:rPr lang="it-IT" dirty="0"/>
              <a:t> </a:t>
            </a:r>
            <a:r>
              <a:rPr lang="it-IT" dirty="0" err="1"/>
              <a:t>effect</a:t>
            </a:r>
            <a:r>
              <a:rPr lang="it-IT" dirty="0"/>
              <a:t>, strong wind </a:t>
            </a:r>
            <a:r>
              <a:rPr lang="it-IT" dirty="0" err="1"/>
              <a:t>depresses</a:t>
            </a:r>
            <a:r>
              <a:rPr lang="it-IT" dirty="0"/>
              <a:t> the day-</a:t>
            </a:r>
            <a:r>
              <a:rPr lang="it-IT" dirty="0" err="1"/>
              <a:t>ahead</a:t>
            </a:r>
            <a:r>
              <a:rPr lang="it-IT" dirty="0"/>
              <a:t> price </a:t>
            </a:r>
            <a:r>
              <a:rPr lang="it-IT" dirty="0" err="1"/>
              <a:t>exactly</a:t>
            </a:r>
            <a:r>
              <a:rPr lang="it-IT" dirty="0"/>
              <a:t> </a:t>
            </a:r>
            <a:r>
              <a:rPr lang="it-IT" dirty="0" err="1"/>
              <a:t>when</a:t>
            </a:r>
            <a:r>
              <a:rPr lang="it-IT" dirty="0"/>
              <a:t> the producer </a:t>
            </a:r>
            <a:r>
              <a:rPr lang="it-IT" dirty="0" err="1"/>
              <a:t>generates</a:t>
            </a:r>
            <a:r>
              <a:rPr lang="it-IT" dirty="0"/>
              <a:t> </a:t>
            </a:r>
            <a:r>
              <a:rPr lang="it-IT" dirty="0" err="1"/>
              <a:t>most</a:t>
            </a:r>
            <a:r>
              <a:rPr lang="it-IT"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Output and price </a:t>
            </a:r>
            <a:r>
              <a:rPr lang="it-IT" dirty="0" err="1"/>
              <a:t>therefore</a:t>
            </a:r>
            <a:r>
              <a:rPr lang="it-IT" dirty="0"/>
              <a:t> </a:t>
            </a:r>
            <a:r>
              <a:rPr lang="it-IT" dirty="0" err="1"/>
              <a:t>move</a:t>
            </a:r>
            <a:r>
              <a:rPr lang="it-IT" dirty="0"/>
              <a:t> in opposite </a:t>
            </a:r>
            <a:r>
              <a:rPr lang="it-IT" dirty="0" err="1"/>
              <a:t>directions</a:t>
            </a:r>
            <a:r>
              <a:rPr lang="it-IT" dirty="0"/>
              <a:t>. </a:t>
            </a:r>
            <a:r>
              <a:rPr lang="it-IT" dirty="0" err="1"/>
              <a:t>This</a:t>
            </a:r>
            <a:r>
              <a:rPr lang="it-IT" dirty="0"/>
              <a:t> </a:t>
            </a:r>
            <a:r>
              <a:rPr lang="it-IT" dirty="0" err="1"/>
              <a:t>partly</a:t>
            </a:r>
            <a:r>
              <a:rPr lang="it-IT" dirty="0"/>
              <a:t> </a:t>
            </a:r>
            <a:r>
              <a:rPr lang="it-IT" dirty="0" err="1"/>
              <a:t>protects</a:t>
            </a:r>
            <a:r>
              <a:rPr lang="it-IT" dirty="0"/>
              <a:t> revenue, </a:t>
            </a:r>
            <a:r>
              <a:rPr lang="it-IT" dirty="0" err="1"/>
              <a:t>but</a:t>
            </a:r>
            <a:r>
              <a:rPr lang="it-IT" dirty="0"/>
              <a:t> </a:t>
            </a:r>
            <a:r>
              <a:rPr lang="it-IT" dirty="0" err="1"/>
              <a:t>only</a:t>
            </a:r>
            <a:r>
              <a:rPr lang="it-IT" dirty="0"/>
              <a:t> a </a:t>
            </a:r>
            <a:r>
              <a:rPr lang="it-IT" dirty="0" err="1"/>
              <a:t>little</a:t>
            </a:r>
            <a:r>
              <a:rPr lang="it-IT" dirty="0"/>
              <a:t>: the </a:t>
            </a:r>
            <a:r>
              <a:rPr lang="it-IT" dirty="0" err="1"/>
              <a:t>correlation</a:t>
            </a:r>
            <a:r>
              <a:rPr lang="it-IT" dirty="0"/>
              <a:t> </a:t>
            </a:r>
            <a:r>
              <a:rPr lang="it-IT" dirty="0" err="1"/>
              <a:t>is</a:t>
            </a:r>
            <a:r>
              <a:rPr lang="it-IT" dirty="0"/>
              <a:t> just </a:t>
            </a:r>
            <a:r>
              <a:rPr lang="it-IT" dirty="0" err="1"/>
              <a:t>minus</a:t>
            </a:r>
            <a:r>
              <a:rPr lang="it-IT" dirty="0"/>
              <a:t> 0.16. </a:t>
            </a:r>
            <a:r>
              <a:rPr lang="it-IT" dirty="0" err="1"/>
              <a:t>It</a:t>
            </a:r>
            <a:r>
              <a:rPr lang="it-IT" dirty="0"/>
              <a:t> </a:t>
            </a:r>
            <a:r>
              <a:rPr lang="it-IT" dirty="0" err="1"/>
              <a:t>lowers</a:t>
            </a:r>
            <a:r>
              <a:rPr lang="it-IT" dirty="0"/>
              <a:t> prices </a:t>
            </a:r>
            <a:r>
              <a:rPr lang="it-IT" dirty="0" err="1"/>
              <a:t>when</a:t>
            </a:r>
            <a:r>
              <a:rPr lang="it-IT" dirty="0"/>
              <a:t> the producer </a:t>
            </a:r>
            <a:r>
              <a:rPr lang="it-IT" dirty="0" err="1"/>
              <a:t>has</a:t>
            </a:r>
            <a:r>
              <a:rPr lang="it-IT" dirty="0"/>
              <a:t> a </a:t>
            </a:r>
            <a:r>
              <a:rPr lang="it-IT" dirty="0" err="1"/>
              <a:t>lot</a:t>
            </a:r>
            <a:r>
              <a:rPr lang="it-IT" dirty="0"/>
              <a:t> to sell, </a:t>
            </a:r>
            <a:r>
              <a:rPr lang="it-IT" dirty="0" err="1"/>
              <a:t>but</a:t>
            </a:r>
            <a:r>
              <a:rPr lang="it-IT" dirty="0"/>
              <a:t> </a:t>
            </a:r>
            <a:r>
              <a:rPr lang="it-IT" dirty="0" err="1"/>
              <a:t>it</a:t>
            </a:r>
            <a:r>
              <a:rPr lang="it-IT" dirty="0"/>
              <a:t> </a:t>
            </a:r>
            <a:r>
              <a:rPr lang="it-IT" dirty="0" err="1"/>
              <a:t>does</a:t>
            </a:r>
            <a:r>
              <a:rPr lang="it-IT" dirty="0"/>
              <a:t> </a:t>
            </a:r>
            <a:r>
              <a:rPr lang="it-IT" dirty="0" err="1"/>
              <a:t>not</a:t>
            </a:r>
            <a:r>
              <a:rPr lang="it-IT" dirty="0"/>
              <a:t> </a:t>
            </a:r>
            <a:r>
              <a:rPr lang="it-IT" dirty="0" err="1"/>
              <a:t>raise</a:t>
            </a:r>
            <a:r>
              <a:rPr lang="it-IT" dirty="0"/>
              <a:t> </a:t>
            </a:r>
            <a:r>
              <a:rPr lang="it-IT" dirty="0" err="1"/>
              <a:t>them</a:t>
            </a:r>
            <a:r>
              <a:rPr lang="it-IT" dirty="0"/>
              <a:t> </a:t>
            </a:r>
            <a:r>
              <a:rPr lang="it-IT" dirty="0" err="1"/>
              <a:t>enough</a:t>
            </a:r>
            <a:r>
              <a:rPr lang="it-IT" dirty="0"/>
              <a:t> </a:t>
            </a:r>
            <a:r>
              <a:rPr lang="it-IT" dirty="0" err="1"/>
              <a:t>when</a:t>
            </a:r>
            <a:r>
              <a:rPr lang="it-IT" dirty="0"/>
              <a:t> the wind </a:t>
            </a:r>
            <a:r>
              <a:rPr lang="it-IT" dirty="0" err="1"/>
              <a:t>is</a:t>
            </a:r>
            <a:r>
              <a:rPr lang="it-IT" dirty="0"/>
              <a:t> </a:t>
            </a:r>
            <a:r>
              <a:rPr lang="it-IT" dirty="0" err="1"/>
              <a:t>missing</a:t>
            </a:r>
            <a:r>
              <a:rPr lang="it-IT"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dirty="0" err="1"/>
              <a:t>As</a:t>
            </a:r>
            <a:r>
              <a:rPr lang="it-IT" dirty="0"/>
              <a:t> an </a:t>
            </a:r>
            <a:r>
              <a:rPr lang="it-IT" dirty="0" err="1"/>
              <a:t>order</a:t>
            </a:r>
            <a:r>
              <a:rPr lang="it-IT" dirty="0"/>
              <a:t> of </a:t>
            </a:r>
            <a:r>
              <a:rPr lang="it-IT" dirty="0" err="1"/>
              <a:t>magnitude</a:t>
            </a:r>
            <a:r>
              <a:rPr lang="it-IT" dirty="0"/>
              <a:t>, a 100-megawatt </a:t>
            </a:r>
            <a:r>
              <a:rPr lang="it-IT" dirty="0" err="1"/>
              <a:t>representative</a:t>
            </a:r>
            <a:r>
              <a:rPr lang="it-IT" dirty="0"/>
              <a:t> farm </a:t>
            </a:r>
            <a:r>
              <a:rPr lang="it-IT" dirty="0" err="1"/>
              <a:t>earns</a:t>
            </a:r>
            <a:r>
              <a:rPr lang="it-IT" dirty="0"/>
              <a:t> </a:t>
            </a:r>
            <a:r>
              <a:rPr lang="it-IT" dirty="0" err="1"/>
              <a:t>roughly</a:t>
            </a:r>
            <a:r>
              <a:rPr lang="it-IT" dirty="0"/>
              <a:t> 16 </a:t>
            </a:r>
            <a:r>
              <a:rPr lang="it-IT" dirty="0" err="1"/>
              <a:t>million</a:t>
            </a:r>
            <a:r>
              <a:rPr lang="it-IT" dirty="0"/>
              <a:t> </a:t>
            </a:r>
            <a:r>
              <a:rPr lang="it-IT" dirty="0" err="1"/>
              <a:t>euros</a:t>
            </a:r>
            <a:r>
              <a:rPr lang="it-IT" dirty="0"/>
              <a:t> of </a:t>
            </a:r>
            <a:r>
              <a:rPr lang="it-IT" dirty="0" err="1"/>
              <a:t>gross</a:t>
            </a:r>
            <a:r>
              <a:rPr lang="it-IT" dirty="0"/>
              <a:t> revenue </a:t>
            </a:r>
            <a:r>
              <a:rPr lang="it-IT" dirty="0" err="1"/>
              <a:t>at</a:t>
            </a:r>
            <a:r>
              <a:rPr lang="it-IT" dirty="0"/>
              <a:t> the </a:t>
            </a:r>
            <a:r>
              <a:rPr lang="it-IT" dirty="0" err="1"/>
              <a:t>mean</a:t>
            </a:r>
            <a:r>
              <a:rPr lang="it-IT" dirty="0"/>
              <a:t> price.</a:t>
            </a:r>
          </a:p>
          <a:p>
            <a:endParaRPr lang="it-IT" dirty="0"/>
          </a:p>
          <a:p>
            <a:r>
              <a:rPr dirty="0"/>
              <a:t>So the producer needs a contract written on the wind itself. That is what this thesis builds and prices.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it-IT"/>
          </a:p>
        </p:txBody>
      </p:sp>
      <p:sp>
        <p:nvSpPr>
          <p:cNvPr id="3" name="Notes Placeholder 2"/>
          <p:cNvSpPr>
            <a:spLocks noGrp="1"/>
          </p:cNvSpPr>
          <p:nvPr>
            <p:ph type="body" sz="quarter" idx="3"/>
          </p:nvPr>
        </p:nvSpPr>
        <p:spPr/>
        <p:txBody>
          <a:bodyPr/>
          <a:lstStyle/>
          <a:p>
            <a:r>
              <a:rPr dirty="0"/>
              <a:t>The thesis </a:t>
            </a:r>
            <a:r>
              <a:rPr lang="it-IT" dirty="0" err="1"/>
              <a:t>answers</a:t>
            </a:r>
            <a:r>
              <a:rPr lang="it-IT" dirty="0"/>
              <a:t> </a:t>
            </a:r>
            <a:r>
              <a:rPr lang="it-IT" dirty="0" err="1"/>
              <a:t>three</a:t>
            </a:r>
            <a:r>
              <a:rPr lang="it-IT" dirty="0"/>
              <a:t> </a:t>
            </a:r>
            <a:r>
              <a:rPr lang="it-IT" dirty="0" err="1"/>
              <a:t>research</a:t>
            </a:r>
            <a:r>
              <a:rPr lang="it-IT" dirty="0"/>
              <a:t> </a:t>
            </a:r>
            <a:r>
              <a:rPr lang="it-IT" dirty="0" err="1"/>
              <a:t>questions</a:t>
            </a:r>
            <a:r>
              <a:rPr lang="it-IT" dirty="0"/>
              <a:t>:</a:t>
            </a:r>
            <a:endParaRPr dirty="0"/>
          </a:p>
          <a:p>
            <a:endParaRPr dirty="0"/>
          </a:p>
          <a:p>
            <a:r>
              <a:rPr lang="it-IT" dirty="0"/>
              <a:t>The first </a:t>
            </a:r>
            <a:r>
              <a:rPr lang="it-IT" dirty="0" err="1"/>
              <a:t>is</a:t>
            </a:r>
            <a:r>
              <a:rPr lang="it-IT" dirty="0"/>
              <a:t> </a:t>
            </a:r>
            <a:r>
              <a:rPr lang="it-IT" dirty="0" err="1"/>
              <a:t>about</a:t>
            </a:r>
            <a:r>
              <a:rPr dirty="0"/>
              <a:t> price. Can a </a:t>
            </a:r>
            <a:r>
              <a:rPr lang="it-IT" dirty="0" err="1"/>
              <a:t>continuous</a:t>
            </a:r>
            <a:r>
              <a:rPr lang="it-IT" dirty="0"/>
              <a:t>-time </a:t>
            </a:r>
            <a:r>
              <a:rPr dirty="0"/>
              <a:t>wind model </a:t>
            </a:r>
            <a:r>
              <a:rPr lang="it-IT" dirty="0" err="1"/>
              <a:t>deliver</a:t>
            </a:r>
            <a:r>
              <a:rPr lang="it-IT" dirty="0"/>
              <a:t> a </a:t>
            </a:r>
            <a:r>
              <a:rPr lang="it-IT" dirty="0" err="1"/>
              <a:t>closed</a:t>
            </a:r>
            <a:r>
              <a:rPr lang="it-IT" dirty="0"/>
              <a:t>-form fair strike for a </a:t>
            </a:r>
            <a:r>
              <a:rPr lang="it-IT" dirty="0" err="1"/>
              <a:t>synthetic</a:t>
            </a:r>
            <a:r>
              <a:rPr lang="it-IT" dirty="0"/>
              <a:t> </a:t>
            </a:r>
            <a:r>
              <a:rPr lang="it-IT" dirty="0" err="1"/>
              <a:t>variance</a:t>
            </a:r>
            <a:r>
              <a:rPr lang="it-IT" dirty="0"/>
              <a:t> swap?</a:t>
            </a:r>
            <a:endParaRPr dirty="0"/>
          </a:p>
          <a:p>
            <a:endParaRPr dirty="0"/>
          </a:p>
          <a:p>
            <a:r>
              <a:rPr lang="it-IT" dirty="0"/>
              <a:t>The second </a:t>
            </a:r>
            <a:r>
              <a:rPr lang="it-IT" dirty="0" err="1"/>
              <a:t>is</a:t>
            </a:r>
            <a:r>
              <a:rPr lang="it-IT" dirty="0"/>
              <a:t> </a:t>
            </a:r>
            <a:r>
              <a:rPr lang="it-IT" dirty="0" err="1"/>
              <a:t>about</a:t>
            </a:r>
            <a:r>
              <a:rPr lang="it-IT" dirty="0"/>
              <a:t> </a:t>
            </a:r>
            <a:r>
              <a:rPr dirty="0" err="1"/>
              <a:t>hedg</a:t>
            </a:r>
            <a:r>
              <a:rPr lang="it-IT" dirty="0" err="1"/>
              <a:t>ing</a:t>
            </a:r>
            <a:r>
              <a:rPr dirty="0"/>
              <a:t>. </a:t>
            </a:r>
            <a:r>
              <a:rPr lang="it-IT" dirty="0"/>
              <a:t>How can </a:t>
            </a:r>
            <a:r>
              <a:rPr lang="it-IT" dirty="0" err="1"/>
              <a:t>we</a:t>
            </a:r>
            <a:r>
              <a:rPr lang="it-IT" dirty="0"/>
              <a:t> cover the </a:t>
            </a:r>
            <a:r>
              <a:rPr lang="it-IT" dirty="0" err="1"/>
              <a:t>left</a:t>
            </a:r>
            <a:r>
              <a:rPr lang="it-IT" dirty="0"/>
              <a:t> </a:t>
            </a:r>
            <a:r>
              <a:rPr lang="it-IT" dirty="0" err="1"/>
              <a:t>tail</a:t>
            </a:r>
            <a:r>
              <a:rPr lang="it-IT" dirty="0"/>
              <a:t>, the </a:t>
            </a:r>
            <a:r>
              <a:rPr lang="it-IT" dirty="0" err="1"/>
              <a:t>prolonged</a:t>
            </a:r>
            <a:r>
              <a:rPr lang="it-IT" dirty="0"/>
              <a:t> </a:t>
            </a:r>
            <a:r>
              <a:rPr lang="it-IT" dirty="0" err="1"/>
              <a:t>calms</a:t>
            </a:r>
            <a:r>
              <a:rPr lang="it-IT" dirty="0"/>
              <a:t> to </a:t>
            </a:r>
            <a:r>
              <a:rPr lang="it-IT" dirty="0" err="1"/>
              <a:t>which</a:t>
            </a:r>
            <a:r>
              <a:rPr lang="it-IT" dirty="0"/>
              <a:t> a </a:t>
            </a:r>
            <a:r>
              <a:rPr lang="it-IT" dirty="0" err="1"/>
              <a:t>variance</a:t>
            </a:r>
            <a:r>
              <a:rPr lang="it-IT" dirty="0"/>
              <a:t> swap </a:t>
            </a:r>
            <a:r>
              <a:rPr lang="it-IT" dirty="0" err="1"/>
              <a:t>is</a:t>
            </a:r>
            <a:r>
              <a:rPr lang="it-IT" dirty="0"/>
              <a:t> blind, with a CAWS </a:t>
            </a:r>
            <a:r>
              <a:rPr lang="it-IT" dirty="0" err="1"/>
              <a:t>contract</a:t>
            </a:r>
            <a:r>
              <a:rPr lang="it-IT" dirty="0"/>
              <a:t>?</a:t>
            </a:r>
            <a:endParaRPr dirty="0"/>
          </a:p>
          <a:p>
            <a:endParaRPr dirty="0"/>
          </a:p>
          <a:p>
            <a:r>
              <a:rPr lang="it-IT" dirty="0"/>
              <a:t>The last and </a:t>
            </a:r>
            <a:r>
              <a:rPr lang="it-IT" dirty="0" err="1"/>
              <a:t>most</a:t>
            </a:r>
            <a:r>
              <a:rPr lang="it-IT" dirty="0"/>
              <a:t> </a:t>
            </a:r>
            <a:r>
              <a:rPr lang="it-IT" dirty="0" err="1"/>
              <a:t>important</a:t>
            </a:r>
            <a:r>
              <a:rPr lang="it-IT" dirty="0"/>
              <a:t> </a:t>
            </a:r>
            <a:r>
              <a:rPr lang="it-IT" dirty="0" err="1"/>
              <a:t>is</a:t>
            </a:r>
            <a:r>
              <a:rPr lang="it-IT" dirty="0"/>
              <a:t> </a:t>
            </a:r>
            <a:r>
              <a:rPr lang="it-IT" dirty="0" err="1"/>
              <a:t>about</a:t>
            </a:r>
            <a:r>
              <a:rPr dirty="0"/>
              <a:t> data. </a:t>
            </a:r>
            <a:r>
              <a:rPr lang="it-IT" dirty="0" err="1"/>
              <a:t>What</a:t>
            </a:r>
            <a:r>
              <a:rPr lang="it-IT" dirty="0"/>
              <a:t> </a:t>
            </a:r>
            <a:r>
              <a:rPr lang="it-IT" dirty="0" err="1"/>
              <a:t>is</a:t>
            </a:r>
            <a:r>
              <a:rPr lang="it-IT" dirty="0"/>
              <a:t> the </a:t>
            </a:r>
            <a:r>
              <a:rPr lang="it-IT" dirty="0" err="1"/>
              <a:t>value</a:t>
            </a:r>
            <a:r>
              <a:rPr lang="it-IT" dirty="0"/>
              <a:t> of information, </a:t>
            </a:r>
            <a:r>
              <a:rPr lang="it-IT" dirty="0" err="1"/>
              <a:t>that</a:t>
            </a:r>
            <a:r>
              <a:rPr lang="it-IT" dirty="0"/>
              <a:t> </a:t>
            </a:r>
            <a:r>
              <a:rPr lang="it-IT" dirty="0" err="1"/>
              <a:t>is</a:t>
            </a:r>
            <a:r>
              <a:rPr lang="it-IT" dirty="0"/>
              <a:t>, the pricing cost of </a:t>
            </a:r>
            <a:r>
              <a:rPr lang="it-IT" dirty="0" err="1"/>
              <a:t>calibrating</a:t>
            </a:r>
            <a:r>
              <a:rPr lang="it-IT" dirty="0"/>
              <a:t> the </a:t>
            </a:r>
            <a:r>
              <a:rPr lang="it-IT" dirty="0" err="1"/>
              <a:t>same</a:t>
            </a:r>
            <a:r>
              <a:rPr lang="it-IT" dirty="0"/>
              <a:t> model on an </a:t>
            </a:r>
            <a:r>
              <a:rPr lang="it-IT" dirty="0" err="1"/>
              <a:t>imperfect</a:t>
            </a:r>
            <a:r>
              <a:rPr lang="it-IT" dirty="0"/>
              <a:t> proxy </a:t>
            </a:r>
            <a:r>
              <a:rPr lang="it-IT" dirty="0" err="1"/>
              <a:t>rather</a:t>
            </a:r>
            <a:r>
              <a:rPr lang="it-IT" dirty="0"/>
              <a:t> </a:t>
            </a:r>
            <a:r>
              <a:rPr lang="it-IT" dirty="0" err="1"/>
              <a:t>than</a:t>
            </a:r>
            <a:r>
              <a:rPr lang="it-IT" dirty="0"/>
              <a:t> on data </a:t>
            </a:r>
            <a:r>
              <a:rPr lang="it-IT" dirty="0" err="1"/>
              <a:t>aligned</a:t>
            </a:r>
            <a:r>
              <a:rPr lang="it-IT" dirty="0"/>
              <a:t> in </a:t>
            </a:r>
            <a:r>
              <a:rPr lang="it-IT" dirty="0" err="1"/>
              <a:t>height</a:t>
            </a:r>
            <a:r>
              <a:rPr lang="it-IT" dirty="0"/>
              <a:t> and </a:t>
            </a:r>
            <a:r>
              <a:rPr lang="it-IT" dirty="0" err="1"/>
              <a:t>geography</a:t>
            </a:r>
            <a:r>
              <a:rPr lang="it-IT" dirty="0"/>
              <a:t>?</a:t>
            </a:r>
            <a:endParaRPr dirty="0"/>
          </a:p>
          <a:p>
            <a:endParaRPr dirty="0"/>
          </a:p>
          <a:p>
            <a:r>
              <a:rPr dirty="0"/>
              <a:t>One assumption holds </a:t>
            </a:r>
            <a:r>
              <a:rPr dirty="0" err="1"/>
              <a:t>throughou</a:t>
            </a:r>
            <a:r>
              <a:rPr lang="it-IT" dirty="0"/>
              <a:t>t:</a:t>
            </a:r>
            <a:r>
              <a:rPr dirty="0"/>
              <a:t> θ = 0 is adopted as a benchmark assumption, in the absence of EEX option-implied data. </a:t>
            </a:r>
            <a:r>
              <a:rPr lang="it-IT" dirty="0"/>
              <a:t>T</a:t>
            </a:r>
            <a:r>
              <a:rPr dirty="0"/>
              <a:t>here is no option market to estimate a risk premium from, so every price I show is an expected value.</a:t>
            </a:r>
          </a:p>
        </p:txBody>
      </p:sp>
      <p:sp>
        <p:nvSpPr>
          <p:cNvPr id="4" name="Slide Number Placeholder 3"/>
          <p:cNvSpPr>
            <a:spLocks noGrp="1"/>
          </p:cNvSpPr>
          <p:nvPr>
            <p:ph type="sldNum" sz="quarter" idx="5"/>
          </p:nvPr>
        </p:nvSpPr>
        <p:spPr/>
        <p:txBody>
          <a:bodyPr/>
          <a:lstStyle/>
          <a:p>
            <a:endParaRPr lang="it-I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it-IT" dirty="0"/>
              <a:t>The study </a:t>
            </a:r>
            <a:r>
              <a:rPr lang="it-IT" dirty="0" err="1"/>
              <a:t>rests</a:t>
            </a:r>
            <a:r>
              <a:rPr lang="it-IT" dirty="0"/>
              <a:t> on </a:t>
            </a:r>
            <a:r>
              <a:rPr lang="it-IT" dirty="0" err="1"/>
              <a:t>two</a:t>
            </a:r>
            <a:r>
              <a:rPr lang="it-IT" dirty="0"/>
              <a:t> datasets </a:t>
            </a:r>
            <a:r>
              <a:rPr lang="it-IT" dirty="0" err="1"/>
              <a:t>processed</a:t>
            </a:r>
            <a:r>
              <a:rPr lang="it-IT" dirty="0"/>
              <a:t> by one </a:t>
            </a:r>
            <a:r>
              <a:rPr lang="it-IT" dirty="0" err="1"/>
              <a:t>identical</a:t>
            </a:r>
            <a:r>
              <a:rPr lang="it-IT" dirty="0"/>
              <a:t> pipeline. </a:t>
            </a:r>
          </a:p>
          <a:p>
            <a:endParaRPr lang="en-US" dirty="0"/>
          </a:p>
          <a:p>
            <a:r>
              <a:rPr lang="en-US" dirty="0"/>
              <a:t>Dataset A is a proxy: wind speed for Bologna, four years of daily observations measured at 10 </a:t>
            </a:r>
            <a:r>
              <a:rPr lang="en-US" dirty="0" err="1"/>
              <a:t>metres</a:t>
            </a:r>
            <a:r>
              <a:rPr lang="en-US" dirty="0"/>
              <a:t>. It is where the methodology was built and validated.</a:t>
            </a:r>
          </a:p>
          <a:p>
            <a:endParaRPr lang="en-US" dirty="0"/>
          </a:p>
          <a:p>
            <a:r>
              <a:rPr lang="en-US" dirty="0"/>
              <a:t>Dataset B is the reference: wind in northern Germany, specifically </a:t>
            </a:r>
            <a:r>
              <a:rPr lang="en-US" dirty="0" err="1"/>
              <a:t>Nordfriesland</a:t>
            </a:r>
            <a:r>
              <a:rPr lang="en-US" dirty="0"/>
              <a:t> that is the densest onshore wind corridor (a big area for wind electricity production), ten years of daily observations </a:t>
            </a:r>
            <a:r>
              <a:rPr lang="en-US" dirty="0" err="1"/>
              <a:t>mesaured</a:t>
            </a:r>
            <a:r>
              <a:rPr lang="en-US" dirty="0"/>
              <a:t> at 100 </a:t>
            </a:r>
            <a:r>
              <a:rPr lang="en-US" dirty="0" err="1"/>
              <a:t>metres</a:t>
            </a:r>
            <a:r>
              <a:rPr lang="en-US" dirty="0"/>
              <a:t>, the height of a turbine and a significantly higher mean.</a:t>
            </a:r>
          </a:p>
          <a:p>
            <a:endParaRPr lang="en-US" dirty="0"/>
          </a:p>
          <a:p>
            <a:r>
              <a:rPr lang="it-IT" dirty="0" err="1"/>
              <a:t>Because</a:t>
            </a:r>
            <a:r>
              <a:rPr lang="it-IT" dirty="0"/>
              <a:t> the pipeline </a:t>
            </a:r>
            <a:r>
              <a:rPr lang="it-IT" dirty="0" err="1"/>
              <a:t>is</a:t>
            </a:r>
            <a:r>
              <a:rPr lang="it-IT" dirty="0"/>
              <a:t> </a:t>
            </a:r>
            <a:r>
              <a:rPr lang="it-IT" dirty="0" err="1"/>
              <a:t>identical</a:t>
            </a:r>
            <a:r>
              <a:rPr lang="it-IT" dirty="0"/>
              <a:t>, </a:t>
            </a:r>
            <a:r>
              <a:rPr lang="it-IT" dirty="0" err="1"/>
              <a:t>any</a:t>
            </a:r>
            <a:r>
              <a:rPr lang="it-IT" dirty="0"/>
              <a:t> </a:t>
            </a:r>
            <a:r>
              <a:rPr lang="it-IT" dirty="0" err="1"/>
              <a:t>difference</a:t>
            </a:r>
            <a:r>
              <a:rPr lang="it-IT" dirty="0"/>
              <a:t> in the </a:t>
            </a:r>
            <a:r>
              <a:rPr lang="it-IT" dirty="0" err="1"/>
              <a:t>resulting</a:t>
            </a:r>
            <a:r>
              <a:rPr lang="it-IT" dirty="0"/>
              <a:t> price </a:t>
            </a:r>
            <a:r>
              <a:rPr lang="it-IT" dirty="0" err="1"/>
              <a:t>is</a:t>
            </a:r>
            <a:r>
              <a:rPr lang="it-IT" dirty="0"/>
              <a:t> </a:t>
            </a:r>
            <a:r>
              <a:rPr lang="it-IT" dirty="0" err="1"/>
              <a:t>attributable</a:t>
            </a:r>
            <a:r>
              <a:rPr lang="it-IT" dirty="0"/>
              <a:t> to the data.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it-IT"/>
          </a:p>
        </p:txBody>
      </p:sp>
      <p:sp>
        <p:nvSpPr>
          <p:cNvPr id="3" name="Notes Placeholder 2"/>
          <p:cNvSpPr>
            <a:spLocks noGrp="1"/>
          </p:cNvSpPr>
          <p:nvPr>
            <p:ph type="body" sz="quarter" idx="3"/>
          </p:nvPr>
        </p:nvSpPr>
        <p:spPr/>
        <p:txBody>
          <a:bodyPr/>
          <a:lstStyle/>
          <a:p>
            <a:r>
              <a:rPr lang="it-IT" dirty="0"/>
              <a:t>The </a:t>
            </a:r>
            <a:r>
              <a:rPr lang="it-IT" dirty="0" err="1"/>
              <a:t>modelling</a:t>
            </a:r>
            <a:r>
              <a:rPr lang="it-IT" dirty="0"/>
              <a:t> </a:t>
            </a:r>
            <a:r>
              <a:rPr lang="it-IT" dirty="0" err="1"/>
              <a:t>proceeds</a:t>
            </a:r>
            <a:r>
              <a:rPr lang="it-IT" dirty="0"/>
              <a:t> in </a:t>
            </a:r>
            <a:r>
              <a:rPr lang="it-IT" dirty="0" err="1"/>
              <a:t>five</a:t>
            </a:r>
            <a:r>
              <a:rPr lang="it-IT" dirty="0"/>
              <a:t> stages. </a:t>
            </a:r>
          </a:p>
          <a:p>
            <a:r>
              <a:rPr lang="it-IT" dirty="0"/>
              <a:t>First, a Box–Cox </a:t>
            </a:r>
            <a:r>
              <a:rPr lang="it-IT" dirty="0" err="1"/>
              <a:t>transformation</a:t>
            </a:r>
            <a:r>
              <a:rPr lang="it-IT" dirty="0"/>
              <a:t> and a Fourier </a:t>
            </a:r>
            <a:r>
              <a:rPr lang="it-IT" dirty="0" err="1"/>
              <a:t>decomposition</a:t>
            </a:r>
            <a:r>
              <a:rPr lang="it-IT" dirty="0"/>
              <a:t> </a:t>
            </a:r>
            <a:r>
              <a:rPr lang="it-IT" dirty="0" err="1"/>
              <a:t>remove</a:t>
            </a:r>
            <a:r>
              <a:rPr lang="it-IT" dirty="0"/>
              <a:t> </a:t>
            </a:r>
            <a:r>
              <a:rPr lang="it-IT" dirty="0" err="1"/>
              <a:t>seasonality</a:t>
            </a:r>
            <a:r>
              <a:rPr lang="it-IT" dirty="0"/>
              <a:t> in the </a:t>
            </a:r>
            <a:r>
              <a:rPr lang="it-IT" dirty="0" err="1"/>
              <a:t>mean</a:t>
            </a:r>
            <a:r>
              <a:rPr lang="it-IT" dirty="0"/>
              <a:t> and the </a:t>
            </a:r>
            <a:r>
              <a:rPr lang="it-IT" dirty="0" err="1"/>
              <a:t>variance</a:t>
            </a:r>
            <a:r>
              <a:rPr lang="it-IT" dirty="0"/>
              <a:t>. </a:t>
            </a:r>
            <a:r>
              <a:rPr lang="it-IT" dirty="0" err="1"/>
              <a:t>This</a:t>
            </a:r>
            <a:r>
              <a:rPr lang="it-IT" dirty="0"/>
              <a:t> stage </a:t>
            </a:r>
            <a:r>
              <a:rPr lang="it-IT" dirty="0" err="1"/>
              <a:t>delivers</a:t>
            </a:r>
            <a:r>
              <a:rPr lang="it-IT" dirty="0"/>
              <a:t> the </a:t>
            </a:r>
            <a:r>
              <a:rPr lang="it-IT" dirty="0" err="1"/>
              <a:t>standardised</a:t>
            </a:r>
            <a:r>
              <a:rPr lang="it-IT" dirty="0"/>
              <a:t> </a:t>
            </a:r>
            <a:r>
              <a:rPr lang="it-IT" dirty="0" err="1"/>
              <a:t>series</a:t>
            </a:r>
            <a:r>
              <a:rPr lang="it-IT" dirty="0"/>
              <a:t> and the </a:t>
            </a:r>
            <a:r>
              <a:rPr lang="it-IT" dirty="0" err="1"/>
              <a:t>seasonal</a:t>
            </a:r>
            <a:r>
              <a:rPr lang="it-IT" dirty="0"/>
              <a:t> </a:t>
            </a:r>
            <a:r>
              <a:rPr lang="it-IT" dirty="0" err="1"/>
              <a:t>variance</a:t>
            </a:r>
            <a:r>
              <a:rPr lang="it-IT" dirty="0"/>
              <a:t> </a:t>
            </a:r>
            <a:r>
              <a:rPr lang="it-IT" dirty="0" err="1"/>
              <a:t>level</a:t>
            </a:r>
            <a:r>
              <a:rPr lang="it-IT" dirty="0"/>
              <a:t> C₀, </a:t>
            </a:r>
            <a:r>
              <a:rPr lang="it-IT" dirty="0" err="1"/>
              <a:t>which</a:t>
            </a:r>
            <a:r>
              <a:rPr lang="it-IT" dirty="0"/>
              <a:t> </a:t>
            </a:r>
            <a:r>
              <a:rPr lang="it-IT" dirty="0" err="1"/>
              <a:t>represents</a:t>
            </a:r>
            <a:r>
              <a:rPr lang="it-IT" dirty="0"/>
              <a:t> </a:t>
            </a:r>
            <a:r>
              <a:rPr lang="it-IT" dirty="0" err="1"/>
              <a:t>how</a:t>
            </a:r>
            <a:r>
              <a:rPr lang="it-IT" dirty="0"/>
              <a:t> </a:t>
            </a:r>
            <a:r>
              <a:rPr lang="it-IT" dirty="0" err="1"/>
              <a:t>variable</a:t>
            </a:r>
            <a:r>
              <a:rPr lang="it-IT" dirty="0"/>
              <a:t> wind </a:t>
            </a:r>
            <a:r>
              <a:rPr lang="it-IT" dirty="0" err="1"/>
              <a:t>is</a:t>
            </a:r>
            <a:r>
              <a:rPr lang="it-IT" dirty="0"/>
              <a:t> over a </a:t>
            </a:r>
            <a:r>
              <a:rPr lang="it-IT" dirty="0" err="1"/>
              <a:t>year</a:t>
            </a:r>
            <a:r>
              <a:rPr lang="it-IT" dirty="0"/>
              <a:t>.</a:t>
            </a:r>
          </a:p>
          <a:p>
            <a:r>
              <a:rPr lang="it-IT" dirty="0"/>
              <a:t> </a:t>
            </a:r>
          </a:p>
          <a:p>
            <a:r>
              <a:rPr lang="it-IT" dirty="0"/>
              <a:t>Second, an AR(4) models the </a:t>
            </a:r>
            <a:r>
              <a:rPr lang="it-IT" dirty="0" err="1"/>
              <a:t>conditional</a:t>
            </a:r>
            <a:r>
              <a:rPr lang="it-IT" dirty="0"/>
              <a:t> </a:t>
            </a:r>
            <a:r>
              <a:rPr lang="it-IT" dirty="0" err="1"/>
              <a:t>mean</a:t>
            </a:r>
            <a:r>
              <a:rPr lang="it-IT" dirty="0"/>
              <a:t> and </a:t>
            </a:r>
            <a:r>
              <a:rPr lang="it-IT" dirty="0" err="1"/>
              <a:t>improves</a:t>
            </a:r>
            <a:r>
              <a:rPr lang="it-IT" dirty="0"/>
              <a:t> on </a:t>
            </a:r>
            <a:r>
              <a:rPr lang="it-IT" dirty="0" err="1"/>
              <a:t>persistence</a:t>
            </a:r>
            <a:r>
              <a:rPr lang="it-IT" dirty="0"/>
              <a:t>, </a:t>
            </a:r>
            <a:r>
              <a:rPr lang="it-IT" dirty="0" err="1"/>
              <a:t>capturing</a:t>
            </a:r>
            <a:r>
              <a:rPr lang="it-IT" dirty="0"/>
              <a:t> </a:t>
            </a:r>
            <a:r>
              <a:rPr lang="it-IT" dirty="0" err="1"/>
              <a:t>memory</a:t>
            </a:r>
            <a:r>
              <a:rPr dirty="0"/>
              <a:t>: a windy day tends to follow a windy day.</a:t>
            </a:r>
            <a:endParaRPr lang="it-IT" dirty="0"/>
          </a:p>
          <a:p>
            <a:endParaRPr dirty="0"/>
          </a:p>
          <a:p>
            <a:r>
              <a:rPr lang="it-IT" dirty="0"/>
              <a:t>Third, a GARCH(1,1) models the </a:t>
            </a:r>
            <a:r>
              <a:rPr lang="it-IT" dirty="0" err="1"/>
              <a:t>conditional</a:t>
            </a:r>
            <a:r>
              <a:rPr lang="it-IT" dirty="0"/>
              <a:t> </a:t>
            </a:r>
            <a:r>
              <a:rPr lang="it-IT" dirty="0" err="1"/>
              <a:t>variance</a:t>
            </a:r>
            <a:r>
              <a:rPr lang="it-IT" dirty="0"/>
              <a:t> and </a:t>
            </a:r>
            <a:r>
              <a:rPr lang="it-IT" dirty="0" err="1"/>
              <a:t>delivers</a:t>
            </a:r>
            <a:r>
              <a:rPr lang="it-IT" dirty="0"/>
              <a:t> the </a:t>
            </a:r>
            <a:r>
              <a:rPr lang="it-IT" dirty="0" err="1"/>
              <a:t>volatility</a:t>
            </a:r>
            <a:r>
              <a:rPr lang="it-IT" dirty="0"/>
              <a:t> state </a:t>
            </a:r>
            <a:r>
              <a:rPr lang="it-IT" dirty="0" err="1"/>
              <a:t>at</a:t>
            </a:r>
            <a:r>
              <a:rPr lang="it-IT" dirty="0"/>
              <a:t> the pricing date, h(t₀), </a:t>
            </a:r>
            <a:r>
              <a:rPr lang="it-IT" dirty="0" err="1"/>
              <a:t>which</a:t>
            </a:r>
            <a:r>
              <a:rPr lang="it-IT" dirty="0"/>
              <a:t> </a:t>
            </a:r>
            <a:r>
              <a:rPr lang="it-IT" dirty="0" err="1"/>
              <a:t>represents</a:t>
            </a:r>
            <a:r>
              <a:rPr lang="it-IT" dirty="0"/>
              <a:t> </a:t>
            </a:r>
            <a:r>
              <a:rPr lang="it-IT" dirty="0" err="1"/>
              <a:t>how</a:t>
            </a:r>
            <a:r>
              <a:rPr lang="it-IT" dirty="0"/>
              <a:t> </a:t>
            </a:r>
            <a:r>
              <a:rPr lang="it-IT" dirty="0" err="1"/>
              <a:t>variable</a:t>
            </a:r>
            <a:r>
              <a:rPr lang="it-IT" dirty="0"/>
              <a:t> the wind </a:t>
            </a:r>
            <a:r>
              <a:rPr lang="it-IT" dirty="0" err="1"/>
              <a:t>is</a:t>
            </a:r>
            <a:r>
              <a:rPr lang="it-IT" dirty="0"/>
              <a:t> </a:t>
            </a:r>
            <a:r>
              <a:rPr lang="it-IT" dirty="0" err="1"/>
              <a:t>today</a:t>
            </a:r>
            <a:r>
              <a:rPr lang="it-IT" dirty="0"/>
              <a:t>. </a:t>
            </a:r>
          </a:p>
          <a:p>
            <a:endParaRPr dirty="0"/>
          </a:p>
          <a:p>
            <a:r>
              <a:rPr lang="it-IT" dirty="0" err="1"/>
              <a:t>Fourth</a:t>
            </a:r>
            <a:r>
              <a:rPr lang="it-IT" dirty="0"/>
              <a:t>, the CAR(4) </a:t>
            </a:r>
            <a:r>
              <a:rPr lang="it-IT" dirty="0" err="1"/>
              <a:t>embedding</a:t>
            </a:r>
            <a:r>
              <a:rPr lang="it-IT" dirty="0"/>
              <a:t> </a:t>
            </a:r>
            <a:r>
              <a:rPr lang="it-IT" dirty="0" err="1"/>
              <a:t>moves</a:t>
            </a:r>
            <a:r>
              <a:rPr lang="it-IT" dirty="0"/>
              <a:t> the model to </a:t>
            </a:r>
            <a:r>
              <a:rPr lang="it-IT" dirty="0" err="1"/>
              <a:t>continuous</a:t>
            </a:r>
            <a:r>
              <a:rPr lang="it-IT" dirty="0"/>
              <a:t> time, so </a:t>
            </a:r>
            <a:r>
              <a:rPr lang="it-IT" dirty="0" err="1"/>
              <a:t>that</a:t>
            </a:r>
            <a:r>
              <a:rPr lang="it-IT" dirty="0"/>
              <a:t> a </a:t>
            </a:r>
            <a:r>
              <a:rPr lang="it-IT" dirty="0" err="1"/>
              <a:t>contract</a:t>
            </a:r>
            <a:r>
              <a:rPr lang="it-IT" dirty="0"/>
              <a:t> can be </a:t>
            </a:r>
            <a:r>
              <a:rPr lang="it-IT" dirty="0" err="1"/>
              <a:t>priced</a:t>
            </a:r>
            <a:r>
              <a:rPr lang="it-IT" dirty="0"/>
              <a:t> </a:t>
            </a:r>
            <a:r>
              <a:rPr lang="it-IT" dirty="0" err="1"/>
              <a:t>at</a:t>
            </a:r>
            <a:r>
              <a:rPr lang="it-IT" dirty="0"/>
              <a:t> </a:t>
            </a:r>
            <a:r>
              <a:rPr lang="it-IT" dirty="0" err="1"/>
              <a:t>any</a:t>
            </a:r>
            <a:r>
              <a:rPr lang="it-IT" dirty="0"/>
              <a:t> </a:t>
            </a:r>
            <a:r>
              <a:rPr lang="it-IT" dirty="0" err="1"/>
              <a:t>maturity</a:t>
            </a:r>
            <a:r>
              <a:rPr lang="it-IT" dirty="0"/>
              <a:t>. </a:t>
            </a:r>
          </a:p>
          <a:p>
            <a:endParaRPr lang="it-IT" dirty="0"/>
          </a:p>
          <a:p>
            <a:r>
              <a:rPr lang="it-IT" dirty="0"/>
              <a:t>Fifth, Heston–CIR </a:t>
            </a:r>
            <a:r>
              <a:rPr lang="it-IT" dirty="0" err="1"/>
              <a:t>stochastic</a:t>
            </a:r>
            <a:r>
              <a:rPr lang="it-IT" dirty="0"/>
              <a:t> </a:t>
            </a:r>
            <a:r>
              <a:rPr lang="it-IT" dirty="0" err="1"/>
              <a:t>volatility</a:t>
            </a:r>
            <a:r>
              <a:rPr lang="it-IT" dirty="0"/>
              <a:t> </a:t>
            </a:r>
            <a:r>
              <a:rPr lang="it-IT" dirty="0" err="1"/>
              <a:t>is</a:t>
            </a:r>
            <a:r>
              <a:rPr lang="it-IT" dirty="0"/>
              <a:t> </a:t>
            </a:r>
            <a:r>
              <a:rPr lang="it-IT" dirty="0" err="1"/>
              <a:t>purely</a:t>
            </a:r>
            <a:r>
              <a:rPr lang="it-IT" dirty="0"/>
              <a:t> </a:t>
            </a:r>
            <a:r>
              <a:rPr lang="it-IT" dirty="0" err="1"/>
              <a:t>theoretical</a:t>
            </a:r>
            <a:r>
              <a:rPr lang="it-IT" dirty="0"/>
              <a:t>: </a:t>
            </a:r>
            <a:r>
              <a:rPr lang="it-IT" dirty="0" err="1"/>
              <a:t>daily</a:t>
            </a:r>
            <a:r>
              <a:rPr lang="it-IT" dirty="0"/>
              <a:t> data </a:t>
            </a:r>
            <a:r>
              <a:rPr lang="it-IT" dirty="0" err="1"/>
              <a:t>cannot</a:t>
            </a:r>
            <a:r>
              <a:rPr lang="it-IT" dirty="0"/>
              <a:t> </a:t>
            </a:r>
            <a:r>
              <a:rPr lang="it-IT" dirty="0" err="1"/>
              <a:t>identify</a:t>
            </a:r>
            <a:r>
              <a:rPr lang="it-IT" dirty="0"/>
              <a:t> </a:t>
            </a:r>
            <a:r>
              <a:rPr lang="it-IT" dirty="0" err="1"/>
              <a:t>its</a:t>
            </a:r>
            <a:r>
              <a:rPr lang="it-IT" dirty="0"/>
              <a:t> </a:t>
            </a:r>
            <a:r>
              <a:rPr lang="it-IT" dirty="0" err="1"/>
              <a:t>parameters</a:t>
            </a:r>
            <a:r>
              <a:rPr lang="it-IT" dirty="0"/>
              <a:t>, so </a:t>
            </a:r>
            <a:r>
              <a:rPr lang="it-IT" dirty="0" err="1"/>
              <a:t>it</a:t>
            </a:r>
            <a:r>
              <a:rPr lang="it-IT" dirty="0"/>
              <a:t> </a:t>
            </a:r>
            <a:r>
              <a:rPr lang="it-IT" dirty="0" err="1"/>
              <a:t>does</a:t>
            </a:r>
            <a:r>
              <a:rPr lang="it-IT" dirty="0"/>
              <a:t> </a:t>
            </a:r>
            <a:r>
              <a:rPr lang="it-IT" dirty="0" err="1"/>
              <a:t>not</a:t>
            </a:r>
            <a:r>
              <a:rPr lang="it-IT" dirty="0"/>
              <a:t> </a:t>
            </a:r>
            <a:r>
              <a:rPr lang="it-IT" dirty="0" err="1"/>
              <a:t>enter</a:t>
            </a:r>
            <a:r>
              <a:rPr lang="it-IT" dirty="0"/>
              <a:t> the price. </a:t>
            </a:r>
          </a:p>
          <a:p>
            <a:endParaRPr lang="it-IT" dirty="0"/>
          </a:p>
          <a:p>
            <a:r>
              <a:rPr lang="it-IT" dirty="0"/>
              <a:t>The fair strike K, under a </a:t>
            </a:r>
            <a:r>
              <a:rPr lang="it-IT" dirty="0" err="1"/>
              <a:t>piecewise-constant</a:t>
            </a:r>
            <a:r>
              <a:rPr lang="it-IT" dirty="0"/>
              <a:t> h and following the benchmark θ = 0, </a:t>
            </a:r>
            <a:r>
              <a:rPr lang="it-IT" dirty="0" err="1"/>
              <a:t>is</a:t>
            </a:r>
            <a:r>
              <a:rPr lang="it-IT" dirty="0"/>
              <a:t> h(t₀) times C₀.</a:t>
            </a:r>
            <a:endParaRPr dirty="0"/>
          </a:p>
        </p:txBody>
      </p:sp>
      <p:sp>
        <p:nvSpPr>
          <p:cNvPr id="4" name="Slide Number Placeholder 3"/>
          <p:cNvSpPr>
            <a:spLocks noGrp="1"/>
          </p:cNvSpPr>
          <p:nvPr>
            <p:ph type="sldNum" sz="quarter" idx="5"/>
          </p:nvPr>
        </p:nvSpPr>
        <p:spPr/>
        <p:txBody>
          <a:bodyPr/>
          <a:lstStyle/>
          <a:p>
            <a:endParaRPr lang="it-IT"/>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it-IT"/>
          </a:p>
        </p:txBody>
      </p:sp>
      <p:sp>
        <p:nvSpPr>
          <p:cNvPr id="3" name="Notes Placeholder 2"/>
          <p:cNvSpPr>
            <a:spLocks noGrp="1"/>
          </p:cNvSpPr>
          <p:nvPr>
            <p:ph type="body" sz="quarter" idx="3"/>
          </p:nvPr>
        </p:nvSpPr>
        <p:spPr/>
        <p:txBody>
          <a:bodyPr/>
          <a:lstStyle/>
          <a:p>
            <a:r>
              <a:rPr dirty="0"/>
              <a:t>The contract</a:t>
            </a:r>
            <a:r>
              <a:rPr lang="it-IT" dirty="0"/>
              <a:t> </a:t>
            </a:r>
            <a:r>
              <a:rPr lang="it-IT" dirty="0" err="1"/>
              <a:t>we</a:t>
            </a:r>
            <a:r>
              <a:rPr lang="it-IT" dirty="0"/>
              <a:t> are pricing</a:t>
            </a:r>
            <a:r>
              <a:rPr dirty="0"/>
              <a:t> is a variance swap on German wind generation. It pays the </a:t>
            </a:r>
            <a:r>
              <a:rPr dirty="0" err="1"/>
              <a:t>realised</a:t>
            </a:r>
            <a:r>
              <a:rPr dirty="0"/>
              <a:t> variability of wind output, minus a fixed strike. The producer sells it: </a:t>
            </a:r>
            <a:r>
              <a:rPr lang="it-IT" dirty="0" err="1"/>
              <a:t>it</a:t>
            </a:r>
            <a:r>
              <a:rPr lang="it-IT" dirty="0"/>
              <a:t> </a:t>
            </a:r>
            <a:r>
              <a:rPr lang="it-IT" dirty="0" err="1"/>
              <a:t>receives</a:t>
            </a:r>
            <a:r>
              <a:rPr lang="it-IT" dirty="0"/>
              <a:t> the </a:t>
            </a:r>
            <a:r>
              <a:rPr lang="it-IT" dirty="0" err="1"/>
              <a:t>fixed</a:t>
            </a:r>
            <a:r>
              <a:rPr lang="it-IT" dirty="0"/>
              <a:t> strike and </a:t>
            </a:r>
            <a:r>
              <a:rPr lang="it-IT" dirty="0" err="1"/>
              <a:t>pays</a:t>
            </a:r>
            <a:r>
              <a:rPr lang="it-IT" dirty="0"/>
              <a:t> the </a:t>
            </a:r>
            <a:r>
              <a:rPr lang="it-IT" dirty="0" err="1"/>
              <a:t>realised</a:t>
            </a:r>
            <a:r>
              <a:rPr lang="it-IT" dirty="0"/>
              <a:t> </a:t>
            </a:r>
            <a:r>
              <a:rPr lang="it-IT" dirty="0" err="1"/>
              <a:t>variance</a:t>
            </a:r>
            <a:r>
              <a:rPr lang="it-IT" dirty="0"/>
              <a:t>, so </a:t>
            </a:r>
            <a:r>
              <a:rPr lang="it-IT" dirty="0" err="1"/>
              <a:t>it</a:t>
            </a:r>
            <a:r>
              <a:rPr lang="it-IT" dirty="0"/>
              <a:t> gains </a:t>
            </a:r>
            <a:r>
              <a:rPr lang="it-IT" dirty="0" err="1"/>
              <a:t>when</a:t>
            </a:r>
            <a:r>
              <a:rPr lang="it-IT" dirty="0"/>
              <a:t> output </a:t>
            </a:r>
            <a:r>
              <a:rPr lang="it-IT" dirty="0" err="1"/>
              <a:t>is</a:t>
            </a:r>
            <a:r>
              <a:rPr lang="it-IT" dirty="0"/>
              <a:t> </a:t>
            </a:r>
            <a:r>
              <a:rPr lang="it-IT" dirty="0" err="1"/>
              <a:t>stable</a:t>
            </a:r>
            <a:r>
              <a:rPr lang="it-IT" dirty="0"/>
              <a:t> and </a:t>
            </a:r>
            <a:r>
              <a:rPr lang="it-IT" dirty="0" err="1"/>
              <a:t>loses</a:t>
            </a:r>
            <a:r>
              <a:rPr lang="it-IT" dirty="0"/>
              <a:t> </a:t>
            </a:r>
            <a:r>
              <a:rPr lang="it-IT" dirty="0" err="1"/>
              <a:t>when</a:t>
            </a:r>
            <a:r>
              <a:rPr lang="it-IT" dirty="0"/>
              <a:t> </a:t>
            </a:r>
            <a:r>
              <a:rPr lang="it-IT" dirty="0" err="1"/>
              <a:t>it</a:t>
            </a:r>
            <a:r>
              <a:rPr lang="it-IT" dirty="0"/>
              <a:t> </a:t>
            </a:r>
            <a:r>
              <a:rPr lang="it-IT" dirty="0" err="1"/>
              <a:t>is</a:t>
            </a:r>
            <a:r>
              <a:rPr lang="it-IT" dirty="0"/>
              <a:t> </a:t>
            </a:r>
            <a:r>
              <a:rPr lang="it-IT" dirty="0" err="1"/>
              <a:t>unstable</a:t>
            </a:r>
            <a:r>
              <a:rPr lang="it-IT" dirty="0"/>
              <a:t>.</a:t>
            </a:r>
            <a:endParaRPr dirty="0"/>
          </a:p>
          <a:p>
            <a:endParaRPr dirty="0"/>
          </a:p>
          <a:p>
            <a:r>
              <a:rPr dirty="0"/>
              <a:t>The market benchmark is simple: the </a:t>
            </a:r>
            <a:r>
              <a:rPr dirty="0" err="1"/>
              <a:t>realised</a:t>
            </a:r>
            <a:r>
              <a:rPr dirty="0"/>
              <a:t> variance of German wind generation over ten years</a:t>
            </a:r>
            <a:r>
              <a:rPr lang="it-IT" dirty="0"/>
              <a:t> </a:t>
            </a:r>
            <a:r>
              <a:rPr lang="it-IT" dirty="0" err="1"/>
              <a:t>it’s</a:t>
            </a:r>
            <a:r>
              <a:rPr lang="it-IT" dirty="0"/>
              <a:t> </a:t>
            </a:r>
            <a:r>
              <a:rPr dirty="0"/>
              <a:t>113</a:t>
            </a:r>
            <a:r>
              <a:rPr lang="it-IT" dirty="0"/>
              <a:t>.1.</a:t>
            </a:r>
            <a:endParaRPr dirty="0"/>
          </a:p>
          <a:p>
            <a:endParaRPr dirty="0"/>
          </a:p>
          <a:p>
            <a:r>
              <a:rPr dirty="0"/>
              <a:t>The model gives </a:t>
            </a:r>
            <a:r>
              <a:rPr lang="it-IT" dirty="0"/>
              <a:t>328.8,</a:t>
            </a:r>
            <a:r>
              <a:rPr dirty="0"/>
              <a:t> once its number is converted into the same units. </a:t>
            </a:r>
            <a:r>
              <a:rPr lang="it-IT" dirty="0"/>
              <a:t>So </a:t>
            </a:r>
            <a:r>
              <a:rPr lang="it-IT" dirty="0" err="1"/>
              <a:t>it</a:t>
            </a:r>
            <a:r>
              <a:rPr lang="it-IT" dirty="0"/>
              <a:t> </a:t>
            </a:r>
            <a:r>
              <a:rPr lang="it-IT" dirty="0" err="1"/>
              <a:t>has</a:t>
            </a:r>
            <a:r>
              <a:rPr lang="it-IT" dirty="0"/>
              <a:t> the </a:t>
            </a:r>
            <a:r>
              <a:rPr lang="it-IT" dirty="0" err="1"/>
              <a:t>same</a:t>
            </a:r>
            <a:r>
              <a:rPr lang="it-IT" dirty="0"/>
              <a:t> </a:t>
            </a:r>
            <a:r>
              <a:rPr lang="it-IT" dirty="0" err="1"/>
              <a:t>order</a:t>
            </a:r>
            <a:r>
              <a:rPr lang="it-IT" dirty="0"/>
              <a:t> of </a:t>
            </a:r>
            <a:r>
              <a:rPr lang="it-IT" dirty="0" err="1"/>
              <a:t>magnitude</a:t>
            </a:r>
            <a:r>
              <a:rPr lang="it-IT" dirty="0"/>
              <a:t> </a:t>
            </a:r>
            <a:r>
              <a:rPr lang="it-IT" dirty="0" err="1"/>
              <a:t>as</a:t>
            </a:r>
            <a:r>
              <a:rPr lang="it-IT" dirty="0"/>
              <a:t> the market</a:t>
            </a:r>
            <a:r>
              <a:rPr dirty="0"/>
              <a:t>. The model is higher, and we expect that: I model one location, while German output comes from thousands of turbines across the country</a:t>
            </a:r>
            <a:r>
              <a:rPr lang="it-IT" dirty="0"/>
              <a:t> and a</a:t>
            </a:r>
            <a:r>
              <a:rPr dirty="0" err="1"/>
              <a:t>veraging</a:t>
            </a:r>
            <a:r>
              <a:rPr dirty="0"/>
              <a:t> over many places makes output smoother.</a:t>
            </a:r>
          </a:p>
          <a:p>
            <a:endParaRPr dirty="0"/>
          </a:p>
          <a:p>
            <a:r>
              <a:rPr dirty="0"/>
              <a:t>So the model gives a closed-form price, and it lands in the right range.</a:t>
            </a:r>
          </a:p>
        </p:txBody>
      </p:sp>
      <p:sp>
        <p:nvSpPr>
          <p:cNvPr id="4" name="Slide Number Placeholder 3"/>
          <p:cNvSpPr>
            <a:spLocks noGrp="1"/>
          </p:cNvSpPr>
          <p:nvPr>
            <p:ph type="sldNum" sz="quarter" idx="5"/>
          </p:nvPr>
        </p:nvSpPr>
        <p:spPr/>
        <p:txBody>
          <a:bodyPr/>
          <a:lstStyle/>
          <a:p>
            <a:endParaRPr lang="it-IT"/>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it-IT"/>
          </a:p>
        </p:txBody>
      </p:sp>
      <p:sp>
        <p:nvSpPr>
          <p:cNvPr id="3" name="Notes Placeholder 2"/>
          <p:cNvSpPr>
            <a:spLocks noGrp="1"/>
          </p:cNvSpPr>
          <p:nvPr>
            <p:ph type="body" sz="quarter" idx="3"/>
          </p:nvPr>
        </p:nvSpPr>
        <p:spPr/>
        <p:txBody>
          <a:bodyPr/>
          <a:lstStyle/>
          <a:p>
            <a:r>
              <a:rPr dirty="0"/>
              <a:t>A variance swap has a blind spot. It measures how much the wind changes, not whether there is enough of it</a:t>
            </a:r>
            <a:r>
              <a:rPr lang="it-IT" dirty="0"/>
              <a:t> for the </a:t>
            </a:r>
            <a:r>
              <a:rPr lang="it-IT" dirty="0" err="1"/>
              <a:t>actual</a:t>
            </a:r>
            <a:r>
              <a:rPr lang="it-IT" dirty="0"/>
              <a:t> production</a:t>
            </a:r>
            <a:r>
              <a:rPr dirty="0"/>
              <a:t>. A long calm period looks stable, so the swap does not pay.</a:t>
            </a:r>
          </a:p>
          <a:p>
            <a:r>
              <a:rPr lang="it-IT" dirty="0" err="1"/>
              <a:t>We</a:t>
            </a:r>
            <a:r>
              <a:rPr lang="it-IT" dirty="0"/>
              <a:t> </a:t>
            </a:r>
            <a:r>
              <a:rPr lang="it-IT" dirty="0" err="1"/>
              <a:t>therefore</a:t>
            </a:r>
            <a:r>
              <a:rPr lang="it-IT" dirty="0"/>
              <a:t> introduce CAWS, </a:t>
            </a:r>
            <a:r>
              <a:rPr lang="it-IT" dirty="0" err="1"/>
              <a:t>written</a:t>
            </a:r>
            <a:r>
              <a:rPr lang="it-IT" dirty="0"/>
              <a:t> on the average wind speed of the </a:t>
            </a:r>
            <a:r>
              <a:rPr lang="it-IT" dirty="0" err="1"/>
              <a:t>year</a:t>
            </a:r>
            <a:r>
              <a:rPr lang="it-IT" dirty="0"/>
              <a:t>, and </a:t>
            </a:r>
            <a:r>
              <a:rPr lang="it-IT" dirty="0" err="1"/>
              <a:t>its</a:t>
            </a:r>
            <a:r>
              <a:rPr lang="it-IT" dirty="0"/>
              <a:t> strike </a:t>
            </a:r>
            <a:r>
              <a:rPr lang="it-IT" dirty="0" err="1"/>
              <a:t>is</a:t>
            </a:r>
            <a:r>
              <a:rPr lang="it-IT" dirty="0"/>
              <a:t> the long-</a:t>
            </a:r>
            <a:r>
              <a:rPr lang="it-IT" dirty="0" err="1"/>
              <a:t>run</a:t>
            </a:r>
            <a:r>
              <a:rPr lang="it-IT" dirty="0"/>
              <a:t> average. The payoff </a:t>
            </a:r>
            <a:r>
              <a:rPr lang="it-IT" dirty="0" err="1"/>
              <a:t>is</a:t>
            </a:r>
            <a:r>
              <a:rPr lang="it-IT" dirty="0"/>
              <a:t> the strike </a:t>
            </a:r>
            <a:r>
              <a:rPr lang="it-IT" dirty="0" err="1"/>
              <a:t>minus</a:t>
            </a:r>
            <a:r>
              <a:rPr lang="it-IT" dirty="0"/>
              <a:t> the </a:t>
            </a:r>
            <a:r>
              <a:rPr lang="it-IT" dirty="0" err="1"/>
              <a:t>realised</a:t>
            </a:r>
            <a:r>
              <a:rPr lang="it-IT" dirty="0"/>
              <a:t> index, so </a:t>
            </a:r>
            <a:r>
              <a:rPr lang="it-IT" dirty="0" err="1"/>
              <a:t>it</a:t>
            </a:r>
            <a:r>
              <a:rPr lang="it-IT" dirty="0"/>
              <a:t> </a:t>
            </a:r>
            <a:r>
              <a:rPr lang="it-IT" dirty="0" err="1"/>
              <a:t>is</a:t>
            </a:r>
            <a:r>
              <a:rPr lang="it-IT" dirty="0"/>
              <a:t> positive in </a:t>
            </a:r>
            <a:r>
              <a:rPr lang="it-IT" dirty="0" err="1"/>
              <a:t>calm</a:t>
            </a:r>
            <a:r>
              <a:rPr lang="it-IT" dirty="0"/>
              <a:t> </a:t>
            </a:r>
            <a:r>
              <a:rPr lang="it-IT" dirty="0" err="1"/>
              <a:t>years</a:t>
            </a:r>
            <a:r>
              <a:rPr lang="it-IT" dirty="0"/>
              <a:t>.</a:t>
            </a:r>
            <a:endParaRPr dirty="0"/>
          </a:p>
          <a:p>
            <a:endParaRPr lang="it-IT"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dirty="0" err="1"/>
              <a:t>Year</a:t>
            </a:r>
            <a:r>
              <a:rPr lang="it-IT" dirty="0"/>
              <a:t> 2021 stands out in the chart </a:t>
            </a:r>
            <a:r>
              <a:rPr lang="it-IT" dirty="0" err="1"/>
              <a:t>since</a:t>
            </a:r>
            <a:r>
              <a:rPr lang="it-IT" dirty="0"/>
              <a:t> </a:t>
            </a:r>
            <a:r>
              <a:rPr lang="it-IT" dirty="0" err="1"/>
              <a:t>it</a:t>
            </a:r>
            <a:r>
              <a:rPr lang="it-IT" dirty="0"/>
              <a:t> </a:t>
            </a:r>
            <a:r>
              <a:rPr lang="it-IT" dirty="0" err="1"/>
              <a:t>is</a:t>
            </a:r>
            <a:r>
              <a:rPr lang="it-IT" dirty="0"/>
              <a:t> the </a:t>
            </a:r>
            <a:r>
              <a:rPr lang="it-IT" dirty="0" err="1"/>
              <a:t>calmest</a:t>
            </a:r>
            <a:r>
              <a:rPr lang="it-IT" dirty="0"/>
              <a:t> </a:t>
            </a:r>
            <a:r>
              <a:rPr lang="it-IT" dirty="0" err="1"/>
              <a:t>year</a:t>
            </a:r>
            <a:r>
              <a:rPr lang="it-IT" dirty="0"/>
              <a:t>,</a:t>
            </a:r>
            <a:r>
              <a:rPr dirty="0"/>
              <a:t> with wind about 5 per cent below normal. </a:t>
            </a:r>
            <a:r>
              <a:rPr lang="it-IT" dirty="0" err="1"/>
              <a:t>Since</a:t>
            </a:r>
            <a:r>
              <a:rPr lang="it-IT" dirty="0"/>
              <a:t> power </a:t>
            </a:r>
            <a:r>
              <a:rPr lang="it-IT" dirty="0" err="1"/>
              <a:t>grows</a:t>
            </a:r>
            <a:r>
              <a:rPr lang="it-IT" dirty="0"/>
              <a:t> with the cube of wind speed, a small drop in wind </a:t>
            </a:r>
            <a:r>
              <a:rPr lang="it-IT" dirty="0" err="1"/>
              <a:t>magnitude</a:t>
            </a:r>
            <a:r>
              <a:rPr lang="it-IT" dirty="0"/>
              <a:t> </a:t>
            </a:r>
            <a:r>
              <a:rPr lang="it-IT" dirty="0" err="1"/>
              <a:t>is</a:t>
            </a:r>
            <a:r>
              <a:rPr lang="it-IT" dirty="0"/>
              <a:t> a large drop in the </a:t>
            </a:r>
            <a:r>
              <a:rPr lang="it-IT" dirty="0" err="1"/>
              <a:t>actual</a:t>
            </a:r>
            <a:r>
              <a:rPr lang="it-IT" dirty="0"/>
              <a:t> production. </a:t>
            </a:r>
            <a:r>
              <a:rPr lang="it-IT" dirty="0" err="1"/>
              <a:t>Indeed</a:t>
            </a:r>
            <a:r>
              <a:rPr lang="it-IT" dirty="0"/>
              <a:t> for an illustrative</a:t>
            </a:r>
            <a:r>
              <a:rPr lang="en-US" dirty="0"/>
              <a:t> 100-megawatt farm, that deficit means roughly 14 per cent less generation: about 32,000 megawatt-hours, or some 2.3 million euros of gross revenue at risk.</a:t>
            </a:r>
            <a:endParaRPr lang="it-IT" dirty="0"/>
          </a:p>
          <a:p>
            <a:endParaRPr dirty="0"/>
          </a:p>
          <a:p>
            <a:r>
              <a:rPr dirty="0"/>
              <a:t>So </a:t>
            </a:r>
            <a:r>
              <a:rPr lang="it-IT" dirty="0"/>
              <a:t>yes, </a:t>
            </a:r>
            <a:r>
              <a:rPr dirty="0"/>
              <a:t>CAWS pays in exactly the years the producer needs it</a:t>
            </a:r>
            <a:r>
              <a:rPr lang="it-IT" dirty="0"/>
              <a:t> and covers the blind spot of the </a:t>
            </a:r>
            <a:r>
              <a:rPr lang="it-IT" dirty="0" err="1"/>
              <a:t>variance</a:t>
            </a:r>
            <a:r>
              <a:rPr lang="it-IT" dirty="0"/>
              <a:t> swap.</a:t>
            </a:r>
            <a:endParaRPr dirty="0"/>
          </a:p>
        </p:txBody>
      </p:sp>
      <p:sp>
        <p:nvSpPr>
          <p:cNvPr id="4" name="Slide Number Placeholder 3"/>
          <p:cNvSpPr>
            <a:spLocks noGrp="1"/>
          </p:cNvSpPr>
          <p:nvPr>
            <p:ph type="sldNum" sz="quarter" idx="5"/>
          </p:nvPr>
        </p:nvSpPr>
        <p:spPr/>
        <p:txBody>
          <a:bodyPr/>
          <a:lstStyle/>
          <a:p>
            <a:endParaRPr lang="it-IT"/>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it-IT"/>
          </a:p>
        </p:txBody>
      </p:sp>
      <p:sp>
        <p:nvSpPr>
          <p:cNvPr id="3" name="Notes Placeholder 2"/>
          <p:cNvSpPr>
            <a:spLocks noGrp="1"/>
          </p:cNvSpPr>
          <p:nvPr>
            <p:ph type="body" sz="quarter" idx="3"/>
          </p:nvPr>
        </p:nvSpPr>
        <p:spPr/>
        <p:txBody>
          <a:bodyPr/>
          <a:lstStyle/>
          <a:p>
            <a:r>
              <a:rPr dirty="0"/>
              <a:t>I run the same model on the Bologna data instead of the German data. The price comes out 94 per cent too low. Same model, same assumptions; only the data changed.</a:t>
            </a:r>
          </a:p>
          <a:p>
            <a:endParaRPr dirty="0"/>
          </a:p>
          <a:p>
            <a:r>
              <a:rPr dirty="0"/>
              <a:t>The obvious objection is height. Bologna is measured at 10 </a:t>
            </a:r>
            <a:r>
              <a:rPr dirty="0" err="1"/>
              <a:t>metres</a:t>
            </a:r>
            <a:r>
              <a:rPr dirty="0"/>
              <a:t>, where wind is weaker. So I correct it to 100 </a:t>
            </a:r>
            <a:r>
              <a:rPr dirty="0" err="1"/>
              <a:t>metres</a:t>
            </a:r>
            <a:r>
              <a:rPr dirty="0"/>
              <a:t> with the standard formula. The gap barely moves: the price is still 88 per cent too low. And this holds for any realistic type of terrain.</a:t>
            </a:r>
          </a:p>
          <a:p>
            <a:endParaRPr dirty="0"/>
          </a:p>
          <a:p>
            <a:r>
              <a:rPr dirty="0"/>
              <a:t>So height is not the reason</a:t>
            </a:r>
            <a:r>
              <a:rPr lang="it-IT" dirty="0"/>
              <a:t> for a </a:t>
            </a:r>
            <a:r>
              <a:rPr lang="it-IT" dirty="0" err="1"/>
              <a:t>lower</a:t>
            </a:r>
            <a:r>
              <a:rPr lang="it-IT" dirty="0"/>
              <a:t> price</a:t>
            </a:r>
            <a:r>
              <a:rPr dirty="0"/>
              <a:t>. What is?</a:t>
            </a:r>
          </a:p>
        </p:txBody>
      </p:sp>
      <p:sp>
        <p:nvSpPr>
          <p:cNvPr id="4" name="Slide Number Placeholder 3"/>
          <p:cNvSpPr>
            <a:spLocks noGrp="1"/>
          </p:cNvSpPr>
          <p:nvPr>
            <p:ph type="sldNum" sz="quarter" idx="5"/>
          </p:nvPr>
        </p:nvSpPr>
        <p:spPr/>
        <p:txBody>
          <a:bodyPr/>
          <a:lstStyle/>
          <a:p>
            <a:endParaRPr lang="it-IT"/>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it-IT"/>
          </a:p>
        </p:txBody>
      </p:sp>
      <p:sp>
        <p:nvSpPr>
          <p:cNvPr id="3" name="Notes Placeholder 2"/>
          <p:cNvSpPr>
            <a:spLocks noGrp="1"/>
          </p:cNvSpPr>
          <p:nvPr>
            <p:ph type="body" sz="quarter" idx="3"/>
          </p:nvPr>
        </p:nvSpPr>
        <p:spPr/>
        <p:txBody>
          <a:bodyPr/>
          <a:lstStyle/>
          <a:p>
            <a:r>
              <a:rPr dirty="0"/>
              <a:t>The answer is this test. I compare each wind series with actual German wind generation, day by day.</a:t>
            </a:r>
          </a:p>
          <a:p>
            <a:endParaRPr dirty="0"/>
          </a:p>
          <a:p>
            <a:r>
              <a:rPr dirty="0"/>
              <a:t>On the right, the German site: its wind explains almost 60 per cent of German generation. On the left, Bologna: it explains practically nothing. The line is flat.</a:t>
            </a:r>
          </a:p>
          <a:p>
            <a:endParaRPr dirty="0"/>
          </a:p>
          <a:p>
            <a:r>
              <a:rPr dirty="0"/>
              <a:t>So the Bologna data has no link with the cash flow we want to hedge.</a:t>
            </a:r>
          </a:p>
          <a:p>
            <a:endParaRPr dirty="0"/>
          </a:p>
          <a:p>
            <a:r>
              <a:rPr lang="it-IT" dirty="0"/>
              <a:t>Here </a:t>
            </a:r>
            <a:r>
              <a:rPr lang="it-IT" dirty="0" err="1"/>
              <a:t>is</a:t>
            </a:r>
            <a:r>
              <a:rPr lang="it-IT" dirty="0"/>
              <a:t> the </a:t>
            </a:r>
            <a:r>
              <a:rPr lang="it-IT" dirty="0" err="1"/>
              <a:t>danger</a:t>
            </a:r>
            <a:r>
              <a:rPr lang="it-IT" dirty="0"/>
              <a:t>: </a:t>
            </a:r>
            <a:r>
              <a:rPr lang="it-IT" dirty="0" err="1"/>
              <a:t>converted</a:t>
            </a:r>
            <a:r>
              <a:rPr lang="it-IT" dirty="0"/>
              <a:t> </a:t>
            </a:r>
            <a:r>
              <a:rPr lang="it-IT" dirty="0" err="1"/>
              <a:t>into</a:t>
            </a:r>
            <a:r>
              <a:rPr lang="it-IT" dirty="0"/>
              <a:t> market </a:t>
            </a:r>
            <a:r>
              <a:rPr lang="it-IT" dirty="0" err="1"/>
              <a:t>units</a:t>
            </a:r>
            <a:r>
              <a:rPr lang="it-IT" dirty="0"/>
              <a:t>, the Bologna price looks </a:t>
            </a:r>
            <a:r>
              <a:rPr lang="it-IT" dirty="0" err="1"/>
              <a:t>reasonable</a:t>
            </a:r>
            <a:r>
              <a:rPr lang="it-IT" dirty="0"/>
              <a:t>, </a:t>
            </a:r>
            <a:r>
              <a:rPr lang="it-IT" dirty="0" err="1"/>
              <a:t>but</a:t>
            </a:r>
            <a:r>
              <a:rPr lang="it-IT" dirty="0"/>
              <a:t> </a:t>
            </a:r>
            <a:r>
              <a:rPr lang="it-IT" dirty="0" err="1"/>
              <a:t>this</a:t>
            </a:r>
            <a:r>
              <a:rPr lang="it-IT" dirty="0"/>
              <a:t> </a:t>
            </a:r>
            <a:r>
              <a:rPr lang="it-IT" dirty="0" err="1"/>
              <a:t>simple</a:t>
            </a:r>
            <a:r>
              <a:rPr lang="it-IT" dirty="0"/>
              <a:t> </a:t>
            </a:r>
            <a:r>
              <a:rPr lang="it-IT" dirty="0" err="1"/>
              <a:t>regression</a:t>
            </a:r>
            <a:r>
              <a:rPr lang="it-IT" dirty="0"/>
              <a:t> shows </a:t>
            </a:r>
            <a:r>
              <a:rPr lang="it-IT" dirty="0" err="1"/>
              <a:t>it</a:t>
            </a:r>
            <a:r>
              <a:rPr lang="it-IT" dirty="0"/>
              <a:t> </a:t>
            </a:r>
            <a:r>
              <a:rPr lang="it-IT" dirty="0" err="1"/>
              <a:t>carries</a:t>
            </a:r>
            <a:r>
              <a:rPr lang="it-IT" dirty="0"/>
              <a:t> no information.</a:t>
            </a:r>
          </a:p>
          <a:p>
            <a:r>
              <a:rPr lang="it-IT" dirty="0" err="1"/>
              <a:t>That</a:t>
            </a:r>
            <a:r>
              <a:rPr lang="it-IT" dirty="0"/>
              <a:t> </a:t>
            </a:r>
            <a:r>
              <a:rPr lang="it-IT" dirty="0" err="1"/>
              <a:t>is</a:t>
            </a:r>
            <a:r>
              <a:rPr lang="it-IT" dirty="0"/>
              <a:t> </a:t>
            </a:r>
            <a:r>
              <a:rPr lang="it-IT" dirty="0" err="1"/>
              <a:t>why</a:t>
            </a:r>
            <a:r>
              <a:rPr lang="it-IT" dirty="0"/>
              <a:t> </a:t>
            </a:r>
            <a:r>
              <a:rPr lang="it-IT" dirty="0" err="1"/>
              <a:t>this</a:t>
            </a:r>
            <a:r>
              <a:rPr lang="it-IT" dirty="0"/>
              <a:t> test </a:t>
            </a:r>
            <a:r>
              <a:rPr lang="it-IT" dirty="0" err="1"/>
              <a:t>should</a:t>
            </a:r>
            <a:r>
              <a:rPr lang="it-IT" dirty="0"/>
              <a:t> come </a:t>
            </a:r>
            <a:r>
              <a:rPr lang="it-IT" dirty="0" err="1"/>
              <a:t>before</a:t>
            </a:r>
            <a:r>
              <a:rPr lang="it-IT" dirty="0"/>
              <a:t> </a:t>
            </a:r>
            <a:r>
              <a:rPr lang="it-IT" dirty="0" err="1"/>
              <a:t>any</a:t>
            </a:r>
            <a:r>
              <a:rPr lang="it-IT" dirty="0"/>
              <a:t> pricing.</a:t>
            </a:r>
            <a:endParaRPr dirty="0"/>
          </a:p>
        </p:txBody>
      </p:sp>
      <p:sp>
        <p:nvSpPr>
          <p:cNvPr id="4" name="Slide Number Placeholder 3"/>
          <p:cNvSpPr>
            <a:spLocks noGrp="1"/>
          </p:cNvSpPr>
          <p:nvPr>
            <p:ph type="sldNum" sz="quarter" idx="5"/>
          </p:nvPr>
        </p:nvSpPr>
        <p:spPr/>
        <p:txBody>
          <a:bodyPr/>
          <a:lstStyle/>
          <a:p>
            <a:endParaRPr lang="it-IT"/>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it-IT"/>
          </a:p>
        </p:txBody>
      </p:sp>
      <p:sp>
        <p:nvSpPr>
          <p:cNvPr id="3" name="Notes Placeholder 2"/>
          <p:cNvSpPr>
            <a:spLocks noGrp="1"/>
          </p:cNvSpPr>
          <p:nvPr>
            <p:ph type="body" sz="quarter" idx="3"/>
          </p:nvPr>
        </p:nvSpPr>
        <p:spPr/>
        <p:txBody>
          <a:bodyPr/>
          <a:lstStyle/>
          <a:p>
            <a:r>
              <a:rPr lang="it-IT" dirty="0"/>
              <a:t>To sum up: a wind model can </a:t>
            </a:r>
            <a:r>
              <a:rPr lang="it-IT" dirty="0" err="1"/>
              <a:t>give</a:t>
            </a:r>
            <a:r>
              <a:rPr lang="it-IT" dirty="0"/>
              <a:t> a </a:t>
            </a:r>
            <a:r>
              <a:rPr lang="it-IT" dirty="0" err="1"/>
              <a:t>closed</a:t>
            </a:r>
            <a:r>
              <a:rPr lang="it-IT" dirty="0"/>
              <a:t>-form price with the </a:t>
            </a:r>
            <a:r>
              <a:rPr lang="it-IT" dirty="0" err="1"/>
              <a:t>same</a:t>
            </a:r>
            <a:r>
              <a:rPr lang="it-IT" dirty="0"/>
              <a:t> </a:t>
            </a:r>
            <a:r>
              <a:rPr lang="it-IT" dirty="0" err="1"/>
              <a:t>order</a:t>
            </a:r>
            <a:r>
              <a:rPr lang="it-IT" dirty="0"/>
              <a:t> of </a:t>
            </a:r>
            <a:r>
              <a:rPr lang="it-IT" dirty="0" err="1"/>
              <a:t>magnitude</a:t>
            </a:r>
            <a:r>
              <a:rPr lang="it-IT" dirty="0"/>
              <a:t> </a:t>
            </a:r>
            <a:r>
              <a:rPr lang="it-IT" dirty="0" err="1"/>
              <a:t>as</a:t>
            </a:r>
            <a:r>
              <a:rPr lang="it-IT" dirty="0"/>
              <a:t> the market. A CAWS covers the </a:t>
            </a:r>
            <a:r>
              <a:rPr lang="it-IT" dirty="0" err="1"/>
              <a:t>calm</a:t>
            </a:r>
            <a:r>
              <a:rPr lang="it-IT" dirty="0"/>
              <a:t> </a:t>
            </a:r>
            <a:r>
              <a:rPr lang="it-IT" dirty="0" err="1"/>
              <a:t>years</a:t>
            </a:r>
            <a:r>
              <a:rPr lang="it-IT" dirty="0"/>
              <a:t> to </a:t>
            </a:r>
            <a:r>
              <a:rPr lang="it-IT" dirty="0" err="1"/>
              <a:t>which</a:t>
            </a:r>
            <a:r>
              <a:rPr lang="it-IT" dirty="0"/>
              <a:t> the </a:t>
            </a:r>
            <a:r>
              <a:rPr lang="it-IT" dirty="0" err="1"/>
              <a:t>variance</a:t>
            </a:r>
            <a:r>
              <a:rPr lang="it-IT" dirty="0"/>
              <a:t> swap </a:t>
            </a:r>
            <a:r>
              <a:rPr lang="it-IT" dirty="0" err="1"/>
              <a:t>is</a:t>
            </a:r>
            <a:r>
              <a:rPr lang="it-IT" dirty="0"/>
              <a:t> blind. And </a:t>
            </a:r>
            <a:r>
              <a:rPr lang="it-IT" dirty="0" err="1"/>
              <a:t>finally</a:t>
            </a:r>
            <a:r>
              <a:rPr lang="it-IT" dirty="0"/>
              <a:t>, with the </a:t>
            </a:r>
            <a:r>
              <a:rPr lang="it-IT" dirty="0" err="1"/>
              <a:t>wrong</a:t>
            </a:r>
            <a:r>
              <a:rPr lang="it-IT" dirty="0"/>
              <a:t> data the price </a:t>
            </a:r>
            <a:r>
              <a:rPr lang="it-IT" dirty="0" err="1"/>
              <a:t>is</a:t>
            </a:r>
            <a:r>
              <a:rPr lang="it-IT" dirty="0"/>
              <a:t> </a:t>
            </a:r>
            <a:r>
              <a:rPr lang="it-IT" dirty="0" err="1"/>
              <a:t>too</a:t>
            </a:r>
            <a:r>
              <a:rPr lang="it-IT" dirty="0"/>
              <a:t> low and the model </a:t>
            </a:r>
            <a:r>
              <a:rPr lang="it-IT" dirty="0" err="1"/>
              <a:t>gives</a:t>
            </a:r>
            <a:r>
              <a:rPr lang="it-IT" dirty="0"/>
              <a:t> no warning. So data </a:t>
            </a:r>
            <a:r>
              <a:rPr lang="it-IT" dirty="0" err="1"/>
              <a:t>alignment</a:t>
            </a:r>
            <a:r>
              <a:rPr lang="it-IT" dirty="0"/>
              <a:t> </a:t>
            </a:r>
            <a:r>
              <a:rPr lang="it-IT" dirty="0" err="1"/>
              <a:t>is</a:t>
            </a:r>
            <a:r>
              <a:rPr lang="it-IT" dirty="0"/>
              <a:t> </a:t>
            </a:r>
            <a:r>
              <a:rPr lang="it-IT" dirty="0" err="1"/>
              <a:t>not</a:t>
            </a:r>
            <a:r>
              <a:rPr lang="it-IT" dirty="0"/>
              <a:t> a </a:t>
            </a:r>
            <a:r>
              <a:rPr lang="it-IT" dirty="0" err="1"/>
              <a:t>detail</a:t>
            </a:r>
            <a:r>
              <a:rPr lang="it-IT" dirty="0"/>
              <a:t> to fix </a:t>
            </a:r>
            <a:r>
              <a:rPr lang="it-IT" dirty="0" err="1"/>
              <a:t>at</a:t>
            </a:r>
            <a:r>
              <a:rPr lang="it-IT" dirty="0"/>
              <a:t> the end, </a:t>
            </a:r>
            <a:r>
              <a:rPr lang="it-IT" dirty="0" err="1"/>
              <a:t>rather</a:t>
            </a:r>
            <a:r>
              <a:rPr lang="it-IT" dirty="0"/>
              <a:t> a </a:t>
            </a:r>
            <a:r>
              <a:rPr lang="it-IT" dirty="0" err="1"/>
              <a:t>precondition</a:t>
            </a:r>
            <a:r>
              <a:rPr lang="it-IT" dirty="0"/>
              <a:t> for the model to </a:t>
            </a:r>
            <a:r>
              <a:rPr lang="it-IT" dirty="0" err="1"/>
              <a:t>mean</a:t>
            </a:r>
            <a:r>
              <a:rPr lang="it-IT" dirty="0"/>
              <a:t> </a:t>
            </a:r>
            <a:r>
              <a:rPr lang="it-IT" dirty="0" err="1"/>
              <a:t>anything</a:t>
            </a:r>
            <a:r>
              <a:rPr lang="it-IT" dirty="0"/>
              <a:t>.</a:t>
            </a:r>
            <a:endParaRPr dirty="0"/>
          </a:p>
        </p:txBody>
      </p:sp>
      <p:sp>
        <p:nvSpPr>
          <p:cNvPr id="4" name="Slide Number Placeholder 3"/>
          <p:cNvSpPr>
            <a:spLocks noGrp="1"/>
          </p:cNvSpPr>
          <p:nvPr>
            <p:ph type="sldNum" sz="quarter" idx="5"/>
          </p:nvPr>
        </p:nvSpPr>
        <p:spPr/>
        <p:txBody>
          <a:bodyPr/>
          <a:lstStyle/>
          <a:p>
            <a:endParaRPr lang="it-IT"/>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dirty="0"/>
              <a:t>Finally, the main limits, and what they suggest.</a:t>
            </a:r>
          </a:p>
          <a:p>
            <a:endParaRPr dirty="0"/>
          </a:p>
          <a:p>
            <a:r>
              <a:rPr dirty="0"/>
              <a:t>First, θ = 0 is a benchmark assumption. With EEX option data, the next step is to estimate the risk premium.</a:t>
            </a:r>
          </a:p>
          <a:p>
            <a:endParaRPr lang="it-IT" dirty="0"/>
          </a:p>
          <a:p>
            <a:r>
              <a:rPr lang="it-IT" dirty="0"/>
              <a:t>Second, the </a:t>
            </a:r>
            <a:r>
              <a:rPr lang="it-IT" dirty="0" err="1"/>
              <a:t>two</a:t>
            </a:r>
            <a:r>
              <a:rPr lang="it-IT" dirty="0"/>
              <a:t> datasets </a:t>
            </a:r>
            <a:r>
              <a:rPr lang="it-IT" dirty="0" err="1"/>
              <a:t>sit</a:t>
            </a:r>
            <a:r>
              <a:rPr lang="it-IT" dirty="0"/>
              <a:t> on </a:t>
            </a:r>
            <a:r>
              <a:rPr lang="it-IT" dirty="0" err="1"/>
              <a:t>different</a:t>
            </a:r>
            <a:r>
              <a:rPr lang="it-IT" dirty="0"/>
              <a:t> Box–Cox </a:t>
            </a:r>
            <a:r>
              <a:rPr lang="it-IT" dirty="0" err="1"/>
              <a:t>scales</a:t>
            </a:r>
            <a:r>
              <a:rPr lang="it-IT" dirty="0"/>
              <a:t> and </a:t>
            </a:r>
            <a:r>
              <a:rPr lang="it-IT" dirty="0" err="1"/>
              <a:t>different</a:t>
            </a:r>
            <a:r>
              <a:rPr lang="it-IT" dirty="0"/>
              <a:t> pricing </a:t>
            </a:r>
            <a:r>
              <a:rPr lang="it-IT" dirty="0" err="1"/>
              <a:t>dates</a:t>
            </a:r>
            <a:r>
              <a:rPr lang="it-IT" dirty="0"/>
              <a:t>, so the </a:t>
            </a:r>
            <a:r>
              <a:rPr lang="it-IT" dirty="0" err="1"/>
              <a:t>comparison</a:t>
            </a:r>
            <a:r>
              <a:rPr lang="it-IT" dirty="0"/>
              <a:t> </a:t>
            </a:r>
            <a:r>
              <a:rPr lang="it-IT" dirty="0" err="1"/>
              <a:t>between</a:t>
            </a:r>
            <a:r>
              <a:rPr lang="it-IT" dirty="0"/>
              <a:t> the </a:t>
            </a:r>
            <a:r>
              <a:rPr lang="it-IT" dirty="0" err="1"/>
              <a:t>two</a:t>
            </a:r>
            <a:r>
              <a:rPr lang="it-IT" dirty="0"/>
              <a:t> </a:t>
            </a:r>
            <a:r>
              <a:rPr lang="it-IT" dirty="0" err="1"/>
              <a:t>sites</a:t>
            </a:r>
            <a:r>
              <a:rPr lang="it-IT" dirty="0"/>
              <a:t> </a:t>
            </a:r>
            <a:r>
              <a:rPr lang="it-IT" dirty="0" err="1"/>
              <a:t>is</a:t>
            </a:r>
            <a:r>
              <a:rPr lang="it-IT" dirty="0"/>
              <a:t> indicative, </a:t>
            </a:r>
            <a:r>
              <a:rPr lang="it-IT" dirty="0" err="1"/>
              <a:t>not</a:t>
            </a:r>
            <a:r>
              <a:rPr lang="it-IT" dirty="0"/>
              <a:t> </a:t>
            </a:r>
            <a:r>
              <a:rPr lang="it-IT" dirty="0" err="1"/>
              <a:t>exact</a:t>
            </a:r>
            <a:r>
              <a:rPr lang="it-IT" dirty="0"/>
              <a:t>.</a:t>
            </a:r>
          </a:p>
          <a:p>
            <a:endParaRPr dirty="0"/>
          </a:p>
          <a:p>
            <a:r>
              <a:rPr lang="it-IT" dirty="0"/>
              <a:t>Third</a:t>
            </a:r>
            <a:r>
              <a:rPr dirty="0"/>
              <a:t>, one location stands in for a whole country. Fleet-wide, hourly wind data would improve the fit.</a:t>
            </a:r>
          </a:p>
          <a:p>
            <a:endParaRPr dirty="0"/>
          </a:p>
          <a:p>
            <a:r>
              <a:rPr lang="it-IT" dirty="0" err="1"/>
              <a:t>Fourth</a:t>
            </a:r>
            <a:r>
              <a:rPr dirty="0"/>
              <a:t>, the samples are short, so some results are descriptive.</a:t>
            </a:r>
          </a:p>
          <a:p>
            <a:endParaRPr dirty="0"/>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dirty="0"/>
              <a:t>This is the chapter's most uncomfortable, and most interesting, result, and it is stated rather than smoothed over. The Feller condition asks whether the CIR variance process stays strictly positive almost surely. For Dataset B it holds comfortably, at a margin of 28.1 times, on every estimator considered. For Dataset A, the full-sample estimator — the same one used for B — gives a margin of only 0.8, meaning the condition is violated; but 30-day rolling estimators give margins of 3.6 to 5.1, meaning it holds. The verdict flips depending on which estimator you trust. That sensitivity is itself the finding: xi, the volatility-of-volatility parameter, is the least identified of the four CIR parameters at daily sampling frequency. It also means an earlier project record of a 27.9-times margin is not reproducible under any estimator tested and needed correcting.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t>Backup. All four fitted specifications share the AR(4) conditional mean, so they are identical on one-step RMSE by construction and separable only on pricing and hedging criteria (or a proper scoring rule such as CRPS). All beat persistence decisively.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it-IT"/>
          </a:p>
        </p:txBody>
      </p:sp>
      <p:sp>
        <p:nvSpPr>
          <p:cNvPr id="3" name="Notes Placeholder 2"/>
          <p:cNvSpPr>
            <a:spLocks noGrp="1"/>
          </p:cNvSpPr>
          <p:nvPr>
            <p:ph type="body" sz="quarter" idx="3"/>
          </p:nvPr>
        </p:nvSpPr>
        <p:spPr/>
        <p:txBody>
          <a:bodyPr/>
          <a:lstStyle/>
          <a:p>
            <a:r>
              <a:t>Backup. AR(4) kept over the AIC-preferred AR(3) (gaps 0.59 and 1.8 units, inside the 2-point band) because the CAR(4) embedding needs a 4-dimensional companion matrix. All eigenvalues in the open left half-plane: stationary. The complex pair makes the kernel peak at about 3.6 days in both datasets, breaking the monotone Samuelson effect (Benth &amp; Saltyte Benth 2009). NIG buys little: KS p 0.079 to 0.120 for A, none for B (alpha about 2,650). Dataset B's GARCH leaves short-lag structure (z^2 lag 5 p = 0.0167, ARCH-LM p = 0.0185): a GARCH(2,1) or two-component model would be the remedy; pricing uses only h(t0) and the unconditional level.</a:t>
            </a:r>
          </a:p>
        </p:txBody>
      </p:sp>
      <p:sp>
        <p:nvSpPr>
          <p:cNvPr id="4" name="Slide Number Placeholder 3"/>
          <p:cNvSpPr>
            <a:spLocks noGrp="1"/>
          </p:cNvSpPr>
          <p:nvPr>
            <p:ph type="sldNum" sz="quarter" idx="5"/>
          </p:nvPr>
        </p:nvSpPr>
        <p:spPr/>
        <p:txBody>
          <a:bodyPr/>
          <a:lstStyle/>
          <a:p>
            <a:endParaRPr lang="it-IT"/>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it-IT"/>
          </a:p>
        </p:txBody>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err="1"/>
              <a:t>Decomposing</a:t>
            </a:r>
            <a:r>
              <a:rPr lang="it-IT" dirty="0"/>
              <a:t> the ratio of 16.07, </a:t>
            </a:r>
            <a:r>
              <a:rPr lang="it-IT" dirty="0" err="1"/>
              <a:t>we</a:t>
            </a:r>
            <a:r>
              <a:rPr lang="it-IT" dirty="0"/>
              <a:t> </a:t>
            </a:r>
            <a:r>
              <a:rPr lang="it-IT" dirty="0" err="1"/>
              <a:t>find</a:t>
            </a:r>
            <a:r>
              <a:rPr lang="it-IT" dirty="0"/>
              <a:t> 8.85 from the </a:t>
            </a:r>
            <a:r>
              <a:rPr lang="it-IT" dirty="0" err="1"/>
              <a:t>seasonal</a:t>
            </a:r>
            <a:r>
              <a:rPr lang="it-IT" dirty="0"/>
              <a:t> </a:t>
            </a:r>
            <a:r>
              <a:rPr lang="it-IT" dirty="0" err="1"/>
              <a:t>variance</a:t>
            </a:r>
            <a:r>
              <a:rPr lang="it-IT" dirty="0"/>
              <a:t> </a:t>
            </a:r>
            <a:r>
              <a:rPr lang="it-IT" dirty="0" err="1"/>
              <a:t>level</a:t>
            </a:r>
            <a:r>
              <a:rPr lang="it-IT" dirty="0"/>
              <a:t> C₀ and 1.82 from the GARCH state h(t₀): </a:t>
            </a:r>
            <a:r>
              <a:rPr lang="it-IT" dirty="0" err="1"/>
              <a:t>about</a:t>
            </a:r>
            <a:r>
              <a:rPr lang="it-IT" dirty="0"/>
              <a:t> </a:t>
            </a:r>
            <a:r>
              <a:rPr lang="it-IT" dirty="0" err="1"/>
              <a:t>four-fifths</a:t>
            </a:r>
            <a:r>
              <a:rPr lang="it-IT" dirty="0"/>
              <a:t> of the gap, on a </a:t>
            </a:r>
            <a:r>
              <a:rPr lang="it-IT" dirty="0" err="1"/>
              <a:t>logarithmic</a:t>
            </a:r>
            <a:r>
              <a:rPr lang="it-IT" dirty="0"/>
              <a:t> scale, </a:t>
            </a:r>
            <a:r>
              <a:rPr lang="it-IT" dirty="0" err="1"/>
              <a:t>sits</a:t>
            </a:r>
            <a:r>
              <a:rPr lang="it-IT" dirty="0"/>
              <a:t> in C₀. Two </a:t>
            </a:r>
            <a:r>
              <a:rPr lang="it-IT" dirty="0" err="1"/>
              <a:t>qualifications</a:t>
            </a:r>
            <a:r>
              <a:rPr lang="it-IT" dirty="0"/>
              <a:t> are </a:t>
            </a:r>
            <a:r>
              <a:rPr lang="it-IT" dirty="0" err="1"/>
              <a:t>needed</a:t>
            </a:r>
            <a:r>
              <a:rPr lang="it-IT" dirty="0"/>
              <a:t>. First, C₀ </a:t>
            </a:r>
            <a:r>
              <a:rPr lang="it-IT" dirty="0" err="1"/>
              <a:t>is</a:t>
            </a:r>
            <a:r>
              <a:rPr lang="it-IT" dirty="0"/>
              <a:t> a </a:t>
            </a:r>
            <a:r>
              <a:rPr lang="it-IT" dirty="0" err="1"/>
              <a:t>variance</a:t>
            </a:r>
            <a:r>
              <a:rPr lang="it-IT" dirty="0"/>
              <a:t> in Box–Cox </a:t>
            </a:r>
            <a:r>
              <a:rPr lang="it-IT" dirty="0" err="1"/>
              <a:t>units</a:t>
            </a:r>
            <a:r>
              <a:rPr lang="it-IT" dirty="0"/>
              <a:t>, with lambda 0.1 for Bologna and 0.5 for </a:t>
            </a:r>
            <a:r>
              <a:rPr lang="it-IT" dirty="0" err="1"/>
              <a:t>Nordfriesland</a:t>
            </a:r>
            <a:r>
              <a:rPr lang="it-IT" dirty="0"/>
              <a:t>, so the </a:t>
            </a:r>
            <a:r>
              <a:rPr lang="it-IT" dirty="0" err="1"/>
              <a:t>two</a:t>
            </a:r>
            <a:r>
              <a:rPr lang="it-IT" dirty="0"/>
              <a:t> strikes are </a:t>
            </a:r>
            <a:r>
              <a:rPr lang="it-IT" dirty="0" err="1"/>
              <a:t>not</a:t>
            </a:r>
            <a:r>
              <a:rPr lang="it-IT" dirty="0"/>
              <a:t> </a:t>
            </a:r>
            <a:r>
              <a:rPr lang="it-IT" dirty="0" err="1"/>
              <a:t>strictly</a:t>
            </a:r>
            <a:r>
              <a:rPr lang="it-IT" dirty="0"/>
              <a:t> the </a:t>
            </a:r>
            <a:r>
              <a:rPr lang="it-IT" dirty="0" err="1"/>
              <a:t>same</a:t>
            </a:r>
            <a:r>
              <a:rPr lang="it-IT" dirty="0"/>
              <a:t> </a:t>
            </a:r>
            <a:r>
              <a:rPr lang="it-IT" dirty="0" err="1"/>
              <a:t>kind</a:t>
            </a:r>
            <a:r>
              <a:rPr lang="it-IT" dirty="0"/>
              <a:t> of </a:t>
            </a:r>
            <a:r>
              <a:rPr lang="it-IT" dirty="0" err="1"/>
              <a:t>quantity</a:t>
            </a:r>
            <a:r>
              <a:rPr lang="it-IT" dirty="0"/>
              <a:t>. Second, the 1.82 </a:t>
            </a:r>
            <a:r>
              <a:rPr lang="it-IT" dirty="0" err="1"/>
              <a:t>compares</a:t>
            </a:r>
            <a:r>
              <a:rPr lang="it-IT" dirty="0"/>
              <a:t> </a:t>
            </a:r>
            <a:r>
              <a:rPr lang="it-IT" dirty="0" err="1"/>
              <a:t>two</a:t>
            </a:r>
            <a:r>
              <a:rPr lang="it-IT" dirty="0"/>
              <a:t> pricing </a:t>
            </a:r>
            <a:r>
              <a:rPr lang="it-IT" dirty="0" err="1"/>
              <a:t>dates</a:t>
            </a:r>
            <a:r>
              <a:rPr lang="it-IT" dirty="0"/>
              <a:t>, December 2018 and December 2024, </a:t>
            </a:r>
            <a:r>
              <a:rPr lang="it-IT" dirty="0" err="1"/>
              <a:t>rather</a:t>
            </a:r>
            <a:r>
              <a:rPr lang="it-IT" dirty="0"/>
              <a:t> </a:t>
            </a:r>
            <a:r>
              <a:rPr lang="it-IT" dirty="0" err="1"/>
              <a:t>than</a:t>
            </a:r>
            <a:r>
              <a:rPr lang="it-IT" dirty="0"/>
              <a:t> </a:t>
            </a:r>
            <a:r>
              <a:rPr lang="it-IT" dirty="0" err="1"/>
              <a:t>two</a:t>
            </a:r>
            <a:r>
              <a:rPr lang="it-IT" dirty="0"/>
              <a:t> </a:t>
            </a:r>
            <a:r>
              <a:rPr lang="it-IT" dirty="0" err="1"/>
              <a:t>sites</a:t>
            </a:r>
            <a:r>
              <a:rPr lang="it-IT" dirty="0"/>
              <a:t>. </a:t>
            </a:r>
            <a:r>
              <a:rPr lang="it-IT" dirty="0" err="1"/>
              <a:t>Mapped</a:t>
            </a:r>
            <a:r>
              <a:rPr lang="it-IT" dirty="0"/>
              <a:t> </a:t>
            </a:r>
            <a:r>
              <a:rPr lang="it-IT" dirty="0" err="1"/>
              <a:t>onto</a:t>
            </a:r>
            <a:r>
              <a:rPr lang="it-IT" dirty="0"/>
              <a:t> a common scale, the </a:t>
            </a:r>
            <a:r>
              <a:rPr lang="it-IT" dirty="0" err="1"/>
              <a:t>variance</a:t>
            </a:r>
            <a:r>
              <a:rPr lang="it-IT" dirty="0"/>
              <a:t> of generation log-</a:t>
            </a:r>
            <a:r>
              <a:rPr lang="it-IT" dirty="0" err="1"/>
              <a:t>returns</a:t>
            </a:r>
            <a:r>
              <a:rPr lang="it-IT" dirty="0"/>
              <a:t>, the ratio </a:t>
            </a:r>
            <a:r>
              <a:rPr lang="it-IT" dirty="0" err="1"/>
              <a:t>falls</a:t>
            </a:r>
            <a:r>
              <a:rPr lang="it-IT" dirty="0"/>
              <a:t> from 16 to </a:t>
            </a:r>
            <a:r>
              <a:rPr lang="it-IT" dirty="0" err="1"/>
              <a:t>about</a:t>
            </a:r>
            <a:r>
              <a:rPr lang="it-IT" dirty="0"/>
              <a:t> 2.5, and </a:t>
            </a:r>
            <a:r>
              <a:rPr lang="it-IT" dirty="0" err="1"/>
              <a:t>its</a:t>
            </a:r>
            <a:r>
              <a:rPr lang="it-IT" dirty="0"/>
              <a:t> </a:t>
            </a:r>
            <a:r>
              <a:rPr lang="it-IT" dirty="0" err="1"/>
              <a:t>climatological</a:t>
            </a:r>
            <a:r>
              <a:rPr lang="it-IT" dirty="0"/>
              <a:t> part to </a:t>
            </a:r>
            <a:r>
              <a:rPr lang="it-IT" dirty="0" err="1"/>
              <a:t>about</a:t>
            </a:r>
            <a:r>
              <a:rPr lang="it-IT" dirty="0"/>
              <a:t> 1.36. </a:t>
            </a:r>
            <a:r>
              <a:rPr lang="it-IT" dirty="0" err="1"/>
              <a:t>Consistently</a:t>
            </a:r>
            <a:r>
              <a:rPr lang="it-IT" dirty="0"/>
              <a:t>, the </a:t>
            </a:r>
            <a:r>
              <a:rPr lang="it-IT" dirty="0" err="1"/>
              <a:t>two</a:t>
            </a:r>
            <a:r>
              <a:rPr lang="it-IT" dirty="0"/>
              <a:t> </a:t>
            </a:r>
            <a:r>
              <a:rPr lang="it-IT" dirty="0" err="1"/>
              <a:t>sites</a:t>
            </a:r>
            <a:r>
              <a:rPr lang="it-IT" dirty="0"/>
              <a:t> </a:t>
            </a:r>
            <a:r>
              <a:rPr lang="it-IT" dirty="0" err="1"/>
              <a:t>have</a:t>
            </a:r>
            <a:r>
              <a:rPr lang="it-IT" dirty="0"/>
              <a:t> </a:t>
            </a:r>
            <a:r>
              <a:rPr lang="it-IT" dirty="0" err="1"/>
              <a:t>almost</a:t>
            </a:r>
            <a:r>
              <a:rPr lang="it-IT" dirty="0"/>
              <a:t> </a:t>
            </a:r>
            <a:r>
              <a:rPr lang="it-IT" dirty="0" err="1"/>
              <a:t>identical</a:t>
            </a:r>
            <a:r>
              <a:rPr lang="it-IT" dirty="0"/>
              <a:t> </a:t>
            </a:r>
            <a:r>
              <a:rPr lang="it-IT" dirty="0" err="1"/>
              <a:t>coefficients</a:t>
            </a:r>
            <a:r>
              <a:rPr lang="it-IT" dirty="0"/>
              <a:t> of </a:t>
            </a:r>
            <a:r>
              <a:rPr lang="it-IT" dirty="0" err="1"/>
              <a:t>variation</a:t>
            </a:r>
            <a:r>
              <a:rPr lang="it-IT" dirty="0"/>
              <a:t>: 0.384 for Bologna and 0.401 for </a:t>
            </a:r>
            <a:r>
              <a:rPr lang="it-IT" dirty="0" err="1"/>
              <a:t>Nordfriesland</a:t>
            </a:r>
            <a:r>
              <a:rPr lang="it-IT" dirty="0"/>
              <a:t>. </a:t>
            </a:r>
            <a:r>
              <a:rPr lang="it-IT" dirty="0" err="1"/>
              <a:t>Bologna’s</a:t>
            </a:r>
            <a:r>
              <a:rPr lang="it-IT" dirty="0"/>
              <a:t> </a:t>
            </a:r>
            <a:r>
              <a:rPr lang="it-IT" dirty="0" err="1"/>
              <a:t>problem</a:t>
            </a:r>
            <a:r>
              <a:rPr lang="it-IT" dirty="0"/>
              <a:t> </a:t>
            </a:r>
            <a:r>
              <a:rPr lang="it-IT" dirty="0" err="1"/>
              <a:t>is</a:t>
            </a:r>
            <a:r>
              <a:rPr lang="it-IT" dirty="0"/>
              <a:t> </a:t>
            </a:r>
            <a:r>
              <a:rPr lang="it-IT" dirty="0" err="1"/>
              <a:t>therefore</a:t>
            </a:r>
            <a:r>
              <a:rPr lang="it-IT" dirty="0"/>
              <a:t> </a:t>
            </a:r>
            <a:r>
              <a:rPr lang="it-IT" dirty="0" err="1"/>
              <a:t>not</a:t>
            </a:r>
            <a:r>
              <a:rPr lang="it-IT" dirty="0"/>
              <a:t> </a:t>
            </a:r>
            <a:r>
              <a:rPr lang="it-IT" dirty="0" err="1"/>
              <a:t>how</a:t>
            </a:r>
            <a:r>
              <a:rPr lang="it-IT" dirty="0"/>
              <a:t> </a:t>
            </a:r>
            <a:r>
              <a:rPr lang="it-IT" dirty="0" err="1"/>
              <a:t>variable</a:t>
            </a:r>
            <a:r>
              <a:rPr lang="it-IT" dirty="0"/>
              <a:t> </a:t>
            </a:r>
            <a:r>
              <a:rPr lang="it-IT" dirty="0" err="1"/>
              <a:t>its</a:t>
            </a:r>
            <a:r>
              <a:rPr lang="it-IT" dirty="0"/>
              <a:t> wind </a:t>
            </a:r>
            <a:r>
              <a:rPr lang="it-IT" dirty="0" err="1"/>
              <a:t>is</a:t>
            </a:r>
            <a:r>
              <a:rPr lang="it-IT" dirty="0"/>
              <a:t>, in relative </a:t>
            </a:r>
            <a:r>
              <a:rPr lang="it-IT" dirty="0" err="1"/>
              <a:t>terms</a:t>
            </a:r>
            <a:r>
              <a:rPr lang="it-IT" dirty="0"/>
              <a:t>. The headline </a:t>
            </a:r>
            <a:r>
              <a:rPr lang="it-IT" dirty="0" err="1"/>
              <a:t>figures</a:t>
            </a:r>
            <a:r>
              <a:rPr lang="it-IT" dirty="0"/>
              <a:t> </a:t>
            </a:r>
            <a:r>
              <a:rPr lang="it-IT" dirty="0" err="1"/>
              <a:t>describe</a:t>
            </a:r>
            <a:r>
              <a:rPr lang="it-IT" dirty="0"/>
              <a:t> </a:t>
            </a:r>
            <a:r>
              <a:rPr lang="it-IT" dirty="0" err="1"/>
              <a:t>what</a:t>
            </a:r>
            <a:r>
              <a:rPr lang="it-IT" dirty="0"/>
              <a:t> the </a:t>
            </a:r>
            <a:r>
              <a:rPr lang="it-IT" dirty="0" err="1"/>
              <a:t>two</a:t>
            </a:r>
            <a:r>
              <a:rPr lang="it-IT" dirty="0"/>
              <a:t> pipelines quote; </a:t>
            </a:r>
            <a:r>
              <a:rPr lang="it-IT" dirty="0" err="1"/>
              <a:t>they</a:t>
            </a:r>
            <a:r>
              <a:rPr lang="it-IT" dirty="0"/>
              <a:t> are </a:t>
            </a:r>
            <a:r>
              <a:rPr lang="it-IT" dirty="0" err="1"/>
              <a:t>not</a:t>
            </a:r>
            <a:r>
              <a:rPr lang="it-IT" dirty="0"/>
              <a:t> scale-free, and the </a:t>
            </a:r>
            <a:r>
              <a:rPr lang="it-IT" dirty="0" err="1"/>
              <a:t>evidence</a:t>
            </a:r>
            <a:r>
              <a:rPr lang="it-IT" dirty="0"/>
              <a:t> for </a:t>
            </a:r>
            <a:r>
              <a:rPr lang="it-IT" dirty="0" err="1"/>
              <a:t>alignment</a:t>
            </a:r>
            <a:r>
              <a:rPr lang="it-IT" dirty="0"/>
              <a:t> </a:t>
            </a:r>
            <a:r>
              <a:rPr lang="it-IT" dirty="0" err="1"/>
              <a:t>lies</a:t>
            </a:r>
            <a:r>
              <a:rPr lang="it-IT" dirty="0"/>
              <a:t> </a:t>
            </a:r>
            <a:r>
              <a:rPr lang="it-IT" dirty="0" err="1"/>
              <a:t>elsewhere</a:t>
            </a:r>
            <a:r>
              <a:rPr lang="it-IT" dirty="0"/>
              <a:t>.</a:t>
            </a:r>
          </a:p>
          <a:p>
            <a:endParaRPr dirty="0"/>
          </a:p>
        </p:txBody>
      </p:sp>
      <p:sp>
        <p:nvSpPr>
          <p:cNvPr id="4" name="Slide Number Placeholder 3"/>
          <p:cNvSpPr>
            <a:spLocks noGrp="1"/>
          </p:cNvSpPr>
          <p:nvPr>
            <p:ph type="sldNum" sz="quarter" idx="5"/>
          </p:nvPr>
        </p:nvSpPr>
        <p:spPr/>
        <p:txBody>
          <a:bodyPr/>
          <a:lstStyle/>
          <a:p>
            <a:endParaRPr lang="it-IT"/>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it-IT"/>
          </a:p>
        </p:txBody>
      </p:sp>
      <p:sp>
        <p:nvSpPr>
          <p:cNvPr id="3" name="Notes Placeholder 2"/>
          <p:cNvSpPr>
            <a:spLocks noGrp="1"/>
          </p:cNvSpPr>
          <p:nvPr>
            <p:ph type="body" sz="quarter" idx="3"/>
          </p:nvPr>
        </p:nvSpPr>
        <p:spPr/>
        <p:txBody>
          <a:bodyPr/>
          <a:lstStyle/>
          <a:p>
            <a:r>
              <a:t>Backup. Year-by-year payoff of a long swap struck at the Track A strike, 113.1. Mean payoff +2.34: the strike was close to fair. 5th-percentile year −14.8, about 13% of the strike. Annual realised variance ranged from 95.5 (2019) to 132.0 (2024).</a:t>
            </a:r>
          </a:p>
        </p:txBody>
      </p:sp>
      <p:sp>
        <p:nvSpPr>
          <p:cNvPr id="4" name="Slide Number Placeholder 3"/>
          <p:cNvSpPr>
            <a:spLocks noGrp="1"/>
          </p:cNvSpPr>
          <p:nvPr>
            <p:ph type="sldNum" sz="quarter" idx="5"/>
          </p:nvPr>
        </p:nvSpPr>
        <p:spPr/>
        <p:txBody>
          <a:bodyPr/>
          <a:lstStyle/>
          <a:p>
            <a:endParaRPr lang="it-IT"/>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079992" y="-2560320"/>
            <a:ext cx="5669280" cy="5669280"/>
          </a:xfrm>
          <a:prstGeom prst="ellipse">
            <a:avLst/>
          </a:prstGeom>
          <a:solidFill>
            <a:srgbClr val="1C7293">
              <a:alpha val="42000"/>
            </a:srgbClr>
          </a:solidFill>
          <a:ln/>
        </p:spPr>
        <p:txBody>
          <a:bodyPr/>
          <a:lstStyle/>
          <a:p>
            <a:endParaRPr/>
          </a:p>
        </p:txBody>
      </p:sp>
      <p:sp>
        <p:nvSpPr>
          <p:cNvPr id="3" name="Shape 1"/>
          <p:cNvSpPr/>
          <p:nvPr/>
        </p:nvSpPr>
        <p:spPr>
          <a:xfrm>
            <a:off x="10634472" y="-640080"/>
            <a:ext cx="2743200" cy="2743200"/>
          </a:xfrm>
          <a:prstGeom prst="ellipse">
            <a:avLst/>
          </a:prstGeom>
          <a:solidFill>
            <a:srgbClr val="065A82">
              <a:alpha val="70000"/>
            </a:srgbClr>
          </a:solidFill>
          <a:ln/>
        </p:spPr>
        <p:txBody>
          <a:bodyPr/>
          <a:lstStyle/>
          <a:p>
            <a:endParaRPr/>
          </a:p>
        </p:txBody>
      </p:sp>
      <p:sp>
        <p:nvSpPr>
          <p:cNvPr id="4" name="Text 2"/>
          <p:cNvSpPr/>
          <p:nvPr/>
        </p:nvSpPr>
        <p:spPr>
          <a:xfrm>
            <a:off x="822960" y="1965960"/>
            <a:ext cx="9144000" cy="365760"/>
          </a:xfrm>
          <a:prstGeom prst="rect">
            <a:avLst/>
          </a:prstGeom>
          <a:noFill/>
          <a:ln/>
        </p:spPr>
        <p:txBody>
          <a:bodyPr wrap="square" lIns="0" tIns="0" rIns="0" bIns="0" rtlCol="0" anchor="ctr"/>
          <a:lstStyle/>
          <a:p>
            <a:pPr marL="0" indent="0" algn="l">
              <a:buNone/>
            </a:pPr>
            <a:r>
              <a:rPr lang="en-US" sz="1400" b="1" kern="0" spc="250" dirty="0">
                <a:solidFill>
                  <a:srgbClr val="E8A33D"/>
                </a:solidFill>
                <a:latin typeface="Calibri" pitchFamily="34" charset="0"/>
                <a:ea typeface="Calibri" pitchFamily="34" charset="-122"/>
                <a:cs typeface="Calibri" pitchFamily="34" charset="-120"/>
              </a:rPr>
              <a:t>MASTER'S THESIS · FINAL EXAMINATION</a:t>
            </a:r>
            <a:endParaRPr lang="en-US" sz="1400" dirty="0"/>
          </a:p>
        </p:txBody>
      </p:sp>
      <p:sp>
        <p:nvSpPr>
          <p:cNvPr id="5" name="Text 3"/>
          <p:cNvSpPr/>
          <p:nvPr/>
        </p:nvSpPr>
        <p:spPr>
          <a:xfrm>
            <a:off x="822960" y="2423160"/>
            <a:ext cx="10241280" cy="173736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a:ea typeface="Cambria"/>
                <a:cs typeface="Cambria"/>
              </a:rPr>
              <a:t>Wind Speed Modelling</a:t>
            </a:r>
          </a:p>
          <a:p>
            <a:pPr marL="0" indent="0" algn="l">
              <a:buNone/>
            </a:pPr>
            <a:r>
              <a:rPr lang="en-US" sz="3400" b="1" dirty="0">
                <a:solidFill>
                  <a:srgbClr val="FFFFFF"/>
                </a:solidFill>
                <a:latin typeface="Cambria"/>
                <a:ea typeface="Cambria"/>
                <a:cs typeface="Cambria"/>
              </a:rPr>
              <a:t>for Derivatives Pricing</a:t>
            </a:r>
          </a:p>
        </p:txBody>
      </p:sp>
      <p:sp>
        <p:nvSpPr>
          <p:cNvPr id="6" name="Text 4"/>
          <p:cNvSpPr/>
          <p:nvPr/>
        </p:nvSpPr>
        <p:spPr>
          <a:xfrm>
            <a:off x="822960" y="4343400"/>
            <a:ext cx="10058400" cy="365760"/>
          </a:xfrm>
          <a:prstGeom prst="rect">
            <a:avLst/>
          </a:prstGeom>
          <a:noFill/>
          <a:ln/>
        </p:spPr>
        <p:txBody>
          <a:bodyPr wrap="square" lIns="0" tIns="0" rIns="0" bIns="0" rtlCol="0" anchor="ctr"/>
          <a:lstStyle/>
          <a:p>
            <a:pPr marL="0" indent="0" algn="l">
              <a:buNone/>
            </a:pPr>
            <a:r>
              <a:rPr lang="en-US" sz="1500" b="0" i="1" dirty="0">
                <a:solidFill>
                  <a:srgbClr val="FFFFFF"/>
                </a:solidFill>
                <a:latin typeface="Calibri"/>
                <a:ea typeface="Calibri"/>
                <a:cs typeface="Calibri"/>
              </a:rPr>
              <a:t>Candidate: Enrico Butali</a:t>
            </a:r>
            <a:r>
              <a:rPr lang="en-US" sz="1500" b="0" i="1" dirty="0">
                <a:solidFill>
                  <a:srgbClr val="CADCFC"/>
                </a:solidFill>
                <a:latin typeface="Calibri"/>
                <a:ea typeface="Calibri"/>
                <a:cs typeface="Calibri"/>
              </a:rPr>
              <a:t>      Supervisor: Prof.ssa Silvia Romagnoli</a:t>
            </a:r>
          </a:p>
        </p:txBody>
      </p:sp>
      <p:sp>
        <p:nvSpPr>
          <p:cNvPr id="7" name="Text 5"/>
          <p:cNvSpPr/>
          <p:nvPr/>
        </p:nvSpPr>
        <p:spPr>
          <a:xfrm>
            <a:off x="822960" y="4800600"/>
            <a:ext cx="9144000" cy="640080"/>
          </a:xfrm>
          <a:prstGeom prst="rect">
            <a:avLst/>
          </a:prstGeom>
          <a:noFill/>
          <a:ln/>
        </p:spPr>
        <p:txBody>
          <a:bodyPr wrap="square" lIns="0" tIns="0" rIns="0" bIns="0" rtlCol="0" anchor="ctr"/>
          <a:lstStyle/>
          <a:p>
            <a:pPr marL="0" indent="0" algn="l">
              <a:lnSpc>
                <a:spcPct val="120000"/>
              </a:lnSpc>
              <a:buNone/>
            </a:pPr>
            <a:r>
              <a:rPr lang="en-US" sz="1250" dirty="0">
                <a:solidFill>
                  <a:srgbClr val="EEF3F7"/>
                </a:solidFill>
                <a:latin typeface="Calibri" pitchFamily="34" charset="0"/>
                <a:ea typeface="Calibri" pitchFamily="34" charset="-122"/>
                <a:cs typeface="Calibri" pitchFamily="34" charset="-120"/>
              </a:rPr>
              <a:t>Second Cycle Degree in Greening Energy Market and Finance (LM-16 R)</a:t>
            </a:r>
            <a:endParaRPr lang="en-US" sz="1250" dirty="0"/>
          </a:p>
          <a:p>
            <a:pPr marL="0" indent="0" algn="l">
              <a:lnSpc>
                <a:spcPct val="120000"/>
              </a:lnSpc>
              <a:buNone/>
            </a:pPr>
            <a:r>
              <a:rPr lang="en-US" sz="1250" dirty="0">
                <a:solidFill>
                  <a:srgbClr val="EEF3F7"/>
                </a:solidFill>
                <a:latin typeface="Calibri" pitchFamily="34" charset="0"/>
                <a:ea typeface="Calibri" pitchFamily="34" charset="-122"/>
                <a:cs typeface="Calibri" pitchFamily="34" charset="-120"/>
              </a:rPr>
              <a:t>Department of Statistical Sciences “Paolo Fortunati” · University of Bologna</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3200" b="1" dirty="0">
                <a:solidFill>
                  <a:srgbClr val="21295C"/>
                </a:solidFill>
                <a:latin typeface="Cambria" pitchFamily="34" charset="0"/>
                <a:ea typeface="Cambria" pitchFamily="34" charset="-122"/>
                <a:cs typeface="Cambria" pitchFamily="34" charset="-120"/>
              </a:rPr>
              <a:t>Wind is free to generate — and impossible to store</a:t>
            </a:r>
            <a:endParaRPr lang="en-US" sz="3200" dirty="0"/>
          </a:p>
        </p:txBody>
      </p:sp>
      <p:sp>
        <p:nvSpPr>
          <p:cNvPr id="4" name="Shape 2"/>
          <p:cNvSpPr/>
          <p:nvPr/>
        </p:nvSpPr>
        <p:spPr>
          <a:xfrm>
            <a:off x="548640" y="1783080"/>
            <a:ext cx="6675120" cy="4297680"/>
          </a:xfrm>
          <a:prstGeom prst="roundRect">
            <a:avLst>
              <a:gd name="adj" fmla="val 1915"/>
            </a:avLst>
          </a:prstGeom>
          <a:solidFill>
            <a:srgbClr val="F7FAFC"/>
          </a:solidFill>
          <a:ln/>
          <a:effectLst>
            <a:outerShdw blurRad="88900" dist="25400" dir="5400000" algn="bl" rotWithShape="0">
              <a:srgbClr val="1C1C1C">
                <a:alpha val="16000"/>
              </a:srgbClr>
            </a:outerShdw>
          </a:effectLst>
        </p:spPr>
        <p:txBody>
          <a:bodyPr/>
          <a:lstStyle/>
          <a:p>
            <a:endParaRPr/>
          </a:p>
        </p:txBody>
      </p:sp>
      <p:sp>
        <p:nvSpPr>
          <p:cNvPr id="5" name="Text 3"/>
          <p:cNvSpPr/>
          <p:nvPr/>
        </p:nvSpPr>
        <p:spPr>
          <a:xfrm>
            <a:off x="868680" y="2011680"/>
            <a:ext cx="6080760" cy="3840480"/>
          </a:xfrm>
          <a:prstGeom prst="rect">
            <a:avLst/>
          </a:prstGeom>
          <a:noFill/>
          <a:ln/>
        </p:spPr>
        <p:txBody>
          <a:bodyPr wrap="square" lIns="0" tIns="0" rIns="0" bIns="0" rtlCol="0" anchor="ctr"/>
          <a:lstStyle/>
          <a:p>
            <a:pPr marL="0" indent="0" algn="l">
              <a:lnSpc>
                <a:spcPct val="118000"/>
              </a:lnSpc>
              <a:spcAft>
                <a:spcPts val="720"/>
              </a:spcAft>
              <a:buNone/>
            </a:pPr>
            <a:r>
              <a:rPr lang="en-US" sz="2000" b="1" dirty="0">
                <a:solidFill>
                  <a:srgbClr val="21295C"/>
                </a:solidFill>
                <a:ea typeface="Calibri" pitchFamily="34" charset="-122"/>
                <a:cs typeface="Calibri" pitchFamily="34" charset="-120"/>
              </a:rPr>
              <a:t>Two legs of exposure for a wind producer</a:t>
            </a:r>
            <a:endParaRPr lang="en-US" sz="2000" dirty="0"/>
          </a:p>
          <a:p>
            <a:pPr marL="0" indent="0" algn="l">
              <a:lnSpc>
                <a:spcPct val="118000"/>
              </a:lnSpc>
              <a:spcAft>
                <a:spcPts val="720"/>
              </a:spcAft>
              <a:buNone/>
            </a:pPr>
            <a:r>
              <a:rPr lang="en-US" dirty="0">
                <a:solidFill>
                  <a:srgbClr val="56606B"/>
                </a:solidFill>
                <a:ea typeface="Calibri" pitchFamily="34" charset="-122"/>
                <a:cs typeface="Calibri" pitchFamily="34" charset="-120"/>
              </a:rPr>
              <a:t>Volumetric — when the wind is weak, the farm produces less.</a:t>
            </a:r>
            <a:endParaRPr lang="en-US" dirty="0"/>
          </a:p>
          <a:p>
            <a:pPr marL="0" indent="0" algn="l">
              <a:lnSpc>
                <a:spcPct val="118000"/>
              </a:lnSpc>
              <a:spcAft>
                <a:spcPts val="720"/>
              </a:spcAft>
              <a:buNone/>
            </a:pPr>
            <a:r>
              <a:rPr lang="en-US" dirty="0">
                <a:solidFill>
                  <a:srgbClr val="56606B"/>
                </a:solidFill>
                <a:ea typeface="Calibri" pitchFamily="34" charset="-122"/>
                <a:cs typeface="Calibri" pitchFamily="34" charset="-120"/>
              </a:rPr>
              <a:t>Price — when it is very windy, all farms produce together and the price falls (merit order effect).</a:t>
            </a:r>
            <a:endParaRPr lang="en-US" dirty="0"/>
          </a:p>
          <a:p>
            <a:pPr marL="0" indent="0" algn="l">
              <a:lnSpc>
                <a:spcPct val="118000"/>
              </a:lnSpc>
              <a:spcAft>
                <a:spcPts val="720"/>
              </a:spcAft>
              <a:buNone/>
            </a:pPr>
            <a:r>
              <a:rPr lang="en-US" sz="2000" b="1" dirty="0">
                <a:solidFill>
                  <a:srgbClr val="21295C"/>
                </a:solidFill>
                <a:ea typeface="Calibri" pitchFamily="34" charset="-122"/>
                <a:cs typeface="Calibri" pitchFamily="34" charset="-120"/>
              </a:rPr>
              <a:t>The natural hedge is weak</a:t>
            </a:r>
            <a:endParaRPr lang="en-US" sz="2000" dirty="0"/>
          </a:p>
          <a:p>
            <a:pPr marL="0" indent="0" algn="l">
              <a:lnSpc>
                <a:spcPct val="118000"/>
              </a:lnSpc>
              <a:spcAft>
                <a:spcPts val="720"/>
              </a:spcAft>
              <a:buNone/>
            </a:pPr>
            <a:r>
              <a:rPr lang="en-US" dirty="0">
                <a:solidFill>
                  <a:srgbClr val="56606B"/>
                </a:solidFill>
                <a:latin typeface="Calibri" pitchFamily="34" charset="0"/>
                <a:ea typeface="Calibri" pitchFamily="34" charset="-122"/>
                <a:cs typeface="Calibri" pitchFamily="34" charset="-120"/>
              </a:rPr>
              <a:t>Output and price move against each other, but only slightly (correlation −0.16). In a calm year the producer simply loses revenue.</a:t>
            </a:r>
            <a:endParaRPr lang="en-US" dirty="0"/>
          </a:p>
        </p:txBody>
      </p:sp>
      <p:sp>
        <p:nvSpPr>
          <p:cNvPr id="6" name="Shape 4"/>
          <p:cNvSpPr/>
          <p:nvPr/>
        </p:nvSpPr>
        <p:spPr>
          <a:xfrm>
            <a:off x="7452360" y="1783080"/>
            <a:ext cx="4206240" cy="4297680"/>
          </a:xfrm>
          <a:prstGeom prst="roundRect">
            <a:avLst>
              <a:gd name="adj" fmla="val 1957"/>
            </a:avLst>
          </a:prstGeom>
          <a:solidFill>
            <a:srgbClr val="21295C"/>
          </a:solidFill>
          <a:ln/>
          <a:effectLst>
            <a:outerShdw blurRad="88900" dist="25400" dir="5400000" algn="bl" rotWithShape="0">
              <a:srgbClr val="1C1C1C">
                <a:alpha val="16000"/>
              </a:srgbClr>
            </a:outerShdw>
          </a:effectLst>
        </p:spPr>
        <p:txBody>
          <a:bodyPr/>
          <a:lstStyle/>
          <a:p>
            <a:endParaRPr/>
          </a:p>
        </p:txBody>
      </p:sp>
      <p:sp>
        <p:nvSpPr>
          <p:cNvPr id="7" name="Text 5"/>
          <p:cNvSpPr/>
          <p:nvPr/>
        </p:nvSpPr>
        <p:spPr>
          <a:xfrm>
            <a:off x="7726680" y="2011680"/>
            <a:ext cx="3657600" cy="274320"/>
          </a:xfrm>
          <a:prstGeom prst="rect">
            <a:avLst/>
          </a:prstGeom>
          <a:noFill/>
          <a:ln/>
        </p:spPr>
        <p:txBody>
          <a:bodyPr wrap="square" lIns="0" tIns="0" rIns="0" bIns="0" rtlCol="0" anchor="ctr"/>
          <a:lstStyle/>
          <a:p>
            <a:pPr marL="0" indent="0">
              <a:buNone/>
            </a:pPr>
            <a:r>
              <a:rPr lang="en-US" sz="1100" b="1" kern="0" spc="150" dirty="0">
                <a:solidFill>
                  <a:srgbClr val="E8A33D"/>
                </a:solidFill>
                <a:latin typeface="Calibri" pitchFamily="34" charset="0"/>
                <a:ea typeface="Calibri" pitchFamily="34" charset="-122"/>
                <a:cs typeface="Calibri" pitchFamily="34" charset="-120"/>
              </a:rPr>
              <a:t>ILLUSTRATIVE SCALE</a:t>
            </a:r>
            <a:endParaRPr lang="en-US" sz="1100" dirty="0"/>
          </a:p>
        </p:txBody>
      </p:sp>
      <p:sp>
        <p:nvSpPr>
          <p:cNvPr id="8" name="Text 6"/>
          <p:cNvSpPr/>
          <p:nvPr/>
        </p:nvSpPr>
        <p:spPr>
          <a:xfrm>
            <a:off x="7726680" y="2331720"/>
            <a:ext cx="365760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100 MW</a:t>
            </a:r>
            <a:endParaRPr lang="en-US" sz="4000" dirty="0"/>
          </a:p>
        </p:txBody>
      </p:sp>
      <p:sp>
        <p:nvSpPr>
          <p:cNvPr id="9" name="Text 7"/>
          <p:cNvSpPr/>
          <p:nvPr/>
        </p:nvSpPr>
        <p:spPr>
          <a:xfrm>
            <a:off x="7726680" y="3063240"/>
            <a:ext cx="3566160" cy="548640"/>
          </a:xfrm>
          <a:prstGeom prst="rect">
            <a:avLst/>
          </a:prstGeom>
          <a:noFill/>
          <a:ln/>
        </p:spPr>
        <p:txBody>
          <a:bodyPr wrap="square" lIns="0" tIns="0" rIns="0" bIns="0" rtlCol="0" anchor="ctr"/>
          <a:lstStyle/>
          <a:p>
            <a:r>
              <a:rPr lang="en-US" sz="1600" dirty="0">
                <a:solidFill>
                  <a:srgbClr val="EEF3F7"/>
                </a:solidFill>
                <a:ea typeface="Calibri"/>
                <a:cs typeface="Calibri"/>
              </a:rPr>
              <a:t>farm, 25.7% capacity factor → ≈225,100 MWh / yr</a:t>
            </a:r>
          </a:p>
        </p:txBody>
      </p:sp>
      <p:sp>
        <p:nvSpPr>
          <p:cNvPr id="10" name="Text 8"/>
          <p:cNvSpPr/>
          <p:nvPr/>
        </p:nvSpPr>
        <p:spPr>
          <a:xfrm>
            <a:off x="7726680" y="3794760"/>
            <a:ext cx="3657600" cy="548640"/>
          </a:xfrm>
          <a:prstGeom prst="rect">
            <a:avLst/>
          </a:prstGeom>
          <a:noFill/>
          <a:ln/>
        </p:spPr>
        <p:txBody>
          <a:bodyPr wrap="square" lIns="0" tIns="0" rIns="0" bIns="0" rtlCol="0" anchor="ctr"/>
          <a:lstStyle/>
          <a:p>
            <a:pPr marL="0" indent="0">
              <a:buNone/>
            </a:pPr>
            <a:r>
              <a:rPr lang="en-US" sz="3000" b="1" dirty="0">
                <a:solidFill>
                  <a:srgbClr val="E8A33D"/>
                </a:solidFill>
                <a:latin typeface="Cambria" pitchFamily="34" charset="0"/>
                <a:ea typeface="Cambria" pitchFamily="34" charset="-122"/>
                <a:cs typeface="Cambria" pitchFamily="34" charset="-120"/>
              </a:rPr>
              <a:t>≈ €16.1m</a:t>
            </a:r>
            <a:endParaRPr lang="en-US" sz="3000" dirty="0"/>
          </a:p>
        </p:txBody>
      </p:sp>
      <p:sp>
        <p:nvSpPr>
          <p:cNvPr id="11" name="Text 9"/>
          <p:cNvSpPr/>
          <p:nvPr/>
        </p:nvSpPr>
        <p:spPr>
          <a:xfrm>
            <a:off x="7726680" y="4343400"/>
            <a:ext cx="3566160" cy="1463040"/>
          </a:xfrm>
          <a:prstGeom prst="rect">
            <a:avLst/>
          </a:prstGeom>
          <a:noFill/>
          <a:ln/>
        </p:spPr>
        <p:txBody>
          <a:bodyPr wrap="square" lIns="0" tIns="0" rIns="0" bIns="0" rtlCol="0" anchor="ctr"/>
          <a:lstStyle/>
          <a:p>
            <a:pPr marL="0" indent="0">
              <a:lnSpc>
                <a:spcPct val="118000"/>
              </a:lnSpc>
              <a:buNone/>
            </a:pPr>
            <a:endParaRPr lang="en-US" sz="115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3200" b="1" dirty="0">
                <a:solidFill>
                  <a:srgbClr val="21295C"/>
                </a:solidFill>
                <a:latin typeface="Cambria" pitchFamily="34" charset="0"/>
                <a:ea typeface="Cambria" pitchFamily="34" charset="-122"/>
                <a:cs typeface="Cambria" pitchFamily="34" charset="-120"/>
              </a:rPr>
              <a:t>What the thesis sets out to do</a:t>
            </a:r>
            <a:endParaRPr lang="en-US" sz="32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3</a:t>
            </a:r>
            <a:endParaRPr lang="en-US" sz="900" dirty="0"/>
          </a:p>
        </p:txBody>
      </p:sp>
      <p:sp>
        <p:nvSpPr>
          <p:cNvPr id="14" name="Rounded Rectangle 13"/>
          <p:cNvSpPr/>
          <p:nvPr/>
        </p:nvSpPr>
        <p:spPr>
          <a:xfrm>
            <a:off x="548640" y="1783080"/>
            <a:ext cx="11109960" cy="1371600"/>
          </a:xfrm>
          <a:prstGeom prst="roundRect">
            <a:avLst>
              <a:gd name="adj" fmla="val 6000"/>
            </a:avLst>
          </a:prstGeom>
          <a:solidFill>
            <a:srgbClr val="21295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TextBox 14"/>
          <p:cNvSpPr txBox="1"/>
          <p:nvPr/>
        </p:nvSpPr>
        <p:spPr>
          <a:xfrm>
            <a:off x="868680" y="1892807"/>
            <a:ext cx="5486400" cy="274320"/>
          </a:xfrm>
          <a:prstGeom prst="rect">
            <a:avLst/>
          </a:prstGeom>
          <a:noFill/>
        </p:spPr>
        <p:txBody>
          <a:bodyPr wrap="square" lIns="0" tIns="0" rIns="0" bIns="0" anchor="ctr">
            <a:spAutoFit/>
          </a:bodyPr>
          <a:lstStyle/>
          <a:p>
            <a:pPr algn="l"/>
            <a:r>
              <a:rPr sz="1200" b="1" i="0" spc="100">
                <a:solidFill>
                  <a:srgbClr val="E8A33D"/>
                </a:solidFill>
                <a:latin typeface="Calibri"/>
              </a:rPr>
              <a:t>THE QUESTION</a:t>
            </a:r>
          </a:p>
        </p:txBody>
      </p:sp>
      <p:sp>
        <p:nvSpPr>
          <p:cNvPr id="16" name="TextBox 15"/>
          <p:cNvSpPr txBox="1"/>
          <p:nvPr/>
        </p:nvSpPr>
        <p:spPr>
          <a:xfrm>
            <a:off x="868680" y="2254598"/>
            <a:ext cx="10469880" cy="748603"/>
          </a:xfrm>
          <a:prstGeom prst="rect">
            <a:avLst/>
          </a:prstGeom>
          <a:noFill/>
        </p:spPr>
        <p:txBody>
          <a:bodyPr wrap="square" lIns="0" tIns="0" rIns="0" bIns="0" anchor="ctr">
            <a:spAutoFit/>
          </a:bodyPr>
          <a:lstStyle/>
          <a:p>
            <a:pPr algn="l">
              <a:lnSpc>
                <a:spcPct val="105000"/>
              </a:lnSpc>
            </a:pPr>
            <a:r>
              <a:rPr sz="2400" b="1" i="0" dirty="0">
                <a:solidFill>
                  <a:srgbClr val="FFFFFF"/>
                </a:solidFill>
                <a:latin typeface="Cambria"/>
              </a:rPr>
              <a:t>Can a wind-speed model price a wind producer’s volume risk — and does the price depend on which wind data we use?</a:t>
            </a:r>
          </a:p>
        </p:txBody>
      </p:sp>
      <p:sp>
        <p:nvSpPr>
          <p:cNvPr id="19" name="TextBox 18"/>
          <p:cNvSpPr txBox="1"/>
          <p:nvPr/>
        </p:nvSpPr>
        <p:spPr>
          <a:xfrm>
            <a:off x="548640" y="6035040"/>
            <a:ext cx="11109960" cy="320040"/>
          </a:xfrm>
          <a:prstGeom prst="rect">
            <a:avLst/>
          </a:prstGeom>
          <a:noFill/>
        </p:spPr>
        <p:txBody>
          <a:bodyPr wrap="square" lIns="0" tIns="0" rIns="0" bIns="0" anchor="t">
            <a:spAutoFit/>
          </a:bodyPr>
          <a:lstStyle/>
          <a:p>
            <a:pPr algn="l">
              <a:lnSpc>
                <a:spcPct val="110000"/>
              </a:lnSpc>
              <a:spcAft>
                <a:spcPts val="1080"/>
              </a:spcAft>
            </a:pPr>
            <a:r>
              <a:rPr sz="1200" b="0" i="1">
                <a:solidFill>
                  <a:srgbClr val="21295C"/>
                </a:solidFill>
                <a:latin typeface="Calibri"/>
              </a:rPr>
              <a:t>θ = 0 is adopted as a benchmark assumption in the absence of EEX option-implied data.</a:t>
            </a:r>
          </a:p>
        </p:txBody>
      </p:sp>
      <p:sp>
        <p:nvSpPr>
          <p:cNvPr id="20" name="Rounded Rectangle 19"/>
          <p:cNvSpPr/>
          <p:nvPr/>
        </p:nvSpPr>
        <p:spPr>
          <a:xfrm>
            <a:off x="548640" y="3474720"/>
            <a:ext cx="3611880" cy="2423160"/>
          </a:xfrm>
          <a:prstGeom prst="roundRect">
            <a:avLst>
              <a:gd name="adj" fmla="val 9473"/>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1" name="Oval 20"/>
          <p:cNvSpPr/>
          <p:nvPr/>
        </p:nvSpPr>
        <p:spPr>
          <a:xfrm>
            <a:off x="777240" y="3703320"/>
            <a:ext cx="502920" cy="502920"/>
          </a:xfrm>
          <a:prstGeom prst="ellipse">
            <a:avLst/>
          </a:prstGeom>
          <a:solidFill>
            <a:srgbClr val="1C7293"/>
          </a:solidFill>
          <a:ln>
            <a:noFill/>
          </a:ln>
        </p:spPr>
        <p:txBody>
          <a:bodyPr rtlCol="0" anchor="ctr"/>
          <a:lstStyle/>
          <a:p>
            <a:pPr algn="ctr"/>
            <a:endParaRPr/>
          </a:p>
        </p:txBody>
      </p:sp>
      <p:sp>
        <p:nvSpPr>
          <p:cNvPr id="22" name="TextBox 21"/>
          <p:cNvSpPr txBox="1"/>
          <p:nvPr/>
        </p:nvSpPr>
        <p:spPr>
          <a:xfrm>
            <a:off x="777240" y="3703320"/>
            <a:ext cx="502920" cy="502920"/>
          </a:xfrm>
          <a:prstGeom prst="rect">
            <a:avLst/>
          </a:prstGeom>
          <a:noFill/>
        </p:spPr>
        <p:txBody>
          <a:bodyPr wrap="square" lIns="0" tIns="0" rIns="0" bIns="0" anchor="ctr">
            <a:spAutoFit/>
          </a:bodyPr>
          <a:lstStyle/>
          <a:p>
            <a:pPr algn="ctr"/>
            <a:r>
              <a:rPr sz="1500" b="1" i="0">
                <a:solidFill>
                  <a:srgbClr val="FFFFFF"/>
                </a:solidFill>
                <a:latin typeface="Calibri"/>
              </a:rPr>
              <a:t>1</a:t>
            </a:r>
          </a:p>
        </p:txBody>
      </p:sp>
      <p:sp>
        <p:nvSpPr>
          <p:cNvPr id="23" name="TextBox 22"/>
          <p:cNvSpPr txBox="1"/>
          <p:nvPr/>
        </p:nvSpPr>
        <p:spPr>
          <a:xfrm>
            <a:off x="1417320" y="3813048"/>
            <a:ext cx="2560320" cy="274320"/>
          </a:xfrm>
          <a:prstGeom prst="rect">
            <a:avLst/>
          </a:prstGeom>
          <a:noFill/>
        </p:spPr>
        <p:txBody>
          <a:bodyPr wrap="square" lIns="0" tIns="0" rIns="0" bIns="0" anchor="ctr">
            <a:spAutoFit/>
          </a:bodyPr>
          <a:lstStyle/>
          <a:p>
            <a:pPr algn="l"/>
            <a:r>
              <a:rPr b="1" i="0" spc="100" dirty="0">
                <a:solidFill>
                  <a:srgbClr val="C8791A"/>
                </a:solidFill>
                <a:latin typeface="Calibri"/>
              </a:rPr>
              <a:t>QUESTION 1 · PRICE</a:t>
            </a:r>
          </a:p>
        </p:txBody>
      </p:sp>
      <p:sp>
        <p:nvSpPr>
          <p:cNvPr id="24" name="TextBox 23"/>
          <p:cNvSpPr txBox="1"/>
          <p:nvPr/>
        </p:nvSpPr>
        <p:spPr>
          <a:xfrm>
            <a:off x="777240" y="4434840"/>
            <a:ext cx="3154680" cy="830997"/>
          </a:xfrm>
          <a:prstGeom prst="rect">
            <a:avLst/>
          </a:prstGeom>
          <a:noFill/>
        </p:spPr>
        <p:txBody>
          <a:bodyPr wrap="square" lIns="0" tIns="0" rIns="0" bIns="0" anchor="t">
            <a:spAutoFit/>
          </a:bodyPr>
          <a:lstStyle/>
          <a:p>
            <a:pPr algn="l">
              <a:lnSpc>
                <a:spcPct val="100000"/>
              </a:lnSpc>
            </a:pPr>
            <a:r>
              <a:rPr b="0" i="0" dirty="0">
                <a:solidFill>
                  <a:srgbClr val="56606B"/>
                </a:solidFill>
                <a:latin typeface="Calibri"/>
              </a:rPr>
              <a:t>Can a wind model give a fair price for a wind derivative — with a closed formula?</a:t>
            </a:r>
          </a:p>
        </p:txBody>
      </p:sp>
      <p:sp>
        <p:nvSpPr>
          <p:cNvPr id="25" name="Rounded Rectangle 24"/>
          <p:cNvSpPr/>
          <p:nvPr/>
        </p:nvSpPr>
        <p:spPr>
          <a:xfrm>
            <a:off x="4297680" y="3474720"/>
            <a:ext cx="3611880" cy="2423160"/>
          </a:xfrm>
          <a:prstGeom prst="roundRect">
            <a:avLst>
              <a:gd name="adj" fmla="val 9473"/>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6" name="Oval 25"/>
          <p:cNvSpPr/>
          <p:nvPr/>
        </p:nvSpPr>
        <p:spPr>
          <a:xfrm>
            <a:off x="4526280" y="3703320"/>
            <a:ext cx="502920" cy="502920"/>
          </a:xfrm>
          <a:prstGeom prst="ellipse">
            <a:avLst/>
          </a:prstGeom>
          <a:solidFill>
            <a:srgbClr val="1C7293"/>
          </a:solidFill>
          <a:ln>
            <a:noFill/>
          </a:ln>
        </p:spPr>
        <p:txBody>
          <a:bodyPr rtlCol="0" anchor="ctr"/>
          <a:lstStyle/>
          <a:p>
            <a:pPr algn="ctr"/>
            <a:endParaRPr/>
          </a:p>
        </p:txBody>
      </p:sp>
      <p:sp>
        <p:nvSpPr>
          <p:cNvPr id="27" name="TextBox 26"/>
          <p:cNvSpPr txBox="1"/>
          <p:nvPr/>
        </p:nvSpPr>
        <p:spPr>
          <a:xfrm>
            <a:off x="4526280" y="3703320"/>
            <a:ext cx="502920" cy="502920"/>
          </a:xfrm>
          <a:prstGeom prst="rect">
            <a:avLst/>
          </a:prstGeom>
          <a:noFill/>
        </p:spPr>
        <p:txBody>
          <a:bodyPr wrap="square" lIns="0" tIns="0" rIns="0" bIns="0" anchor="ctr">
            <a:spAutoFit/>
          </a:bodyPr>
          <a:lstStyle/>
          <a:p>
            <a:pPr algn="ctr"/>
            <a:r>
              <a:rPr sz="1500" b="1" i="0">
                <a:solidFill>
                  <a:srgbClr val="FFFFFF"/>
                </a:solidFill>
                <a:latin typeface="Calibri"/>
              </a:rPr>
              <a:t>2</a:t>
            </a:r>
          </a:p>
        </p:txBody>
      </p:sp>
      <p:sp>
        <p:nvSpPr>
          <p:cNvPr id="28" name="TextBox 27"/>
          <p:cNvSpPr txBox="1"/>
          <p:nvPr/>
        </p:nvSpPr>
        <p:spPr>
          <a:xfrm>
            <a:off x="5166360" y="3813048"/>
            <a:ext cx="2560320" cy="274320"/>
          </a:xfrm>
          <a:prstGeom prst="rect">
            <a:avLst/>
          </a:prstGeom>
          <a:noFill/>
        </p:spPr>
        <p:txBody>
          <a:bodyPr wrap="square" lIns="0" tIns="0" rIns="0" bIns="0" anchor="ctr">
            <a:spAutoFit/>
          </a:bodyPr>
          <a:lstStyle/>
          <a:p>
            <a:pPr algn="l"/>
            <a:r>
              <a:rPr b="1" i="0" spc="100" dirty="0">
                <a:solidFill>
                  <a:srgbClr val="C8791A"/>
                </a:solidFill>
                <a:latin typeface="Calibri"/>
              </a:rPr>
              <a:t>QUESTION 2 · HEDGE</a:t>
            </a:r>
          </a:p>
        </p:txBody>
      </p:sp>
      <p:sp>
        <p:nvSpPr>
          <p:cNvPr id="29" name="TextBox 28"/>
          <p:cNvSpPr txBox="1"/>
          <p:nvPr/>
        </p:nvSpPr>
        <p:spPr>
          <a:xfrm>
            <a:off x="4526280" y="4434840"/>
            <a:ext cx="3154680" cy="553998"/>
          </a:xfrm>
          <a:prstGeom prst="rect">
            <a:avLst/>
          </a:prstGeom>
          <a:noFill/>
        </p:spPr>
        <p:txBody>
          <a:bodyPr wrap="square" lIns="0" tIns="0" rIns="0" bIns="0" anchor="t">
            <a:spAutoFit/>
          </a:bodyPr>
          <a:lstStyle/>
          <a:p>
            <a:pPr algn="l">
              <a:lnSpc>
                <a:spcPct val="100000"/>
              </a:lnSpc>
            </a:pPr>
            <a:r>
              <a:rPr b="0" i="0" dirty="0">
                <a:solidFill>
                  <a:srgbClr val="56606B"/>
                </a:solidFill>
                <a:latin typeface="Calibri"/>
              </a:rPr>
              <a:t>Can a second contract protect the producer in calm years?</a:t>
            </a:r>
          </a:p>
        </p:txBody>
      </p:sp>
      <p:sp>
        <p:nvSpPr>
          <p:cNvPr id="30" name="Rounded Rectangle 29"/>
          <p:cNvSpPr/>
          <p:nvPr/>
        </p:nvSpPr>
        <p:spPr>
          <a:xfrm>
            <a:off x="8046720" y="3474720"/>
            <a:ext cx="3611880" cy="2423160"/>
          </a:xfrm>
          <a:prstGeom prst="roundRect">
            <a:avLst>
              <a:gd name="adj" fmla="val 9473"/>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31" name="Oval 30"/>
          <p:cNvSpPr/>
          <p:nvPr/>
        </p:nvSpPr>
        <p:spPr>
          <a:xfrm>
            <a:off x="8275320" y="3703320"/>
            <a:ext cx="502920" cy="502920"/>
          </a:xfrm>
          <a:prstGeom prst="ellipse">
            <a:avLst/>
          </a:prstGeom>
          <a:solidFill>
            <a:srgbClr val="C8791A"/>
          </a:solidFill>
          <a:ln>
            <a:noFill/>
          </a:ln>
        </p:spPr>
        <p:txBody>
          <a:bodyPr rtlCol="0" anchor="ctr"/>
          <a:lstStyle/>
          <a:p>
            <a:pPr algn="ctr"/>
            <a:endParaRPr/>
          </a:p>
        </p:txBody>
      </p:sp>
      <p:sp>
        <p:nvSpPr>
          <p:cNvPr id="32" name="TextBox 31"/>
          <p:cNvSpPr txBox="1"/>
          <p:nvPr/>
        </p:nvSpPr>
        <p:spPr>
          <a:xfrm>
            <a:off x="8275320" y="3703320"/>
            <a:ext cx="502920" cy="502920"/>
          </a:xfrm>
          <a:prstGeom prst="rect">
            <a:avLst/>
          </a:prstGeom>
          <a:noFill/>
        </p:spPr>
        <p:txBody>
          <a:bodyPr wrap="square" lIns="0" tIns="0" rIns="0" bIns="0" anchor="ctr">
            <a:spAutoFit/>
          </a:bodyPr>
          <a:lstStyle/>
          <a:p>
            <a:pPr algn="ctr"/>
            <a:r>
              <a:rPr sz="1500" b="1" i="0">
                <a:solidFill>
                  <a:srgbClr val="FFFFFF"/>
                </a:solidFill>
                <a:latin typeface="Calibri"/>
              </a:rPr>
              <a:t>3</a:t>
            </a:r>
          </a:p>
        </p:txBody>
      </p:sp>
      <p:sp>
        <p:nvSpPr>
          <p:cNvPr id="33" name="TextBox 32"/>
          <p:cNvSpPr txBox="1"/>
          <p:nvPr/>
        </p:nvSpPr>
        <p:spPr>
          <a:xfrm>
            <a:off x="8915400" y="3813048"/>
            <a:ext cx="2560320" cy="274320"/>
          </a:xfrm>
          <a:prstGeom prst="rect">
            <a:avLst/>
          </a:prstGeom>
          <a:noFill/>
        </p:spPr>
        <p:txBody>
          <a:bodyPr wrap="square" lIns="0" tIns="0" rIns="0" bIns="0" anchor="ctr">
            <a:spAutoFit/>
          </a:bodyPr>
          <a:lstStyle/>
          <a:p>
            <a:pPr algn="l"/>
            <a:r>
              <a:rPr b="1" i="0" spc="100" dirty="0">
                <a:solidFill>
                  <a:srgbClr val="C8791A"/>
                </a:solidFill>
                <a:latin typeface="Calibri"/>
              </a:rPr>
              <a:t>QUESTION 3 · DATA</a:t>
            </a:r>
          </a:p>
        </p:txBody>
      </p:sp>
      <p:sp>
        <p:nvSpPr>
          <p:cNvPr id="34" name="TextBox 33"/>
          <p:cNvSpPr txBox="1"/>
          <p:nvPr/>
        </p:nvSpPr>
        <p:spPr>
          <a:xfrm>
            <a:off x="8275320" y="4434840"/>
            <a:ext cx="3154680" cy="553998"/>
          </a:xfrm>
          <a:prstGeom prst="rect">
            <a:avLst/>
          </a:prstGeom>
          <a:noFill/>
        </p:spPr>
        <p:txBody>
          <a:bodyPr wrap="square" lIns="0" tIns="0" rIns="0" bIns="0" anchor="t">
            <a:spAutoFit/>
          </a:bodyPr>
          <a:lstStyle/>
          <a:p>
            <a:pPr algn="l">
              <a:lnSpc>
                <a:spcPct val="100000"/>
              </a:lnSpc>
            </a:pPr>
            <a:r>
              <a:rPr b="0" i="0" dirty="0">
                <a:solidFill>
                  <a:srgbClr val="56606B"/>
                </a:solidFill>
                <a:latin typeface="Calibri"/>
              </a:rPr>
              <a:t>Does the price change if we use the wrong wind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58368"/>
            <a:ext cx="11109960" cy="868680"/>
          </a:xfrm>
          <a:prstGeom prst="rect">
            <a:avLst/>
          </a:prstGeom>
          <a:noFill/>
          <a:ln/>
        </p:spPr>
        <p:txBody>
          <a:bodyPr wrap="square" lIns="0" tIns="0" rIns="0" bIns="0" rtlCol="0" anchor="ctr"/>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21295C"/>
                </a:solidFill>
                <a:effectLst/>
                <a:uLnTx/>
                <a:uFillTx/>
                <a:latin typeface="Cambria" pitchFamily="34" charset="0"/>
                <a:ea typeface="Cambria" pitchFamily="34" charset="-122"/>
                <a:cs typeface="Cambria" pitchFamily="34" charset="-120"/>
              </a:rPr>
              <a:t>Two datasets, one identical pipeline</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4" name="Table 0"/>
          <p:cNvGraphicFramePr>
            <a:graphicFrameLocks noGrp="1"/>
          </p:cNvGraphicFramePr>
          <p:nvPr>
            <p:extLst>
              <p:ext uri="{D42A27DB-BD31-4B8C-83A1-F6EECF244321}">
                <p14:modId xmlns:p14="http://schemas.microsoft.com/office/powerpoint/2010/main" val="212583737"/>
              </p:ext>
            </p:extLst>
          </p:nvPr>
        </p:nvGraphicFramePr>
        <p:xfrm>
          <a:off x="548640" y="1783080"/>
          <a:ext cx="11109960" cy="3218688"/>
        </p:xfrm>
        <a:graphic>
          <a:graphicData uri="http://schemas.openxmlformats.org/drawingml/2006/table">
            <a:tbl>
              <a:tblPr/>
              <a:tblGrid>
                <a:gridCol w="201168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26280">
                  <a:extLst>
                    <a:ext uri="{9D8B030D-6E8A-4147-A177-3AD203B41FA5}">
                      <a16:colId xmlns:a16="http://schemas.microsoft.com/office/drawing/2014/main" val="20002"/>
                    </a:ext>
                  </a:extLst>
                </a:gridCol>
              </a:tblGrid>
              <a:tr h="402336">
                <a:tc>
                  <a:txBody>
                    <a:bodyPr/>
                    <a:lstStyle/>
                    <a:p>
                      <a:pPr marL="0" indent="0" algn="l">
                        <a:buNone/>
                      </a:pP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1295C"/>
                    </a:solidFill>
                  </a:tcPr>
                </a:tc>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Dataset A — Proxy</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1295C"/>
                    </a:solidFill>
                  </a:tcPr>
                </a:tc>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Dataset B — Reference</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21295C"/>
                    </a:solidFill>
                  </a:tcPr>
                </a:tc>
                <a:extLst>
                  <a:ext uri="{0D108BD9-81ED-4DB2-BD59-A6C34878D82A}">
                    <a16:rowId xmlns:a16="http://schemas.microsoft.com/office/drawing/2014/main" val="10000"/>
                  </a:ext>
                </a:extLst>
              </a:tr>
              <a:tr h="402336">
                <a:tc>
                  <a:txBody>
                    <a:bodyPr/>
                    <a:lstStyle/>
                    <a:p>
                      <a:pPr marL="0" indent="0" algn="l">
                        <a:buNone/>
                      </a:pPr>
                      <a:r>
                        <a:rPr lang="en-US" sz="1800" b="1" dirty="0">
                          <a:solidFill>
                            <a:srgbClr val="56606B"/>
                          </a:solidFill>
                          <a:latin typeface="Calibri" pitchFamily="34" charset="0"/>
                          <a:ea typeface="Calibri" pitchFamily="34" charset="-122"/>
                          <a:cs typeface="Calibri" pitchFamily="34" charset="-120"/>
                        </a:rPr>
                        <a:t>Location</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Bologna, Italy (44.29°N, 11.20°E)</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Nordfriesland, Germany (54.77°N, 8.85°E)</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US" sz="1800" b="1" dirty="0">
                          <a:solidFill>
                            <a:srgbClr val="56606B"/>
                          </a:solidFill>
                          <a:latin typeface="Calibri" pitchFamily="34" charset="0"/>
                          <a:ea typeface="Calibri" pitchFamily="34" charset="-122"/>
                          <a:cs typeface="Calibri" pitchFamily="34" charset="-120"/>
                        </a:rPr>
                        <a:t>Height</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10 m</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100 m (hub height)</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extLst>
                  <a:ext uri="{0D108BD9-81ED-4DB2-BD59-A6C34878D82A}">
                    <a16:rowId xmlns:a16="http://schemas.microsoft.com/office/drawing/2014/main" val="10002"/>
                  </a:ext>
                </a:extLst>
              </a:tr>
              <a:tr h="402336">
                <a:tc>
                  <a:txBody>
                    <a:bodyPr/>
                    <a:lstStyle/>
                    <a:p>
                      <a:pPr marL="0" indent="0" algn="l">
                        <a:buNone/>
                      </a:pPr>
                      <a:r>
                        <a:rPr lang="en-US" sz="1800" b="1" dirty="0">
                          <a:solidFill>
                            <a:srgbClr val="56606B"/>
                          </a:solidFill>
                          <a:latin typeface="Calibri" pitchFamily="34" charset="0"/>
                          <a:ea typeface="Calibri" pitchFamily="34" charset="-122"/>
                          <a:cs typeface="Calibri" pitchFamily="34" charset="-120"/>
                        </a:rPr>
                        <a:t>Source</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OpenWeatherMap API</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Open-Meteo · ERA5 reanalysis</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402336">
                <a:tc>
                  <a:txBody>
                    <a:bodyPr/>
                    <a:lstStyle/>
                    <a:p>
                      <a:pPr marL="0" indent="0" algn="l">
                        <a:buNone/>
                      </a:pPr>
                      <a:r>
                        <a:rPr lang="en-US" sz="1800" b="1" dirty="0">
                          <a:solidFill>
                            <a:srgbClr val="56606B"/>
                          </a:solidFill>
                          <a:latin typeface="Calibri" pitchFamily="34" charset="0"/>
                          <a:ea typeface="Calibri" pitchFamily="34" charset="-122"/>
                          <a:cs typeface="Calibri" pitchFamily="34" charset="-120"/>
                        </a:rPr>
                        <a:t>Period</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2015–2018 (4 yr)</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2015–2024 (10 yr)</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extLst>
                  <a:ext uri="{0D108BD9-81ED-4DB2-BD59-A6C34878D82A}">
                    <a16:rowId xmlns:a16="http://schemas.microsoft.com/office/drawing/2014/main" val="10004"/>
                  </a:ext>
                </a:extLst>
              </a:tr>
              <a:tr h="402336">
                <a:tc>
                  <a:txBody>
                    <a:bodyPr/>
                    <a:lstStyle/>
                    <a:p>
                      <a:pPr marL="0" indent="0" algn="l">
                        <a:buNone/>
                      </a:pPr>
                      <a:r>
                        <a:rPr lang="en-US" sz="1800" b="1" dirty="0">
                          <a:solidFill>
                            <a:srgbClr val="56606B"/>
                          </a:solidFill>
                          <a:latin typeface="Calibri" pitchFamily="34" charset="0"/>
                          <a:ea typeface="Calibri" pitchFamily="34" charset="-122"/>
                          <a:cs typeface="Calibri" pitchFamily="34" charset="-120"/>
                        </a:rPr>
                        <a:t>Observations</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1,462 daily</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3,653 daily</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r h="402336">
                <a:tc>
                  <a:txBody>
                    <a:bodyPr/>
                    <a:lstStyle/>
                    <a:p>
                      <a:pPr marL="0" indent="0" algn="l">
                        <a:buNone/>
                      </a:pPr>
                      <a:r>
                        <a:rPr lang="en-US" sz="1800" b="1" dirty="0">
                          <a:solidFill>
                            <a:srgbClr val="56606B"/>
                          </a:solidFill>
                          <a:latin typeface="Calibri" pitchFamily="34" charset="0"/>
                          <a:ea typeface="Calibri" pitchFamily="34" charset="-122"/>
                          <a:cs typeface="Calibri" pitchFamily="34" charset="-120"/>
                        </a:rPr>
                        <a:t>Mean wind speed</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2.47 m/s</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8.07 m/s</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EEF3F7"/>
                    </a:solidFill>
                  </a:tcPr>
                </a:tc>
                <a:extLst>
                  <a:ext uri="{0D108BD9-81ED-4DB2-BD59-A6C34878D82A}">
                    <a16:rowId xmlns:a16="http://schemas.microsoft.com/office/drawing/2014/main" val="10006"/>
                  </a:ext>
                </a:extLst>
              </a:tr>
              <a:tr h="402336">
                <a:tc>
                  <a:txBody>
                    <a:bodyPr/>
                    <a:lstStyle/>
                    <a:p>
                      <a:pPr marL="0" indent="0" algn="l">
                        <a:buNone/>
                      </a:pPr>
                      <a:r>
                        <a:rPr lang="en-US" sz="1800" b="1" dirty="0">
                          <a:solidFill>
                            <a:srgbClr val="56606B"/>
                          </a:solidFill>
                          <a:latin typeface="Calibri" pitchFamily="34" charset="0"/>
                          <a:ea typeface="Calibri" pitchFamily="34" charset="-122"/>
                          <a:cs typeface="Calibri" pitchFamily="34" charset="-120"/>
                        </a:rPr>
                        <a:t>Role</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Build &amp; validate the methodology</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800" dirty="0">
                          <a:solidFill>
                            <a:srgbClr val="56606B"/>
                          </a:solidFill>
                          <a:latin typeface="Calibri" pitchFamily="34" charset="0"/>
                          <a:ea typeface="Calibri" pitchFamily="34" charset="-122"/>
                          <a:cs typeface="Calibri" pitchFamily="34" charset="-120"/>
                        </a:rPr>
                        <a:t>Carries all headline empirical claims</a:t>
                      </a:r>
                      <a:endParaRPr lang="en-US" sz="18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7"/>
                  </a:ext>
                </a:extLst>
              </a:tr>
            </a:tbl>
          </a:graphicData>
        </a:graphic>
      </p:graphicFrame>
      <p:sp>
        <p:nvSpPr>
          <p:cNvPr id="5" name="Shape 2"/>
          <p:cNvSpPr/>
          <p:nvPr/>
        </p:nvSpPr>
        <p:spPr>
          <a:xfrm>
            <a:off x="548640" y="5257800"/>
            <a:ext cx="11109960" cy="868680"/>
          </a:xfrm>
          <a:prstGeom prst="roundRect">
            <a:avLst>
              <a:gd name="adj" fmla="val 9474"/>
            </a:avLst>
          </a:prstGeom>
          <a:solidFill>
            <a:srgbClr val="EEF3F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822960" y="5394960"/>
            <a:ext cx="10515600" cy="640080"/>
          </a:xfrm>
          <a:prstGeom prst="rect">
            <a:avLst/>
          </a:prstGeom>
          <a:noFill/>
          <a:ln/>
        </p:spPr>
        <p:txBody>
          <a:bodyPr wrap="square" lIns="0" tIns="0" rIns="0" bIns="0" rtlCol="0" anchor="ct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1295C"/>
                </a:solidFill>
                <a:effectLst/>
                <a:uLnTx/>
                <a:uFillTx/>
                <a:latin typeface="Calibri"/>
                <a:ea typeface="Calibri"/>
                <a:cs typeface="Calibri"/>
              </a:rPr>
              <a:t>Why this pairing: </a:t>
            </a:r>
            <a:r>
              <a:rPr kumimoji="0" lang="en-US" sz="1600" b="0" i="0" u="none" strike="noStrike" kern="1200" cap="none" spc="0" normalizeH="0" baseline="0" noProof="0" dirty="0">
                <a:ln>
                  <a:noFill/>
                </a:ln>
                <a:solidFill>
                  <a:srgbClr val="56606B"/>
                </a:solidFill>
                <a:effectLst/>
                <a:uLnTx/>
                <a:uFillTx/>
                <a:latin typeface="Calibri"/>
                <a:ea typeface="Calibri"/>
                <a:cs typeface="Calibri"/>
              </a:rPr>
              <a:t>the same pipeline, identical in functional form, runs on both sites, so a difference in the resulting price points to the data.</a:t>
            </a:r>
          </a:p>
        </p:txBody>
      </p:sp>
      <p:sp>
        <p:nvSpPr>
          <p:cNvPr id="8" name="Text 5"/>
          <p:cNvSpPr/>
          <p:nvPr/>
        </p:nvSpPr>
        <p:spPr>
          <a:xfrm>
            <a:off x="11365992" y="6510528"/>
            <a:ext cx="365760" cy="25603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6606B"/>
                </a:solidFill>
                <a:effectLst/>
                <a:uLnTx/>
                <a:uFillTx/>
                <a:latin typeface="Calibri" pitchFamily="34" charset="0"/>
                <a:ea typeface="Calibri" pitchFamily="34" charset="-122"/>
                <a:cs typeface="Calibri" pitchFamily="34" charset="-120"/>
              </a:rPr>
              <a:t>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846487"/>
            <a:ext cx="11109960" cy="492443"/>
          </a:xfrm>
          <a:prstGeom prst="rect">
            <a:avLst/>
          </a:prstGeom>
          <a:noFill/>
        </p:spPr>
        <p:txBody>
          <a:bodyPr wrap="square" lIns="0" tIns="0" rIns="0" bIns="0" anchor="ctr">
            <a:spAutoFit/>
          </a:bodyPr>
          <a:lstStyle/>
          <a:p>
            <a:pPr marL="0" indent="0" algn="l">
              <a:buNone/>
            </a:pPr>
            <a:r>
              <a:rPr lang="en-US" sz="3200" b="1" dirty="0">
                <a:solidFill>
                  <a:srgbClr val="21295C"/>
                </a:solidFill>
                <a:latin typeface="Cambria"/>
                <a:ea typeface="Cambria"/>
                <a:cs typeface="Cambria"/>
              </a:rPr>
              <a:t>One pipeline, five stages — two numbers carry the price</a:t>
            </a:r>
          </a:p>
        </p:txBody>
      </p:sp>
      <p:sp>
        <p:nvSpPr>
          <p:cNvPr id="4" name="Oval 3"/>
          <p:cNvSpPr/>
          <p:nvPr/>
        </p:nvSpPr>
        <p:spPr>
          <a:xfrm>
            <a:off x="1330452" y="1691640"/>
            <a:ext cx="658368" cy="658368"/>
          </a:xfrm>
          <a:prstGeom prst="ellipse">
            <a:avLst/>
          </a:prstGeom>
          <a:solidFill>
            <a:srgbClr val="C8791A"/>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330452" y="1691640"/>
            <a:ext cx="658368" cy="658368"/>
          </a:xfrm>
          <a:prstGeom prst="rect">
            <a:avLst/>
          </a:prstGeom>
          <a:noFill/>
        </p:spPr>
        <p:txBody>
          <a:bodyPr wrap="square" lIns="0" tIns="0" rIns="0" bIns="0" anchor="ctr">
            <a:spAutoFit/>
          </a:bodyPr>
          <a:lstStyle/>
          <a:p>
            <a:pPr marL="0" indent="0" algn="ctr">
              <a:buNone/>
            </a:pPr>
            <a:r>
              <a:rPr lang="en-US" sz="1800" b="1" dirty="0">
                <a:solidFill>
                  <a:srgbClr val="FFFFFF"/>
                </a:solidFill>
                <a:latin typeface="Calibri"/>
                <a:ea typeface="Calibri"/>
                <a:cs typeface="Calibri"/>
              </a:rPr>
              <a:t>1</a:t>
            </a:r>
          </a:p>
        </p:txBody>
      </p:sp>
      <p:cxnSp>
        <p:nvCxnSpPr>
          <p:cNvPr id="6" name="Connector 5"/>
          <p:cNvCxnSpPr/>
          <p:nvPr/>
        </p:nvCxnSpPr>
        <p:spPr>
          <a:xfrm>
            <a:off x="2098548" y="2020824"/>
            <a:ext cx="1344168" cy="0"/>
          </a:xfrm>
          <a:prstGeom prst="line">
            <a:avLst/>
          </a:prstGeom>
          <a:ln w="19050">
            <a:solidFill>
              <a:srgbClr val="1C7293"/>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2423160"/>
            <a:ext cx="2221992" cy="310896"/>
          </a:xfrm>
          <a:prstGeom prst="rect">
            <a:avLst/>
          </a:prstGeom>
          <a:noFill/>
        </p:spPr>
        <p:txBody>
          <a:bodyPr wrap="square" lIns="0" tIns="0" rIns="0" bIns="0" anchor="t">
            <a:spAutoFit/>
          </a:bodyPr>
          <a:lstStyle/>
          <a:p>
            <a:pPr marL="0" indent="0" algn="ctr">
              <a:buNone/>
            </a:pPr>
            <a:r>
              <a:rPr lang="en-US" sz="1500" b="1" dirty="0">
                <a:solidFill>
                  <a:srgbClr val="21295C"/>
                </a:solidFill>
                <a:latin typeface="Cambria"/>
                <a:ea typeface="Cambria"/>
                <a:cs typeface="Cambria"/>
              </a:rPr>
              <a:t>Deseasonalise</a:t>
            </a:r>
          </a:p>
        </p:txBody>
      </p:sp>
      <p:sp>
        <p:nvSpPr>
          <p:cNvPr id="8" name="TextBox 7"/>
          <p:cNvSpPr txBox="1"/>
          <p:nvPr/>
        </p:nvSpPr>
        <p:spPr>
          <a:xfrm>
            <a:off x="548640" y="2724912"/>
            <a:ext cx="2221992" cy="256032"/>
          </a:xfrm>
          <a:prstGeom prst="rect">
            <a:avLst/>
          </a:prstGeom>
          <a:noFill/>
        </p:spPr>
        <p:txBody>
          <a:bodyPr wrap="square" lIns="0" tIns="0" rIns="0" bIns="0" anchor="t">
            <a:spAutoFit/>
          </a:bodyPr>
          <a:lstStyle/>
          <a:p>
            <a:pPr marL="0" indent="0" algn="ctr">
              <a:buNone/>
            </a:pPr>
            <a:r>
              <a:rPr lang="en-US" sz="1100" b="0" dirty="0">
                <a:solidFill>
                  <a:srgbClr val="56606B"/>
                </a:solidFill>
                <a:latin typeface="Calibri"/>
                <a:ea typeface="Calibri"/>
                <a:cs typeface="Calibri"/>
              </a:rPr>
              <a:t>Box–Cox + Fourier</a:t>
            </a:r>
          </a:p>
        </p:txBody>
      </p:sp>
      <p:sp>
        <p:nvSpPr>
          <p:cNvPr id="9" name="TextBox 8"/>
          <p:cNvSpPr txBox="1"/>
          <p:nvPr/>
        </p:nvSpPr>
        <p:spPr>
          <a:xfrm>
            <a:off x="548640" y="2980944"/>
            <a:ext cx="2221992" cy="256032"/>
          </a:xfrm>
          <a:prstGeom prst="rect">
            <a:avLst/>
          </a:prstGeom>
          <a:noFill/>
        </p:spPr>
        <p:txBody>
          <a:bodyPr wrap="square" lIns="0" tIns="0" rIns="0" bIns="0" anchor="t">
            <a:spAutoFit/>
          </a:bodyPr>
          <a:lstStyle/>
          <a:p>
            <a:pPr marL="0" indent="0" algn="ctr">
              <a:buNone/>
            </a:pPr>
            <a:r>
              <a:rPr lang="en-US" sz="1150" b="1" dirty="0">
                <a:solidFill>
                  <a:srgbClr val="C8791A"/>
                </a:solidFill>
                <a:latin typeface="Calibri"/>
                <a:ea typeface="Calibri"/>
                <a:cs typeface="Calibri"/>
              </a:rPr>
              <a:t>→ W̃(t), C₀</a:t>
            </a:r>
          </a:p>
        </p:txBody>
      </p:sp>
      <p:sp>
        <p:nvSpPr>
          <p:cNvPr id="10" name="Oval 9"/>
          <p:cNvSpPr/>
          <p:nvPr/>
        </p:nvSpPr>
        <p:spPr>
          <a:xfrm>
            <a:off x="3552444" y="1691640"/>
            <a:ext cx="658368" cy="658368"/>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552444" y="1691640"/>
            <a:ext cx="658368" cy="658368"/>
          </a:xfrm>
          <a:prstGeom prst="rect">
            <a:avLst/>
          </a:prstGeom>
          <a:noFill/>
        </p:spPr>
        <p:txBody>
          <a:bodyPr wrap="square" lIns="0" tIns="0" rIns="0" bIns="0" anchor="ctr">
            <a:spAutoFit/>
          </a:bodyPr>
          <a:lstStyle/>
          <a:p>
            <a:pPr marL="0" indent="0" algn="ctr">
              <a:buNone/>
            </a:pPr>
            <a:r>
              <a:rPr lang="en-US" sz="1800" b="1" dirty="0">
                <a:solidFill>
                  <a:srgbClr val="FFFFFF"/>
                </a:solidFill>
                <a:latin typeface="Calibri"/>
                <a:ea typeface="Calibri"/>
                <a:cs typeface="Calibri"/>
              </a:rPr>
              <a:t>2</a:t>
            </a:r>
          </a:p>
        </p:txBody>
      </p:sp>
      <p:cxnSp>
        <p:nvCxnSpPr>
          <p:cNvPr id="12" name="Connector 11"/>
          <p:cNvCxnSpPr/>
          <p:nvPr/>
        </p:nvCxnSpPr>
        <p:spPr>
          <a:xfrm>
            <a:off x="4320540" y="2020824"/>
            <a:ext cx="1344168" cy="0"/>
          </a:xfrm>
          <a:prstGeom prst="line">
            <a:avLst/>
          </a:prstGeom>
          <a:ln w="19050">
            <a:solidFill>
              <a:srgbClr val="1C7293"/>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770632" y="2423160"/>
            <a:ext cx="2221992" cy="310896"/>
          </a:xfrm>
          <a:prstGeom prst="rect">
            <a:avLst/>
          </a:prstGeom>
          <a:noFill/>
        </p:spPr>
        <p:txBody>
          <a:bodyPr wrap="square" lIns="0" tIns="0" rIns="0" bIns="0" anchor="t">
            <a:spAutoFit/>
          </a:bodyPr>
          <a:lstStyle/>
          <a:p>
            <a:pPr marL="0" indent="0" algn="ctr">
              <a:buNone/>
            </a:pPr>
            <a:r>
              <a:rPr lang="en-US" sz="1500" b="1" dirty="0">
                <a:solidFill>
                  <a:srgbClr val="21295C"/>
                </a:solidFill>
                <a:latin typeface="Cambria"/>
                <a:ea typeface="Cambria"/>
                <a:cs typeface="Cambria"/>
              </a:rPr>
              <a:t>AR(4)</a:t>
            </a:r>
          </a:p>
        </p:txBody>
      </p:sp>
      <p:sp>
        <p:nvSpPr>
          <p:cNvPr id="14" name="TextBox 13"/>
          <p:cNvSpPr txBox="1"/>
          <p:nvPr/>
        </p:nvSpPr>
        <p:spPr>
          <a:xfrm>
            <a:off x="2770632" y="2724912"/>
            <a:ext cx="2221992" cy="256032"/>
          </a:xfrm>
          <a:prstGeom prst="rect">
            <a:avLst/>
          </a:prstGeom>
          <a:noFill/>
        </p:spPr>
        <p:txBody>
          <a:bodyPr wrap="square" lIns="0" tIns="0" rIns="0" bIns="0" anchor="t">
            <a:spAutoFit/>
          </a:bodyPr>
          <a:lstStyle/>
          <a:p>
            <a:pPr marL="0" indent="0" algn="ctr">
              <a:buNone/>
            </a:pPr>
            <a:r>
              <a:rPr lang="en-US" sz="1100" b="0" dirty="0">
                <a:solidFill>
                  <a:srgbClr val="56606B"/>
                </a:solidFill>
                <a:latin typeface="Calibri"/>
                <a:ea typeface="Calibri"/>
                <a:cs typeface="Calibri"/>
              </a:rPr>
              <a:t>conditional mean</a:t>
            </a:r>
          </a:p>
        </p:txBody>
      </p:sp>
      <p:sp>
        <p:nvSpPr>
          <p:cNvPr id="15" name="TextBox 14"/>
          <p:cNvSpPr txBox="1"/>
          <p:nvPr/>
        </p:nvSpPr>
        <p:spPr>
          <a:xfrm>
            <a:off x="2770632" y="2980944"/>
            <a:ext cx="2221992" cy="256032"/>
          </a:xfrm>
          <a:prstGeom prst="rect">
            <a:avLst/>
          </a:prstGeom>
          <a:noFill/>
        </p:spPr>
        <p:txBody>
          <a:bodyPr wrap="square" lIns="0" tIns="0" rIns="0" bIns="0" anchor="t">
            <a:spAutoFit/>
          </a:bodyPr>
          <a:lstStyle/>
          <a:p>
            <a:pPr marL="0" indent="0" algn="ctr">
              <a:buNone/>
            </a:pPr>
            <a:r>
              <a:rPr lang="en-US" sz="1150" b="1" dirty="0">
                <a:solidFill>
                  <a:srgbClr val="1C7293"/>
                </a:solidFill>
                <a:latin typeface="Calibri"/>
                <a:ea typeface="Calibri"/>
                <a:cs typeface="Calibri"/>
              </a:rPr>
              <a:t>→ β₁ … β₄</a:t>
            </a:r>
          </a:p>
        </p:txBody>
      </p:sp>
      <p:sp>
        <p:nvSpPr>
          <p:cNvPr id="16" name="Oval 15"/>
          <p:cNvSpPr/>
          <p:nvPr/>
        </p:nvSpPr>
        <p:spPr>
          <a:xfrm>
            <a:off x="5774436" y="1691640"/>
            <a:ext cx="658368" cy="658368"/>
          </a:xfrm>
          <a:prstGeom prst="ellipse">
            <a:avLst/>
          </a:prstGeom>
          <a:solidFill>
            <a:srgbClr val="C8791A"/>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774436" y="1691640"/>
            <a:ext cx="658368" cy="658368"/>
          </a:xfrm>
          <a:prstGeom prst="rect">
            <a:avLst/>
          </a:prstGeom>
          <a:noFill/>
        </p:spPr>
        <p:txBody>
          <a:bodyPr wrap="square" lIns="0" tIns="0" rIns="0" bIns="0" anchor="ctr">
            <a:spAutoFit/>
          </a:bodyPr>
          <a:lstStyle/>
          <a:p>
            <a:pPr marL="0" indent="0" algn="ctr">
              <a:buNone/>
            </a:pPr>
            <a:r>
              <a:rPr lang="en-US" sz="1800" b="1" dirty="0">
                <a:solidFill>
                  <a:srgbClr val="FFFFFF"/>
                </a:solidFill>
                <a:latin typeface="Calibri"/>
                <a:ea typeface="Calibri"/>
                <a:cs typeface="Calibri"/>
              </a:rPr>
              <a:t>3</a:t>
            </a:r>
          </a:p>
        </p:txBody>
      </p:sp>
      <p:cxnSp>
        <p:nvCxnSpPr>
          <p:cNvPr id="18" name="Connector 17"/>
          <p:cNvCxnSpPr/>
          <p:nvPr/>
        </p:nvCxnSpPr>
        <p:spPr>
          <a:xfrm>
            <a:off x="6542532" y="2020824"/>
            <a:ext cx="1344168" cy="0"/>
          </a:xfrm>
          <a:prstGeom prst="line">
            <a:avLst/>
          </a:prstGeom>
          <a:ln w="19050">
            <a:solidFill>
              <a:srgbClr val="1C7293"/>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992624" y="2423160"/>
            <a:ext cx="2221992" cy="310896"/>
          </a:xfrm>
          <a:prstGeom prst="rect">
            <a:avLst/>
          </a:prstGeom>
          <a:noFill/>
        </p:spPr>
        <p:txBody>
          <a:bodyPr wrap="square" lIns="0" tIns="0" rIns="0" bIns="0" anchor="t">
            <a:spAutoFit/>
          </a:bodyPr>
          <a:lstStyle/>
          <a:p>
            <a:pPr marL="0" indent="0" algn="ctr">
              <a:buNone/>
            </a:pPr>
            <a:r>
              <a:rPr lang="en-US" sz="1500" b="1" dirty="0">
                <a:solidFill>
                  <a:srgbClr val="21295C"/>
                </a:solidFill>
                <a:latin typeface="Cambria"/>
                <a:ea typeface="Cambria"/>
                <a:cs typeface="Cambria"/>
              </a:rPr>
              <a:t>GARCH(1,1)</a:t>
            </a:r>
          </a:p>
        </p:txBody>
      </p:sp>
      <p:sp>
        <p:nvSpPr>
          <p:cNvPr id="20" name="TextBox 19"/>
          <p:cNvSpPr txBox="1"/>
          <p:nvPr/>
        </p:nvSpPr>
        <p:spPr>
          <a:xfrm>
            <a:off x="4992624" y="2724912"/>
            <a:ext cx="2221992" cy="256032"/>
          </a:xfrm>
          <a:prstGeom prst="rect">
            <a:avLst/>
          </a:prstGeom>
          <a:noFill/>
        </p:spPr>
        <p:txBody>
          <a:bodyPr wrap="square" lIns="0" tIns="0" rIns="0" bIns="0" anchor="t">
            <a:spAutoFit/>
          </a:bodyPr>
          <a:lstStyle/>
          <a:p>
            <a:pPr marL="0" indent="0" algn="ctr">
              <a:buNone/>
            </a:pPr>
            <a:r>
              <a:rPr lang="en-US" sz="1100" b="0" dirty="0">
                <a:solidFill>
                  <a:srgbClr val="56606B"/>
                </a:solidFill>
                <a:latin typeface="Calibri"/>
                <a:ea typeface="Calibri"/>
                <a:cs typeface="Calibri"/>
              </a:rPr>
              <a:t>conditional variance</a:t>
            </a:r>
          </a:p>
        </p:txBody>
      </p:sp>
      <p:sp>
        <p:nvSpPr>
          <p:cNvPr id="21" name="TextBox 20"/>
          <p:cNvSpPr txBox="1"/>
          <p:nvPr/>
        </p:nvSpPr>
        <p:spPr>
          <a:xfrm>
            <a:off x="4992624" y="2980944"/>
            <a:ext cx="2221992" cy="256032"/>
          </a:xfrm>
          <a:prstGeom prst="rect">
            <a:avLst/>
          </a:prstGeom>
          <a:noFill/>
        </p:spPr>
        <p:txBody>
          <a:bodyPr wrap="square" lIns="0" tIns="0" rIns="0" bIns="0" anchor="t">
            <a:spAutoFit/>
          </a:bodyPr>
          <a:lstStyle/>
          <a:p>
            <a:pPr marL="0" indent="0" algn="ctr">
              <a:buNone/>
            </a:pPr>
            <a:r>
              <a:rPr lang="en-US" sz="1150" b="1" dirty="0">
                <a:solidFill>
                  <a:srgbClr val="C8791A"/>
                </a:solidFill>
                <a:latin typeface="Calibri"/>
                <a:ea typeface="Calibri"/>
                <a:cs typeface="Calibri"/>
              </a:rPr>
              <a:t>→ h(t₀)</a:t>
            </a:r>
          </a:p>
        </p:txBody>
      </p:sp>
      <p:sp>
        <p:nvSpPr>
          <p:cNvPr id="22" name="Oval 21"/>
          <p:cNvSpPr/>
          <p:nvPr/>
        </p:nvSpPr>
        <p:spPr>
          <a:xfrm>
            <a:off x="7996428" y="1691640"/>
            <a:ext cx="658368" cy="658368"/>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996428" y="1691640"/>
            <a:ext cx="658368" cy="658368"/>
          </a:xfrm>
          <a:prstGeom prst="rect">
            <a:avLst/>
          </a:prstGeom>
          <a:noFill/>
        </p:spPr>
        <p:txBody>
          <a:bodyPr wrap="square" lIns="0" tIns="0" rIns="0" bIns="0" anchor="ctr">
            <a:spAutoFit/>
          </a:bodyPr>
          <a:lstStyle/>
          <a:p>
            <a:pPr marL="0" indent="0" algn="ctr">
              <a:buNone/>
            </a:pPr>
            <a:r>
              <a:rPr lang="en-US" sz="1800" b="1" dirty="0">
                <a:solidFill>
                  <a:srgbClr val="FFFFFF"/>
                </a:solidFill>
                <a:latin typeface="Calibri"/>
                <a:ea typeface="Calibri"/>
                <a:cs typeface="Calibri"/>
              </a:rPr>
              <a:t>4</a:t>
            </a:r>
          </a:p>
        </p:txBody>
      </p:sp>
      <p:cxnSp>
        <p:nvCxnSpPr>
          <p:cNvPr id="24" name="Connector 23"/>
          <p:cNvCxnSpPr/>
          <p:nvPr/>
        </p:nvCxnSpPr>
        <p:spPr>
          <a:xfrm>
            <a:off x="8764524" y="2020824"/>
            <a:ext cx="1344168" cy="0"/>
          </a:xfrm>
          <a:prstGeom prst="line">
            <a:avLst/>
          </a:prstGeom>
          <a:ln w="19050">
            <a:solidFill>
              <a:srgbClr val="1C7293"/>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214616" y="2423160"/>
            <a:ext cx="2221992" cy="310896"/>
          </a:xfrm>
          <a:prstGeom prst="rect">
            <a:avLst/>
          </a:prstGeom>
          <a:noFill/>
        </p:spPr>
        <p:txBody>
          <a:bodyPr wrap="square" lIns="0" tIns="0" rIns="0" bIns="0" anchor="t">
            <a:spAutoFit/>
          </a:bodyPr>
          <a:lstStyle/>
          <a:p>
            <a:pPr marL="0" indent="0" algn="ctr">
              <a:buNone/>
            </a:pPr>
            <a:r>
              <a:rPr lang="en-US" sz="1500" b="1" dirty="0">
                <a:solidFill>
                  <a:srgbClr val="21295C"/>
                </a:solidFill>
                <a:latin typeface="Cambria"/>
                <a:ea typeface="Cambria"/>
                <a:cs typeface="Cambria"/>
              </a:rPr>
              <a:t>CAR(4)</a:t>
            </a:r>
          </a:p>
        </p:txBody>
      </p:sp>
      <p:sp>
        <p:nvSpPr>
          <p:cNvPr id="26" name="TextBox 25"/>
          <p:cNvSpPr txBox="1"/>
          <p:nvPr/>
        </p:nvSpPr>
        <p:spPr>
          <a:xfrm>
            <a:off x="7214616" y="2724912"/>
            <a:ext cx="2221992" cy="256032"/>
          </a:xfrm>
          <a:prstGeom prst="rect">
            <a:avLst/>
          </a:prstGeom>
          <a:noFill/>
        </p:spPr>
        <p:txBody>
          <a:bodyPr wrap="square" lIns="0" tIns="0" rIns="0" bIns="0" anchor="t">
            <a:spAutoFit/>
          </a:bodyPr>
          <a:lstStyle/>
          <a:p>
            <a:pPr marL="0" indent="0" algn="ctr">
              <a:buNone/>
            </a:pPr>
            <a:r>
              <a:rPr lang="en-US" sz="1100" b="0" dirty="0">
                <a:solidFill>
                  <a:srgbClr val="56606B"/>
                </a:solidFill>
                <a:latin typeface="Calibri"/>
                <a:ea typeface="Calibri"/>
                <a:cs typeface="Calibri"/>
              </a:rPr>
              <a:t>continuous-time embedding</a:t>
            </a:r>
          </a:p>
        </p:txBody>
      </p:sp>
      <p:sp>
        <p:nvSpPr>
          <p:cNvPr id="27" name="TextBox 26"/>
          <p:cNvSpPr txBox="1"/>
          <p:nvPr/>
        </p:nvSpPr>
        <p:spPr>
          <a:xfrm>
            <a:off x="7214616" y="2980944"/>
            <a:ext cx="2221992" cy="256032"/>
          </a:xfrm>
          <a:prstGeom prst="rect">
            <a:avLst/>
          </a:prstGeom>
          <a:noFill/>
        </p:spPr>
        <p:txBody>
          <a:bodyPr wrap="square" lIns="0" tIns="0" rIns="0" bIns="0" anchor="t">
            <a:spAutoFit/>
          </a:bodyPr>
          <a:lstStyle/>
          <a:p>
            <a:pPr marL="0" indent="0" algn="ctr">
              <a:buNone/>
            </a:pPr>
            <a:r>
              <a:rPr lang="en-US" sz="1150" b="1" dirty="0">
                <a:solidFill>
                  <a:srgbClr val="1C7293"/>
                </a:solidFill>
                <a:latin typeface="Calibri"/>
                <a:ea typeface="Calibri"/>
                <a:cs typeface="Calibri"/>
              </a:rPr>
              <a:t>→ A, exp(Aτ)</a:t>
            </a:r>
          </a:p>
        </p:txBody>
      </p:sp>
      <p:sp>
        <p:nvSpPr>
          <p:cNvPr id="28" name="Oval 27"/>
          <p:cNvSpPr/>
          <p:nvPr/>
        </p:nvSpPr>
        <p:spPr>
          <a:xfrm>
            <a:off x="10218420" y="1691640"/>
            <a:ext cx="658368" cy="658368"/>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0218420" y="1691640"/>
            <a:ext cx="658368" cy="658368"/>
          </a:xfrm>
          <a:prstGeom prst="rect">
            <a:avLst/>
          </a:prstGeom>
          <a:noFill/>
        </p:spPr>
        <p:txBody>
          <a:bodyPr wrap="square" lIns="0" tIns="0" rIns="0" bIns="0" anchor="ctr">
            <a:spAutoFit/>
          </a:bodyPr>
          <a:lstStyle/>
          <a:p>
            <a:pPr marL="0" indent="0" algn="ctr">
              <a:buNone/>
            </a:pPr>
            <a:r>
              <a:rPr lang="en-US" sz="1800" b="1" dirty="0">
                <a:solidFill>
                  <a:srgbClr val="FFFFFF"/>
                </a:solidFill>
                <a:latin typeface="Calibri"/>
                <a:ea typeface="Calibri"/>
                <a:cs typeface="Calibri"/>
              </a:rPr>
              <a:t>5</a:t>
            </a:r>
          </a:p>
        </p:txBody>
      </p:sp>
      <p:sp>
        <p:nvSpPr>
          <p:cNvPr id="30" name="TextBox 29"/>
          <p:cNvSpPr txBox="1"/>
          <p:nvPr/>
        </p:nvSpPr>
        <p:spPr>
          <a:xfrm>
            <a:off x="9436608" y="2423160"/>
            <a:ext cx="2221992" cy="310896"/>
          </a:xfrm>
          <a:prstGeom prst="rect">
            <a:avLst/>
          </a:prstGeom>
          <a:noFill/>
        </p:spPr>
        <p:txBody>
          <a:bodyPr wrap="square" lIns="0" tIns="0" rIns="0" bIns="0" anchor="t">
            <a:spAutoFit/>
          </a:bodyPr>
          <a:lstStyle/>
          <a:p>
            <a:pPr marL="0" indent="0" algn="ctr">
              <a:buNone/>
            </a:pPr>
            <a:r>
              <a:rPr lang="en-US" sz="1500" b="1" dirty="0">
                <a:solidFill>
                  <a:srgbClr val="21295C"/>
                </a:solidFill>
                <a:latin typeface="Cambria"/>
                <a:ea typeface="Cambria"/>
                <a:cs typeface="Cambria"/>
              </a:rPr>
              <a:t>Stochastic vol.</a:t>
            </a:r>
          </a:p>
        </p:txBody>
      </p:sp>
      <p:sp>
        <p:nvSpPr>
          <p:cNvPr id="31" name="TextBox 30"/>
          <p:cNvSpPr txBox="1"/>
          <p:nvPr/>
        </p:nvSpPr>
        <p:spPr>
          <a:xfrm>
            <a:off x="9436608" y="2724912"/>
            <a:ext cx="2221992" cy="256032"/>
          </a:xfrm>
          <a:prstGeom prst="rect">
            <a:avLst/>
          </a:prstGeom>
          <a:noFill/>
        </p:spPr>
        <p:txBody>
          <a:bodyPr wrap="square" lIns="0" tIns="0" rIns="0" bIns="0" anchor="t">
            <a:spAutoFit/>
          </a:bodyPr>
          <a:lstStyle/>
          <a:p>
            <a:pPr marL="0" indent="0" algn="ctr">
              <a:buNone/>
            </a:pPr>
            <a:r>
              <a:rPr lang="en-US" sz="1100" b="0" dirty="0">
                <a:solidFill>
                  <a:srgbClr val="56606B"/>
                </a:solidFill>
                <a:latin typeface="Calibri"/>
                <a:ea typeface="Calibri"/>
                <a:cs typeface="Calibri"/>
              </a:rPr>
              <a:t>Heston / CIR, theoretical</a:t>
            </a:r>
          </a:p>
        </p:txBody>
      </p:sp>
      <p:sp>
        <p:nvSpPr>
          <p:cNvPr id="32" name="TextBox 31"/>
          <p:cNvSpPr txBox="1"/>
          <p:nvPr/>
        </p:nvSpPr>
        <p:spPr>
          <a:xfrm>
            <a:off x="9436608" y="2980944"/>
            <a:ext cx="2221992" cy="256032"/>
          </a:xfrm>
          <a:prstGeom prst="rect">
            <a:avLst/>
          </a:prstGeom>
          <a:noFill/>
        </p:spPr>
        <p:txBody>
          <a:bodyPr wrap="square" lIns="0" tIns="0" rIns="0" bIns="0" anchor="t">
            <a:spAutoFit/>
          </a:bodyPr>
          <a:lstStyle/>
          <a:p>
            <a:pPr marL="0" indent="0" algn="ctr">
              <a:buNone/>
            </a:pPr>
            <a:r>
              <a:rPr lang="en-US" sz="1150" b="1" dirty="0">
                <a:solidFill>
                  <a:srgbClr val="1C7293"/>
                </a:solidFill>
                <a:latin typeface="Calibri"/>
                <a:ea typeface="Calibri"/>
                <a:cs typeface="Calibri"/>
              </a:rPr>
              <a:t>→ theory only, not in the price</a:t>
            </a:r>
          </a:p>
        </p:txBody>
      </p:sp>
      <p:sp>
        <p:nvSpPr>
          <p:cNvPr id="33" name="Rounded Rectangle 32"/>
          <p:cNvSpPr/>
          <p:nvPr/>
        </p:nvSpPr>
        <p:spPr>
          <a:xfrm>
            <a:off x="548640" y="3474720"/>
            <a:ext cx="5349240" cy="1600200"/>
          </a:xfrm>
          <a:prstGeom prst="roundRect">
            <a:avLst>
              <a:gd name="adj" fmla="val 3599"/>
            </a:avLst>
          </a:prstGeom>
          <a:solidFill>
            <a:srgbClr val="F7FAFC"/>
          </a:solidFill>
          <a:ln>
            <a:noFill/>
          </a:ln>
          <a:effectLst>
            <a:outerShdw blurRad="88900" dist="25400" dir="5400000" algn="bl" rotWithShape="0">
              <a:srgbClr val="1C1C1C">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868679" y="3650349"/>
            <a:ext cx="4663439" cy="553998"/>
          </a:xfrm>
          <a:prstGeom prst="rect">
            <a:avLst/>
          </a:prstGeom>
          <a:noFill/>
        </p:spPr>
        <p:txBody>
          <a:bodyPr wrap="square" lIns="0" tIns="0" rIns="0" bIns="0" anchor="ctr">
            <a:spAutoFit/>
          </a:bodyPr>
          <a:lstStyle/>
          <a:p>
            <a:r>
              <a:rPr lang="en-US" sz="3600" b="1" dirty="0">
                <a:solidFill>
                  <a:srgbClr val="21295C"/>
                </a:solidFill>
                <a:latin typeface="Cambria"/>
                <a:ea typeface="Cambria"/>
                <a:cs typeface="Cambria"/>
              </a:rPr>
              <a:t>C₀ </a:t>
            </a:r>
            <a:r>
              <a:rPr lang="en-US" sz="2000" b="1" dirty="0">
                <a:solidFill>
                  <a:srgbClr val="21295C"/>
                </a:solidFill>
                <a:latin typeface="Cambria"/>
                <a:ea typeface="Cambria"/>
                <a:cs typeface="Cambria"/>
              </a:rPr>
              <a:t>—  seasonal variance level</a:t>
            </a:r>
          </a:p>
        </p:txBody>
      </p:sp>
      <p:sp>
        <p:nvSpPr>
          <p:cNvPr id="35" name="TextBox 34"/>
          <p:cNvSpPr txBox="1"/>
          <p:nvPr/>
        </p:nvSpPr>
        <p:spPr>
          <a:xfrm>
            <a:off x="868680" y="4315968"/>
            <a:ext cx="4663440" cy="215444"/>
          </a:xfrm>
          <a:prstGeom prst="rect">
            <a:avLst/>
          </a:prstGeom>
          <a:noFill/>
        </p:spPr>
        <p:txBody>
          <a:bodyPr wrap="square" lIns="0" tIns="0" rIns="0" bIns="0" anchor="t">
            <a:spAutoFit/>
          </a:bodyPr>
          <a:lstStyle/>
          <a:p>
            <a:pPr marL="0" indent="0" algn="l">
              <a:buNone/>
            </a:pPr>
            <a:r>
              <a:rPr lang="en-US" sz="1400" b="0" i="1" dirty="0">
                <a:solidFill>
                  <a:srgbClr val="56606B"/>
                </a:solidFill>
                <a:latin typeface="Calibri"/>
                <a:ea typeface="Calibri"/>
                <a:cs typeface="Calibri"/>
              </a:rPr>
              <a:t>How variable the wind is over the year</a:t>
            </a:r>
          </a:p>
        </p:txBody>
      </p:sp>
      <p:sp>
        <p:nvSpPr>
          <p:cNvPr id="36" name="TextBox 35"/>
          <p:cNvSpPr txBox="1"/>
          <p:nvPr/>
        </p:nvSpPr>
        <p:spPr>
          <a:xfrm>
            <a:off x="868680" y="4617720"/>
            <a:ext cx="4663440" cy="276999"/>
          </a:xfrm>
          <a:prstGeom prst="rect">
            <a:avLst/>
          </a:prstGeom>
          <a:noFill/>
        </p:spPr>
        <p:txBody>
          <a:bodyPr wrap="square" lIns="0" tIns="0" rIns="0" bIns="0" anchor="t">
            <a:spAutoFit/>
          </a:bodyPr>
          <a:lstStyle/>
          <a:p>
            <a:r>
              <a:rPr lang="en-US" dirty="0">
                <a:solidFill>
                  <a:srgbClr val="56606B"/>
                </a:solidFill>
                <a:ea typeface="Calibri"/>
                <a:cs typeface="Calibri"/>
              </a:rPr>
              <a:t>Dataset A  </a:t>
            </a:r>
            <a:r>
              <a:rPr lang="en-US" b="1" dirty="0">
                <a:solidFill>
                  <a:srgbClr val="21295C"/>
                </a:solidFill>
                <a:ea typeface="Calibri"/>
                <a:cs typeface="Calibri"/>
              </a:rPr>
              <a:t>0.1314</a:t>
            </a:r>
            <a:r>
              <a:rPr lang="en-US" dirty="0">
                <a:solidFill>
                  <a:srgbClr val="56606B"/>
                </a:solidFill>
                <a:ea typeface="Calibri"/>
                <a:cs typeface="Calibri"/>
              </a:rPr>
              <a:t>      Dataset B  </a:t>
            </a:r>
            <a:r>
              <a:rPr lang="en-US" b="1" dirty="0">
                <a:solidFill>
                  <a:srgbClr val="21295C"/>
                </a:solidFill>
                <a:ea typeface="Calibri"/>
                <a:cs typeface="Calibri"/>
              </a:rPr>
              <a:t>1.1628</a:t>
            </a:r>
          </a:p>
        </p:txBody>
      </p:sp>
      <p:sp>
        <p:nvSpPr>
          <p:cNvPr id="39" name="Rounded Rectangle 38"/>
          <p:cNvSpPr/>
          <p:nvPr/>
        </p:nvSpPr>
        <p:spPr>
          <a:xfrm>
            <a:off x="6309360" y="3474720"/>
            <a:ext cx="5349240" cy="1600200"/>
          </a:xfrm>
          <a:prstGeom prst="roundRect">
            <a:avLst>
              <a:gd name="adj" fmla="val 3599"/>
            </a:avLst>
          </a:prstGeom>
          <a:solidFill>
            <a:srgbClr val="F7FAFC"/>
          </a:solidFill>
          <a:ln>
            <a:noFill/>
          </a:ln>
          <a:effectLst>
            <a:outerShdw blurRad="88900" dist="25400" dir="5400000" algn="bl" rotWithShape="0">
              <a:srgbClr val="1C1C1C">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6629399" y="3650349"/>
            <a:ext cx="4663439" cy="553998"/>
          </a:xfrm>
          <a:prstGeom prst="rect">
            <a:avLst/>
          </a:prstGeom>
          <a:noFill/>
        </p:spPr>
        <p:txBody>
          <a:bodyPr wrap="square" lIns="0" tIns="0" rIns="0" bIns="0" anchor="ctr">
            <a:spAutoFit/>
          </a:bodyPr>
          <a:lstStyle/>
          <a:p>
            <a:pPr marL="0" indent="0" algn="l">
              <a:buNone/>
            </a:pPr>
            <a:r>
              <a:rPr lang="en-US" sz="3600" b="1" dirty="0">
                <a:solidFill>
                  <a:srgbClr val="21295C"/>
                </a:solidFill>
                <a:latin typeface="Cambria"/>
                <a:ea typeface="Cambria"/>
                <a:cs typeface="Cambria"/>
              </a:rPr>
              <a:t>h(t₀) </a:t>
            </a:r>
            <a:r>
              <a:rPr lang="en-US" sz="2000" b="1" dirty="0">
                <a:solidFill>
                  <a:srgbClr val="21295C"/>
                </a:solidFill>
                <a:latin typeface="Cambria"/>
                <a:ea typeface="Cambria"/>
                <a:cs typeface="Cambria"/>
              </a:rPr>
              <a:t>— current volatility state</a:t>
            </a:r>
          </a:p>
        </p:txBody>
      </p:sp>
      <p:sp>
        <p:nvSpPr>
          <p:cNvPr id="41" name="TextBox 40"/>
          <p:cNvSpPr txBox="1"/>
          <p:nvPr/>
        </p:nvSpPr>
        <p:spPr>
          <a:xfrm>
            <a:off x="6629400" y="4315968"/>
            <a:ext cx="4663440" cy="215444"/>
          </a:xfrm>
          <a:prstGeom prst="rect">
            <a:avLst/>
          </a:prstGeom>
          <a:noFill/>
        </p:spPr>
        <p:txBody>
          <a:bodyPr wrap="square" lIns="0" tIns="0" rIns="0" bIns="0" anchor="t">
            <a:spAutoFit/>
          </a:bodyPr>
          <a:lstStyle/>
          <a:p>
            <a:pPr marL="0" indent="0" algn="l">
              <a:buNone/>
            </a:pPr>
            <a:r>
              <a:rPr lang="en-US" sz="1400" b="0" i="1" dirty="0">
                <a:solidFill>
                  <a:srgbClr val="56606B"/>
                </a:solidFill>
                <a:latin typeface="Calibri"/>
                <a:ea typeface="Calibri"/>
                <a:cs typeface="Calibri"/>
              </a:rPr>
              <a:t>How variable the wind is today</a:t>
            </a:r>
          </a:p>
        </p:txBody>
      </p:sp>
      <p:sp>
        <p:nvSpPr>
          <p:cNvPr id="42" name="TextBox 41"/>
          <p:cNvSpPr txBox="1"/>
          <p:nvPr/>
        </p:nvSpPr>
        <p:spPr>
          <a:xfrm>
            <a:off x="6629400" y="4617720"/>
            <a:ext cx="4663440" cy="276999"/>
          </a:xfrm>
          <a:prstGeom prst="rect">
            <a:avLst/>
          </a:prstGeom>
          <a:noFill/>
        </p:spPr>
        <p:txBody>
          <a:bodyPr wrap="square" lIns="0" tIns="0" rIns="0" bIns="0" anchor="t">
            <a:spAutoFit/>
          </a:bodyPr>
          <a:lstStyle/>
          <a:p>
            <a:r>
              <a:rPr lang="en-US" dirty="0">
                <a:solidFill>
                  <a:srgbClr val="56606B"/>
                </a:solidFill>
                <a:ea typeface="Calibri"/>
                <a:cs typeface="Calibri"/>
              </a:rPr>
              <a:t>Dataset A  </a:t>
            </a:r>
            <a:r>
              <a:rPr lang="en-US" b="1" dirty="0">
                <a:solidFill>
                  <a:srgbClr val="21295C"/>
                </a:solidFill>
                <a:ea typeface="Calibri"/>
                <a:cs typeface="Calibri"/>
              </a:rPr>
              <a:t>0.4137</a:t>
            </a:r>
            <a:r>
              <a:rPr lang="en-US" dirty="0">
                <a:solidFill>
                  <a:srgbClr val="56606B"/>
                </a:solidFill>
                <a:ea typeface="Calibri"/>
                <a:cs typeface="Calibri"/>
              </a:rPr>
              <a:t>      Dataset B  </a:t>
            </a:r>
            <a:r>
              <a:rPr lang="en-US" b="1" dirty="0">
                <a:solidFill>
                  <a:srgbClr val="21295C"/>
                </a:solidFill>
                <a:ea typeface="Calibri"/>
                <a:cs typeface="Calibri"/>
              </a:rPr>
              <a:t>0.7511</a:t>
            </a:r>
          </a:p>
        </p:txBody>
      </p:sp>
      <p:sp>
        <p:nvSpPr>
          <p:cNvPr id="45" name="Rounded Rectangle 44"/>
          <p:cNvSpPr/>
          <p:nvPr/>
        </p:nvSpPr>
        <p:spPr>
          <a:xfrm>
            <a:off x="548640" y="5257800"/>
            <a:ext cx="11109960" cy="1005840"/>
          </a:xfrm>
          <a:prstGeom prst="roundRect">
            <a:avLst>
              <a:gd name="adj" fmla="val 3599"/>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822960" y="5431869"/>
            <a:ext cx="10607040" cy="246221"/>
          </a:xfrm>
          <a:prstGeom prst="rect">
            <a:avLst/>
          </a:prstGeom>
          <a:noFill/>
        </p:spPr>
        <p:txBody>
          <a:bodyPr wrap="square" lIns="0" tIns="0" rIns="0" bIns="0" anchor="ctr">
            <a:spAutoFit/>
          </a:bodyPr>
          <a:lstStyle/>
          <a:p>
            <a:pPr marL="0" indent="0" algn="l">
              <a:buNone/>
            </a:pPr>
            <a:r>
              <a:rPr lang="en-US" sz="1600" b="1" dirty="0">
                <a:solidFill>
                  <a:srgbClr val="FFFFFF"/>
                </a:solidFill>
                <a:latin typeface="Cambria"/>
                <a:ea typeface="Cambria"/>
                <a:cs typeface="Cambria"/>
              </a:rPr>
              <a:t>Fair strike  K</a:t>
            </a:r>
            <a:r>
              <a:rPr lang="en-US" sz="1600" b="1" baseline="-25000" dirty="0">
                <a:solidFill>
                  <a:srgbClr val="FFFFFF"/>
                </a:solidFill>
                <a:latin typeface="Cambria"/>
                <a:ea typeface="Cambria"/>
                <a:cs typeface="Cambria"/>
              </a:rPr>
              <a:t>var</a:t>
            </a:r>
            <a:r>
              <a:rPr lang="en-US" sz="1600" b="1" dirty="0">
                <a:solidFill>
                  <a:srgbClr val="FFFFFF"/>
                </a:solidFill>
                <a:latin typeface="Cambria"/>
                <a:ea typeface="Cambria"/>
                <a:cs typeface="Cambria"/>
              </a:rPr>
              <a:t>  =  h(t₀) × C₀</a:t>
            </a:r>
            <a:r>
              <a:rPr lang="en-US" sz="1600" b="0" i="1" dirty="0">
                <a:solidFill>
                  <a:srgbClr val="CADCFC"/>
                </a:solidFill>
                <a:latin typeface="Calibri"/>
                <a:ea typeface="Calibri"/>
                <a:cs typeface="Calibri"/>
              </a:rPr>
              <a:t>     piecewise-constant h (Tol 1997), θ = 0 benchmark</a:t>
            </a:r>
          </a:p>
        </p:txBody>
      </p:sp>
      <p:sp>
        <p:nvSpPr>
          <p:cNvPr id="47" name="TextBox 46"/>
          <p:cNvSpPr txBox="1"/>
          <p:nvPr/>
        </p:nvSpPr>
        <p:spPr>
          <a:xfrm>
            <a:off x="822960" y="5847921"/>
            <a:ext cx="10607040" cy="246221"/>
          </a:xfrm>
          <a:prstGeom prst="rect">
            <a:avLst/>
          </a:prstGeom>
          <a:noFill/>
        </p:spPr>
        <p:txBody>
          <a:bodyPr wrap="square" lIns="0" tIns="0" rIns="0" bIns="0" anchor="ctr">
            <a:spAutoFit/>
          </a:bodyPr>
          <a:lstStyle/>
          <a:p>
            <a:r>
              <a:rPr lang="en-US" sz="1600" b="1" dirty="0">
                <a:solidFill>
                  <a:srgbClr val="E8A33D"/>
                </a:solidFill>
                <a:ea typeface="Calibri"/>
                <a:cs typeface="Calibri"/>
              </a:rPr>
              <a:t>0.0544 (Dataset A)</a:t>
            </a:r>
            <a:r>
              <a:rPr lang="en-US" sz="1600" dirty="0">
                <a:solidFill>
                  <a:srgbClr val="CADCFC"/>
                </a:solidFill>
                <a:ea typeface="Calibri"/>
                <a:cs typeface="Calibri"/>
              </a:rPr>
              <a:t>        vs        </a:t>
            </a:r>
            <a:r>
              <a:rPr lang="en-US" sz="1600" b="1" dirty="0">
                <a:solidFill>
                  <a:srgbClr val="E8A33D"/>
                </a:solidFill>
                <a:ea typeface="Calibri"/>
                <a:cs typeface="Calibri"/>
              </a:rPr>
              <a:t>0.8734 (Dataset B)</a:t>
            </a:r>
          </a:p>
        </p:txBody>
      </p:sp>
      <p:sp>
        <p:nvSpPr>
          <p:cNvPr id="49" name="TextBox 48"/>
          <p:cNvSpPr txBox="1"/>
          <p:nvPr/>
        </p:nvSpPr>
        <p:spPr>
          <a:xfrm>
            <a:off x="11365992" y="6510528"/>
            <a:ext cx="365760" cy="256032"/>
          </a:xfrm>
          <a:prstGeom prst="rect">
            <a:avLst/>
          </a:prstGeom>
          <a:noFill/>
        </p:spPr>
        <p:txBody>
          <a:bodyPr wrap="square" lIns="0" tIns="0" rIns="0" bIns="0" anchor="ctr">
            <a:spAutoFit/>
          </a:bodyPr>
          <a:lstStyle/>
          <a:p>
            <a:pPr marL="0" indent="0" algn="r">
              <a:buNone/>
            </a:pPr>
            <a:r>
              <a:rPr lang="en-US" sz="900" b="0" dirty="0">
                <a:solidFill>
                  <a:srgbClr val="56606B"/>
                </a:solidFill>
                <a:latin typeface="Calibri"/>
                <a:ea typeface="Calibri"/>
                <a:cs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3200" b="1" dirty="0">
                <a:solidFill>
                  <a:srgbClr val="21295C"/>
                </a:solidFill>
                <a:latin typeface="Cambria" pitchFamily="34" charset="0"/>
                <a:ea typeface="Cambria" pitchFamily="34" charset="-122"/>
                <a:cs typeface="Cambria" pitchFamily="34" charset="-120"/>
              </a:rPr>
              <a:t>Price: the model lands in the market’s range</a:t>
            </a:r>
            <a:endParaRPr lang="en-US" sz="32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6</a:t>
            </a:r>
            <a:endParaRPr lang="en-US" sz="900" dirty="0"/>
          </a:p>
        </p:txBody>
      </p:sp>
      <p:sp>
        <p:nvSpPr>
          <p:cNvPr id="14" name="Rounded Rectangle 13"/>
          <p:cNvSpPr/>
          <p:nvPr/>
        </p:nvSpPr>
        <p:spPr>
          <a:xfrm>
            <a:off x="548640" y="1783080"/>
            <a:ext cx="6766560" cy="4480560"/>
          </a:xfrm>
          <a:prstGeom prst="roundRect">
            <a:avLst>
              <a:gd name="adj" fmla="val 183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TextBox 14"/>
          <p:cNvSpPr txBox="1"/>
          <p:nvPr/>
        </p:nvSpPr>
        <p:spPr>
          <a:xfrm>
            <a:off x="868680" y="1938528"/>
            <a:ext cx="6217920" cy="274320"/>
          </a:xfrm>
          <a:prstGeom prst="rect">
            <a:avLst/>
          </a:prstGeom>
          <a:noFill/>
        </p:spPr>
        <p:txBody>
          <a:bodyPr wrap="square" lIns="0" tIns="0" rIns="0" bIns="0" anchor="ctr">
            <a:spAutoFit/>
          </a:bodyPr>
          <a:lstStyle/>
          <a:p>
            <a:pPr algn="l"/>
            <a:r>
              <a:rPr b="1" i="0" spc="100" dirty="0">
                <a:solidFill>
                  <a:srgbClr val="1C7293"/>
                </a:solidFill>
                <a:latin typeface="Calibri"/>
              </a:rPr>
              <a:t>FAIR STRIKE · MODEL vs MARKET · GERMANY, 2015–2024</a:t>
            </a:r>
          </a:p>
        </p:txBody>
      </p:sp>
      <p:graphicFrame>
        <p:nvGraphicFramePr>
          <p:cNvPr id="16" name="Chart 15"/>
          <p:cNvGraphicFramePr>
            <a:graphicFrameLocks noGrp="1"/>
          </p:cNvGraphicFramePr>
          <p:nvPr/>
        </p:nvGraphicFramePr>
        <p:xfrm>
          <a:off x="685800" y="2286000"/>
          <a:ext cx="649224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Box 16"/>
          <p:cNvSpPr txBox="1"/>
          <p:nvPr/>
        </p:nvSpPr>
        <p:spPr>
          <a:xfrm>
            <a:off x="868680" y="5760720"/>
            <a:ext cx="6217920" cy="411480"/>
          </a:xfrm>
          <a:prstGeom prst="rect">
            <a:avLst/>
          </a:prstGeom>
          <a:noFill/>
        </p:spPr>
        <p:txBody>
          <a:bodyPr wrap="square" lIns="0" tIns="0" rIns="0" bIns="0" anchor="t">
            <a:spAutoFit/>
          </a:bodyPr>
          <a:lstStyle/>
          <a:p>
            <a:pPr algn="l">
              <a:lnSpc>
                <a:spcPct val="100000"/>
              </a:lnSpc>
            </a:pPr>
            <a:r>
              <a:rPr sz="1050" b="0" i="1">
                <a:solidFill>
                  <a:srgbClr val="56606B"/>
                </a:solidFill>
                <a:latin typeface="Calibri"/>
              </a:rPr>
              <a:t>Model strike h(t₀) × C₀ converted into market units (conversion in backup B2). θ = 0 benchmark.</a:t>
            </a:r>
          </a:p>
        </p:txBody>
      </p:sp>
      <p:sp>
        <p:nvSpPr>
          <p:cNvPr id="18" name="Rounded Rectangle 17"/>
          <p:cNvSpPr/>
          <p:nvPr/>
        </p:nvSpPr>
        <p:spPr>
          <a:xfrm>
            <a:off x="7543800" y="1783079"/>
            <a:ext cx="4114800" cy="1730827"/>
          </a:xfrm>
          <a:prstGeom prst="roundRect">
            <a:avLst>
              <a:gd name="adj" fmla="val 5624"/>
            </a:avLst>
          </a:prstGeom>
          <a:solidFill>
            <a:srgbClr val="21295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9" name="TextBox 18"/>
          <p:cNvSpPr txBox="1"/>
          <p:nvPr/>
        </p:nvSpPr>
        <p:spPr>
          <a:xfrm>
            <a:off x="7818120" y="1918900"/>
            <a:ext cx="3657600" cy="276999"/>
          </a:xfrm>
          <a:prstGeom prst="rect">
            <a:avLst/>
          </a:prstGeom>
          <a:noFill/>
        </p:spPr>
        <p:txBody>
          <a:bodyPr wrap="square" lIns="0" tIns="0" rIns="0" bIns="0" anchor="ctr">
            <a:spAutoFit/>
          </a:bodyPr>
          <a:lstStyle/>
          <a:p>
            <a:pPr algn="l"/>
            <a:r>
              <a:rPr b="1" i="0" spc="100" dirty="0">
                <a:solidFill>
                  <a:srgbClr val="E8A33D"/>
                </a:solidFill>
                <a:latin typeface="Calibri"/>
              </a:rPr>
              <a:t>THE CONTRACT</a:t>
            </a:r>
          </a:p>
        </p:txBody>
      </p:sp>
      <p:sp>
        <p:nvSpPr>
          <p:cNvPr id="20" name="TextBox 19"/>
          <p:cNvSpPr txBox="1"/>
          <p:nvPr/>
        </p:nvSpPr>
        <p:spPr>
          <a:xfrm>
            <a:off x="7818120" y="2240280"/>
            <a:ext cx="3657600" cy="457200"/>
          </a:xfrm>
          <a:prstGeom prst="rect">
            <a:avLst/>
          </a:prstGeom>
          <a:noFill/>
        </p:spPr>
        <p:txBody>
          <a:bodyPr wrap="square" lIns="0" tIns="0" rIns="0" bIns="0" anchor="ctr">
            <a:spAutoFit/>
          </a:bodyPr>
          <a:lstStyle/>
          <a:p>
            <a:pPr algn="l"/>
            <a:r>
              <a:rPr sz="2000" b="1" i="0" dirty="0">
                <a:solidFill>
                  <a:srgbClr val="FFFFFF"/>
                </a:solidFill>
                <a:latin typeface="Cambria"/>
              </a:rPr>
              <a:t>A variance swap</a:t>
            </a:r>
          </a:p>
        </p:txBody>
      </p:sp>
      <p:sp>
        <p:nvSpPr>
          <p:cNvPr id="21" name="TextBox 20"/>
          <p:cNvSpPr txBox="1"/>
          <p:nvPr/>
        </p:nvSpPr>
        <p:spPr>
          <a:xfrm>
            <a:off x="7818120" y="2715768"/>
            <a:ext cx="3657600" cy="646331"/>
          </a:xfrm>
          <a:prstGeom prst="rect">
            <a:avLst/>
          </a:prstGeom>
          <a:noFill/>
        </p:spPr>
        <p:txBody>
          <a:bodyPr wrap="square" lIns="0" tIns="0" rIns="0" bIns="0" anchor="t">
            <a:spAutoFit/>
          </a:bodyPr>
          <a:lstStyle/>
          <a:p>
            <a:pPr algn="l">
              <a:lnSpc>
                <a:spcPct val="100000"/>
              </a:lnSpc>
            </a:pPr>
            <a:r>
              <a:rPr sz="1400" b="0" i="0" dirty="0">
                <a:solidFill>
                  <a:srgbClr val="D9E2EA"/>
                </a:solidFill>
                <a:latin typeface="Calibri"/>
              </a:rPr>
              <a:t>Pays the </a:t>
            </a:r>
            <a:r>
              <a:rPr sz="1400" b="0" i="0" dirty="0" err="1">
                <a:solidFill>
                  <a:srgbClr val="D9E2EA"/>
                </a:solidFill>
                <a:latin typeface="Calibri"/>
              </a:rPr>
              <a:t>realised</a:t>
            </a:r>
            <a:r>
              <a:rPr sz="1400" b="0" i="0" dirty="0">
                <a:solidFill>
                  <a:srgbClr val="D9E2EA"/>
                </a:solidFill>
                <a:latin typeface="Calibri"/>
              </a:rPr>
              <a:t> variance of German wind generation minus a fixed strike. The producer sells it.</a:t>
            </a:r>
          </a:p>
        </p:txBody>
      </p:sp>
      <p:sp>
        <p:nvSpPr>
          <p:cNvPr id="22" name="Rounded Rectangle 21"/>
          <p:cNvSpPr/>
          <p:nvPr/>
        </p:nvSpPr>
        <p:spPr>
          <a:xfrm>
            <a:off x="7543800" y="3696788"/>
            <a:ext cx="4114800" cy="1058091"/>
          </a:xfrm>
          <a:prstGeom prst="roundRect">
            <a:avLst>
              <a:gd name="adj" fmla="val 620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3" name="TextBox 22"/>
          <p:cNvSpPr txBox="1"/>
          <p:nvPr/>
        </p:nvSpPr>
        <p:spPr>
          <a:xfrm>
            <a:off x="7818120" y="3715077"/>
            <a:ext cx="3657600" cy="274320"/>
          </a:xfrm>
          <a:prstGeom prst="rect">
            <a:avLst/>
          </a:prstGeom>
          <a:noFill/>
        </p:spPr>
        <p:txBody>
          <a:bodyPr wrap="square" lIns="0" tIns="0" rIns="0" bIns="0" anchor="ctr">
            <a:spAutoFit/>
          </a:bodyPr>
          <a:lstStyle/>
          <a:p>
            <a:pPr algn="l"/>
            <a:r>
              <a:rPr b="1" i="0" spc="100" dirty="0">
                <a:solidFill>
                  <a:srgbClr val="1C7293"/>
                </a:solidFill>
                <a:latin typeface="Calibri"/>
              </a:rPr>
              <a:t>MARKET BENCHMARK</a:t>
            </a:r>
          </a:p>
        </p:txBody>
      </p:sp>
      <p:sp>
        <p:nvSpPr>
          <p:cNvPr id="24" name="TextBox 23"/>
          <p:cNvSpPr txBox="1"/>
          <p:nvPr/>
        </p:nvSpPr>
        <p:spPr>
          <a:xfrm>
            <a:off x="7818120" y="4091940"/>
            <a:ext cx="3611880" cy="443263"/>
          </a:xfrm>
          <a:prstGeom prst="rect">
            <a:avLst/>
          </a:prstGeom>
          <a:noFill/>
        </p:spPr>
        <p:txBody>
          <a:bodyPr wrap="square" lIns="0" tIns="0" rIns="0" bIns="0" anchor="t">
            <a:spAutoFit/>
          </a:bodyPr>
          <a:lstStyle/>
          <a:p>
            <a:pPr algn="l">
              <a:lnSpc>
                <a:spcPct val="105000"/>
              </a:lnSpc>
            </a:pPr>
            <a:r>
              <a:rPr sz="1400" b="0" i="0" dirty="0">
                <a:solidFill>
                  <a:srgbClr val="56606B"/>
                </a:solidFill>
                <a:latin typeface="Calibri"/>
              </a:rPr>
              <a:t>Average </a:t>
            </a:r>
            <a:r>
              <a:rPr sz="1400" b="0" i="0" dirty="0" err="1">
                <a:solidFill>
                  <a:srgbClr val="56606B"/>
                </a:solidFill>
                <a:latin typeface="Calibri"/>
              </a:rPr>
              <a:t>realised</a:t>
            </a:r>
            <a:r>
              <a:rPr sz="1400" b="0" i="0" dirty="0">
                <a:solidFill>
                  <a:srgbClr val="56606B"/>
                </a:solidFill>
                <a:latin typeface="Calibri"/>
              </a:rPr>
              <a:t> variance of German wind generation over ten years. No model involved.</a:t>
            </a:r>
          </a:p>
        </p:txBody>
      </p:sp>
      <p:sp>
        <p:nvSpPr>
          <p:cNvPr id="25" name="Rounded Rectangle 24"/>
          <p:cNvSpPr/>
          <p:nvPr/>
        </p:nvSpPr>
        <p:spPr>
          <a:xfrm>
            <a:off x="7543800" y="4937760"/>
            <a:ext cx="4114800" cy="1325880"/>
          </a:xfrm>
          <a:prstGeom prst="roundRect">
            <a:avLst>
              <a:gd name="adj" fmla="val 620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6" name="TextBox 25"/>
          <p:cNvSpPr txBox="1"/>
          <p:nvPr/>
        </p:nvSpPr>
        <p:spPr>
          <a:xfrm>
            <a:off x="7818120" y="5056632"/>
            <a:ext cx="3657600" cy="274320"/>
          </a:xfrm>
          <a:prstGeom prst="rect">
            <a:avLst/>
          </a:prstGeom>
          <a:noFill/>
        </p:spPr>
        <p:txBody>
          <a:bodyPr wrap="square" lIns="0" tIns="0" rIns="0" bIns="0" anchor="ctr">
            <a:spAutoFit/>
          </a:bodyPr>
          <a:lstStyle/>
          <a:p>
            <a:pPr algn="l"/>
            <a:r>
              <a:rPr b="1" i="0" spc="100" dirty="0">
                <a:solidFill>
                  <a:srgbClr val="C8791A"/>
                </a:solidFill>
                <a:latin typeface="Calibri"/>
              </a:rPr>
              <a:t>WHY THE MODEL IS HIGHER</a:t>
            </a:r>
          </a:p>
        </p:txBody>
      </p:sp>
      <p:sp>
        <p:nvSpPr>
          <p:cNvPr id="27" name="TextBox 26"/>
          <p:cNvSpPr txBox="1"/>
          <p:nvPr/>
        </p:nvSpPr>
        <p:spPr>
          <a:xfrm>
            <a:off x="7818120" y="5349240"/>
            <a:ext cx="3611880" cy="669479"/>
          </a:xfrm>
          <a:prstGeom prst="rect">
            <a:avLst/>
          </a:prstGeom>
          <a:noFill/>
        </p:spPr>
        <p:txBody>
          <a:bodyPr wrap="square" lIns="0" tIns="0" rIns="0" bIns="0" anchor="t">
            <a:spAutoFit/>
          </a:bodyPr>
          <a:lstStyle/>
          <a:p>
            <a:pPr algn="l">
              <a:lnSpc>
                <a:spcPct val="105000"/>
              </a:lnSpc>
            </a:pPr>
            <a:r>
              <a:rPr sz="1400" b="0" i="0" dirty="0">
                <a:solidFill>
                  <a:srgbClr val="56606B"/>
                </a:solidFill>
                <a:latin typeface="Calibri"/>
              </a:rPr>
              <a:t>One location against a nationwide fleet: averaging over many sites makes output smoother.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3200" b="1" dirty="0">
                <a:solidFill>
                  <a:srgbClr val="21295C"/>
                </a:solidFill>
                <a:latin typeface="Cambria" pitchFamily="34" charset="0"/>
                <a:ea typeface="Cambria" pitchFamily="34" charset="-122"/>
                <a:cs typeface="Cambria" pitchFamily="34" charset="-120"/>
              </a:rPr>
              <a:t>Hedge: CAWS pays in the calm years</a:t>
            </a:r>
            <a:endParaRPr lang="en-US" sz="32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7</a:t>
            </a:r>
            <a:endParaRPr lang="en-US" sz="900" dirty="0"/>
          </a:p>
        </p:txBody>
      </p:sp>
      <p:sp>
        <p:nvSpPr>
          <p:cNvPr id="14" name="Rounded Rectangle 13"/>
          <p:cNvSpPr/>
          <p:nvPr/>
        </p:nvSpPr>
        <p:spPr>
          <a:xfrm>
            <a:off x="548640" y="1783080"/>
            <a:ext cx="6949440" cy="4480560"/>
          </a:xfrm>
          <a:prstGeom prst="roundRect">
            <a:avLst>
              <a:gd name="adj" fmla="val 183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TextBox 14"/>
          <p:cNvSpPr txBox="1"/>
          <p:nvPr/>
        </p:nvSpPr>
        <p:spPr>
          <a:xfrm>
            <a:off x="868680" y="1952577"/>
            <a:ext cx="6400800" cy="246221"/>
          </a:xfrm>
          <a:prstGeom prst="rect">
            <a:avLst/>
          </a:prstGeom>
          <a:noFill/>
        </p:spPr>
        <p:txBody>
          <a:bodyPr wrap="square" lIns="0" tIns="0" rIns="0" bIns="0" anchor="ctr">
            <a:spAutoFit/>
          </a:bodyPr>
          <a:lstStyle/>
          <a:p>
            <a:pPr algn="l"/>
            <a:r>
              <a:rPr sz="1600" b="1" i="0" spc="100" dirty="0">
                <a:solidFill>
                  <a:srgbClr val="1C7293"/>
                </a:solidFill>
                <a:latin typeface="Calibri"/>
              </a:rPr>
              <a:t>CAWS PAYOFF PER YEAR, % OF STRIKE · GERMAN SITE, 2015–2024</a:t>
            </a:r>
          </a:p>
        </p:txBody>
      </p:sp>
      <p:graphicFrame>
        <p:nvGraphicFramePr>
          <p:cNvPr id="16" name="Chart 15"/>
          <p:cNvGraphicFramePr>
            <a:graphicFrameLocks noGrp="1"/>
          </p:cNvGraphicFramePr>
          <p:nvPr/>
        </p:nvGraphicFramePr>
        <p:xfrm>
          <a:off x="685800" y="2240280"/>
          <a:ext cx="667512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Box 16"/>
          <p:cNvSpPr txBox="1"/>
          <p:nvPr/>
        </p:nvSpPr>
        <p:spPr>
          <a:xfrm>
            <a:off x="868680" y="5760720"/>
            <a:ext cx="6400800" cy="411480"/>
          </a:xfrm>
          <a:prstGeom prst="rect">
            <a:avLst/>
          </a:prstGeom>
          <a:noFill/>
        </p:spPr>
        <p:txBody>
          <a:bodyPr wrap="square" lIns="0" tIns="0" rIns="0" bIns="0" anchor="t">
            <a:spAutoFit/>
          </a:bodyPr>
          <a:lstStyle/>
          <a:p>
            <a:pPr algn="l">
              <a:lnSpc>
                <a:spcPct val="100000"/>
              </a:lnSpc>
            </a:pPr>
            <a:r>
              <a:rPr sz="1100" b="0" i="1">
                <a:solidFill>
                  <a:srgbClr val="56606B"/>
                </a:solidFill>
                <a:latin typeface="Calibri"/>
              </a:rPr>
              <a:t>Above zero: a calm year — the contract pays.  Below zero: a windy year — the producer pays the premium.</a:t>
            </a:r>
          </a:p>
        </p:txBody>
      </p:sp>
      <p:sp>
        <p:nvSpPr>
          <p:cNvPr id="18" name="Rounded Rectangle 17"/>
          <p:cNvSpPr/>
          <p:nvPr/>
        </p:nvSpPr>
        <p:spPr>
          <a:xfrm>
            <a:off x="7726679" y="1783080"/>
            <a:ext cx="3931920" cy="2606040"/>
          </a:xfrm>
          <a:prstGeom prst="roundRect">
            <a:avLst>
              <a:gd name="adj" fmla="val 3157"/>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9" name="TextBox 18"/>
          <p:cNvSpPr txBox="1"/>
          <p:nvPr/>
        </p:nvSpPr>
        <p:spPr>
          <a:xfrm>
            <a:off x="7955279" y="1934289"/>
            <a:ext cx="3566160" cy="246221"/>
          </a:xfrm>
          <a:prstGeom prst="rect">
            <a:avLst/>
          </a:prstGeom>
          <a:noFill/>
        </p:spPr>
        <p:txBody>
          <a:bodyPr wrap="square" lIns="0" tIns="0" rIns="0" bIns="0" anchor="ctr">
            <a:spAutoFit/>
          </a:bodyPr>
          <a:lstStyle/>
          <a:p>
            <a:pPr algn="l"/>
            <a:r>
              <a:rPr sz="1600" b="1" i="0" spc="100" dirty="0">
                <a:solidFill>
                  <a:srgbClr val="1C7293"/>
                </a:solidFill>
                <a:latin typeface="Calibri"/>
              </a:rPr>
              <a:t>HOW THE CONTRACT WORKS</a:t>
            </a:r>
          </a:p>
        </p:txBody>
      </p:sp>
      <p:sp>
        <p:nvSpPr>
          <p:cNvPr id="90" name="TextBox 24"/>
          <p:cNvSpPr txBox="1"/>
          <p:nvPr/>
        </p:nvSpPr>
        <p:spPr>
          <a:xfrm>
            <a:off x="7955279" y="2240280"/>
            <a:ext cx="3520440" cy="1343958"/>
          </a:xfrm>
          <a:prstGeom prst="rect">
            <a:avLst/>
          </a:prstGeom>
          <a:noFill/>
        </p:spPr>
        <p:txBody>
          <a:bodyPr wrap="square" lIns="0" tIns="0" rIns="0" bIns="0" anchor="t">
            <a:spAutoFit/>
          </a:bodyPr>
          <a:lstStyle/>
          <a:p>
            <a:pPr algn="l">
              <a:lnSpc>
                <a:spcPct val="100000"/>
              </a:lnSpc>
              <a:spcAft>
                <a:spcPts val="1440"/>
              </a:spcAft>
            </a:pPr>
            <a:r>
              <a:rPr sz="1600" b="0" i="0" dirty="0">
                <a:solidFill>
                  <a:srgbClr val="1C1C1C"/>
                </a:solidFill>
                <a:latin typeface="Calibri"/>
              </a:rPr>
              <a:t>Written on the average wind speed of the year</a:t>
            </a:r>
            <a:r>
              <a:rPr lang="it-IT" sz="1600" b="0" i="0" dirty="0">
                <a:solidFill>
                  <a:srgbClr val="1C1C1C"/>
                </a:solidFill>
                <a:latin typeface="Calibri"/>
              </a:rPr>
              <a:t> with strike long-run average.</a:t>
            </a:r>
            <a:endParaRPr sz="1600" b="0" i="0" dirty="0">
              <a:solidFill>
                <a:srgbClr val="1C1C1C"/>
              </a:solidFill>
              <a:latin typeface="Calibri"/>
            </a:endParaRPr>
          </a:p>
          <a:p>
            <a:pPr algn="l">
              <a:lnSpc>
                <a:spcPct val="100000"/>
              </a:lnSpc>
              <a:spcAft>
                <a:spcPts val="1440"/>
              </a:spcAft>
            </a:pPr>
            <a:r>
              <a:rPr sz="1600" b="0" i="0" dirty="0">
                <a:solidFill>
                  <a:srgbClr val="1C1C1C"/>
                </a:solidFill>
                <a:latin typeface="Calibri"/>
              </a:rPr>
              <a:t>Calm year → the contract pays.</a:t>
            </a:r>
          </a:p>
          <a:p>
            <a:pPr algn="l">
              <a:lnSpc>
                <a:spcPct val="100000"/>
              </a:lnSpc>
              <a:spcAft>
                <a:spcPts val="1440"/>
              </a:spcAft>
            </a:pPr>
            <a:r>
              <a:rPr sz="1600" b="0" i="0" dirty="0">
                <a:solidFill>
                  <a:srgbClr val="1C1C1C"/>
                </a:solidFill>
                <a:latin typeface="Calibri"/>
              </a:rPr>
              <a:t>Windy year → the producer pays.</a:t>
            </a:r>
          </a:p>
        </p:txBody>
      </p:sp>
      <p:sp>
        <p:nvSpPr>
          <p:cNvPr id="22" name="Rounded Rectangle 21"/>
          <p:cNvSpPr/>
          <p:nvPr/>
        </p:nvSpPr>
        <p:spPr>
          <a:xfrm>
            <a:off x="7726679" y="4526280"/>
            <a:ext cx="3931920" cy="1737360"/>
          </a:xfrm>
          <a:prstGeom prst="roundRect">
            <a:avLst>
              <a:gd name="adj" fmla="val 4736"/>
            </a:avLst>
          </a:prstGeom>
          <a:solidFill>
            <a:srgbClr val="21295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3" name="TextBox 22"/>
          <p:cNvSpPr txBox="1"/>
          <p:nvPr/>
        </p:nvSpPr>
        <p:spPr>
          <a:xfrm>
            <a:off x="7955279" y="4631769"/>
            <a:ext cx="3566160" cy="246221"/>
          </a:xfrm>
          <a:prstGeom prst="rect">
            <a:avLst/>
          </a:prstGeom>
          <a:noFill/>
        </p:spPr>
        <p:txBody>
          <a:bodyPr wrap="square" lIns="0" tIns="0" rIns="0" bIns="0" anchor="ctr">
            <a:spAutoFit/>
          </a:bodyPr>
          <a:lstStyle/>
          <a:p>
            <a:pPr algn="l"/>
            <a:r>
              <a:rPr sz="1600" b="1" i="0" spc="100" dirty="0">
                <a:solidFill>
                  <a:srgbClr val="E8A33D"/>
                </a:solidFill>
                <a:latin typeface="Calibri"/>
              </a:rPr>
              <a:t>REVENUE AT RISK IN A CALM YEAR</a:t>
            </a:r>
          </a:p>
        </p:txBody>
      </p:sp>
      <p:sp>
        <p:nvSpPr>
          <p:cNvPr id="24" name="TextBox 23"/>
          <p:cNvSpPr txBox="1"/>
          <p:nvPr/>
        </p:nvSpPr>
        <p:spPr>
          <a:xfrm>
            <a:off x="7955279" y="4910328"/>
            <a:ext cx="3566160" cy="411480"/>
          </a:xfrm>
          <a:prstGeom prst="rect">
            <a:avLst/>
          </a:prstGeom>
          <a:noFill/>
        </p:spPr>
        <p:txBody>
          <a:bodyPr wrap="square" lIns="0" tIns="0" rIns="0" bIns="0" anchor="ctr">
            <a:spAutoFit/>
          </a:bodyPr>
          <a:lstStyle/>
          <a:p>
            <a:pPr algn="l"/>
            <a:r>
              <a:rPr sz="2600" b="1" i="0">
                <a:solidFill>
                  <a:srgbClr val="E8A33D"/>
                </a:solidFill>
                <a:latin typeface="Cambria"/>
              </a:rPr>
              <a:t>≈ €2.3m</a:t>
            </a:r>
          </a:p>
        </p:txBody>
      </p:sp>
      <p:sp>
        <p:nvSpPr>
          <p:cNvPr id="25" name="TextBox 24"/>
          <p:cNvSpPr txBox="1"/>
          <p:nvPr/>
        </p:nvSpPr>
        <p:spPr>
          <a:xfrm>
            <a:off x="7955279" y="5349240"/>
            <a:ext cx="3566160" cy="738664"/>
          </a:xfrm>
          <a:prstGeom prst="rect">
            <a:avLst/>
          </a:prstGeom>
          <a:noFill/>
        </p:spPr>
        <p:txBody>
          <a:bodyPr wrap="square" lIns="0" tIns="0" rIns="0" bIns="0" anchor="t">
            <a:spAutoFit/>
          </a:bodyPr>
          <a:lstStyle/>
          <a:p>
            <a:pPr algn="l">
              <a:lnSpc>
                <a:spcPct val="100000"/>
              </a:lnSpc>
            </a:pPr>
            <a:r>
              <a:rPr sz="1600" b="0" i="0" dirty="0">
                <a:solidFill>
                  <a:srgbClr val="E6ECF1"/>
                </a:solidFill>
                <a:latin typeface="Calibri"/>
              </a:rPr>
              <a:t>2021: wind about 5% below normal, on a 100 MW farm. Illustrative exposure, not the contract payout.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3200" b="1" dirty="0">
                <a:solidFill>
                  <a:srgbClr val="21295C"/>
                </a:solidFill>
                <a:latin typeface="Cambria" pitchFamily="34" charset="0"/>
                <a:ea typeface="Cambria" pitchFamily="34" charset="-122"/>
                <a:cs typeface="Cambria" pitchFamily="34" charset="-120"/>
              </a:rPr>
              <a:t>Data: on the wrong wind data, the price is 94% too low</a:t>
            </a:r>
            <a:endParaRPr lang="en-US" sz="32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8</a:t>
            </a:r>
            <a:endParaRPr lang="en-US" sz="900" dirty="0"/>
          </a:p>
        </p:txBody>
      </p:sp>
      <p:sp>
        <p:nvSpPr>
          <p:cNvPr id="14" name="Rounded Rectangle 13"/>
          <p:cNvSpPr/>
          <p:nvPr/>
        </p:nvSpPr>
        <p:spPr>
          <a:xfrm>
            <a:off x="548640" y="1783080"/>
            <a:ext cx="6766560" cy="4480560"/>
          </a:xfrm>
          <a:prstGeom prst="roundRect">
            <a:avLst>
              <a:gd name="adj" fmla="val 2535"/>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TextBox 14"/>
          <p:cNvSpPr txBox="1"/>
          <p:nvPr/>
        </p:nvSpPr>
        <p:spPr>
          <a:xfrm>
            <a:off x="868680" y="1934289"/>
            <a:ext cx="5029200" cy="246221"/>
          </a:xfrm>
          <a:prstGeom prst="rect">
            <a:avLst/>
          </a:prstGeom>
          <a:noFill/>
        </p:spPr>
        <p:txBody>
          <a:bodyPr wrap="square" lIns="0" tIns="0" rIns="0" bIns="0" anchor="ctr">
            <a:spAutoFit/>
          </a:bodyPr>
          <a:lstStyle/>
          <a:p>
            <a:pPr algn="l"/>
            <a:r>
              <a:rPr sz="1600" b="1" i="0" spc="100" dirty="0">
                <a:solidFill>
                  <a:srgbClr val="1C7293"/>
                </a:solidFill>
                <a:latin typeface="Calibri"/>
              </a:rPr>
              <a:t>FAIR STRIKE · SAME MODEL, DIFFERENT WIND DATA</a:t>
            </a:r>
          </a:p>
        </p:txBody>
      </p:sp>
      <p:graphicFrame>
        <p:nvGraphicFramePr>
          <p:cNvPr id="16" name="Chart 15"/>
          <p:cNvGraphicFramePr>
            <a:graphicFrameLocks noGrp="1"/>
          </p:cNvGraphicFramePr>
          <p:nvPr/>
        </p:nvGraphicFramePr>
        <p:xfrm>
          <a:off x="685800" y="2286000"/>
          <a:ext cx="649224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100" name="Rounded Rectangle 17"/>
          <p:cNvSpPr/>
          <p:nvPr/>
        </p:nvSpPr>
        <p:spPr>
          <a:xfrm>
            <a:off x="7543800" y="1783080"/>
            <a:ext cx="4114800" cy="1463040"/>
          </a:xfrm>
          <a:prstGeom prst="roundRect">
            <a:avLst>
              <a:gd name="adj" fmla="val 5624"/>
            </a:avLst>
          </a:prstGeom>
          <a:solidFill>
            <a:srgbClr val="21295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01" name="TextBox 18"/>
          <p:cNvSpPr txBox="1"/>
          <p:nvPr/>
        </p:nvSpPr>
        <p:spPr>
          <a:xfrm>
            <a:off x="7818120" y="1934289"/>
            <a:ext cx="3657600" cy="246221"/>
          </a:xfrm>
          <a:prstGeom prst="rect">
            <a:avLst/>
          </a:prstGeom>
          <a:noFill/>
        </p:spPr>
        <p:txBody>
          <a:bodyPr wrap="square" lIns="0" tIns="0" rIns="0" bIns="0" anchor="ctr">
            <a:spAutoFit/>
          </a:bodyPr>
          <a:lstStyle/>
          <a:p>
            <a:pPr algn="l"/>
            <a:r>
              <a:rPr sz="1600" b="1" i="0" spc="100" dirty="0">
                <a:solidFill>
                  <a:srgbClr val="E8A33D"/>
                </a:solidFill>
                <a:latin typeface="Calibri"/>
              </a:rPr>
              <a:t>WRONG DATA</a:t>
            </a:r>
          </a:p>
        </p:txBody>
      </p:sp>
      <p:sp>
        <p:nvSpPr>
          <p:cNvPr id="102" name="TextBox 19"/>
          <p:cNvSpPr txBox="1"/>
          <p:nvPr/>
        </p:nvSpPr>
        <p:spPr>
          <a:xfrm>
            <a:off x="7818120" y="2299603"/>
            <a:ext cx="3657600" cy="338554"/>
          </a:xfrm>
          <a:prstGeom prst="rect">
            <a:avLst/>
          </a:prstGeom>
          <a:noFill/>
        </p:spPr>
        <p:txBody>
          <a:bodyPr wrap="square" lIns="0" tIns="0" rIns="0" bIns="0" anchor="ctr">
            <a:spAutoFit/>
          </a:bodyPr>
          <a:lstStyle/>
          <a:p>
            <a:pPr algn="l"/>
            <a:r>
              <a:rPr sz="2200" b="1" i="0" dirty="0">
                <a:solidFill>
                  <a:srgbClr val="FFFFFF"/>
                </a:solidFill>
                <a:latin typeface="Cambria"/>
              </a:rPr>
              <a:t>Price 94% too low</a:t>
            </a:r>
          </a:p>
        </p:txBody>
      </p:sp>
      <p:sp>
        <p:nvSpPr>
          <p:cNvPr id="103" name="TextBox 20"/>
          <p:cNvSpPr txBox="1"/>
          <p:nvPr/>
        </p:nvSpPr>
        <p:spPr>
          <a:xfrm>
            <a:off x="7818120" y="2715768"/>
            <a:ext cx="3657600" cy="430887"/>
          </a:xfrm>
          <a:prstGeom prst="rect">
            <a:avLst/>
          </a:prstGeom>
          <a:noFill/>
        </p:spPr>
        <p:txBody>
          <a:bodyPr wrap="square" lIns="0" tIns="0" rIns="0" bIns="0" anchor="t">
            <a:spAutoFit/>
          </a:bodyPr>
          <a:lstStyle/>
          <a:p>
            <a:pPr algn="l">
              <a:lnSpc>
                <a:spcPct val="100000"/>
              </a:lnSpc>
            </a:pPr>
            <a:r>
              <a:rPr sz="1400" b="0" i="0" dirty="0">
                <a:solidFill>
                  <a:srgbClr val="D9E2EA"/>
                </a:solidFill>
                <a:latin typeface="Calibri"/>
              </a:rPr>
              <a:t>Same model, same assumptions — only the wind data changes.</a:t>
            </a:r>
          </a:p>
        </p:txBody>
      </p:sp>
      <p:sp>
        <p:nvSpPr>
          <p:cNvPr id="104" name="Rounded Rectangle 21"/>
          <p:cNvSpPr/>
          <p:nvPr/>
        </p:nvSpPr>
        <p:spPr>
          <a:xfrm>
            <a:off x="7543800" y="3429000"/>
            <a:ext cx="4114800" cy="1325880"/>
          </a:xfrm>
          <a:prstGeom prst="roundRect">
            <a:avLst>
              <a:gd name="adj" fmla="val 620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05" name="TextBox 22"/>
          <p:cNvSpPr txBox="1"/>
          <p:nvPr/>
        </p:nvSpPr>
        <p:spPr>
          <a:xfrm>
            <a:off x="7818120" y="3561921"/>
            <a:ext cx="3657600" cy="246221"/>
          </a:xfrm>
          <a:prstGeom prst="rect">
            <a:avLst/>
          </a:prstGeom>
          <a:noFill/>
        </p:spPr>
        <p:txBody>
          <a:bodyPr wrap="square" lIns="0" tIns="0" rIns="0" bIns="0" anchor="ctr">
            <a:spAutoFit/>
          </a:bodyPr>
          <a:lstStyle/>
          <a:p>
            <a:pPr algn="l"/>
            <a:r>
              <a:rPr sz="1600" b="1" i="0" spc="100" dirty="0">
                <a:solidFill>
                  <a:srgbClr val="1C7293"/>
                </a:solidFill>
                <a:latin typeface="Calibri"/>
              </a:rPr>
              <a:t>HEIGHT IS NOT THE REASON</a:t>
            </a:r>
          </a:p>
        </p:txBody>
      </p:sp>
      <p:sp>
        <p:nvSpPr>
          <p:cNvPr id="106" name="TextBox 23"/>
          <p:cNvSpPr txBox="1"/>
          <p:nvPr/>
        </p:nvSpPr>
        <p:spPr>
          <a:xfrm>
            <a:off x="7818120" y="3840480"/>
            <a:ext cx="3611880" cy="669479"/>
          </a:xfrm>
          <a:prstGeom prst="rect">
            <a:avLst/>
          </a:prstGeom>
          <a:noFill/>
        </p:spPr>
        <p:txBody>
          <a:bodyPr wrap="square" lIns="0" tIns="0" rIns="0" bIns="0" anchor="t">
            <a:spAutoFit/>
          </a:bodyPr>
          <a:lstStyle/>
          <a:p>
            <a:pPr algn="l">
              <a:lnSpc>
                <a:spcPct val="105000"/>
              </a:lnSpc>
            </a:pPr>
            <a:r>
              <a:rPr sz="1400" b="0" i="0" dirty="0">
                <a:solidFill>
                  <a:srgbClr val="56606B"/>
                </a:solidFill>
                <a:latin typeface="Calibri"/>
              </a:rPr>
              <a:t>Correcting Bologna’s wind from 10 m to 100 m still leaves the price 88% too low — for any realistic terrain.</a:t>
            </a:r>
          </a:p>
        </p:txBody>
      </p:sp>
      <p:sp>
        <p:nvSpPr>
          <p:cNvPr id="107" name="Rounded Rectangle 24"/>
          <p:cNvSpPr/>
          <p:nvPr/>
        </p:nvSpPr>
        <p:spPr>
          <a:xfrm>
            <a:off x="7543800" y="4937760"/>
            <a:ext cx="4114800" cy="1325880"/>
          </a:xfrm>
          <a:prstGeom prst="roundRect">
            <a:avLst>
              <a:gd name="adj" fmla="val 620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08" name="TextBox 25"/>
          <p:cNvSpPr txBox="1"/>
          <p:nvPr/>
        </p:nvSpPr>
        <p:spPr>
          <a:xfrm>
            <a:off x="7818120" y="5070681"/>
            <a:ext cx="3657600" cy="246221"/>
          </a:xfrm>
          <a:prstGeom prst="rect">
            <a:avLst/>
          </a:prstGeom>
          <a:noFill/>
        </p:spPr>
        <p:txBody>
          <a:bodyPr wrap="square" lIns="0" tIns="0" rIns="0" bIns="0" anchor="ctr">
            <a:spAutoFit/>
          </a:bodyPr>
          <a:lstStyle/>
          <a:p>
            <a:pPr algn="l"/>
            <a:r>
              <a:rPr sz="1600" b="1" i="0" spc="100" dirty="0">
                <a:solidFill>
                  <a:srgbClr val="C8791A"/>
                </a:solidFill>
                <a:latin typeface="Calibri"/>
              </a:rPr>
              <a:t>SO WHAT IS?</a:t>
            </a:r>
          </a:p>
        </p:txBody>
      </p:sp>
      <p:sp>
        <p:nvSpPr>
          <p:cNvPr id="109" name="TextBox 26"/>
          <p:cNvSpPr txBox="1"/>
          <p:nvPr/>
        </p:nvSpPr>
        <p:spPr>
          <a:xfrm>
            <a:off x="7818120" y="5349240"/>
            <a:ext cx="3611880" cy="443263"/>
          </a:xfrm>
          <a:prstGeom prst="rect">
            <a:avLst/>
          </a:prstGeom>
          <a:noFill/>
        </p:spPr>
        <p:txBody>
          <a:bodyPr wrap="square" lIns="0" tIns="0" rIns="0" bIns="0" anchor="t">
            <a:spAutoFit/>
          </a:bodyPr>
          <a:lstStyle/>
          <a:p>
            <a:pPr algn="l">
              <a:lnSpc>
                <a:spcPct val="105000"/>
              </a:lnSpc>
            </a:pPr>
            <a:r>
              <a:rPr sz="1400" b="0" i="0" dirty="0">
                <a:solidFill>
                  <a:srgbClr val="56606B"/>
                </a:solidFill>
                <a:latin typeface="Calibri"/>
              </a:rPr>
              <a:t>Next: does the wind series move with German wind generation at all?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3200" b="1" dirty="0">
                <a:solidFill>
                  <a:srgbClr val="21295C"/>
                </a:solidFill>
                <a:latin typeface="Cambria" pitchFamily="34" charset="0"/>
                <a:ea typeface="Cambria" pitchFamily="34" charset="-122"/>
                <a:cs typeface="Cambria" pitchFamily="34" charset="-120"/>
              </a:rPr>
              <a:t>The proxy wind tells us nothing about German generation</a:t>
            </a:r>
            <a:endParaRPr lang="en-US" sz="32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9</a:t>
            </a:r>
            <a:endParaRPr lang="en-US" sz="900" dirty="0"/>
          </a:p>
        </p:txBody>
      </p:sp>
      <p:sp>
        <p:nvSpPr>
          <p:cNvPr id="14" name="Rounded Rectangle 13"/>
          <p:cNvSpPr/>
          <p:nvPr/>
        </p:nvSpPr>
        <p:spPr>
          <a:xfrm>
            <a:off x="548640" y="1783080"/>
            <a:ext cx="8732520" cy="3291840"/>
          </a:xfrm>
          <a:prstGeom prst="roundRect">
            <a:avLst>
              <a:gd name="adj" fmla="val 2500"/>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pic>
        <p:nvPicPr>
          <p:cNvPr id="15" name="Picture 14" descr="pcA.png"/>
          <p:cNvPicPr>
            <a:picLocks noChangeAspect="1"/>
          </p:cNvPicPr>
          <p:nvPr/>
        </p:nvPicPr>
        <p:blipFill>
          <a:blip r:embed="rId3"/>
          <a:stretch>
            <a:fillRect/>
          </a:stretch>
        </p:blipFill>
        <p:spPr>
          <a:xfrm>
            <a:off x="731520" y="1965960"/>
            <a:ext cx="4425071" cy="2606040"/>
          </a:xfrm>
          <a:prstGeom prst="rect">
            <a:avLst/>
          </a:prstGeom>
        </p:spPr>
      </p:pic>
      <p:pic>
        <p:nvPicPr>
          <p:cNvPr id="16" name="Picture 15" descr="pcB.png"/>
          <p:cNvPicPr>
            <a:picLocks noChangeAspect="1"/>
          </p:cNvPicPr>
          <p:nvPr/>
        </p:nvPicPr>
        <p:blipFill>
          <a:blip r:embed="rId4"/>
          <a:stretch>
            <a:fillRect/>
          </a:stretch>
        </p:blipFill>
        <p:spPr>
          <a:xfrm>
            <a:off x="5303520" y="1965960"/>
            <a:ext cx="3831653" cy="2606040"/>
          </a:xfrm>
          <a:prstGeom prst="rect">
            <a:avLst/>
          </a:prstGeom>
        </p:spPr>
      </p:pic>
      <p:sp>
        <p:nvSpPr>
          <p:cNvPr id="17" name="TextBox 16"/>
          <p:cNvSpPr txBox="1"/>
          <p:nvPr/>
        </p:nvSpPr>
        <p:spPr>
          <a:xfrm>
            <a:off x="731520" y="4663440"/>
            <a:ext cx="4480560" cy="320040"/>
          </a:xfrm>
          <a:prstGeom prst="rect">
            <a:avLst/>
          </a:prstGeom>
          <a:noFill/>
        </p:spPr>
        <p:txBody>
          <a:bodyPr wrap="square" lIns="0" tIns="0" rIns="0" bIns="0" anchor="ctr">
            <a:spAutoFit/>
          </a:bodyPr>
          <a:lstStyle/>
          <a:p>
            <a:pPr algn="l"/>
            <a:r>
              <a:rPr sz="1200" b="1" i="0">
                <a:solidFill>
                  <a:srgbClr val="C8791A"/>
                </a:solidFill>
                <a:latin typeface="Calibri"/>
              </a:rPr>
              <a:t>A — Bologna 10 m: </a:t>
            </a:r>
            <a:r>
              <a:rPr sz="1200" b="0" i="0">
                <a:solidFill>
                  <a:srgbClr val="56606B"/>
                </a:solidFill>
                <a:latin typeface="Calibri"/>
              </a:rPr>
              <a:t>R² = 0.0001, slope p = 0.723</a:t>
            </a:r>
          </a:p>
        </p:txBody>
      </p:sp>
      <p:sp>
        <p:nvSpPr>
          <p:cNvPr id="18" name="TextBox 17"/>
          <p:cNvSpPr txBox="1"/>
          <p:nvPr/>
        </p:nvSpPr>
        <p:spPr>
          <a:xfrm>
            <a:off x="5303520" y="4663440"/>
            <a:ext cx="3840480" cy="320040"/>
          </a:xfrm>
          <a:prstGeom prst="rect">
            <a:avLst/>
          </a:prstGeom>
          <a:noFill/>
        </p:spPr>
        <p:txBody>
          <a:bodyPr wrap="square" lIns="0" tIns="0" rIns="0" bIns="0" anchor="ctr">
            <a:spAutoFit/>
          </a:bodyPr>
          <a:lstStyle/>
          <a:p>
            <a:pPr algn="l"/>
            <a:r>
              <a:rPr sz="1200" b="1" i="0">
                <a:solidFill>
                  <a:srgbClr val="1C7293"/>
                </a:solidFill>
                <a:latin typeface="Calibri"/>
              </a:rPr>
              <a:t>B — Nordfriesland 100 m: </a:t>
            </a:r>
            <a:r>
              <a:rPr sz="1200" b="0" i="0">
                <a:solidFill>
                  <a:srgbClr val="56606B"/>
                </a:solidFill>
                <a:latin typeface="Calibri"/>
              </a:rPr>
              <a:t>R² = 0.587, p &lt; 0.001</a:t>
            </a:r>
          </a:p>
        </p:txBody>
      </p:sp>
      <p:sp>
        <p:nvSpPr>
          <p:cNvPr id="19" name="Rounded Rectangle 18"/>
          <p:cNvSpPr/>
          <p:nvPr/>
        </p:nvSpPr>
        <p:spPr>
          <a:xfrm>
            <a:off x="9509760" y="1783080"/>
            <a:ext cx="2148840" cy="3291840"/>
          </a:xfrm>
          <a:prstGeom prst="roundRect">
            <a:avLst>
              <a:gd name="adj" fmla="val 3829"/>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0" name="TextBox 19"/>
          <p:cNvSpPr txBox="1"/>
          <p:nvPr/>
        </p:nvSpPr>
        <p:spPr>
          <a:xfrm>
            <a:off x="9692640" y="1780401"/>
            <a:ext cx="1828800" cy="553998"/>
          </a:xfrm>
          <a:prstGeom prst="rect">
            <a:avLst/>
          </a:prstGeom>
          <a:noFill/>
        </p:spPr>
        <p:txBody>
          <a:bodyPr wrap="square" lIns="0" tIns="0" rIns="0" bIns="0" anchor="ctr">
            <a:spAutoFit/>
          </a:bodyPr>
          <a:lstStyle/>
          <a:p>
            <a:pPr algn="l"/>
            <a:r>
              <a:rPr b="1" i="0" spc="100" dirty="0">
                <a:solidFill>
                  <a:srgbClr val="1C7293"/>
                </a:solidFill>
                <a:latin typeface="Calibri"/>
              </a:rPr>
              <a:t>GENERATION EXPLAINED</a:t>
            </a:r>
          </a:p>
        </p:txBody>
      </p:sp>
      <p:sp>
        <p:nvSpPr>
          <p:cNvPr id="21" name="TextBox 20"/>
          <p:cNvSpPr txBox="1"/>
          <p:nvPr/>
        </p:nvSpPr>
        <p:spPr>
          <a:xfrm>
            <a:off x="9692640" y="2345944"/>
            <a:ext cx="1828800" cy="594360"/>
          </a:xfrm>
          <a:prstGeom prst="rect">
            <a:avLst/>
          </a:prstGeom>
          <a:noFill/>
        </p:spPr>
        <p:txBody>
          <a:bodyPr wrap="square" lIns="0" tIns="0" rIns="0" bIns="0" anchor="ctr">
            <a:spAutoFit/>
          </a:bodyPr>
          <a:lstStyle/>
          <a:p>
            <a:pPr algn="l"/>
            <a:r>
              <a:rPr sz="3200" b="1" i="0" dirty="0">
                <a:solidFill>
                  <a:srgbClr val="1C7293"/>
                </a:solidFill>
                <a:latin typeface="Cambria"/>
              </a:rPr>
              <a:t>58.7%</a:t>
            </a:r>
          </a:p>
        </p:txBody>
      </p:sp>
      <p:sp>
        <p:nvSpPr>
          <p:cNvPr id="22" name="TextBox 21"/>
          <p:cNvSpPr txBox="1"/>
          <p:nvPr/>
        </p:nvSpPr>
        <p:spPr>
          <a:xfrm>
            <a:off x="9692640" y="2940304"/>
            <a:ext cx="1828800" cy="274320"/>
          </a:xfrm>
          <a:prstGeom prst="rect">
            <a:avLst/>
          </a:prstGeom>
          <a:noFill/>
        </p:spPr>
        <p:txBody>
          <a:bodyPr wrap="square" lIns="0" tIns="0" rIns="0" bIns="0" anchor="t">
            <a:spAutoFit/>
          </a:bodyPr>
          <a:lstStyle/>
          <a:p>
            <a:pPr algn="l"/>
            <a:r>
              <a:rPr sz="1100" b="0" i="0" dirty="0">
                <a:solidFill>
                  <a:srgbClr val="56606B"/>
                </a:solidFill>
                <a:latin typeface="Calibri"/>
              </a:rPr>
              <a:t>German site, 100 m</a:t>
            </a:r>
          </a:p>
        </p:txBody>
      </p:sp>
      <p:sp>
        <p:nvSpPr>
          <p:cNvPr id="23" name="TextBox 22"/>
          <p:cNvSpPr txBox="1"/>
          <p:nvPr/>
        </p:nvSpPr>
        <p:spPr>
          <a:xfrm>
            <a:off x="9692640" y="3291840"/>
            <a:ext cx="1828800" cy="594360"/>
          </a:xfrm>
          <a:prstGeom prst="rect">
            <a:avLst/>
          </a:prstGeom>
          <a:noFill/>
        </p:spPr>
        <p:txBody>
          <a:bodyPr wrap="square" lIns="0" tIns="0" rIns="0" bIns="0" anchor="ctr">
            <a:spAutoFit/>
          </a:bodyPr>
          <a:lstStyle/>
          <a:p>
            <a:pPr algn="l"/>
            <a:r>
              <a:rPr sz="3200" b="1" i="0">
                <a:solidFill>
                  <a:srgbClr val="C8791A"/>
                </a:solidFill>
                <a:latin typeface="Cambria"/>
              </a:rPr>
              <a:t>0.01%</a:t>
            </a:r>
          </a:p>
        </p:txBody>
      </p:sp>
      <p:sp>
        <p:nvSpPr>
          <p:cNvPr id="24" name="TextBox 23"/>
          <p:cNvSpPr txBox="1"/>
          <p:nvPr/>
        </p:nvSpPr>
        <p:spPr>
          <a:xfrm>
            <a:off x="9692640" y="3858768"/>
            <a:ext cx="1828800" cy="274320"/>
          </a:xfrm>
          <a:prstGeom prst="rect">
            <a:avLst/>
          </a:prstGeom>
          <a:noFill/>
        </p:spPr>
        <p:txBody>
          <a:bodyPr wrap="square" lIns="0" tIns="0" rIns="0" bIns="0" anchor="t">
            <a:spAutoFit/>
          </a:bodyPr>
          <a:lstStyle/>
          <a:p>
            <a:pPr algn="l"/>
            <a:r>
              <a:rPr sz="1100" b="0" i="0">
                <a:solidFill>
                  <a:srgbClr val="56606B"/>
                </a:solidFill>
                <a:latin typeface="Calibri"/>
              </a:rPr>
              <a:t>Bologna, 10 m</a:t>
            </a:r>
          </a:p>
        </p:txBody>
      </p:sp>
      <p:sp>
        <p:nvSpPr>
          <p:cNvPr id="25" name="TextBox 24"/>
          <p:cNvSpPr txBox="1"/>
          <p:nvPr/>
        </p:nvSpPr>
        <p:spPr>
          <a:xfrm>
            <a:off x="9692640" y="4251960"/>
            <a:ext cx="1828800" cy="731520"/>
          </a:xfrm>
          <a:prstGeom prst="rect">
            <a:avLst/>
          </a:prstGeom>
          <a:noFill/>
        </p:spPr>
        <p:txBody>
          <a:bodyPr wrap="square" lIns="0" tIns="0" rIns="0" bIns="0" anchor="t">
            <a:spAutoFit/>
          </a:bodyPr>
          <a:lstStyle/>
          <a:p>
            <a:pPr algn="l">
              <a:lnSpc>
                <a:spcPct val="100000"/>
              </a:lnSpc>
            </a:pPr>
            <a:r>
              <a:rPr sz="1050" b="0" i="1" dirty="0">
                <a:solidFill>
                  <a:srgbClr val="56606B"/>
                </a:solidFill>
                <a:latin typeface="Calibri"/>
              </a:rPr>
              <a:t>Daily regression of German wind generation on wind speed cubed</a:t>
            </a:r>
          </a:p>
        </p:txBody>
      </p:sp>
      <p:sp>
        <p:nvSpPr>
          <p:cNvPr id="26" name="Rounded Rectangle 25"/>
          <p:cNvSpPr/>
          <p:nvPr/>
        </p:nvSpPr>
        <p:spPr>
          <a:xfrm>
            <a:off x="548640" y="5257800"/>
            <a:ext cx="6309360" cy="1005840"/>
          </a:xfrm>
          <a:prstGeom prst="roundRect">
            <a:avLst>
              <a:gd name="adj" fmla="val 8181"/>
            </a:avLst>
          </a:prstGeom>
          <a:solidFill>
            <a:srgbClr val="EEF3F7"/>
          </a:solidFill>
          <a:ln>
            <a:noFill/>
          </a:ln>
        </p:spPr>
        <p:txBody>
          <a:bodyPr rtlCol="0" anchor="ctr"/>
          <a:lstStyle/>
          <a:p>
            <a:pPr algn="ctr"/>
            <a:endParaRPr/>
          </a:p>
        </p:txBody>
      </p:sp>
      <p:sp>
        <p:nvSpPr>
          <p:cNvPr id="27" name="TextBox 26"/>
          <p:cNvSpPr txBox="1"/>
          <p:nvPr/>
        </p:nvSpPr>
        <p:spPr>
          <a:xfrm>
            <a:off x="822960" y="5534516"/>
            <a:ext cx="5852160" cy="443263"/>
          </a:xfrm>
          <a:prstGeom prst="rect">
            <a:avLst/>
          </a:prstGeom>
          <a:noFill/>
        </p:spPr>
        <p:txBody>
          <a:bodyPr wrap="square" lIns="0" tIns="0" rIns="0" bIns="0" anchor="ctr">
            <a:spAutoFit/>
          </a:bodyPr>
          <a:lstStyle/>
          <a:p>
            <a:pPr algn="l">
              <a:lnSpc>
                <a:spcPct val="105000"/>
              </a:lnSpc>
            </a:pPr>
            <a:r>
              <a:rPr sz="1400" b="0" i="0" dirty="0">
                <a:solidFill>
                  <a:srgbClr val="56606B"/>
                </a:solidFill>
                <a:latin typeface="Calibri"/>
              </a:rPr>
              <a:t>A simple rule: </a:t>
            </a:r>
            <a:r>
              <a:rPr sz="1400" b="1" i="0" dirty="0">
                <a:solidFill>
                  <a:srgbClr val="21295C"/>
                </a:solidFill>
                <a:latin typeface="Calibri"/>
              </a:rPr>
              <a:t>before pricing, check that the wind data explains the output you hedge. It costs one regression.</a:t>
            </a:r>
          </a:p>
        </p:txBody>
      </p:sp>
      <p:sp>
        <p:nvSpPr>
          <p:cNvPr id="28" name="Rounded Rectangle 27"/>
          <p:cNvSpPr/>
          <p:nvPr/>
        </p:nvSpPr>
        <p:spPr>
          <a:xfrm>
            <a:off x="7086600" y="5257800"/>
            <a:ext cx="4572000" cy="1005840"/>
          </a:xfrm>
          <a:prstGeom prst="roundRect">
            <a:avLst>
              <a:gd name="adj" fmla="val 8181"/>
            </a:avLst>
          </a:prstGeom>
          <a:solidFill>
            <a:srgbClr val="21295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9" name="TextBox 28"/>
          <p:cNvSpPr txBox="1"/>
          <p:nvPr/>
        </p:nvSpPr>
        <p:spPr>
          <a:xfrm>
            <a:off x="7315200" y="5432982"/>
            <a:ext cx="4160520" cy="646331"/>
          </a:xfrm>
          <a:prstGeom prst="rect">
            <a:avLst/>
          </a:prstGeom>
          <a:noFill/>
        </p:spPr>
        <p:txBody>
          <a:bodyPr wrap="square" lIns="0" tIns="0" rIns="0" bIns="0" anchor="ctr">
            <a:spAutoFit/>
          </a:bodyPr>
          <a:lstStyle/>
          <a:p>
            <a:pPr algn="l">
              <a:lnSpc>
                <a:spcPct val="100000"/>
              </a:lnSpc>
            </a:pPr>
            <a:r>
              <a:rPr sz="1400" b="0" i="1" dirty="0">
                <a:solidFill>
                  <a:srgbClr val="FFFFFF"/>
                </a:solidFill>
                <a:latin typeface="Cambria"/>
              </a:rPr>
              <a:t>A proxy that quotes a plausible number while carrying no information is more dangerous than an obviously wrong one — only the second announces itself.</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3200" b="1" dirty="0">
                <a:solidFill>
                  <a:srgbClr val="21295C"/>
                </a:solidFill>
                <a:latin typeface="Cambria" pitchFamily="34" charset="0"/>
                <a:ea typeface="Cambria" pitchFamily="34" charset="-122"/>
                <a:cs typeface="Cambria" pitchFamily="34" charset="-120"/>
              </a:rPr>
              <a:t>The question, answered</a:t>
            </a:r>
            <a:endParaRPr lang="en-US" sz="32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10</a:t>
            </a:r>
            <a:endParaRPr lang="en-US" sz="900" dirty="0"/>
          </a:p>
        </p:txBody>
      </p:sp>
      <p:sp>
        <p:nvSpPr>
          <p:cNvPr id="14" name="Rounded Rectangle 13"/>
          <p:cNvSpPr/>
          <p:nvPr/>
        </p:nvSpPr>
        <p:spPr>
          <a:xfrm>
            <a:off x="548640" y="1783080"/>
            <a:ext cx="3593592" cy="3246120"/>
          </a:xfrm>
          <a:prstGeom prst="roundRect">
            <a:avLst>
              <a:gd name="adj" fmla="val 2535"/>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Oval 14"/>
          <p:cNvSpPr/>
          <p:nvPr/>
        </p:nvSpPr>
        <p:spPr>
          <a:xfrm>
            <a:off x="841247" y="2011680"/>
            <a:ext cx="502920" cy="502920"/>
          </a:xfrm>
          <a:prstGeom prst="ellipse">
            <a:avLst/>
          </a:prstGeom>
          <a:solidFill>
            <a:srgbClr val="1C7293"/>
          </a:solidFill>
          <a:ln>
            <a:noFill/>
          </a:ln>
        </p:spPr>
        <p:txBody>
          <a:bodyPr rtlCol="0" anchor="ctr"/>
          <a:lstStyle/>
          <a:p>
            <a:pPr algn="ctr"/>
            <a:endParaRPr/>
          </a:p>
        </p:txBody>
      </p:sp>
      <p:sp>
        <p:nvSpPr>
          <p:cNvPr id="16" name="TextBox 15"/>
          <p:cNvSpPr txBox="1"/>
          <p:nvPr/>
        </p:nvSpPr>
        <p:spPr>
          <a:xfrm>
            <a:off x="841247" y="2011680"/>
            <a:ext cx="502920" cy="502920"/>
          </a:xfrm>
          <a:prstGeom prst="rect">
            <a:avLst/>
          </a:prstGeom>
          <a:noFill/>
        </p:spPr>
        <p:txBody>
          <a:bodyPr wrap="square" lIns="0" tIns="0" rIns="0" bIns="0" anchor="ctr">
            <a:spAutoFit/>
          </a:bodyPr>
          <a:lstStyle/>
          <a:p>
            <a:pPr algn="ctr"/>
            <a:r>
              <a:rPr sz="1500" b="1" i="0">
                <a:solidFill>
                  <a:srgbClr val="FFFFFF"/>
                </a:solidFill>
                <a:latin typeface="Calibri"/>
              </a:rPr>
              <a:t>1</a:t>
            </a:r>
          </a:p>
        </p:txBody>
      </p:sp>
      <p:sp>
        <p:nvSpPr>
          <p:cNvPr id="17" name="TextBox 16"/>
          <p:cNvSpPr txBox="1"/>
          <p:nvPr/>
        </p:nvSpPr>
        <p:spPr>
          <a:xfrm>
            <a:off x="1508760" y="2130552"/>
            <a:ext cx="2468880" cy="274320"/>
          </a:xfrm>
          <a:prstGeom prst="rect">
            <a:avLst/>
          </a:prstGeom>
          <a:noFill/>
        </p:spPr>
        <p:txBody>
          <a:bodyPr wrap="square" lIns="0" tIns="0" rIns="0" bIns="0" anchor="ctr">
            <a:spAutoFit/>
          </a:bodyPr>
          <a:lstStyle/>
          <a:p>
            <a:pPr algn="l"/>
            <a:r>
              <a:rPr b="1" i="0" spc="100" dirty="0">
                <a:solidFill>
                  <a:srgbClr val="C8791A"/>
                </a:solidFill>
                <a:latin typeface="Calibri"/>
              </a:rPr>
              <a:t>PRICE</a:t>
            </a:r>
          </a:p>
        </p:txBody>
      </p:sp>
      <p:sp>
        <p:nvSpPr>
          <p:cNvPr id="18" name="TextBox 17"/>
          <p:cNvSpPr txBox="1"/>
          <p:nvPr/>
        </p:nvSpPr>
        <p:spPr>
          <a:xfrm>
            <a:off x="841247" y="2741860"/>
            <a:ext cx="3017520" cy="276999"/>
          </a:xfrm>
          <a:prstGeom prst="rect">
            <a:avLst/>
          </a:prstGeom>
          <a:noFill/>
        </p:spPr>
        <p:txBody>
          <a:bodyPr wrap="square" lIns="0" tIns="0" rIns="0" bIns="0" anchor="ctr">
            <a:spAutoFit/>
          </a:bodyPr>
          <a:lstStyle/>
          <a:p>
            <a:pPr algn="l"/>
            <a:r>
              <a:rPr b="1" i="0" dirty="0">
                <a:solidFill>
                  <a:srgbClr val="21295C"/>
                </a:solidFill>
                <a:latin typeface="Cambria"/>
              </a:rPr>
              <a:t>Yes — in closed form</a:t>
            </a:r>
          </a:p>
        </p:txBody>
      </p:sp>
      <p:sp>
        <p:nvSpPr>
          <p:cNvPr id="19" name="TextBox 18"/>
          <p:cNvSpPr txBox="1"/>
          <p:nvPr/>
        </p:nvSpPr>
        <p:spPr>
          <a:xfrm>
            <a:off x="841247" y="3154680"/>
            <a:ext cx="3017520" cy="914033"/>
          </a:xfrm>
          <a:prstGeom prst="rect">
            <a:avLst/>
          </a:prstGeom>
          <a:noFill/>
        </p:spPr>
        <p:txBody>
          <a:bodyPr wrap="square" lIns="0" tIns="0" rIns="0" bIns="0" anchor="t">
            <a:spAutoFit/>
          </a:bodyPr>
          <a:lstStyle/>
          <a:p>
            <a:pPr algn="l">
              <a:lnSpc>
                <a:spcPct val="112000"/>
              </a:lnSpc>
            </a:pPr>
            <a:r>
              <a:rPr b="0" i="0" dirty="0">
                <a:solidFill>
                  <a:srgbClr val="56606B"/>
                </a:solidFill>
                <a:latin typeface="Calibri"/>
              </a:rPr>
              <a:t>Fair strike = h(t₀) × C₀ under the θ = 0 benchmark. In market units, it is in the market’s range.</a:t>
            </a:r>
          </a:p>
        </p:txBody>
      </p:sp>
      <p:sp>
        <p:nvSpPr>
          <p:cNvPr id="20" name="Rounded Rectangle 19"/>
          <p:cNvSpPr/>
          <p:nvPr/>
        </p:nvSpPr>
        <p:spPr>
          <a:xfrm>
            <a:off x="4306824" y="1783080"/>
            <a:ext cx="3593592" cy="3246120"/>
          </a:xfrm>
          <a:prstGeom prst="roundRect">
            <a:avLst>
              <a:gd name="adj" fmla="val 2535"/>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1" name="Oval 20"/>
          <p:cNvSpPr/>
          <p:nvPr/>
        </p:nvSpPr>
        <p:spPr>
          <a:xfrm>
            <a:off x="4599432" y="2011680"/>
            <a:ext cx="502920" cy="502920"/>
          </a:xfrm>
          <a:prstGeom prst="ellipse">
            <a:avLst/>
          </a:prstGeom>
          <a:solidFill>
            <a:srgbClr val="1C7293"/>
          </a:solidFill>
          <a:ln>
            <a:noFill/>
          </a:ln>
        </p:spPr>
        <p:txBody>
          <a:bodyPr rtlCol="0" anchor="ctr"/>
          <a:lstStyle/>
          <a:p>
            <a:pPr algn="ctr"/>
            <a:endParaRPr/>
          </a:p>
        </p:txBody>
      </p:sp>
      <p:sp>
        <p:nvSpPr>
          <p:cNvPr id="22" name="TextBox 21"/>
          <p:cNvSpPr txBox="1"/>
          <p:nvPr/>
        </p:nvSpPr>
        <p:spPr>
          <a:xfrm>
            <a:off x="4599432" y="2011680"/>
            <a:ext cx="502920" cy="502920"/>
          </a:xfrm>
          <a:prstGeom prst="rect">
            <a:avLst/>
          </a:prstGeom>
          <a:noFill/>
        </p:spPr>
        <p:txBody>
          <a:bodyPr wrap="square" lIns="0" tIns="0" rIns="0" bIns="0" anchor="ctr">
            <a:spAutoFit/>
          </a:bodyPr>
          <a:lstStyle/>
          <a:p>
            <a:pPr algn="ctr"/>
            <a:r>
              <a:rPr sz="1500" b="1" i="0">
                <a:solidFill>
                  <a:srgbClr val="FFFFFF"/>
                </a:solidFill>
                <a:latin typeface="Calibri"/>
              </a:rPr>
              <a:t>2</a:t>
            </a:r>
          </a:p>
        </p:txBody>
      </p:sp>
      <p:sp>
        <p:nvSpPr>
          <p:cNvPr id="23" name="TextBox 22"/>
          <p:cNvSpPr txBox="1"/>
          <p:nvPr/>
        </p:nvSpPr>
        <p:spPr>
          <a:xfrm>
            <a:off x="5266944" y="2130552"/>
            <a:ext cx="2468880" cy="274320"/>
          </a:xfrm>
          <a:prstGeom prst="rect">
            <a:avLst/>
          </a:prstGeom>
          <a:noFill/>
        </p:spPr>
        <p:txBody>
          <a:bodyPr wrap="square" lIns="0" tIns="0" rIns="0" bIns="0" anchor="ctr">
            <a:spAutoFit/>
          </a:bodyPr>
          <a:lstStyle/>
          <a:p>
            <a:pPr algn="l"/>
            <a:r>
              <a:rPr b="1" i="0" spc="100" dirty="0">
                <a:solidFill>
                  <a:srgbClr val="C8791A"/>
                </a:solidFill>
                <a:latin typeface="Calibri"/>
              </a:rPr>
              <a:t>HEDGE</a:t>
            </a:r>
          </a:p>
        </p:txBody>
      </p:sp>
      <p:sp>
        <p:nvSpPr>
          <p:cNvPr id="24" name="TextBox 23"/>
          <p:cNvSpPr txBox="1"/>
          <p:nvPr/>
        </p:nvSpPr>
        <p:spPr>
          <a:xfrm>
            <a:off x="4599432" y="2741861"/>
            <a:ext cx="3017520" cy="276999"/>
          </a:xfrm>
          <a:prstGeom prst="rect">
            <a:avLst/>
          </a:prstGeom>
          <a:noFill/>
        </p:spPr>
        <p:txBody>
          <a:bodyPr wrap="square" lIns="0" tIns="0" rIns="0" bIns="0" anchor="ctr">
            <a:spAutoFit/>
          </a:bodyPr>
          <a:lstStyle/>
          <a:p>
            <a:pPr algn="l"/>
            <a:r>
              <a:rPr b="1" i="0" dirty="0">
                <a:solidFill>
                  <a:srgbClr val="21295C"/>
                </a:solidFill>
                <a:latin typeface="Cambria"/>
              </a:rPr>
              <a:t>CAWS covers the calm years</a:t>
            </a:r>
          </a:p>
        </p:txBody>
      </p:sp>
      <p:sp>
        <p:nvSpPr>
          <p:cNvPr id="25" name="TextBox 24"/>
          <p:cNvSpPr txBox="1"/>
          <p:nvPr/>
        </p:nvSpPr>
        <p:spPr>
          <a:xfrm>
            <a:off x="4599432" y="3154680"/>
            <a:ext cx="3017520" cy="914033"/>
          </a:xfrm>
          <a:prstGeom prst="rect">
            <a:avLst/>
          </a:prstGeom>
          <a:noFill/>
        </p:spPr>
        <p:txBody>
          <a:bodyPr wrap="square" lIns="0" tIns="0" rIns="0" bIns="0" anchor="t">
            <a:spAutoFit/>
          </a:bodyPr>
          <a:lstStyle/>
          <a:p>
            <a:pPr algn="l">
              <a:lnSpc>
                <a:spcPct val="112000"/>
              </a:lnSpc>
            </a:pPr>
            <a:r>
              <a:rPr b="0" i="0" dirty="0">
                <a:solidFill>
                  <a:srgbClr val="56606B"/>
                </a:solidFill>
                <a:latin typeface="Calibri"/>
              </a:rPr>
              <a:t>It pays when wind — and revenue — fall short: the case a variance swap cannot see.</a:t>
            </a:r>
          </a:p>
        </p:txBody>
      </p:sp>
      <p:sp>
        <p:nvSpPr>
          <p:cNvPr id="26" name="Rounded Rectangle 25"/>
          <p:cNvSpPr/>
          <p:nvPr/>
        </p:nvSpPr>
        <p:spPr>
          <a:xfrm>
            <a:off x="8065008" y="1783080"/>
            <a:ext cx="3593592" cy="3246120"/>
          </a:xfrm>
          <a:prstGeom prst="roundRect">
            <a:avLst>
              <a:gd name="adj" fmla="val 2535"/>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7" name="Oval 26"/>
          <p:cNvSpPr/>
          <p:nvPr/>
        </p:nvSpPr>
        <p:spPr>
          <a:xfrm>
            <a:off x="8357616" y="2011680"/>
            <a:ext cx="502920" cy="502920"/>
          </a:xfrm>
          <a:prstGeom prst="ellipse">
            <a:avLst/>
          </a:prstGeom>
          <a:solidFill>
            <a:srgbClr val="C8791A"/>
          </a:solidFill>
          <a:ln>
            <a:noFill/>
          </a:ln>
        </p:spPr>
        <p:txBody>
          <a:bodyPr rtlCol="0" anchor="ctr"/>
          <a:lstStyle/>
          <a:p>
            <a:pPr algn="ctr"/>
            <a:endParaRPr/>
          </a:p>
        </p:txBody>
      </p:sp>
      <p:sp>
        <p:nvSpPr>
          <p:cNvPr id="28" name="TextBox 27"/>
          <p:cNvSpPr txBox="1"/>
          <p:nvPr/>
        </p:nvSpPr>
        <p:spPr>
          <a:xfrm>
            <a:off x="8357616" y="2011680"/>
            <a:ext cx="502920" cy="502920"/>
          </a:xfrm>
          <a:prstGeom prst="rect">
            <a:avLst/>
          </a:prstGeom>
          <a:noFill/>
        </p:spPr>
        <p:txBody>
          <a:bodyPr wrap="square" lIns="0" tIns="0" rIns="0" bIns="0" anchor="ctr">
            <a:spAutoFit/>
          </a:bodyPr>
          <a:lstStyle/>
          <a:p>
            <a:pPr algn="ctr"/>
            <a:r>
              <a:rPr sz="1500" b="1" i="0">
                <a:solidFill>
                  <a:srgbClr val="FFFFFF"/>
                </a:solidFill>
                <a:latin typeface="Calibri"/>
              </a:rPr>
              <a:t>3</a:t>
            </a:r>
          </a:p>
        </p:txBody>
      </p:sp>
      <p:sp>
        <p:nvSpPr>
          <p:cNvPr id="29" name="TextBox 28"/>
          <p:cNvSpPr txBox="1"/>
          <p:nvPr/>
        </p:nvSpPr>
        <p:spPr>
          <a:xfrm>
            <a:off x="9025128" y="2130552"/>
            <a:ext cx="2468880" cy="274320"/>
          </a:xfrm>
          <a:prstGeom prst="rect">
            <a:avLst/>
          </a:prstGeom>
          <a:noFill/>
        </p:spPr>
        <p:txBody>
          <a:bodyPr wrap="square" lIns="0" tIns="0" rIns="0" bIns="0" anchor="ctr">
            <a:spAutoFit/>
          </a:bodyPr>
          <a:lstStyle/>
          <a:p>
            <a:pPr algn="l"/>
            <a:r>
              <a:rPr b="1" i="0" spc="100" dirty="0">
                <a:solidFill>
                  <a:srgbClr val="C8791A"/>
                </a:solidFill>
                <a:latin typeface="Calibri"/>
              </a:rPr>
              <a:t>DATA</a:t>
            </a:r>
          </a:p>
        </p:txBody>
      </p:sp>
      <p:sp>
        <p:nvSpPr>
          <p:cNvPr id="30" name="TextBox 29"/>
          <p:cNvSpPr txBox="1"/>
          <p:nvPr/>
        </p:nvSpPr>
        <p:spPr>
          <a:xfrm>
            <a:off x="8357616" y="2741860"/>
            <a:ext cx="3017520" cy="276999"/>
          </a:xfrm>
          <a:prstGeom prst="rect">
            <a:avLst/>
          </a:prstGeom>
          <a:noFill/>
        </p:spPr>
        <p:txBody>
          <a:bodyPr wrap="square" lIns="0" tIns="0" rIns="0" bIns="0" anchor="ctr">
            <a:spAutoFit/>
          </a:bodyPr>
          <a:lstStyle/>
          <a:p>
            <a:pPr algn="l"/>
            <a:r>
              <a:rPr b="1" i="0" dirty="0">
                <a:solidFill>
                  <a:srgbClr val="21295C"/>
                </a:solidFill>
                <a:latin typeface="Cambria"/>
              </a:rPr>
              <a:t>The right data comes first</a:t>
            </a:r>
          </a:p>
        </p:txBody>
      </p:sp>
      <p:sp>
        <p:nvSpPr>
          <p:cNvPr id="31" name="TextBox 30"/>
          <p:cNvSpPr txBox="1"/>
          <p:nvPr/>
        </p:nvSpPr>
        <p:spPr>
          <a:xfrm>
            <a:off x="8357616" y="3154680"/>
            <a:ext cx="3017520" cy="914033"/>
          </a:xfrm>
          <a:prstGeom prst="rect">
            <a:avLst/>
          </a:prstGeom>
          <a:noFill/>
        </p:spPr>
        <p:txBody>
          <a:bodyPr wrap="square" lIns="0" tIns="0" rIns="0" bIns="0" anchor="t">
            <a:spAutoFit/>
          </a:bodyPr>
          <a:lstStyle/>
          <a:p>
            <a:pPr algn="l">
              <a:lnSpc>
                <a:spcPct val="112000"/>
              </a:lnSpc>
            </a:pPr>
            <a:r>
              <a:rPr b="0" i="0" dirty="0">
                <a:solidFill>
                  <a:srgbClr val="56606B"/>
                </a:solidFill>
                <a:latin typeface="Calibri"/>
              </a:rPr>
              <a:t>On the wrong data the price is 94% too low, with no warning. One regression detects it.</a:t>
            </a:r>
          </a:p>
        </p:txBody>
      </p:sp>
      <p:sp>
        <p:nvSpPr>
          <p:cNvPr id="32" name="Rounded Rectangle 31"/>
          <p:cNvSpPr/>
          <p:nvPr/>
        </p:nvSpPr>
        <p:spPr>
          <a:xfrm>
            <a:off x="548640" y="5257800"/>
            <a:ext cx="11109960" cy="1005840"/>
          </a:xfrm>
          <a:prstGeom prst="roundRect">
            <a:avLst>
              <a:gd name="adj" fmla="val 8181"/>
            </a:avLst>
          </a:prstGeom>
          <a:solidFill>
            <a:srgbClr val="21295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33" name="TextBox 32"/>
          <p:cNvSpPr txBox="1"/>
          <p:nvPr/>
        </p:nvSpPr>
        <p:spPr>
          <a:xfrm>
            <a:off x="868680" y="5303520"/>
            <a:ext cx="10469880" cy="914400"/>
          </a:xfrm>
          <a:prstGeom prst="rect">
            <a:avLst/>
          </a:prstGeom>
          <a:noFill/>
        </p:spPr>
        <p:txBody>
          <a:bodyPr wrap="square" lIns="0" tIns="0" rIns="0" bIns="0" anchor="ctr">
            <a:spAutoFit/>
          </a:bodyPr>
          <a:lstStyle/>
          <a:p>
            <a:pPr algn="ctr">
              <a:lnSpc>
                <a:spcPct val="105000"/>
              </a:lnSpc>
            </a:pPr>
            <a:r>
              <a:rPr sz="1700" b="0" i="1">
                <a:solidFill>
                  <a:srgbClr val="FFFFFF"/>
                </a:solidFill>
                <a:latin typeface="Cambria"/>
              </a:rPr>
              <a:t>“Data alignment is not a refinement to be added once the model works — it is a precondition for the model meaning anything.”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3200" b="1" dirty="0">
                <a:solidFill>
                  <a:srgbClr val="21295C"/>
                </a:solidFill>
                <a:latin typeface="Cambria" pitchFamily="34" charset="0"/>
                <a:ea typeface="Cambria" pitchFamily="34" charset="-122"/>
                <a:cs typeface="Cambria" pitchFamily="34" charset="-120"/>
              </a:rPr>
              <a:t>Looking ahead</a:t>
            </a:r>
            <a:endParaRPr lang="en-US" sz="3200" dirty="0"/>
          </a:p>
        </p:txBody>
      </p:sp>
      <p:sp>
        <p:nvSpPr>
          <p:cNvPr id="4" name="Shape 2"/>
          <p:cNvSpPr/>
          <p:nvPr/>
        </p:nvSpPr>
        <p:spPr>
          <a:xfrm>
            <a:off x="548640" y="1828800"/>
            <a:ext cx="5394960" cy="4160520"/>
          </a:xfrm>
          <a:prstGeom prst="roundRect">
            <a:avLst>
              <a:gd name="adj" fmla="val 1978"/>
            </a:avLst>
          </a:prstGeom>
          <a:solidFill>
            <a:srgbClr val="F7FAFC"/>
          </a:solidFill>
          <a:ln/>
          <a:effectLst>
            <a:outerShdw blurRad="88900" dist="25400" dir="5400000" algn="bl" rotWithShape="0">
              <a:srgbClr val="1C1C1C">
                <a:alpha val="16000"/>
              </a:srgbClr>
            </a:outerShdw>
          </a:effectLst>
        </p:spPr>
        <p:txBody>
          <a:bodyPr/>
          <a:lstStyle/>
          <a:p>
            <a:endParaRPr/>
          </a:p>
        </p:txBody>
      </p:sp>
      <p:sp>
        <p:nvSpPr>
          <p:cNvPr id="5" name="Text 3"/>
          <p:cNvSpPr/>
          <p:nvPr/>
        </p:nvSpPr>
        <p:spPr>
          <a:xfrm>
            <a:off x="868680" y="2057400"/>
            <a:ext cx="4754880" cy="320040"/>
          </a:xfrm>
          <a:prstGeom prst="rect">
            <a:avLst/>
          </a:prstGeom>
          <a:noFill/>
          <a:ln/>
        </p:spPr>
        <p:txBody>
          <a:bodyPr wrap="square" lIns="0" tIns="0" rIns="0" bIns="0" rtlCol="0" anchor="ctr"/>
          <a:lstStyle/>
          <a:p>
            <a:pPr marL="0" indent="0">
              <a:buNone/>
            </a:pPr>
            <a:r>
              <a:rPr lang="en-US" sz="2000" b="1" kern="0" spc="120" dirty="0">
                <a:solidFill>
                  <a:srgbClr val="1C7293"/>
                </a:solidFill>
                <a:latin typeface="Calibri" pitchFamily="34" charset="0"/>
                <a:ea typeface="Calibri" pitchFamily="34" charset="-122"/>
                <a:cs typeface="Calibri" pitchFamily="34" charset="-120"/>
              </a:rPr>
              <a:t>LIMITATIONS</a:t>
            </a:r>
            <a:endParaRPr lang="en-US" sz="2000" dirty="0"/>
          </a:p>
        </p:txBody>
      </p:sp>
      <p:sp>
        <p:nvSpPr>
          <p:cNvPr id="6" name="Text 4"/>
          <p:cNvSpPr/>
          <p:nvPr/>
        </p:nvSpPr>
        <p:spPr>
          <a:xfrm>
            <a:off x="868680" y="2450592"/>
            <a:ext cx="4754880" cy="3383280"/>
          </a:xfrm>
          <a:prstGeom prst="rect">
            <a:avLst/>
          </a:prstGeom>
          <a:noFill/>
          <a:ln/>
        </p:spPr>
        <p:txBody>
          <a:bodyPr wrap="square" lIns="0" tIns="0" rIns="0" bIns="0" rtlCol="0" anchor="t"/>
          <a:lstStyle/>
          <a:p>
            <a:pPr marL="228600" indent="-228600" algn="l">
              <a:lnSpc>
                <a:spcPct val="105000"/>
              </a:lnSpc>
              <a:spcAft>
                <a:spcPts val="2160"/>
              </a:spcAft>
              <a:buClr>
                <a:srgbClr val="1C7293"/>
              </a:buClr>
              <a:buFont typeface="Arial"/>
              <a:buChar char="•"/>
            </a:pPr>
            <a:r>
              <a:rPr lang="en-US" sz="1800" b="0" dirty="0">
                <a:solidFill>
                  <a:srgbClr val="56606B"/>
                </a:solidFill>
                <a:latin typeface="Calibri"/>
                <a:ea typeface="Calibri"/>
                <a:cs typeface="Calibri"/>
              </a:rPr>
              <a:t>θ = 0 is adopted as a benchmark assumption in the absence of EEX option-implied data.</a:t>
            </a:r>
          </a:p>
          <a:p>
            <a:pPr marL="228600" indent="-228600">
              <a:lnSpc>
                <a:spcPct val="105000"/>
              </a:lnSpc>
              <a:spcAft>
                <a:spcPts val="2160"/>
              </a:spcAft>
              <a:buClr>
                <a:srgbClr val="1C7293"/>
              </a:buClr>
              <a:buFont typeface="Arial"/>
              <a:buChar char="•"/>
            </a:pPr>
            <a:r>
              <a:rPr lang="en-US" dirty="0">
                <a:solidFill>
                  <a:srgbClr val="56606B"/>
                </a:solidFill>
                <a:ea typeface="Calibri"/>
                <a:cs typeface="Calibri"/>
              </a:rPr>
              <a:t>Cross-dataset strikes sit on two Box–Cox scales and two pricing dates.</a:t>
            </a:r>
            <a:endParaRPr lang="en-US" sz="1800" b="0" dirty="0">
              <a:solidFill>
                <a:srgbClr val="56606B"/>
              </a:solidFill>
              <a:latin typeface="Calibri"/>
              <a:ea typeface="Calibri"/>
              <a:cs typeface="Calibri"/>
            </a:endParaRPr>
          </a:p>
          <a:p>
            <a:pPr marL="228600" indent="-228600" algn="l">
              <a:lnSpc>
                <a:spcPct val="105000"/>
              </a:lnSpc>
              <a:spcAft>
                <a:spcPts val="2160"/>
              </a:spcAft>
              <a:buClr>
                <a:srgbClr val="1C7293"/>
              </a:buClr>
              <a:buFont typeface="Arial"/>
              <a:buChar char="•"/>
            </a:pPr>
            <a:r>
              <a:rPr lang="en-US" sz="1800" b="0" dirty="0">
                <a:solidFill>
                  <a:srgbClr val="56606B"/>
                </a:solidFill>
                <a:latin typeface="Calibri"/>
                <a:ea typeface="Calibri"/>
                <a:cs typeface="Calibri"/>
              </a:rPr>
              <a:t>One location stands in for a nationwide fleet.</a:t>
            </a:r>
          </a:p>
          <a:p>
            <a:pPr marL="228600" indent="-228600" algn="l">
              <a:lnSpc>
                <a:spcPct val="105000"/>
              </a:lnSpc>
              <a:spcAft>
                <a:spcPts val="2160"/>
              </a:spcAft>
              <a:buClr>
                <a:srgbClr val="1C7293"/>
              </a:buClr>
              <a:buFont typeface="Arial"/>
              <a:buChar char="•"/>
            </a:pPr>
            <a:r>
              <a:rPr lang="en-US" sz="1800" b="0" dirty="0">
                <a:solidFill>
                  <a:srgbClr val="56606B"/>
                </a:solidFill>
                <a:latin typeface="Calibri"/>
                <a:ea typeface="Calibri"/>
                <a:cs typeface="Calibri"/>
              </a:rPr>
              <a:t>Short samples and daily data: some results are descriptive.</a:t>
            </a:r>
          </a:p>
        </p:txBody>
      </p:sp>
      <p:sp>
        <p:nvSpPr>
          <p:cNvPr id="7" name="Shape 5"/>
          <p:cNvSpPr/>
          <p:nvPr/>
        </p:nvSpPr>
        <p:spPr>
          <a:xfrm>
            <a:off x="6263640" y="1828800"/>
            <a:ext cx="5394960" cy="4160520"/>
          </a:xfrm>
          <a:prstGeom prst="roundRect">
            <a:avLst>
              <a:gd name="adj" fmla="val 1978"/>
            </a:avLst>
          </a:prstGeom>
          <a:solidFill>
            <a:srgbClr val="EEF3F7"/>
          </a:solidFill>
          <a:ln/>
        </p:spPr>
        <p:txBody>
          <a:bodyPr/>
          <a:lstStyle/>
          <a:p>
            <a:endParaRPr/>
          </a:p>
        </p:txBody>
      </p:sp>
      <p:sp>
        <p:nvSpPr>
          <p:cNvPr id="8" name="Text 6"/>
          <p:cNvSpPr/>
          <p:nvPr/>
        </p:nvSpPr>
        <p:spPr>
          <a:xfrm>
            <a:off x="6583680" y="2057400"/>
            <a:ext cx="4754880" cy="320040"/>
          </a:xfrm>
          <a:prstGeom prst="rect">
            <a:avLst/>
          </a:prstGeom>
          <a:noFill/>
          <a:ln/>
        </p:spPr>
        <p:txBody>
          <a:bodyPr wrap="square" lIns="0" tIns="0" rIns="0" bIns="0" rtlCol="0" anchor="ctr"/>
          <a:lstStyle/>
          <a:p>
            <a:pPr marL="0" indent="0">
              <a:buNone/>
            </a:pPr>
            <a:r>
              <a:rPr lang="en-US" sz="2000" b="1" kern="0" spc="120" dirty="0">
                <a:solidFill>
                  <a:srgbClr val="1C7293"/>
                </a:solidFill>
                <a:latin typeface="Calibri" pitchFamily="34" charset="0"/>
                <a:ea typeface="Calibri" pitchFamily="34" charset="-122"/>
                <a:cs typeface="Calibri" pitchFamily="34" charset="-120"/>
              </a:rPr>
              <a:t>FUTURE WORK</a:t>
            </a:r>
            <a:endParaRPr lang="en-US" sz="2000" dirty="0"/>
          </a:p>
        </p:txBody>
      </p:sp>
      <p:sp>
        <p:nvSpPr>
          <p:cNvPr id="9" name="Text 7"/>
          <p:cNvSpPr/>
          <p:nvPr/>
        </p:nvSpPr>
        <p:spPr>
          <a:xfrm>
            <a:off x="6583680" y="2450592"/>
            <a:ext cx="4754880" cy="3383280"/>
          </a:xfrm>
          <a:prstGeom prst="rect">
            <a:avLst/>
          </a:prstGeom>
          <a:noFill/>
          <a:ln/>
        </p:spPr>
        <p:txBody>
          <a:bodyPr wrap="square" lIns="0" tIns="0" rIns="0" bIns="0" rtlCol="0" anchor="t"/>
          <a:lstStyle/>
          <a:p>
            <a:pPr marL="228600" indent="-228600" algn="l">
              <a:lnSpc>
                <a:spcPct val="105000"/>
              </a:lnSpc>
              <a:spcAft>
                <a:spcPts val="2160"/>
              </a:spcAft>
              <a:buClr>
                <a:srgbClr val="1C7293"/>
              </a:buClr>
              <a:buFont typeface="Arial"/>
              <a:buChar char="•"/>
            </a:pPr>
            <a:r>
              <a:rPr lang="en-US" sz="1800" b="0" dirty="0">
                <a:solidFill>
                  <a:srgbClr val="56606B"/>
                </a:solidFill>
                <a:latin typeface="Calibri"/>
                <a:ea typeface="Calibri"/>
                <a:cs typeface="Calibri"/>
              </a:rPr>
              <a:t>Estimate the risk premium from EEX power options.</a:t>
            </a:r>
          </a:p>
          <a:p>
            <a:pPr marL="228600" indent="-228600" algn="l">
              <a:lnSpc>
                <a:spcPct val="105000"/>
              </a:lnSpc>
              <a:spcAft>
                <a:spcPts val="2160"/>
              </a:spcAft>
              <a:buClr>
                <a:srgbClr val="1C7293"/>
              </a:buClr>
              <a:buFont typeface="Arial"/>
              <a:buChar char="•"/>
            </a:pPr>
            <a:r>
              <a:rPr lang="en-US" sz="1800" b="0" dirty="0">
                <a:solidFill>
                  <a:srgbClr val="56606B"/>
                </a:solidFill>
                <a:latin typeface="Calibri"/>
                <a:ea typeface="Calibri"/>
                <a:cs typeface="Calibri"/>
              </a:rPr>
              <a:t>Use fleet-wide, hourly wind data.</a:t>
            </a:r>
          </a:p>
          <a:p>
            <a:pPr marL="228600" indent="-228600" algn="l">
              <a:lnSpc>
                <a:spcPct val="105000"/>
              </a:lnSpc>
              <a:spcAft>
                <a:spcPts val="2160"/>
              </a:spcAft>
              <a:buClr>
                <a:srgbClr val="1C7293"/>
              </a:buClr>
              <a:buFont typeface="Arial"/>
              <a:buChar char="•"/>
            </a:pPr>
            <a:r>
              <a:rPr lang="en-US" sz="1800" b="0" dirty="0">
                <a:solidFill>
                  <a:srgbClr val="56606B"/>
                </a:solidFill>
                <a:latin typeface="Calibri"/>
                <a:ea typeface="Calibri"/>
                <a:cs typeface="Calibri"/>
              </a:rPr>
              <a:t>Test wind data against generation before pricing.</a:t>
            </a:r>
          </a:p>
        </p:txBody>
      </p:sp>
      <p:sp>
        <p:nvSpPr>
          <p:cNvPr id="11" name="Text 9"/>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079992" y="-2560320"/>
            <a:ext cx="5669280" cy="5669280"/>
          </a:xfrm>
          <a:prstGeom prst="ellipse">
            <a:avLst/>
          </a:prstGeom>
          <a:solidFill>
            <a:srgbClr val="1C7293">
              <a:alpha val="42000"/>
            </a:srgbClr>
          </a:solidFill>
          <a:ln/>
        </p:spPr>
        <p:txBody>
          <a:bodyPr/>
          <a:lstStyle/>
          <a:p>
            <a:endParaRPr/>
          </a:p>
        </p:txBody>
      </p:sp>
      <p:sp>
        <p:nvSpPr>
          <p:cNvPr id="3" name="Shape 1"/>
          <p:cNvSpPr/>
          <p:nvPr/>
        </p:nvSpPr>
        <p:spPr>
          <a:xfrm>
            <a:off x="10634472" y="-640080"/>
            <a:ext cx="2743200" cy="2743200"/>
          </a:xfrm>
          <a:prstGeom prst="ellipse">
            <a:avLst/>
          </a:prstGeom>
          <a:solidFill>
            <a:srgbClr val="065A82">
              <a:alpha val="70000"/>
            </a:srgbClr>
          </a:solidFill>
          <a:ln/>
        </p:spPr>
        <p:txBody>
          <a:bodyPr/>
          <a:lstStyle/>
          <a:p>
            <a:endParaRPr/>
          </a:p>
        </p:txBody>
      </p:sp>
      <p:sp>
        <p:nvSpPr>
          <p:cNvPr id="5" name="Text 3"/>
          <p:cNvSpPr/>
          <p:nvPr/>
        </p:nvSpPr>
        <p:spPr>
          <a:xfrm>
            <a:off x="822960" y="2651760"/>
            <a:ext cx="96012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rPr>
              <a:t>Thank you for your attention. </a:t>
            </a:r>
            <a:endParaRPr lang="en-US" sz="4400" dirty="0"/>
          </a:p>
        </p:txBody>
      </p:sp>
      <p:sp>
        <p:nvSpPr>
          <p:cNvPr id="6" name="Text 4"/>
          <p:cNvSpPr/>
          <p:nvPr/>
        </p:nvSpPr>
        <p:spPr>
          <a:xfrm>
            <a:off x="822960" y="4160520"/>
            <a:ext cx="9601200" cy="457200"/>
          </a:xfrm>
          <a:prstGeom prst="rect">
            <a:avLst/>
          </a:prstGeom>
          <a:noFill/>
          <a:ln/>
        </p:spPr>
        <p:txBody>
          <a:bodyPr wrap="square" lIns="0" tIns="0" rIns="0" bIns="0" rtlCol="0" anchor="ctr"/>
          <a:lstStyle/>
          <a:p>
            <a:pPr marL="0" indent="0" algn="l">
              <a:buNone/>
            </a:pPr>
            <a:r>
              <a:rPr lang="en-US" sz="1300" b="0" i="1" dirty="0">
                <a:solidFill>
                  <a:srgbClr val="EEF3F7"/>
                </a:solidFill>
                <a:latin typeface="Calibri"/>
                <a:ea typeface="Calibri"/>
                <a:cs typeface="Calibri"/>
              </a:rPr>
              <a:t>Enrico Butali · Wind Speed Modelling for Derivatives Pricing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21295C"/>
        </a:solidFill>
        <a:effectLst/>
      </p:bgPr>
    </p:bg>
    <p:spTree>
      <p:nvGrpSpPr>
        <p:cNvPr id="1" name=""/>
        <p:cNvGrpSpPr/>
        <p:nvPr/>
      </p:nvGrpSpPr>
      <p:grpSpPr>
        <a:xfrm>
          <a:off x="0" y="0"/>
          <a:ext cx="0" cy="0"/>
          <a:chOff x="0" y="0"/>
          <a:chExt cx="0" cy="0"/>
        </a:xfrm>
      </p:grpSpPr>
      <p:sp>
        <p:nvSpPr>
          <p:cNvPr id="2" name="Oval 1"/>
          <p:cNvSpPr/>
          <p:nvPr/>
        </p:nvSpPr>
        <p:spPr>
          <a:xfrm>
            <a:off x="9079992" y="-2560320"/>
            <a:ext cx="5669280" cy="5669280"/>
          </a:xfrm>
          <a:prstGeom prst="ellipse">
            <a:avLst/>
          </a:prstGeom>
          <a:solidFill>
            <a:srgbClr val="1C7293">
              <a:alpha val="4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Oval 2"/>
          <p:cNvSpPr/>
          <p:nvPr/>
        </p:nvSpPr>
        <p:spPr>
          <a:xfrm>
            <a:off x="10634472" y="-640080"/>
            <a:ext cx="2743200" cy="2743200"/>
          </a:xfrm>
          <a:prstGeom prst="ellipse">
            <a:avLst/>
          </a:prstGeom>
          <a:solidFill>
            <a:srgbClr val="065A82">
              <a:alpha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1737360"/>
            <a:ext cx="9144000" cy="365760"/>
          </a:xfrm>
          <a:prstGeom prst="rect">
            <a:avLst/>
          </a:prstGeom>
          <a:noFill/>
        </p:spPr>
        <p:txBody>
          <a:bodyPr wrap="square" lIns="0" tIns="0" rIns="0" bIns="0" anchor="ctr">
            <a:spAutoFit/>
          </a:bodyPr>
          <a:lstStyle/>
          <a:p>
            <a:pPr marL="0" indent="0" algn="l">
              <a:buNone/>
            </a:pPr>
            <a:r>
              <a:rPr lang="en-US" sz="1400" b="1" kern="0" spc="250" dirty="0">
                <a:solidFill>
                  <a:srgbClr val="E8A33D"/>
                </a:solidFill>
                <a:latin typeface="Calibri"/>
                <a:ea typeface="Calibri"/>
                <a:cs typeface="Calibri"/>
              </a:rPr>
              <a:t>BACKUP</a:t>
            </a:r>
          </a:p>
        </p:txBody>
      </p:sp>
      <p:sp>
        <p:nvSpPr>
          <p:cNvPr id="5" name="TextBox 4"/>
          <p:cNvSpPr txBox="1"/>
          <p:nvPr/>
        </p:nvSpPr>
        <p:spPr>
          <a:xfrm>
            <a:off x="822960" y="2148840"/>
            <a:ext cx="9601200" cy="822960"/>
          </a:xfrm>
          <a:prstGeom prst="rect">
            <a:avLst/>
          </a:prstGeom>
          <a:noFill/>
        </p:spPr>
        <p:txBody>
          <a:bodyPr wrap="square" lIns="0" tIns="0" rIns="0" bIns="0" anchor="ctr">
            <a:spAutoFit/>
          </a:bodyPr>
          <a:lstStyle/>
          <a:p>
            <a:pPr marL="0" indent="0" algn="l">
              <a:buNone/>
            </a:pPr>
            <a:r>
              <a:rPr lang="en-US" sz="3400" b="1" dirty="0">
                <a:solidFill>
                  <a:srgbClr val="FFFFFF"/>
                </a:solidFill>
                <a:latin typeface="Cambria"/>
                <a:ea typeface="Cambria"/>
                <a:cs typeface="Cambria"/>
              </a:rPr>
              <a:t>Supporting detail, on request</a:t>
            </a:r>
          </a:p>
        </p:txBody>
      </p:sp>
      <p:sp>
        <p:nvSpPr>
          <p:cNvPr id="6" name="TextBox 5"/>
          <p:cNvSpPr txBox="1"/>
          <p:nvPr/>
        </p:nvSpPr>
        <p:spPr>
          <a:xfrm>
            <a:off x="822960" y="3291840"/>
            <a:ext cx="9601200" cy="2377440"/>
          </a:xfrm>
          <a:prstGeom prst="rect">
            <a:avLst/>
          </a:prstGeom>
          <a:noFill/>
        </p:spPr>
        <p:txBody>
          <a:bodyPr wrap="square" lIns="0" tIns="0" rIns="0" bIns="0" anchor="t">
            <a:spAutoFit/>
          </a:bodyPr>
          <a:lstStyle/>
          <a:p>
            <a:pPr marL="0" indent="0" algn="l">
              <a:spcAft>
                <a:spcPts val="1000"/>
              </a:spcAft>
              <a:buNone/>
            </a:pPr>
            <a:r>
              <a:rPr lang="en-US" sz="1500" b="1" dirty="0">
                <a:solidFill>
                  <a:srgbClr val="E8A33D"/>
                </a:solidFill>
                <a:latin typeface="Calibri"/>
                <a:ea typeface="Calibri"/>
                <a:cs typeface="Calibri"/>
              </a:rPr>
              <a:t>B1  </a:t>
            </a:r>
            <a:r>
              <a:rPr lang="en-US" sz="1500" b="0" dirty="0">
                <a:solidFill>
                  <a:srgbClr val="EEF3F7"/>
                </a:solidFill>
                <a:latin typeface="Calibri"/>
                <a:ea typeface="Calibri"/>
                <a:cs typeface="Calibri"/>
              </a:rPr>
              <a:t>Feller condition — robust for B, estimator-dependent for A</a:t>
            </a:r>
          </a:p>
          <a:p>
            <a:pPr marL="0" indent="0" algn="l">
              <a:spcAft>
                <a:spcPts val="1000"/>
              </a:spcAft>
              <a:buNone/>
            </a:pPr>
            <a:r>
              <a:rPr lang="en-US" sz="1500" b="1" dirty="0">
                <a:solidFill>
                  <a:srgbClr val="E8A33D"/>
                </a:solidFill>
                <a:latin typeface="Calibri"/>
                <a:ea typeface="Calibri"/>
                <a:cs typeface="Calibri"/>
              </a:rPr>
              <a:t>B2  </a:t>
            </a:r>
            <a:r>
              <a:rPr lang="en-US" sz="1500" b="0" dirty="0">
                <a:solidFill>
                  <a:srgbClr val="EEF3F7"/>
                </a:solidFill>
                <a:latin typeface="Calibri"/>
                <a:ea typeface="Calibri"/>
                <a:cs typeface="Calibri"/>
              </a:rPr>
              <a:t>Reconciling Track B into Track A units, both datasets</a:t>
            </a:r>
          </a:p>
          <a:p>
            <a:pPr marL="0" indent="0" algn="l">
              <a:spcAft>
                <a:spcPts val="1000"/>
              </a:spcAft>
              <a:buNone/>
            </a:pPr>
            <a:r>
              <a:rPr lang="en-US" sz="1500" b="1" dirty="0">
                <a:solidFill>
                  <a:srgbClr val="E8A33D"/>
                </a:solidFill>
                <a:latin typeface="Calibri"/>
                <a:ea typeface="Calibri"/>
                <a:cs typeface="Calibri"/>
              </a:rPr>
              <a:t>B3  </a:t>
            </a:r>
            <a:r>
              <a:rPr lang="en-US" sz="1500" b="0" dirty="0">
                <a:solidFill>
                  <a:srgbClr val="EEF3F7"/>
                </a:solidFill>
                <a:latin typeface="Calibri"/>
                <a:ea typeface="Calibri"/>
                <a:cs typeface="Calibri"/>
              </a:rPr>
              <a:t>Model validation — four specifications, one conditional mean</a:t>
            </a:r>
          </a:p>
          <a:p>
            <a:pPr marL="0" indent="0" algn="l">
              <a:spcAft>
                <a:spcPts val="1000"/>
              </a:spcAft>
              <a:buNone/>
            </a:pPr>
            <a:r>
              <a:rPr lang="en-US" sz="1500" b="1" dirty="0">
                <a:solidFill>
                  <a:srgbClr val="E8A33D"/>
                </a:solidFill>
                <a:latin typeface="Calibri"/>
                <a:ea typeface="Calibri"/>
                <a:cs typeface="Calibri"/>
              </a:rPr>
              <a:t>B4  </a:t>
            </a:r>
            <a:r>
              <a:rPr lang="en-US" sz="1500" b="0" dirty="0">
                <a:solidFill>
                  <a:srgbClr val="EEF3F7"/>
                </a:solidFill>
                <a:latin typeface="Calibri"/>
                <a:ea typeface="Calibri"/>
                <a:cs typeface="Calibri"/>
              </a:rPr>
              <a:t>The Diebold–Mariano test in Chapters 2 and 3 — why the signs differ</a:t>
            </a:r>
          </a:p>
          <a:p>
            <a:pPr marL="0" indent="0" algn="l">
              <a:spcAft>
                <a:spcPts val="1000"/>
              </a:spcAft>
              <a:buNone/>
            </a:pPr>
            <a:r>
              <a:rPr lang="en-US" sz="1500" b="1" dirty="0">
                <a:solidFill>
                  <a:srgbClr val="E8A33D"/>
                </a:solidFill>
                <a:latin typeface="Calibri"/>
                <a:ea typeface="Calibri"/>
                <a:cs typeface="Calibri"/>
              </a:rPr>
              <a:t>B5  </a:t>
            </a:r>
            <a:r>
              <a:rPr lang="en-US" sz="1500" b="0" dirty="0">
                <a:solidFill>
                  <a:srgbClr val="EEF3F7"/>
                </a:solidFill>
                <a:latin typeface="Calibri"/>
                <a:ea typeface="Calibri"/>
                <a:cs typeface="Calibri"/>
              </a:rPr>
              <a:t>Height correction: sensitivity to the profile exponent α</a:t>
            </a:r>
          </a:p>
          <a:p>
            <a:pPr marL="0" indent="0" algn="l">
              <a:spcAft>
                <a:spcPts val="1000"/>
              </a:spcAft>
              <a:buNone/>
            </a:pPr>
            <a:r>
              <a:rPr lang="en-US" sz="1500" b="1" dirty="0">
                <a:solidFill>
                  <a:srgbClr val="E8A33D"/>
                </a:solidFill>
                <a:latin typeface="Calibri"/>
                <a:ea typeface="Calibri"/>
                <a:cs typeface="Calibri"/>
              </a:rPr>
              <a:t>B6  </a:t>
            </a:r>
            <a:r>
              <a:rPr lang="en-US" sz="1500" b="0" dirty="0">
                <a:solidFill>
                  <a:srgbClr val="EEF3F7"/>
                </a:solidFill>
                <a:latin typeface="Calibri"/>
                <a:ea typeface="Calibri"/>
                <a:cs typeface="Calibri"/>
              </a:rPr>
              <a:t>Model estimates at a glance — AR(4), GARCH(1,1), CAR(4), NIG</a:t>
            </a:r>
          </a:p>
          <a:p>
            <a:pPr marL="0" indent="0" algn="l">
              <a:spcAft>
                <a:spcPts val="1000"/>
              </a:spcAft>
              <a:buNone/>
            </a:pPr>
            <a:r>
              <a:rPr lang="en-US" sz="1500" b="1" dirty="0">
                <a:solidFill>
                  <a:srgbClr val="E8A33D"/>
                </a:solidFill>
                <a:latin typeface="Calibri"/>
                <a:ea typeface="Calibri"/>
                <a:cs typeface="Calibri"/>
              </a:rPr>
              <a:t>B7  </a:t>
            </a:r>
            <a:r>
              <a:rPr lang="en-US" sz="1500" b="0" dirty="0">
                <a:solidFill>
                  <a:srgbClr val="EEF3F7"/>
                </a:solidFill>
                <a:latin typeface="Calibri"/>
                <a:ea typeface="Calibri"/>
                <a:cs typeface="Calibri"/>
              </a:rPr>
              <a:t>Value of Information on a common scale — strike ratios and reconciliation</a:t>
            </a:r>
          </a:p>
          <a:p>
            <a:pPr marL="0" indent="0" algn="l">
              <a:spcAft>
                <a:spcPts val="1000"/>
              </a:spcAft>
              <a:buNone/>
            </a:pPr>
            <a:r>
              <a:rPr lang="en-US" sz="1500" b="1" dirty="0">
                <a:solidFill>
                  <a:srgbClr val="E8A33D"/>
                </a:solidFill>
                <a:latin typeface="Calibri"/>
                <a:ea typeface="Calibri"/>
                <a:cs typeface="Calibri"/>
              </a:rPr>
              <a:t>B8  </a:t>
            </a:r>
            <a:r>
              <a:rPr lang="en-US" sz="1500" b="0" dirty="0">
                <a:solidFill>
                  <a:srgbClr val="EEF3F7"/>
                </a:solidFill>
                <a:latin typeface="Calibri"/>
                <a:ea typeface="Calibri"/>
                <a:cs typeface="Calibri"/>
              </a:rPr>
              <a:t>CAWS tail statistics on both datasets — calmest, windiest year, CVaR</a:t>
            </a:r>
          </a:p>
          <a:p>
            <a:pPr marL="0" indent="0" algn="l">
              <a:spcAft>
                <a:spcPts val="1000"/>
              </a:spcAft>
              <a:buNone/>
            </a:pPr>
            <a:r>
              <a:rPr lang="en-US" sz="1500" b="1" dirty="0">
                <a:solidFill>
                  <a:srgbClr val="E8A33D"/>
                </a:solidFill>
                <a:latin typeface="Calibri"/>
                <a:ea typeface="Calibri"/>
                <a:cs typeface="Calibri"/>
              </a:rPr>
              <a:t>B9  </a:t>
            </a:r>
            <a:r>
              <a:rPr lang="en-US" sz="1500" b="0" dirty="0">
                <a:solidFill>
                  <a:srgbClr val="EEF3F7"/>
                </a:solidFill>
                <a:latin typeface="Calibri"/>
                <a:ea typeface="Calibri"/>
                <a:cs typeface="Calibri"/>
              </a:rPr>
              <a:t>Back-test of the market strike, year by year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7">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a:ea typeface="Calibri"/>
                <a:cs typeface="Calibri"/>
              </a:rPr>
              <a:t>BACKUP B1 · CH. 2 §2.5.3 — FELLER CONDITION</a:t>
            </a:r>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The Feller condition depends on which estimator you trust</a:t>
            </a:r>
            <a:endParaRPr lang="en-US" sz="2700" dirty="0"/>
          </a:p>
        </p:txBody>
      </p:sp>
      <p:sp>
        <p:nvSpPr>
          <p:cNvPr id="4" name="Shape 2"/>
          <p:cNvSpPr/>
          <p:nvPr/>
        </p:nvSpPr>
        <p:spPr>
          <a:xfrm>
            <a:off x="548640" y="1828800"/>
            <a:ext cx="5394960" cy="4206240"/>
          </a:xfrm>
          <a:prstGeom prst="roundRect">
            <a:avLst>
              <a:gd name="adj" fmla="val 1957"/>
            </a:avLst>
          </a:prstGeom>
          <a:solidFill>
            <a:srgbClr val="F7FAFC"/>
          </a:solidFill>
          <a:ln/>
          <a:effectLst>
            <a:outerShdw blurRad="88900" dist="25400" dir="5400000" algn="bl" rotWithShape="0">
              <a:srgbClr val="1C1C1C">
                <a:alpha val="16000"/>
              </a:srgbClr>
            </a:outerShdw>
          </a:effectLst>
        </p:spPr>
        <p:txBody>
          <a:bodyPr/>
          <a:lstStyle/>
          <a:p>
            <a:endParaRPr/>
          </a:p>
        </p:txBody>
      </p:sp>
      <p:sp>
        <p:nvSpPr>
          <p:cNvPr id="5" name="Text 3"/>
          <p:cNvSpPr/>
          <p:nvPr/>
        </p:nvSpPr>
        <p:spPr>
          <a:xfrm>
            <a:off x="868680" y="2057400"/>
            <a:ext cx="4846320" cy="320040"/>
          </a:xfrm>
          <a:prstGeom prst="rect">
            <a:avLst/>
          </a:prstGeom>
          <a:noFill/>
          <a:ln/>
        </p:spPr>
        <p:txBody>
          <a:bodyPr wrap="square" lIns="0" tIns="0" rIns="0" bIns="0"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DATASET B — REFERENCE</a:t>
            </a:r>
            <a:endParaRPr lang="en-US" sz="1200" dirty="0"/>
          </a:p>
        </p:txBody>
      </p:sp>
      <p:sp>
        <p:nvSpPr>
          <p:cNvPr id="6" name="Text 4"/>
          <p:cNvSpPr/>
          <p:nvPr/>
        </p:nvSpPr>
        <p:spPr>
          <a:xfrm>
            <a:off x="868680" y="2395728"/>
            <a:ext cx="4846320" cy="50292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Holds, robustly</a:t>
            </a:r>
            <a:endParaRPr lang="en-US" sz="2400" dirty="0"/>
          </a:p>
        </p:txBody>
      </p:sp>
      <p:sp>
        <p:nvSpPr>
          <p:cNvPr id="7" name="Text 5"/>
          <p:cNvSpPr/>
          <p:nvPr/>
        </p:nvSpPr>
        <p:spPr>
          <a:xfrm>
            <a:off x="868680" y="2971800"/>
            <a:ext cx="4846320" cy="822960"/>
          </a:xfrm>
          <a:prstGeom prst="rect">
            <a:avLst/>
          </a:prstGeom>
          <a:noFill/>
          <a:ln/>
        </p:spPr>
        <p:txBody>
          <a:bodyPr wrap="square" lIns="0" tIns="0" rIns="0" bIns="0" rtlCol="0" anchor="ctr"/>
          <a:lstStyle/>
          <a:p>
            <a:pPr marL="0" indent="0">
              <a:lnSpc>
                <a:spcPct val="120000"/>
              </a:lnSpc>
              <a:buNone/>
            </a:pPr>
            <a:r>
              <a:rPr lang="en-US" sz="1300" dirty="0">
                <a:solidFill>
                  <a:srgbClr val="56606B"/>
                </a:solidFill>
                <a:latin typeface="Calibri" pitchFamily="34" charset="0"/>
                <a:ea typeface="Calibri" pitchFamily="34" charset="-122"/>
                <a:cs typeface="Calibri" pitchFamily="34" charset="-120"/>
              </a:rPr>
              <a:t>2κᵥv̄ = 0.0270 vs ξ² = 0.000959 → margin 28.1×, on every estimator considered.</a:t>
            </a:r>
            <a:endParaRPr lang="en-US" sz="1300" dirty="0"/>
          </a:p>
        </p:txBody>
      </p:sp>
      <p:sp>
        <p:nvSpPr>
          <p:cNvPr id="8" name="Shape 6"/>
          <p:cNvSpPr/>
          <p:nvPr/>
        </p:nvSpPr>
        <p:spPr>
          <a:xfrm>
            <a:off x="6263640" y="1828800"/>
            <a:ext cx="5394960" cy="4206240"/>
          </a:xfrm>
          <a:prstGeom prst="roundRect">
            <a:avLst>
              <a:gd name="adj" fmla="val 1957"/>
            </a:avLst>
          </a:prstGeom>
          <a:solidFill>
            <a:srgbClr val="EEF3F7"/>
          </a:solidFill>
          <a:ln/>
        </p:spPr>
        <p:txBody>
          <a:bodyPr/>
          <a:lstStyle/>
          <a:p>
            <a:endParaRPr/>
          </a:p>
        </p:txBody>
      </p:sp>
      <p:sp>
        <p:nvSpPr>
          <p:cNvPr id="9" name="Text 7"/>
          <p:cNvSpPr/>
          <p:nvPr/>
        </p:nvSpPr>
        <p:spPr>
          <a:xfrm>
            <a:off x="6583680" y="2057400"/>
            <a:ext cx="4846320" cy="320040"/>
          </a:xfrm>
          <a:prstGeom prst="rect">
            <a:avLst/>
          </a:prstGeom>
          <a:noFill/>
          <a:ln/>
        </p:spPr>
        <p:txBody>
          <a:bodyPr wrap="square" lIns="0" tIns="0" rIns="0" bIns="0" rtlCol="0" anchor="ctr"/>
          <a:lstStyle/>
          <a:p>
            <a:pPr marL="0" indent="0">
              <a:buNone/>
            </a:pPr>
            <a:r>
              <a:rPr lang="en-US" sz="1200" b="1" kern="0" spc="100" dirty="0">
                <a:solidFill>
                  <a:srgbClr val="C8791A"/>
                </a:solidFill>
                <a:latin typeface="Calibri" pitchFamily="34" charset="0"/>
                <a:ea typeface="Calibri" pitchFamily="34" charset="-122"/>
                <a:cs typeface="Calibri" pitchFamily="34" charset="-120"/>
              </a:rPr>
              <a:t>DATASET A — PROXY</a:t>
            </a:r>
            <a:endParaRPr lang="en-US" sz="1200" dirty="0"/>
          </a:p>
        </p:txBody>
      </p:sp>
      <p:sp>
        <p:nvSpPr>
          <p:cNvPr id="10" name="Text 8"/>
          <p:cNvSpPr/>
          <p:nvPr/>
        </p:nvSpPr>
        <p:spPr>
          <a:xfrm>
            <a:off x="6583680" y="2395728"/>
            <a:ext cx="4846320" cy="50292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Estimator-dependent</a:t>
            </a:r>
            <a:endParaRPr lang="en-US" sz="2400" dirty="0"/>
          </a:p>
        </p:txBody>
      </p:sp>
      <p:sp>
        <p:nvSpPr>
          <p:cNvPr id="11" name="Text 9"/>
          <p:cNvSpPr/>
          <p:nvPr/>
        </p:nvSpPr>
        <p:spPr>
          <a:xfrm>
            <a:off x="6583680" y="2971800"/>
            <a:ext cx="4846320" cy="1463040"/>
          </a:xfrm>
          <a:prstGeom prst="rect">
            <a:avLst/>
          </a:prstGeom>
          <a:noFill/>
          <a:ln/>
        </p:spPr>
        <p:txBody>
          <a:bodyPr wrap="square" lIns="0" tIns="0" rIns="0" bIns="0" rtlCol="0" anchor="ctr"/>
          <a:lstStyle/>
          <a:p>
            <a:pPr marL="0" indent="0">
              <a:lnSpc>
                <a:spcPct val="120000"/>
              </a:lnSpc>
              <a:buNone/>
            </a:pPr>
            <a:r>
              <a:rPr lang="en-US" sz="1300" dirty="0">
                <a:solidFill>
                  <a:srgbClr val="56606B"/>
                </a:solidFill>
                <a:latin typeface="Calibri" pitchFamily="34" charset="0"/>
                <a:ea typeface="Calibri" pitchFamily="34" charset="-122"/>
                <a:cs typeface="Calibri" pitchFamily="34" charset="-120"/>
              </a:rPr>
              <a:t>Full-sample estimator (same one used for B): margin </a:t>
            </a:r>
            <a:r>
              <a:rPr lang="en-US" sz="1300" b="1" dirty="0">
                <a:solidFill>
                  <a:srgbClr val="C8791A"/>
                </a:solidFill>
                <a:latin typeface="Calibri" pitchFamily="34" charset="0"/>
                <a:ea typeface="Calibri" pitchFamily="34" charset="-122"/>
                <a:cs typeface="Calibri" pitchFamily="34" charset="-120"/>
              </a:rPr>
              <a:t>0.8× — violated.</a:t>
            </a:r>
            <a:endParaRPr lang="en-US" sz="1300" dirty="0"/>
          </a:p>
          <a:p>
            <a:pPr marL="0" indent="0">
              <a:lnSpc>
                <a:spcPct val="120000"/>
              </a:lnSpc>
              <a:buNone/>
            </a:pPr>
            <a:r>
              <a:rPr lang="en-US" sz="1300" dirty="0">
                <a:solidFill>
                  <a:srgbClr val="56606B"/>
                </a:solidFill>
                <a:latin typeface="Calibri" pitchFamily="34" charset="0"/>
                <a:ea typeface="Calibri" pitchFamily="34" charset="-122"/>
                <a:cs typeface="Calibri" pitchFamily="34" charset="-120"/>
              </a:rPr>
              <a:t>30-day rolling estimators: margins ≈5.1× and 3.6× — holds, but on a different estimator than B's.</a:t>
            </a:r>
            <a:endParaRPr lang="en-US" sz="1300" dirty="0"/>
          </a:p>
        </p:txBody>
      </p:sp>
      <p:sp>
        <p:nvSpPr>
          <p:cNvPr id="12" name="Shape 10"/>
          <p:cNvSpPr/>
          <p:nvPr/>
        </p:nvSpPr>
        <p:spPr>
          <a:xfrm>
            <a:off x="548640" y="5166360"/>
            <a:ext cx="11109960" cy="914400"/>
          </a:xfrm>
          <a:prstGeom prst="roundRect">
            <a:avLst>
              <a:gd name="adj" fmla="val 9000"/>
            </a:avLst>
          </a:prstGeom>
          <a:solidFill>
            <a:srgbClr val="21295C"/>
          </a:solidFill>
          <a:ln/>
          <a:effectLst>
            <a:outerShdw blurRad="88900" dist="25400" dir="5400000" algn="bl" rotWithShape="0">
              <a:srgbClr val="1C1C1C">
                <a:alpha val="16000"/>
              </a:srgbClr>
            </a:outerShdw>
          </a:effectLst>
        </p:spPr>
        <p:txBody>
          <a:bodyPr/>
          <a:lstStyle/>
          <a:p>
            <a:endParaRPr/>
          </a:p>
        </p:txBody>
      </p:sp>
      <p:sp>
        <p:nvSpPr>
          <p:cNvPr id="13" name="Text 11"/>
          <p:cNvSpPr/>
          <p:nvPr/>
        </p:nvSpPr>
        <p:spPr>
          <a:xfrm>
            <a:off x="822960" y="5321808"/>
            <a:ext cx="10515600" cy="640080"/>
          </a:xfrm>
          <a:prstGeom prst="rect">
            <a:avLst/>
          </a:prstGeom>
          <a:noFill/>
          <a:ln/>
        </p:spPr>
        <p:txBody>
          <a:bodyPr wrap="square" lIns="0" tIns="0" rIns="0" bIns="0" rtlCol="0" anchor="ctr"/>
          <a:lstStyle/>
          <a:p>
            <a:pPr marL="0" indent="0" algn="l">
              <a:lnSpc>
                <a:spcPct val="118000"/>
              </a:lnSpc>
              <a:buNone/>
            </a:pPr>
            <a:r>
              <a:rPr lang="en-US" sz="1250" b="1" dirty="0">
                <a:solidFill>
                  <a:srgbClr val="E8A33D"/>
                </a:solidFill>
                <a:latin typeface="Calibri" pitchFamily="34" charset="0"/>
                <a:ea typeface="Calibri" pitchFamily="34" charset="-122"/>
                <a:cs typeface="Calibri" pitchFamily="34" charset="-120"/>
              </a:rPr>
              <a:t>The finding is the sensitivity itself: </a:t>
            </a:r>
            <a:r>
              <a:rPr lang="en-US" sz="1250" dirty="0">
                <a:solidFill>
                  <a:srgbClr val="EEF3F7"/>
                </a:solidFill>
                <a:latin typeface="Calibri" pitchFamily="34" charset="0"/>
                <a:ea typeface="Calibri" pitchFamily="34" charset="-122"/>
                <a:cs typeface="Calibri" pitchFamily="34" charset="-120"/>
              </a:rPr>
              <a:t>ξ (vol-of-vol) is the least identified of the four CIR parameters at daily frequency — it also reverses an earlier project anchor of 27.9×, which is not reproducible under any estimator tested.</a:t>
            </a:r>
            <a:endParaRPr lang="en-US" sz="1250" dirty="0"/>
          </a:p>
        </p:txBody>
      </p:sp>
      <p:sp>
        <p:nvSpPr>
          <p:cNvPr id="14" name="Text 12"/>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5" name="Text 13"/>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0" tIns="0" rIns="0" bIns="0" anchor="ctr">
            <a:spAutoFit/>
          </a:bodyPr>
          <a:lstStyle/>
          <a:p>
            <a:pPr marL="0" indent="0" algn="l">
              <a:buNone/>
            </a:pPr>
            <a:r>
              <a:rPr lang="en-US" sz="1250" b="1" kern="0" spc="200" dirty="0">
                <a:solidFill>
                  <a:srgbClr val="1C7293"/>
                </a:solidFill>
                <a:latin typeface="Calibri"/>
                <a:ea typeface="Calibri"/>
                <a:cs typeface="Calibri"/>
              </a:rPr>
              <a:t>BACKUP B2 · CH. 3 §3.1.5 — THE FOUR CONVENTIONS</a:t>
            </a:r>
          </a:p>
        </p:txBody>
      </p:sp>
      <p:sp>
        <p:nvSpPr>
          <p:cNvPr id="3" name="TextBox 2"/>
          <p:cNvSpPr txBox="1"/>
          <p:nvPr/>
        </p:nvSpPr>
        <p:spPr>
          <a:xfrm>
            <a:off x="548640" y="658368"/>
            <a:ext cx="11109960" cy="868680"/>
          </a:xfrm>
          <a:prstGeom prst="rect">
            <a:avLst/>
          </a:prstGeom>
          <a:noFill/>
        </p:spPr>
        <p:txBody>
          <a:bodyPr wrap="square" lIns="0" tIns="0" rIns="0" bIns="0" anchor="ctr">
            <a:spAutoFit/>
          </a:bodyPr>
          <a:lstStyle/>
          <a:p>
            <a:pPr marL="0" indent="0" algn="l">
              <a:buNone/>
            </a:pPr>
            <a:r>
              <a:rPr lang="en-US" sz="2700" b="1" dirty="0">
                <a:solidFill>
                  <a:srgbClr val="21295C"/>
                </a:solidFill>
                <a:latin typeface="Cambria"/>
                <a:ea typeface="Cambria"/>
                <a:cs typeface="Cambria"/>
              </a:rPr>
              <a:t>Reconciling Track B into Track A units, step by step</a:t>
            </a:r>
          </a:p>
        </p:txBody>
      </p:sp>
      <p:graphicFrame>
        <p:nvGraphicFramePr>
          <p:cNvPr id="4" name="Table 3"/>
          <p:cNvGraphicFramePr>
            <a:graphicFrameLocks noGrp="1"/>
          </p:cNvGraphicFramePr>
          <p:nvPr/>
        </p:nvGraphicFramePr>
        <p:xfrm>
          <a:off x="548640" y="1737360"/>
          <a:ext cx="11109959" cy="3456432"/>
        </p:xfrm>
        <a:graphic>
          <a:graphicData uri="http://schemas.openxmlformats.org/drawingml/2006/table">
            <a:tbl>
              <a:tblPr/>
              <a:tblGrid>
                <a:gridCol w="3977639">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384048">
                <a:tc>
                  <a:txBody>
                    <a:bodyPr/>
                    <a:lstStyle/>
                    <a:p>
                      <a:pPr marL="0" indent="0" algn="l">
                        <a:buNone/>
                      </a:pPr>
                      <a:r>
                        <a:rPr lang="en-US" sz="1200" b="1" dirty="0">
                          <a:solidFill>
                            <a:srgbClr val="FFFFFF"/>
                          </a:solidFill>
                          <a:latin typeface="Calibri"/>
                          <a:ea typeface="Calibri"/>
                          <a:cs typeface="Calibri"/>
                        </a:rPr>
                        <a:t>Factor</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00" b="1" dirty="0">
                          <a:solidFill>
                            <a:srgbClr val="FFFFFF"/>
                          </a:solidFill>
                          <a:latin typeface="Calibri"/>
                          <a:ea typeface="Calibri"/>
                          <a:cs typeface="Calibri"/>
                        </a:rPr>
                        <a:t>Formula</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00" b="1" dirty="0">
                          <a:solidFill>
                            <a:srgbClr val="FFFFFF"/>
                          </a:solidFill>
                          <a:latin typeface="Calibri"/>
                          <a:ea typeface="Calibri"/>
                          <a:cs typeface="Calibri"/>
                        </a:rPr>
                        <a:t>Dataset A</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00" b="1" dirty="0">
                          <a:solidFill>
                            <a:srgbClr val="FFFFFF"/>
                          </a:solidFill>
                          <a:latin typeface="Calibri"/>
                          <a:ea typeface="Calibri"/>
                          <a:cs typeface="Calibri"/>
                        </a:rPr>
                        <a:t>Dataset B</a:t>
                      </a:r>
                    </a:p>
                  </a:txBody>
                  <a:tcPr marT="36576" marB="36576" anchor="ctr">
                    <a:lnL w="0">
                      <a:noFill/>
                    </a:lnL>
                    <a:lnR w="0">
                      <a:noFill/>
                    </a:lnR>
                    <a:lnT w="0">
                      <a:noFill/>
                    </a:lnT>
                    <a:lnB w="0">
                      <a:noFill/>
                    </a:lnB>
                    <a:solidFill>
                      <a:srgbClr val="21295C"/>
                    </a:solidFill>
                  </a:tcPr>
                </a:tc>
                <a:extLst>
                  <a:ext uri="{0D108BD9-81ED-4DB2-BD59-A6C34878D82A}">
                    <a16:rowId xmlns:a16="http://schemas.microsoft.com/office/drawing/2014/main" val="10000"/>
                  </a:ext>
                </a:extLst>
              </a:tr>
              <a:tr h="384048">
                <a:tc>
                  <a:txBody>
                    <a:bodyPr/>
                    <a:lstStyle/>
                    <a:p>
                      <a:pPr marL="0" indent="0" algn="l">
                        <a:buNone/>
                      </a:pPr>
                      <a:r>
                        <a:rPr lang="en-US" sz="1200" b="1" dirty="0">
                          <a:solidFill>
                            <a:srgbClr val="21295C"/>
                          </a:solidFill>
                          <a:latin typeface="Calibri"/>
                          <a:ea typeface="Calibri"/>
                          <a:cs typeface="Calibri"/>
                        </a:rPr>
                        <a:t>K_var = h(t₀) × C₀ (as recorded)</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0.05435</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0.87336</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200" b="1" dirty="0">
                          <a:solidFill>
                            <a:srgbClr val="21295C"/>
                          </a:solidFill>
                          <a:latin typeface="Calibri"/>
                          <a:ea typeface="Calibri"/>
                          <a:cs typeface="Calibri"/>
                        </a:rPr>
                        <a:t>× Box–Cox scale</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W̄^(2(1−λ))</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5.088</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8.068</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2"/>
                  </a:ext>
                </a:extLst>
              </a:tr>
              <a:tr h="384048">
                <a:tc>
                  <a:txBody>
                    <a:bodyPr/>
                    <a:lstStyle/>
                    <a:p>
                      <a:pPr marL="0" indent="0" algn="l">
                        <a:buNone/>
                      </a:pPr>
                      <a:r>
                        <a:rPr lang="en-US" sz="1200" b="1" dirty="0">
                          <a:solidFill>
                            <a:srgbClr val="21295C"/>
                          </a:solidFill>
                          <a:latin typeface="Calibri"/>
                          <a:ea typeface="Calibri"/>
                          <a:cs typeface="Calibri"/>
                        </a:rPr>
                        <a:t>× innovation → first difference</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(RMSE pers. / RMSE AR(4))²</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1.292</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1.339</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200" b="1" dirty="0">
                          <a:solidFill>
                            <a:srgbClr val="21295C"/>
                          </a:solidFill>
                          <a:latin typeface="Calibri"/>
                          <a:ea typeface="Calibri"/>
                          <a:cs typeface="Calibri"/>
                        </a:rPr>
                        <a:t>× power curve</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9 / W̄²</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1.4764</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0.13826</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4"/>
                  </a:ext>
                </a:extLst>
              </a:tr>
              <a:tr h="384048">
                <a:tc>
                  <a:txBody>
                    <a:bodyPr/>
                    <a:lstStyle/>
                    <a:p>
                      <a:pPr marL="0" indent="0" algn="l">
                        <a:buNone/>
                      </a:pPr>
                      <a:r>
                        <a:rPr lang="en-US" sz="1200" b="1" dirty="0">
                          <a:solidFill>
                            <a:srgbClr val="21295C"/>
                          </a:solidFill>
                          <a:latin typeface="Calibri"/>
                          <a:ea typeface="Calibri"/>
                          <a:cs typeface="Calibri"/>
                        </a:rPr>
                        <a:t>× annualisation</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252</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252</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252</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200" b="1" dirty="0">
                          <a:solidFill>
                            <a:srgbClr val="21295C"/>
                          </a:solidFill>
                          <a:latin typeface="Calibri"/>
                          <a:ea typeface="Calibri"/>
                          <a:cs typeface="Calibri"/>
                        </a:rPr>
                        <a:t>Reconciled model strike (Track A units)</a:t>
                      </a:r>
                    </a:p>
                  </a:txBody>
                  <a:tcPr marT="36576" marB="36576" anchor="ctr">
                    <a:lnL w="0">
                      <a:noFill/>
                    </a:lnL>
                    <a:lnR w="0">
                      <a:noFill/>
                    </a:lnR>
                    <a:lnT w="0">
                      <a:noFill/>
                    </a:lnT>
                    <a:lnB w="0">
                      <a:noFill/>
                    </a:lnB>
                    <a:solidFill>
                      <a:srgbClr val="FBF1E4"/>
                    </a:solidFill>
                  </a:tcPr>
                </a:tc>
                <a:tc>
                  <a:txBody>
                    <a:bodyPr/>
                    <a:lstStyle/>
                    <a:p>
                      <a:pPr marL="0" indent="0" algn="ctr">
                        <a:buNone/>
                      </a:pPr>
                      <a:endParaRPr/>
                    </a:p>
                  </a:txBody>
                  <a:tcPr marT="36576" marB="36576" anchor="ctr">
                    <a:lnL w="0">
                      <a:noFill/>
                    </a:lnL>
                    <a:lnR w="0">
                      <a:noFill/>
                    </a:lnR>
                    <a:lnT w="0">
                      <a:noFill/>
                    </a:lnT>
                    <a:lnB w="0">
                      <a:noFill/>
                    </a:lnB>
                    <a:solidFill>
                      <a:srgbClr val="FBF1E4"/>
                    </a:solidFill>
                  </a:tcPr>
                </a:tc>
                <a:tc>
                  <a:txBody>
                    <a:bodyPr/>
                    <a:lstStyle/>
                    <a:p>
                      <a:pPr marL="0" indent="0" algn="ctr">
                        <a:buNone/>
                      </a:pPr>
                      <a:r>
                        <a:rPr lang="en-US" sz="1200" b="1" dirty="0">
                          <a:solidFill>
                            <a:srgbClr val="21295C"/>
                          </a:solidFill>
                          <a:latin typeface="Calibri"/>
                          <a:ea typeface="Calibri"/>
                          <a:cs typeface="Calibri"/>
                        </a:rPr>
                        <a:t>132.9</a:t>
                      </a:r>
                    </a:p>
                  </a:txBody>
                  <a:tcPr marT="36576" marB="36576" anchor="ctr">
                    <a:lnL w="0">
                      <a:noFill/>
                    </a:lnL>
                    <a:lnR w="0">
                      <a:noFill/>
                    </a:lnR>
                    <a:lnT w="0">
                      <a:noFill/>
                    </a:lnT>
                    <a:lnB w="0">
                      <a:noFill/>
                    </a:lnB>
                    <a:solidFill>
                      <a:srgbClr val="FBF1E4"/>
                    </a:solidFill>
                  </a:tcPr>
                </a:tc>
                <a:tc>
                  <a:txBody>
                    <a:bodyPr/>
                    <a:lstStyle/>
                    <a:p>
                      <a:pPr marL="0" indent="0" algn="ctr">
                        <a:buNone/>
                      </a:pPr>
                      <a:r>
                        <a:rPr lang="en-US" sz="1200" b="1" dirty="0">
                          <a:solidFill>
                            <a:srgbClr val="21295C"/>
                          </a:solidFill>
                          <a:latin typeface="Calibri"/>
                          <a:ea typeface="Calibri"/>
                          <a:cs typeface="Calibri"/>
                        </a:rPr>
                        <a:t>328.8</a:t>
                      </a:r>
                    </a:p>
                  </a:txBody>
                  <a:tcPr marT="36576" marB="36576" anchor="ctr">
                    <a:lnL w="0">
                      <a:noFill/>
                    </a:lnL>
                    <a:lnR w="0">
                      <a:noFill/>
                    </a:lnR>
                    <a:lnT w="0">
                      <a:noFill/>
                    </a:lnT>
                    <a:lnB w="0">
                      <a:noFill/>
                    </a:lnB>
                    <a:solidFill>
                      <a:srgbClr val="FBF1E4"/>
                    </a:solidFill>
                  </a:tcPr>
                </a:tc>
                <a:extLst>
                  <a:ext uri="{0D108BD9-81ED-4DB2-BD59-A6C34878D82A}">
                    <a16:rowId xmlns:a16="http://schemas.microsoft.com/office/drawing/2014/main" val="10006"/>
                  </a:ext>
                </a:extLst>
              </a:tr>
              <a:tr h="384048">
                <a:tc>
                  <a:txBody>
                    <a:bodyPr/>
                    <a:lstStyle/>
                    <a:p>
                      <a:pPr marL="0" indent="0" algn="l">
                        <a:buNone/>
                      </a:pPr>
                      <a:r>
                        <a:rPr lang="en-US" sz="1200" b="1" dirty="0">
                          <a:solidFill>
                            <a:srgbClr val="21295C"/>
                          </a:solidFill>
                          <a:latin typeface="Calibri"/>
                          <a:ea typeface="Calibri"/>
                          <a:cs typeface="Calibri"/>
                        </a:rPr>
                        <a:t>Track A strike, same sample</a:t>
                      </a:r>
                    </a:p>
                  </a:txBody>
                  <a:tcPr marT="36576" marB="36576" anchor="ctr">
                    <a:lnL w="0">
                      <a:noFill/>
                    </a:lnL>
                    <a:lnR w="0">
                      <a:noFill/>
                    </a:lnR>
                    <a:lnT w="0">
                      <a:noFill/>
                    </a:lnT>
                    <a:lnB w="0">
                      <a:noFill/>
                    </a:lnB>
                    <a:solidFill>
                      <a:srgbClr val="FFFFFF"/>
                    </a:solidFill>
                  </a:tcPr>
                </a:tc>
                <a:tc>
                  <a:txBody>
                    <a:bodyPr/>
                    <a:lstStyle/>
                    <a:p>
                      <a:pPr marL="0" indent="0" algn="ctr">
                        <a:buNone/>
                      </a:pPr>
                      <a:endParaRP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113.999</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113.145</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7"/>
                  </a:ext>
                </a:extLst>
              </a:tr>
              <a:tr h="384048">
                <a:tc>
                  <a:txBody>
                    <a:bodyPr/>
                    <a:lstStyle/>
                    <a:p>
                      <a:pPr marL="0" indent="0" algn="l">
                        <a:buNone/>
                      </a:pPr>
                      <a:r>
                        <a:rPr lang="en-US" sz="1200" b="1" dirty="0">
                          <a:solidFill>
                            <a:srgbClr val="21295C"/>
                          </a:solidFill>
                          <a:latin typeface="Calibri"/>
                          <a:ea typeface="Calibri"/>
                          <a:cs typeface="Calibri"/>
                        </a:rPr>
                        <a:t>Ratio model / market  (at h = 1)</a:t>
                      </a:r>
                    </a:p>
                  </a:txBody>
                  <a:tcPr marT="36576" marB="36576" anchor="ctr">
                    <a:lnL w="0">
                      <a:noFill/>
                    </a:lnL>
                    <a:lnR w="0">
                      <a:noFill/>
                    </a:lnR>
                    <a:lnT w="0">
                      <a:noFill/>
                    </a:lnT>
                    <a:lnB w="0">
                      <a:noFill/>
                    </a:lnB>
                    <a:solidFill>
                      <a:srgbClr val="EEF3F7"/>
                    </a:solidFill>
                  </a:tcPr>
                </a:tc>
                <a:tc>
                  <a:txBody>
                    <a:bodyPr/>
                    <a:lstStyle/>
                    <a:p>
                      <a:pPr marL="0" indent="0" algn="ctr">
                        <a:buNone/>
                      </a:pPr>
                      <a:endParaRP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1.17  (2.82)</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2.91  (3.87)</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8"/>
                  </a:ext>
                </a:extLst>
              </a:tr>
            </a:tbl>
          </a:graphicData>
        </a:graphic>
      </p:graphicFrame>
      <p:sp>
        <p:nvSpPr>
          <p:cNvPr id="5" name="Rounded Rectangle 4"/>
          <p:cNvSpPr/>
          <p:nvPr/>
        </p:nvSpPr>
        <p:spPr>
          <a:xfrm>
            <a:off x="548640" y="5349240"/>
            <a:ext cx="11109960" cy="914400"/>
          </a:xfrm>
          <a:prstGeom prst="roundRect">
            <a:avLst>
              <a:gd name="adj" fmla="val 3599"/>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22960" y="5413248"/>
            <a:ext cx="10561320" cy="786384"/>
          </a:xfrm>
          <a:prstGeom prst="rect">
            <a:avLst/>
          </a:prstGeom>
          <a:noFill/>
        </p:spPr>
        <p:txBody>
          <a:bodyPr wrap="square" lIns="0" tIns="0" rIns="0" bIns="0" anchor="ctr">
            <a:spAutoFit/>
          </a:bodyPr>
          <a:lstStyle/>
          <a:p>
            <a:pPr marL="0" indent="0" algn="l">
              <a:lnSpc>
                <a:spcPct val="108000"/>
              </a:lnSpc>
              <a:buNone/>
            </a:pPr>
            <a:r>
              <a:rPr lang="en-US" sz="1200" b="1" dirty="0">
                <a:solidFill>
                  <a:srgbClr val="21295C"/>
                </a:solidFill>
                <a:latin typeface="Calibri"/>
                <a:ea typeface="Calibri"/>
                <a:cs typeface="Calibri"/>
              </a:rPr>
              <a:t>Arithmetic reconciliation, not a frozen phase output. </a:t>
            </a:r>
            <a:r>
              <a:rPr lang="en-US" sz="1200" b="0" dirty="0">
                <a:solidFill>
                  <a:srgbClr val="56606B"/>
                </a:solidFill>
                <a:latin typeface="Calibri"/>
                <a:ea typeface="Calibri"/>
                <a:cs typeface="Calibri"/>
              </a:rPr>
              <a:t>Each step is a first-order delta-method approximation at the sample mean, so the figures are order-of-magnitude statements. Both models overstate the market — the expected effect of calibrating on one grid point against a spatially averaged national fleet.</a:t>
            </a:r>
          </a:p>
        </p:txBody>
      </p:sp>
      <p:sp>
        <p:nvSpPr>
          <p:cNvPr id="7" name="TextBox 6"/>
          <p:cNvSpPr txBox="1"/>
          <p:nvPr/>
        </p:nvSpPr>
        <p:spPr>
          <a:xfrm>
            <a:off x="548640" y="6510528"/>
            <a:ext cx="8229600" cy="256032"/>
          </a:xfrm>
          <a:prstGeom prst="rect">
            <a:avLst/>
          </a:prstGeom>
          <a:noFill/>
        </p:spPr>
        <p:txBody>
          <a:bodyPr wrap="square" lIns="0" tIns="0" rIns="0" bIns="0" anchor="ctr">
            <a:spAutoFit/>
          </a:bodyPr>
          <a:lstStyle/>
          <a:p>
            <a:pPr marL="0" indent="0" algn="l">
              <a:buNone/>
            </a:pPr>
            <a:r>
              <a:rPr lang="en-US" sz="900" b="0" i="1" dirty="0">
                <a:solidFill>
                  <a:srgbClr val="56606B"/>
                </a:solidFill>
                <a:latin typeface="Calibri"/>
                <a:ea typeface="Calibri"/>
                <a:cs typeface="Calibri"/>
              </a:rPr>
              <a:t>Wind Speed Modelling for Derivatives Pricing — Final Defence</a:t>
            </a:r>
          </a:p>
        </p:txBody>
      </p:sp>
      <p:sp>
        <p:nvSpPr>
          <p:cNvPr id="8" name="TextBox 7"/>
          <p:cNvSpPr txBox="1"/>
          <p:nvPr/>
        </p:nvSpPr>
        <p:spPr>
          <a:xfrm>
            <a:off x="11365992" y="6510528"/>
            <a:ext cx="365760" cy="256032"/>
          </a:xfrm>
          <a:prstGeom prst="rect">
            <a:avLst/>
          </a:prstGeom>
          <a:noFill/>
        </p:spPr>
        <p:txBody>
          <a:bodyPr wrap="square" lIns="0" tIns="0" rIns="0" bIns="0" anchor="ctr">
            <a:spAutoFit/>
          </a:bodyPr>
          <a:lstStyle/>
          <a:p>
            <a:pPr marL="0" indent="0" algn="r">
              <a:buNone/>
            </a:pPr>
            <a:r>
              <a:rPr lang="en-US" sz="900" b="0" dirty="0">
                <a:solidFill>
                  <a:srgbClr val="56606B"/>
                </a:solidFill>
                <a:latin typeface="Calibri"/>
                <a:ea typeface="Calibri"/>
                <a:cs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Slide 8">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a:ea typeface="Calibri"/>
                <a:cs typeface="Calibri"/>
              </a:rPr>
              <a:t>BACKUP B3 · CH. 2–3 — MODEL VALIDATION</a:t>
            </a:r>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Four specifications, one conditional mean</a:t>
            </a:r>
            <a:endParaRPr lang="en-US" sz="2700" dirty="0"/>
          </a:p>
        </p:txBody>
      </p:sp>
      <p:sp>
        <p:nvSpPr>
          <p:cNvPr id="4" name="Shape 2"/>
          <p:cNvSpPr/>
          <p:nvPr/>
        </p:nvSpPr>
        <p:spPr>
          <a:xfrm>
            <a:off x="548640" y="1783080"/>
            <a:ext cx="11109960" cy="1554480"/>
          </a:xfrm>
          <a:prstGeom prst="roundRect">
            <a:avLst>
              <a:gd name="adj" fmla="val 5294"/>
            </a:avLst>
          </a:prstGeom>
          <a:solidFill>
            <a:srgbClr val="EEF3F7"/>
          </a:solidFill>
          <a:ln/>
        </p:spPr>
        <p:txBody>
          <a:bodyPr/>
          <a:lstStyle/>
          <a:p>
            <a:endParaRPr/>
          </a:p>
        </p:txBody>
      </p:sp>
      <p:sp>
        <p:nvSpPr>
          <p:cNvPr id="5" name="Text 3"/>
          <p:cNvSpPr/>
          <p:nvPr/>
        </p:nvSpPr>
        <p:spPr>
          <a:xfrm>
            <a:off x="868680" y="1965960"/>
            <a:ext cx="10424160" cy="411480"/>
          </a:xfrm>
          <a:prstGeom prst="rect">
            <a:avLst/>
          </a:prstGeom>
          <a:noFill/>
          <a:ln/>
        </p:spPr>
        <p:txBody>
          <a:bodyPr wrap="square" lIns="0" tIns="0" rIns="0" bIns="0" rtlCol="0" anchor="ctr"/>
          <a:lstStyle/>
          <a:p>
            <a:pPr marL="0" indent="0">
              <a:buNone/>
            </a:pPr>
            <a:r>
              <a:rPr lang="en-US" sz="1800" b="1" dirty="0">
                <a:solidFill>
                  <a:srgbClr val="21295C"/>
                </a:solidFill>
                <a:latin typeface="Cambria" pitchFamily="34" charset="0"/>
                <a:ea typeface="Cambria" pitchFamily="34" charset="-122"/>
                <a:cs typeface="Cambria" pitchFamily="34" charset="-120"/>
              </a:rPr>
              <a:t>AR(4)  •  AR(4)+GARCH  •  CAR(4)+Gaussian  •  CAR(4)+NIG</a:t>
            </a:r>
            <a:endParaRPr lang="en-US" sz="1800" dirty="0"/>
          </a:p>
        </p:txBody>
      </p:sp>
      <p:sp>
        <p:nvSpPr>
          <p:cNvPr id="6" name="Text 4"/>
          <p:cNvSpPr/>
          <p:nvPr/>
        </p:nvSpPr>
        <p:spPr>
          <a:xfrm>
            <a:off x="868680" y="2423160"/>
            <a:ext cx="10424160" cy="822960"/>
          </a:xfrm>
          <a:prstGeom prst="rect">
            <a:avLst/>
          </a:prstGeom>
          <a:noFill/>
          <a:ln/>
        </p:spPr>
        <p:txBody>
          <a:bodyPr wrap="square" lIns="0" tIns="0" rIns="0" bIns="0" rtlCol="0" anchor="ctr"/>
          <a:lstStyle/>
          <a:p>
            <a:pPr marL="0" indent="0">
              <a:lnSpc>
                <a:spcPct val="120000"/>
              </a:lnSpc>
              <a:buNone/>
            </a:pPr>
            <a:r>
              <a:rPr lang="en-US" sz="1350" dirty="0">
                <a:solidFill>
                  <a:srgbClr val="56606B"/>
                </a:solidFill>
                <a:latin typeface="Calibri" pitchFamily="34" charset="0"/>
                <a:ea typeface="Calibri" pitchFamily="34" charset="-122"/>
                <a:cs typeface="Calibri" pitchFamily="34" charset="-120"/>
              </a:rPr>
              <a:t>share one conditional mean by construction → indistinguishable on one-day-ahead forecast accuracy. They separate only on pricing and hedging criteria — which is why Chapter 3 does not rank them by RMSE alone.</a:t>
            </a:r>
            <a:endParaRPr lang="en-US" sz="1350" dirty="0"/>
          </a:p>
        </p:txBody>
      </p:sp>
      <p:sp>
        <p:nvSpPr>
          <p:cNvPr id="7" name="Text 5"/>
          <p:cNvSpPr/>
          <p:nvPr/>
        </p:nvSpPr>
        <p:spPr>
          <a:xfrm>
            <a:off x="548640" y="3611880"/>
            <a:ext cx="11109960" cy="320040"/>
          </a:xfrm>
          <a:prstGeom prst="rect">
            <a:avLst/>
          </a:prstGeom>
          <a:noFill/>
          <a:ln/>
        </p:spPr>
        <p:txBody>
          <a:bodyPr wrap="square" lIns="0" tIns="0" rIns="0" bIns="0" rtlCol="0" anchor="ctr"/>
          <a:lstStyle/>
          <a:p>
            <a:pPr marL="0" indent="0">
              <a:buNone/>
            </a:pPr>
            <a:r>
              <a:rPr lang="en-US" sz="1250" b="1" kern="0" spc="150" dirty="0">
                <a:solidFill>
                  <a:srgbClr val="1C7293"/>
                </a:solidFill>
                <a:latin typeface="Calibri" pitchFamily="34" charset="0"/>
                <a:ea typeface="Calibri" pitchFamily="34" charset="-122"/>
                <a:cs typeface="Calibri" pitchFamily="34" charset="-120"/>
              </a:rPr>
              <a:t>ALL FOUR STILL REJECT PERSISTENCE, DECISIVELY</a:t>
            </a:r>
            <a:endParaRPr lang="en-US" sz="1250" dirty="0"/>
          </a:p>
        </p:txBody>
      </p:sp>
      <p:sp>
        <p:nvSpPr>
          <p:cNvPr id="8" name="Shape 6"/>
          <p:cNvSpPr/>
          <p:nvPr/>
        </p:nvSpPr>
        <p:spPr>
          <a:xfrm>
            <a:off x="548640" y="4023360"/>
            <a:ext cx="5349240" cy="2057400"/>
          </a:xfrm>
          <a:prstGeom prst="roundRect">
            <a:avLst>
              <a:gd name="adj" fmla="val 4000"/>
            </a:avLst>
          </a:prstGeom>
          <a:solidFill>
            <a:srgbClr val="F7FAFC"/>
          </a:solidFill>
          <a:ln/>
          <a:effectLst>
            <a:outerShdw blurRad="88900" dist="25400" dir="5400000" algn="bl" rotWithShape="0">
              <a:srgbClr val="1C1C1C">
                <a:alpha val="16000"/>
              </a:srgbClr>
            </a:outerShdw>
          </a:effectLst>
        </p:spPr>
        <p:txBody>
          <a:bodyPr/>
          <a:lstStyle/>
          <a:p>
            <a:endParaRPr/>
          </a:p>
        </p:txBody>
      </p:sp>
      <p:sp>
        <p:nvSpPr>
          <p:cNvPr id="9" name="Text 7"/>
          <p:cNvSpPr/>
          <p:nvPr/>
        </p:nvSpPr>
        <p:spPr>
          <a:xfrm>
            <a:off x="914400" y="4297680"/>
            <a:ext cx="4617720" cy="365760"/>
          </a:xfrm>
          <a:prstGeom prst="rect">
            <a:avLst/>
          </a:prstGeom>
          <a:noFill/>
          <a:ln/>
        </p:spPr>
        <p:txBody>
          <a:bodyPr wrap="square" lIns="0" tIns="0" rIns="0" bIns="0" rtlCol="0" anchor="ctr"/>
          <a:lstStyle/>
          <a:p>
            <a:pPr marL="0" indent="0">
              <a:buNone/>
            </a:pPr>
            <a:r>
              <a:rPr lang="en-US" sz="1250" i="1" dirty="0">
                <a:solidFill>
                  <a:srgbClr val="56606B"/>
                </a:solidFill>
                <a:latin typeface="Calibri" pitchFamily="34" charset="0"/>
                <a:ea typeface="Calibri" pitchFamily="34" charset="-122"/>
                <a:cs typeface="Calibri" pitchFamily="34" charset="-120"/>
              </a:rPr>
              <a:t>Diebold–Mariano statistic vs. persistence</a:t>
            </a:r>
            <a:endParaRPr lang="en-US" sz="1250" dirty="0"/>
          </a:p>
        </p:txBody>
      </p:sp>
      <p:sp>
        <p:nvSpPr>
          <p:cNvPr id="10" name="Text 8"/>
          <p:cNvSpPr/>
          <p:nvPr/>
        </p:nvSpPr>
        <p:spPr>
          <a:xfrm>
            <a:off x="914400" y="4617720"/>
            <a:ext cx="4617720" cy="914400"/>
          </a:xfrm>
          <a:prstGeom prst="rect">
            <a:avLst/>
          </a:prstGeom>
          <a:noFill/>
          <a:ln/>
        </p:spPr>
        <p:txBody>
          <a:bodyPr wrap="square" lIns="0" tIns="0" rIns="0" bIns="0" rtlCol="0" anchor="ctr"/>
          <a:lstStyle/>
          <a:p>
            <a:pPr marL="0" indent="0">
              <a:buNone/>
            </a:pPr>
            <a:r>
              <a:rPr lang="en-US" sz="4600" b="1" dirty="0">
                <a:solidFill>
                  <a:srgbClr val="C8791A"/>
                </a:solidFill>
                <a:latin typeface="Cambria" pitchFamily="34" charset="0"/>
                <a:ea typeface="Cambria" pitchFamily="34" charset="-122"/>
                <a:cs typeface="Cambria" pitchFamily="34" charset="-120"/>
              </a:rPr>
              <a:t>+8.27</a:t>
            </a:r>
            <a:endParaRPr lang="en-US" sz="4600" dirty="0"/>
          </a:p>
        </p:txBody>
      </p:sp>
      <p:sp>
        <p:nvSpPr>
          <p:cNvPr id="11" name="Text 9"/>
          <p:cNvSpPr/>
          <p:nvPr/>
        </p:nvSpPr>
        <p:spPr>
          <a:xfrm>
            <a:off x="914400" y="5532120"/>
            <a:ext cx="4617720" cy="457200"/>
          </a:xfrm>
          <a:prstGeom prst="rect">
            <a:avLst/>
          </a:prstGeom>
          <a:noFill/>
          <a:ln/>
        </p:spPr>
        <p:txBody>
          <a:bodyPr wrap="square" lIns="0" tIns="0" rIns="0" bIns="0" rtlCol="0" anchor="ctr"/>
          <a:lstStyle/>
          <a:p>
            <a:pPr marL="0" indent="0" algn="l">
              <a:buNone/>
            </a:pPr>
            <a:r>
              <a:rPr lang="en-US" sz="1250" b="1" dirty="0">
                <a:solidFill>
                  <a:srgbClr val="21295C"/>
                </a:solidFill>
                <a:latin typeface="Calibri"/>
                <a:ea typeface="Calibri"/>
                <a:cs typeface="Calibri"/>
              </a:rPr>
              <a:t>Dataset A — RMSE 0.8868 → 0.7802 (12.0% better than persistence)</a:t>
            </a:r>
          </a:p>
        </p:txBody>
      </p:sp>
      <p:sp>
        <p:nvSpPr>
          <p:cNvPr id="12" name="Shape 10"/>
          <p:cNvSpPr/>
          <p:nvPr/>
        </p:nvSpPr>
        <p:spPr>
          <a:xfrm>
            <a:off x="6309360" y="4023360"/>
            <a:ext cx="5349240" cy="2057400"/>
          </a:xfrm>
          <a:prstGeom prst="roundRect">
            <a:avLst>
              <a:gd name="adj" fmla="val 4000"/>
            </a:avLst>
          </a:prstGeom>
          <a:solidFill>
            <a:srgbClr val="F7FAFC"/>
          </a:solidFill>
          <a:ln/>
          <a:effectLst>
            <a:outerShdw blurRad="88900" dist="25400" dir="5400000" algn="bl" rotWithShape="0">
              <a:srgbClr val="1C1C1C">
                <a:alpha val="16000"/>
              </a:srgbClr>
            </a:outerShdw>
          </a:effectLst>
        </p:spPr>
        <p:txBody>
          <a:bodyPr/>
          <a:lstStyle/>
          <a:p>
            <a:endParaRPr/>
          </a:p>
        </p:txBody>
      </p:sp>
      <p:sp>
        <p:nvSpPr>
          <p:cNvPr id="13" name="Text 11"/>
          <p:cNvSpPr/>
          <p:nvPr/>
        </p:nvSpPr>
        <p:spPr>
          <a:xfrm>
            <a:off x="6675120" y="4297680"/>
            <a:ext cx="4617720" cy="365760"/>
          </a:xfrm>
          <a:prstGeom prst="rect">
            <a:avLst/>
          </a:prstGeom>
          <a:noFill/>
          <a:ln/>
        </p:spPr>
        <p:txBody>
          <a:bodyPr wrap="square" lIns="0" tIns="0" rIns="0" bIns="0" rtlCol="0" anchor="ctr"/>
          <a:lstStyle/>
          <a:p>
            <a:pPr marL="0" indent="0">
              <a:buNone/>
            </a:pPr>
            <a:r>
              <a:rPr lang="en-US" sz="1250" i="1" dirty="0">
                <a:solidFill>
                  <a:srgbClr val="56606B"/>
                </a:solidFill>
                <a:latin typeface="Calibri" pitchFamily="34" charset="0"/>
                <a:ea typeface="Calibri" pitchFamily="34" charset="-122"/>
                <a:cs typeface="Calibri" pitchFamily="34" charset="-120"/>
              </a:rPr>
              <a:t>Diebold–Mariano statistic vs. persistence</a:t>
            </a:r>
            <a:endParaRPr lang="en-US" sz="1250" dirty="0"/>
          </a:p>
        </p:txBody>
      </p:sp>
      <p:sp>
        <p:nvSpPr>
          <p:cNvPr id="14" name="Text 12"/>
          <p:cNvSpPr/>
          <p:nvPr/>
        </p:nvSpPr>
        <p:spPr>
          <a:xfrm>
            <a:off x="6675120" y="4617720"/>
            <a:ext cx="4617720" cy="914400"/>
          </a:xfrm>
          <a:prstGeom prst="rect">
            <a:avLst/>
          </a:prstGeom>
          <a:noFill/>
          <a:ln/>
        </p:spPr>
        <p:txBody>
          <a:bodyPr wrap="square" lIns="0" tIns="0" rIns="0" bIns="0" rtlCol="0" anchor="ctr"/>
          <a:lstStyle/>
          <a:p>
            <a:pPr marL="0" indent="0">
              <a:buNone/>
            </a:pPr>
            <a:r>
              <a:rPr lang="en-US" sz="4600" b="1" dirty="0">
                <a:solidFill>
                  <a:srgbClr val="C8791A"/>
                </a:solidFill>
                <a:latin typeface="Cambria" pitchFamily="34" charset="0"/>
                <a:ea typeface="Cambria" pitchFamily="34" charset="-122"/>
                <a:cs typeface="Cambria" pitchFamily="34" charset="-120"/>
              </a:rPr>
              <a:t>+16.76</a:t>
            </a:r>
            <a:endParaRPr lang="en-US" sz="4600" dirty="0"/>
          </a:p>
        </p:txBody>
      </p:sp>
      <p:sp>
        <p:nvSpPr>
          <p:cNvPr id="15" name="Text 13"/>
          <p:cNvSpPr/>
          <p:nvPr/>
        </p:nvSpPr>
        <p:spPr>
          <a:xfrm>
            <a:off x="6675120" y="5532120"/>
            <a:ext cx="4617720" cy="457200"/>
          </a:xfrm>
          <a:prstGeom prst="rect">
            <a:avLst/>
          </a:prstGeom>
          <a:noFill/>
          <a:ln/>
        </p:spPr>
        <p:txBody>
          <a:bodyPr wrap="square" lIns="0" tIns="0" rIns="0" bIns="0" rtlCol="0" anchor="ctr"/>
          <a:lstStyle/>
          <a:p>
            <a:pPr marL="0" indent="0" algn="l">
              <a:buNone/>
            </a:pPr>
            <a:r>
              <a:rPr lang="en-US" sz="1250" b="1" dirty="0">
                <a:solidFill>
                  <a:srgbClr val="21295C"/>
                </a:solidFill>
                <a:latin typeface="Calibri"/>
                <a:ea typeface="Calibri"/>
                <a:cs typeface="Calibri"/>
              </a:rPr>
              <a:t>Dataset B — RMSE 1.0046 → 0.8681 (13.6% better than persistence)</a:t>
            </a:r>
          </a:p>
        </p:txBody>
      </p:sp>
      <p:sp>
        <p:nvSpPr>
          <p:cNvPr id="16" name="Text 14"/>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7" name="Text 15"/>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16</a:t>
            </a:r>
            <a:endParaRPr lang="en-US" sz="900" dirty="0"/>
          </a:p>
        </p:txBody>
      </p:sp>
      <p:sp>
        <p:nvSpPr>
          <p:cNvPr id="18" name="TextBox 17"/>
          <p:cNvSpPr txBox="1"/>
          <p:nvPr/>
        </p:nvSpPr>
        <p:spPr>
          <a:xfrm>
            <a:off x="548640" y="6144768"/>
            <a:ext cx="11109960" cy="292608"/>
          </a:xfrm>
          <a:prstGeom prst="rect">
            <a:avLst/>
          </a:prstGeom>
          <a:noFill/>
        </p:spPr>
        <p:txBody>
          <a:bodyPr wrap="square" lIns="0" tIns="0" rIns="0" bIns="0" anchor="t">
            <a:spAutoFit/>
          </a:bodyPr>
          <a:lstStyle/>
          <a:p>
            <a:pPr marL="0" indent="0" algn="l">
              <a:buNone/>
            </a:pPr>
            <a:r>
              <a:rPr lang="en-US" sz="1000" b="0" i="1" dirty="0">
                <a:solidFill>
                  <a:srgbClr val="5A6470"/>
                </a:solidFill>
                <a:latin typeface="Calibri"/>
                <a:ea typeface="Calibri"/>
                <a:cs typeface="Calibri"/>
              </a:rPr>
              <a:t>Full standardised series, dₜ = e²(persistence) − e²(model), §3.2. Chapter 2's held-out split reports −3.681 / −7.019 under the reversed sign convention — same test, same conclusion (B4).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0" tIns="0" rIns="0" bIns="0" anchor="ctr">
            <a:spAutoFit/>
          </a:bodyPr>
          <a:lstStyle/>
          <a:p>
            <a:pPr marL="0" indent="0" algn="l">
              <a:buNone/>
            </a:pPr>
            <a:r>
              <a:rPr lang="en-US" sz="1250" b="1" kern="0" spc="200" dirty="0">
                <a:solidFill>
                  <a:srgbClr val="1C7293"/>
                </a:solidFill>
                <a:latin typeface="Calibri"/>
                <a:ea typeface="Calibri"/>
                <a:cs typeface="Calibri"/>
              </a:rPr>
              <a:t>BACKUP B4 · CH. 2 §2.2.4 &amp; CH. 3 §3.2.1 — DIEBOLD–MARIANO</a:t>
            </a:r>
          </a:p>
        </p:txBody>
      </p:sp>
      <p:sp>
        <p:nvSpPr>
          <p:cNvPr id="3" name="TextBox 2"/>
          <p:cNvSpPr txBox="1"/>
          <p:nvPr/>
        </p:nvSpPr>
        <p:spPr>
          <a:xfrm>
            <a:off x="548640" y="658368"/>
            <a:ext cx="11109960" cy="868680"/>
          </a:xfrm>
          <a:prstGeom prst="rect">
            <a:avLst/>
          </a:prstGeom>
          <a:noFill/>
        </p:spPr>
        <p:txBody>
          <a:bodyPr wrap="square" lIns="0" tIns="0" rIns="0" bIns="0" anchor="ctr">
            <a:spAutoFit/>
          </a:bodyPr>
          <a:lstStyle/>
          <a:p>
            <a:pPr marL="0" indent="0" algn="l">
              <a:buNone/>
            </a:pPr>
            <a:r>
              <a:rPr lang="en-US" sz="2700" b="1" dirty="0">
                <a:solidFill>
                  <a:srgbClr val="21295C"/>
                </a:solidFill>
                <a:latin typeface="Cambria"/>
                <a:ea typeface="Cambria"/>
                <a:cs typeface="Cambria"/>
              </a:rPr>
              <a:t>The same test, twice — why the signs differ</a:t>
            </a:r>
          </a:p>
        </p:txBody>
      </p:sp>
      <p:graphicFrame>
        <p:nvGraphicFramePr>
          <p:cNvPr id="4" name="Table 3"/>
          <p:cNvGraphicFramePr>
            <a:graphicFrameLocks noGrp="1"/>
          </p:cNvGraphicFramePr>
          <p:nvPr/>
        </p:nvGraphicFramePr>
        <p:xfrm>
          <a:off x="548640" y="1691640"/>
          <a:ext cx="11109960" cy="2926080"/>
        </p:xfrm>
        <a:graphic>
          <a:graphicData uri="http://schemas.openxmlformats.org/drawingml/2006/table">
            <a:tbl>
              <a:tblPr/>
              <a:tblGrid>
                <a:gridCol w="30632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365760">
                <a:tc>
                  <a:txBody>
                    <a:bodyPr/>
                    <a:lstStyle/>
                    <a:p>
                      <a:pPr marL="0" indent="0" algn="l">
                        <a:buNone/>
                      </a:pPr>
                      <a:endParaRPr/>
                    </a:p>
                  </a:txBody>
                  <a:tcPr marT="36576" marB="36576" anchor="ctr">
                    <a:lnL w="0">
                      <a:noFill/>
                    </a:lnL>
                    <a:lnR w="0">
                      <a:noFill/>
                    </a:lnR>
                    <a:lnT w="0">
                      <a:noFill/>
                    </a:lnT>
                    <a:lnB w="0">
                      <a:noFill/>
                    </a:lnB>
                    <a:solidFill>
                      <a:srgbClr val="21295C"/>
                    </a:solidFill>
                  </a:tcPr>
                </a:tc>
                <a:tc>
                  <a:txBody>
                    <a:bodyPr/>
                    <a:lstStyle/>
                    <a:p>
                      <a:pPr marL="0" indent="0" algn="ctr">
                        <a:buNone/>
                      </a:pPr>
                      <a:r>
                        <a:rPr lang="en-US" sz="1200" b="1" dirty="0">
                          <a:solidFill>
                            <a:srgbClr val="FFFFFF"/>
                          </a:solidFill>
                          <a:latin typeface="Calibri"/>
                          <a:ea typeface="Calibri"/>
                          <a:cs typeface="Calibri"/>
                        </a:rPr>
                        <a:t>Chapter 2, §2.2.4</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00" b="1" dirty="0">
                          <a:solidFill>
                            <a:srgbClr val="FFFFFF"/>
                          </a:solidFill>
                          <a:latin typeface="Calibri"/>
                          <a:ea typeface="Calibri"/>
                          <a:cs typeface="Calibri"/>
                        </a:rPr>
                        <a:t>Chapter 3, §3.2.1</a:t>
                      </a:r>
                    </a:p>
                  </a:txBody>
                  <a:tcPr marT="36576" marB="36576" anchor="ctr">
                    <a:lnL w="0">
                      <a:noFill/>
                    </a:lnL>
                    <a:lnR w="0">
                      <a:noFill/>
                    </a:lnR>
                    <a:lnT w="0">
                      <a:noFill/>
                    </a:lnT>
                    <a:lnB w="0">
                      <a:noFill/>
                    </a:lnB>
                    <a:solidFill>
                      <a:srgbClr val="21295C"/>
                    </a:solidFill>
                  </a:tcPr>
                </a:tc>
                <a:extLst>
                  <a:ext uri="{0D108BD9-81ED-4DB2-BD59-A6C34878D82A}">
                    <a16:rowId xmlns:a16="http://schemas.microsoft.com/office/drawing/2014/main" val="10000"/>
                  </a:ext>
                </a:extLst>
              </a:tr>
              <a:tr h="365760">
                <a:tc>
                  <a:txBody>
                    <a:bodyPr/>
                    <a:lstStyle/>
                    <a:p>
                      <a:pPr marL="0" indent="0" algn="l">
                        <a:buNone/>
                      </a:pPr>
                      <a:r>
                        <a:rPr lang="en-US" sz="1200" b="1" dirty="0">
                          <a:solidFill>
                            <a:srgbClr val="21295C"/>
                          </a:solidFill>
                          <a:latin typeface="Calibri"/>
                          <a:ea typeface="Calibri"/>
                          <a:cs typeface="Calibri"/>
                        </a:rPr>
                        <a:t>Loss differential</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dₜ = e²AR(4) − e²persistence</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dₜ = e²persistence − e²model</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00" b="1" dirty="0">
                          <a:solidFill>
                            <a:srgbClr val="21295C"/>
                          </a:solidFill>
                          <a:latin typeface="Calibri"/>
                          <a:ea typeface="Calibri"/>
                          <a:cs typeface="Calibri"/>
                        </a:rPr>
                        <a:t>A winning model gives</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a negative statistic</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a positive statistic</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2"/>
                  </a:ext>
                </a:extLst>
              </a:tr>
              <a:tr h="365760">
                <a:tc>
                  <a:txBody>
                    <a:bodyPr/>
                    <a:lstStyle/>
                    <a:p>
                      <a:pPr marL="0" indent="0" algn="l">
                        <a:buNone/>
                      </a:pPr>
                      <a:r>
                        <a:rPr lang="en-US" sz="1200" b="1" dirty="0">
                          <a:solidFill>
                            <a:srgbClr val="21295C"/>
                          </a:solidFill>
                          <a:latin typeface="Calibri"/>
                          <a:ea typeface="Calibri"/>
                          <a:cs typeface="Calibri"/>
                        </a:rPr>
                        <a:t>Evaluation sample</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held-out partition (220 / 548 obs.)</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full series (1,461 / 3,652 errors)</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200" b="1" dirty="0">
                          <a:solidFill>
                            <a:srgbClr val="21295C"/>
                          </a:solidFill>
                          <a:latin typeface="Calibri"/>
                          <a:ea typeface="Calibri"/>
                          <a:cs typeface="Calibri"/>
                        </a:rPr>
                        <a:t>DM statistic (A / B)</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−3.681 / −7.019</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+8.265 / +16.758</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4"/>
                  </a:ext>
                </a:extLst>
              </a:tr>
              <a:tr h="365760">
                <a:tc>
                  <a:txBody>
                    <a:bodyPr/>
                    <a:lstStyle/>
                    <a:p>
                      <a:pPr marL="0" indent="0" algn="l">
                        <a:buNone/>
                      </a:pPr>
                      <a:r>
                        <a:rPr lang="en-US" sz="1200" b="1" dirty="0">
                          <a:solidFill>
                            <a:srgbClr val="21295C"/>
                          </a:solidFill>
                          <a:latin typeface="Calibri"/>
                          <a:ea typeface="Calibri"/>
                          <a:cs typeface="Calibri"/>
                        </a:rPr>
                        <a:t>RMSE persistence (A / B)</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0.6856 / 0.9955</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0.8868 / 1.0046</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200" b="1" dirty="0">
                          <a:solidFill>
                            <a:srgbClr val="21295C"/>
                          </a:solidFill>
                          <a:latin typeface="Calibri"/>
                          <a:ea typeface="Calibri"/>
                          <a:cs typeface="Calibri"/>
                        </a:rPr>
                        <a:t>RMSE AR(4) (A / B)</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0.6017 / 0.8580</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00" b="0" dirty="0">
                          <a:solidFill>
                            <a:srgbClr val="56606B"/>
                          </a:solidFill>
                          <a:latin typeface="Calibri"/>
                          <a:ea typeface="Calibri"/>
                          <a:cs typeface="Calibri"/>
                        </a:rPr>
                        <a:t>0.7802 / 0.8681</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6"/>
                  </a:ext>
                </a:extLst>
              </a:tr>
              <a:tr h="365760">
                <a:tc>
                  <a:txBody>
                    <a:bodyPr/>
                    <a:lstStyle/>
                    <a:p>
                      <a:pPr marL="0" indent="0" algn="l">
                        <a:buNone/>
                      </a:pPr>
                      <a:r>
                        <a:rPr lang="en-US" sz="1200" b="1" dirty="0">
                          <a:solidFill>
                            <a:srgbClr val="21295C"/>
                          </a:solidFill>
                          <a:latin typeface="Calibri"/>
                          <a:ea typeface="Calibri"/>
                          <a:cs typeface="Calibri"/>
                        </a:rPr>
                        <a:t>Improvement (A / B)</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12.2% / 13.8%</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00" b="0" dirty="0">
                          <a:solidFill>
                            <a:srgbClr val="56606B"/>
                          </a:solidFill>
                          <a:latin typeface="Calibri"/>
                          <a:ea typeface="Calibri"/>
                          <a:cs typeface="Calibri"/>
                        </a:rPr>
                        <a:t>12.0% / 13.6%</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7"/>
                  </a:ext>
                </a:extLst>
              </a:tr>
            </a:tbl>
          </a:graphicData>
        </a:graphic>
      </p:graphicFrame>
      <p:sp>
        <p:nvSpPr>
          <p:cNvPr id="5" name="Rounded Rectangle 4"/>
          <p:cNvSpPr/>
          <p:nvPr/>
        </p:nvSpPr>
        <p:spPr>
          <a:xfrm>
            <a:off x="548640" y="4800600"/>
            <a:ext cx="5394960" cy="1463040"/>
          </a:xfrm>
          <a:prstGeom prst="roundRect">
            <a:avLst>
              <a:gd name="adj" fmla="val 3599"/>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77240" y="4892040"/>
            <a:ext cx="4937760" cy="1280160"/>
          </a:xfrm>
          <a:prstGeom prst="rect">
            <a:avLst/>
          </a:prstGeom>
          <a:noFill/>
        </p:spPr>
        <p:txBody>
          <a:bodyPr wrap="square" lIns="0" tIns="0" rIns="0" bIns="0" anchor="ctr">
            <a:spAutoFit/>
          </a:bodyPr>
          <a:lstStyle/>
          <a:p>
            <a:pPr marL="0" indent="0" algn="l">
              <a:lnSpc>
                <a:spcPct val="108000"/>
              </a:lnSpc>
              <a:buNone/>
            </a:pPr>
            <a:r>
              <a:rPr lang="en-US" sz="1200" b="1" dirty="0">
                <a:solidFill>
                  <a:srgbClr val="21295C"/>
                </a:solidFill>
                <a:latin typeface="Calibri"/>
                <a:ea typeface="Calibri"/>
                <a:cs typeface="Calibri"/>
              </a:rPr>
              <a:t>The sign is a convention, not a result. </a:t>
            </a:r>
            <a:r>
              <a:rPr lang="en-US" sz="1200" b="0" dirty="0">
                <a:solidFill>
                  <a:srgbClr val="56606B"/>
                </a:solidFill>
                <a:latin typeface="Calibri"/>
                <a:ea typeface="Calibri"/>
                <a:cs typeface="Calibri"/>
              </a:rPr>
              <a:t>Same test, same conclusion: every fitted specification rejects equal accuracy with persistence at any conventional level, on either convention and either sample. Magnitudes scale with √n.</a:t>
            </a:r>
          </a:p>
        </p:txBody>
      </p:sp>
      <p:sp>
        <p:nvSpPr>
          <p:cNvPr id="7" name="Rounded Rectangle 6"/>
          <p:cNvSpPr/>
          <p:nvPr/>
        </p:nvSpPr>
        <p:spPr>
          <a:xfrm>
            <a:off x="6263640" y="4800600"/>
            <a:ext cx="5394960" cy="1463040"/>
          </a:xfrm>
          <a:prstGeom prst="roundRect">
            <a:avLst>
              <a:gd name="adj" fmla="val 3599"/>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492240" y="4892040"/>
            <a:ext cx="4937760" cy="1280160"/>
          </a:xfrm>
          <a:prstGeom prst="rect">
            <a:avLst/>
          </a:prstGeom>
          <a:noFill/>
        </p:spPr>
        <p:txBody>
          <a:bodyPr wrap="square" lIns="0" tIns="0" rIns="0" bIns="0" anchor="ctr">
            <a:spAutoFit/>
          </a:bodyPr>
          <a:lstStyle/>
          <a:p>
            <a:pPr marL="0" indent="0" algn="l">
              <a:lnSpc>
                <a:spcPct val="108000"/>
              </a:lnSpc>
              <a:buNone/>
            </a:pPr>
            <a:r>
              <a:rPr lang="en-US" sz="1200" b="1" dirty="0">
                <a:solidFill>
                  <a:srgbClr val="21295C"/>
                </a:solidFill>
                <a:latin typeface="Calibri"/>
                <a:ea typeface="Calibri"/>
                <a:cs typeface="Calibri"/>
              </a:rPr>
              <a:t>Why A's RMSEs move by 23%, B's by under 1%. </a:t>
            </a:r>
            <a:r>
              <a:rPr lang="en-US" sz="1200" b="0" dirty="0">
                <a:solidFill>
                  <a:srgbClr val="56606B"/>
                </a:solidFill>
                <a:latin typeface="Calibri"/>
                <a:ea typeface="Calibri"/>
                <a:cs typeface="Calibri"/>
              </a:rPr>
              <a:t>A's hold-out ends in a calm spell: √(0.4137/0.608) = 0.825 vs an observed 0.773. B's h(t₀) = 0.7511 sits at its unconditional 0.7522, predicting one vs an observed 0.991.</a:t>
            </a:r>
          </a:p>
        </p:txBody>
      </p:sp>
      <p:sp>
        <p:nvSpPr>
          <p:cNvPr id="9" name="TextBox 8"/>
          <p:cNvSpPr txBox="1"/>
          <p:nvPr/>
        </p:nvSpPr>
        <p:spPr>
          <a:xfrm>
            <a:off x="548640" y="6510528"/>
            <a:ext cx="8229600" cy="256032"/>
          </a:xfrm>
          <a:prstGeom prst="rect">
            <a:avLst/>
          </a:prstGeom>
          <a:noFill/>
        </p:spPr>
        <p:txBody>
          <a:bodyPr wrap="square" lIns="0" tIns="0" rIns="0" bIns="0" anchor="ctr">
            <a:spAutoFit/>
          </a:bodyPr>
          <a:lstStyle/>
          <a:p>
            <a:pPr marL="0" indent="0" algn="l">
              <a:buNone/>
            </a:pPr>
            <a:r>
              <a:rPr lang="en-US" sz="900" b="0" i="1" dirty="0">
                <a:solidFill>
                  <a:srgbClr val="56606B"/>
                </a:solidFill>
                <a:latin typeface="Calibri"/>
                <a:ea typeface="Calibri"/>
                <a:cs typeface="Calibri"/>
              </a:rPr>
              <a:t>Wind Speed Modelling for Derivatives Pricing — Final Defence</a:t>
            </a:r>
          </a:p>
        </p:txBody>
      </p:sp>
      <p:sp>
        <p:nvSpPr>
          <p:cNvPr id="10" name="TextBox 9"/>
          <p:cNvSpPr txBox="1"/>
          <p:nvPr/>
        </p:nvSpPr>
        <p:spPr>
          <a:xfrm>
            <a:off x="11365992" y="6510528"/>
            <a:ext cx="365760" cy="256032"/>
          </a:xfrm>
          <a:prstGeom prst="rect">
            <a:avLst/>
          </a:prstGeom>
          <a:noFill/>
        </p:spPr>
        <p:txBody>
          <a:bodyPr wrap="square" lIns="0" tIns="0" rIns="0" bIns="0" anchor="ctr">
            <a:spAutoFit/>
          </a:bodyPr>
          <a:lstStyle/>
          <a:p>
            <a:pPr marL="0" indent="0" algn="r">
              <a:buNone/>
            </a:pPr>
            <a:r>
              <a:rPr lang="en-US" sz="900" b="0" dirty="0">
                <a:solidFill>
                  <a:srgbClr val="56606B"/>
                </a:solidFill>
                <a:latin typeface="Calibri"/>
                <a:ea typeface="Calibri"/>
                <a:cs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0" tIns="0" rIns="0" bIns="0" anchor="ctr">
            <a:spAutoFit/>
          </a:bodyPr>
          <a:lstStyle/>
          <a:p>
            <a:pPr marL="0" indent="0" algn="l">
              <a:buNone/>
            </a:pPr>
            <a:r>
              <a:rPr lang="en-US" sz="1250" b="1" kern="0" spc="200" dirty="0">
                <a:solidFill>
                  <a:srgbClr val="1C7293"/>
                </a:solidFill>
                <a:latin typeface="Calibri"/>
                <a:ea typeface="Calibri"/>
                <a:cs typeface="Calibri"/>
              </a:rPr>
              <a:t>BACKUP B5 · CH. 3 §3.3.1 — HEIGHT CORRECTION</a:t>
            </a:r>
          </a:p>
        </p:txBody>
      </p:sp>
      <p:sp>
        <p:nvSpPr>
          <p:cNvPr id="3" name="TextBox 2"/>
          <p:cNvSpPr txBox="1"/>
          <p:nvPr/>
        </p:nvSpPr>
        <p:spPr>
          <a:xfrm>
            <a:off x="548640" y="658368"/>
            <a:ext cx="11109960" cy="868680"/>
          </a:xfrm>
          <a:prstGeom prst="rect">
            <a:avLst/>
          </a:prstGeom>
          <a:noFill/>
        </p:spPr>
        <p:txBody>
          <a:bodyPr wrap="square" lIns="0" tIns="0" rIns="0" bIns="0" anchor="ctr">
            <a:spAutoFit/>
          </a:bodyPr>
          <a:lstStyle/>
          <a:p>
            <a:pPr marL="0" indent="0" algn="l">
              <a:buNone/>
            </a:pPr>
            <a:r>
              <a:rPr lang="en-US" sz="2700" b="1" dirty="0">
                <a:solidFill>
                  <a:srgbClr val="21295C"/>
                </a:solidFill>
                <a:latin typeface="Cambria"/>
                <a:ea typeface="Cambria"/>
                <a:cs typeface="Cambria"/>
              </a:rPr>
              <a:t>No admissible profile exponent turns the gap into a height effect</a:t>
            </a:r>
          </a:p>
        </p:txBody>
      </p:sp>
      <p:graphicFrame>
        <p:nvGraphicFramePr>
          <p:cNvPr id="4" name="Table 3"/>
          <p:cNvGraphicFramePr>
            <a:graphicFrameLocks noGrp="1"/>
          </p:cNvGraphicFramePr>
          <p:nvPr/>
        </p:nvGraphicFramePr>
        <p:xfrm>
          <a:off x="548640" y="1783080"/>
          <a:ext cx="8412480" cy="2468880"/>
        </p:xfrm>
        <a:graphic>
          <a:graphicData uri="http://schemas.openxmlformats.org/drawingml/2006/table">
            <a:tbl>
              <a:tblPr/>
              <a:tblGrid>
                <a:gridCol w="32918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411480">
                <a:tc>
                  <a:txBody>
                    <a:bodyPr/>
                    <a:lstStyle/>
                    <a:p>
                      <a:pPr marL="0" indent="0" algn="l">
                        <a:buNone/>
                      </a:pPr>
                      <a:r>
                        <a:rPr lang="en-US" sz="1250" b="1" dirty="0">
                          <a:solidFill>
                            <a:srgbClr val="FFFFFF"/>
                          </a:solidFill>
                          <a:latin typeface="Calibri"/>
                          <a:ea typeface="Calibri"/>
                          <a:cs typeface="Calibri"/>
                        </a:rPr>
                        <a:t>Profile exponent α</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50" b="1" dirty="0">
                          <a:solidFill>
                            <a:srgbClr val="FFFFFF"/>
                          </a:solidFill>
                          <a:latin typeface="Calibri"/>
                          <a:ea typeface="Calibri"/>
                          <a:cs typeface="Calibri"/>
                        </a:rPr>
                        <a:t>Factor 10^(2α)</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50" b="1" dirty="0">
                          <a:solidFill>
                            <a:srgbClr val="FFFFFF"/>
                          </a:solidFill>
                          <a:latin typeface="Calibri"/>
                          <a:ea typeface="Calibri"/>
                          <a:cs typeface="Calibri"/>
                        </a:rPr>
                        <a:t>Corrected K, A</a:t>
                      </a:r>
                    </a:p>
                  </a:txBody>
                  <a:tcPr marT="36576" marB="36576" anchor="ctr">
                    <a:lnL w="0">
                      <a:noFill/>
                    </a:lnL>
                    <a:lnR w="0">
                      <a:noFill/>
                    </a:lnR>
                    <a:lnT w="0">
                      <a:noFill/>
                    </a:lnT>
                    <a:lnB w="0">
                      <a:noFill/>
                    </a:lnB>
                    <a:solidFill>
                      <a:srgbClr val="21295C"/>
                    </a:solidFill>
                  </a:tcPr>
                </a:tc>
                <a:tc>
                  <a:txBody>
                    <a:bodyPr/>
                    <a:lstStyle/>
                    <a:p>
                      <a:pPr marL="0" indent="0" algn="ctr">
                        <a:buNone/>
                      </a:pPr>
                      <a:r>
                        <a:rPr lang="en-US" sz="1250" b="1" dirty="0">
                          <a:solidFill>
                            <a:srgbClr val="FFFFFF"/>
                          </a:solidFill>
                          <a:latin typeface="Calibri"/>
                          <a:ea typeface="Calibri"/>
                          <a:cs typeface="Calibri"/>
                        </a:rPr>
                        <a:t>Mispricing</a:t>
                      </a:r>
                    </a:p>
                  </a:txBody>
                  <a:tcPr marT="36576" marB="36576" anchor="ctr">
                    <a:lnL w="0">
                      <a:noFill/>
                    </a:lnL>
                    <a:lnR w="0">
                      <a:noFill/>
                    </a:lnR>
                    <a:lnT w="0">
                      <a:noFill/>
                    </a:lnT>
                    <a:lnB w="0">
                      <a:noFill/>
                    </a:lnB>
                    <a:solidFill>
                      <a:srgbClr val="21295C"/>
                    </a:solidFill>
                  </a:tcPr>
                </a:tc>
                <a:extLst>
                  <a:ext uri="{0D108BD9-81ED-4DB2-BD59-A6C34878D82A}">
                    <a16:rowId xmlns:a16="http://schemas.microsoft.com/office/drawing/2014/main" val="10000"/>
                  </a:ext>
                </a:extLst>
              </a:tr>
              <a:tr h="411480">
                <a:tc>
                  <a:txBody>
                    <a:bodyPr/>
                    <a:lstStyle/>
                    <a:p>
                      <a:pPr marL="0" indent="0" algn="l">
                        <a:buNone/>
                      </a:pPr>
                      <a:r>
                        <a:rPr lang="en-US" sz="1250" b="1" dirty="0">
                          <a:solidFill>
                            <a:srgbClr val="21295C"/>
                          </a:solidFill>
                          <a:latin typeface="Calibri"/>
                          <a:ea typeface="Calibri"/>
                          <a:cs typeface="Calibri"/>
                        </a:rPr>
                        <a:t>1/10 (open water)</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1.585</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0.0861</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90.1%</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250" b="1" dirty="0">
                          <a:solidFill>
                            <a:srgbClr val="21295C"/>
                          </a:solidFill>
                          <a:latin typeface="Calibri"/>
                          <a:ea typeface="Calibri"/>
                          <a:cs typeface="Calibri"/>
                        </a:rPr>
                        <a:t>1/7 (adopted)</a:t>
                      </a:r>
                    </a:p>
                  </a:txBody>
                  <a:tcPr marT="36576" marB="36576" anchor="ctr">
                    <a:lnL w="0">
                      <a:noFill/>
                    </a:lnL>
                    <a:lnR w="0">
                      <a:noFill/>
                    </a:lnR>
                    <a:lnT w="0">
                      <a:noFill/>
                    </a:lnT>
                    <a:lnB w="0">
                      <a:noFill/>
                    </a:lnB>
                    <a:solidFill>
                      <a:srgbClr val="FBF1E4"/>
                    </a:solidFill>
                  </a:tcPr>
                </a:tc>
                <a:tc>
                  <a:txBody>
                    <a:bodyPr/>
                    <a:lstStyle/>
                    <a:p>
                      <a:pPr marL="0" indent="0" algn="ctr">
                        <a:buNone/>
                      </a:pPr>
                      <a:r>
                        <a:rPr lang="en-US" sz="1250" b="1" dirty="0">
                          <a:solidFill>
                            <a:srgbClr val="21295C"/>
                          </a:solidFill>
                          <a:latin typeface="Calibri"/>
                          <a:ea typeface="Calibri"/>
                          <a:cs typeface="Calibri"/>
                        </a:rPr>
                        <a:t>1.931</a:t>
                      </a:r>
                    </a:p>
                  </a:txBody>
                  <a:tcPr marT="36576" marB="36576" anchor="ctr">
                    <a:lnL w="0">
                      <a:noFill/>
                    </a:lnL>
                    <a:lnR w="0">
                      <a:noFill/>
                    </a:lnR>
                    <a:lnT w="0">
                      <a:noFill/>
                    </a:lnT>
                    <a:lnB w="0">
                      <a:noFill/>
                    </a:lnB>
                    <a:solidFill>
                      <a:srgbClr val="FBF1E4"/>
                    </a:solidFill>
                  </a:tcPr>
                </a:tc>
                <a:tc>
                  <a:txBody>
                    <a:bodyPr/>
                    <a:lstStyle/>
                    <a:p>
                      <a:pPr marL="0" indent="0" algn="ctr">
                        <a:buNone/>
                      </a:pPr>
                      <a:r>
                        <a:rPr lang="en-US" sz="1250" b="1" dirty="0">
                          <a:solidFill>
                            <a:srgbClr val="21295C"/>
                          </a:solidFill>
                          <a:latin typeface="Calibri"/>
                          <a:ea typeface="Calibri"/>
                          <a:cs typeface="Calibri"/>
                        </a:rPr>
                        <a:t>0.1049</a:t>
                      </a:r>
                    </a:p>
                  </a:txBody>
                  <a:tcPr marT="36576" marB="36576" anchor="ctr">
                    <a:lnL w="0">
                      <a:noFill/>
                    </a:lnL>
                    <a:lnR w="0">
                      <a:noFill/>
                    </a:lnR>
                    <a:lnT w="0">
                      <a:noFill/>
                    </a:lnT>
                    <a:lnB w="0">
                      <a:noFill/>
                    </a:lnB>
                    <a:solidFill>
                      <a:srgbClr val="FBF1E4"/>
                    </a:solidFill>
                  </a:tcPr>
                </a:tc>
                <a:tc>
                  <a:txBody>
                    <a:bodyPr/>
                    <a:lstStyle/>
                    <a:p>
                      <a:pPr marL="0" indent="0" algn="ctr">
                        <a:buNone/>
                      </a:pPr>
                      <a:r>
                        <a:rPr lang="en-US" sz="1250" b="1" dirty="0">
                          <a:solidFill>
                            <a:srgbClr val="21295C"/>
                          </a:solidFill>
                          <a:latin typeface="Calibri"/>
                          <a:ea typeface="Calibri"/>
                          <a:cs typeface="Calibri"/>
                        </a:rPr>
                        <a:t>88.0%</a:t>
                      </a:r>
                    </a:p>
                  </a:txBody>
                  <a:tcPr marT="36576" marB="36576" anchor="ctr">
                    <a:lnL w="0">
                      <a:noFill/>
                    </a:lnL>
                    <a:lnR w="0">
                      <a:noFill/>
                    </a:lnR>
                    <a:lnT w="0">
                      <a:noFill/>
                    </a:lnT>
                    <a:lnB w="0">
                      <a:noFill/>
                    </a:lnB>
                    <a:solidFill>
                      <a:srgbClr val="FBF1E4"/>
                    </a:solidFill>
                  </a:tcPr>
                </a:tc>
                <a:extLst>
                  <a:ext uri="{0D108BD9-81ED-4DB2-BD59-A6C34878D82A}">
                    <a16:rowId xmlns:a16="http://schemas.microsoft.com/office/drawing/2014/main" val="10002"/>
                  </a:ext>
                </a:extLst>
              </a:tr>
              <a:tr h="411480">
                <a:tc>
                  <a:txBody>
                    <a:bodyPr/>
                    <a:lstStyle/>
                    <a:p>
                      <a:pPr marL="0" indent="0" algn="l">
                        <a:buNone/>
                      </a:pPr>
                      <a:r>
                        <a:rPr lang="en-US" sz="1250" b="1" dirty="0">
                          <a:solidFill>
                            <a:srgbClr val="21295C"/>
                          </a:solidFill>
                          <a:latin typeface="Calibri"/>
                          <a:ea typeface="Calibri"/>
                          <a:cs typeface="Calibri"/>
                        </a:rPr>
                        <a:t>0.168 (ERA5 coastal, lower bound)</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2.166</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0.1177</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86.5%</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250" b="1" dirty="0">
                          <a:solidFill>
                            <a:srgbClr val="21295C"/>
                          </a:solidFill>
                          <a:latin typeface="Calibri"/>
                          <a:ea typeface="Calibri"/>
                          <a:cs typeface="Calibri"/>
                        </a:rPr>
                        <a:t>0.20 (rough inland)</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50" b="0" dirty="0">
                          <a:solidFill>
                            <a:srgbClr val="56606B"/>
                          </a:solidFill>
                          <a:latin typeface="Calibri"/>
                          <a:ea typeface="Calibri"/>
                          <a:cs typeface="Calibri"/>
                        </a:rPr>
                        <a:t>2.512</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50" b="0" dirty="0">
                          <a:solidFill>
                            <a:srgbClr val="56606B"/>
                          </a:solidFill>
                          <a:latin typeface="Calibri"/>
                          <a:ea typeface="Calibri"/>
                          <a:cs typeface="Calibri"/>
                        </a:rPr>
                        <a:t>0.1365</a:t>
                      </a:r>
                    </a:p>
                  </a:txBody>
                  <a:tcPr marT="36576" marB="36576" anchor="ctr">
                    <a:lnL w="0">
                      <a:noFill/>
                    </a:lnL>
                    <a:lnR w="0">
                      <a:noFill/>
                    </a:lnR>
                    <a:lnT w="0">
                      <a:noFill/>
                    </a:lnT>
                    <a:lnB w="0">
                      <a:noFill/>
                    </a:lnB>
                    <a:solidFill>
                      <a:srgbClr val="EEF3F7"/>
                    </a:solidFill>
                  </a:tcPr>
                </a:tc>
                <a:tc>
                  <a:txBody>
                    <a:bodyPr/>
                    <a:lstStyle/>
                    <a:p>
                      <a:pPr marL="0" indent="0" algn="ctr">
                        <a:buNone/>
                      </a:pPr>
                      <a:r>
                        <a:rPr lang="en-US" sz="1250" b="0" dirty="0">
                          <a:solidFill>
                            <a:srgbClr val="56606B"/>
                          </a:solidFill>
                          <a:latin typeface="Calibri"/>
                          <a:ea typeface="Calibri"/>
                          <a:cs typeface="Calibri"/>
                        </a:rPr>
                        <a:t>84.4%</a:t>
                      </a:r>
                    </a:p>
                  </a:txBody>
                  <a:tcPr marT="36576" marB="36576" anchor="ctr">
                    <a:lnL w="0">
                      <a:noFill/>
                    </a:lnL>
                    <a:lnR w="0">
                      <a:noFill/>
                    </a:lnR>
                    <a:lnT w="0">
                      <a:noFill/>
                    </a:lnT>
                    <a:lnB w="0">
                      <a:noFill/>
                    </a:lnB>
                    <a:solidFill>
                      <a:srgbClr val="EEF3F7"/>
                    </a:solidFill>
                  </a:tcPr>
                </a:tc>
                <a:extLst>
                  <a:ext uri="{0D108BD9-81ED-4DB2-BD59-A6C34878D82A}">
                    <a16:rowId xmlns:a16="http://schemas.microsoft.com/office/drawing/2014/main" val="10004"/>
                  </a:ext>
                </a:extLst>
              </a:tr>
              <a:tr h="411480">
                <a:tc>
                  <a:txBody>
                    <a:bodyPr/>
                    <a:lstStyle/>
                    <a:p>
                      <a:pPr marL="0" indent="0" algn="l">
                        <a:buNone/>
                      </a:pPr>
                      <a:r>
                        <a:rPr lang="en-US" sz="1250" b="1" dirty="0">
                          <a:solidFill>
                            <a:srgbClr val="21295C"/>
                          </a:solidFill>
                          <a:latin typeface="Calibri"/>
                          <a:ea typeface="Calibri"/>
                          <a:cs typeface="Calibri"/>
                        </a:rPr>
                        <a:t>0.25 (very rough terrain)</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3.162</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0.1719</a:t>
                      </a:r>
                    </a:p>
                  </a:txBody>
                  <a:tcPr marT="36576" marB="36576" anchor="ctr">
                    <a:lnL w="0">
                      <a:noFill/>
                    </a:lnL>
                    <a:lnR w="0">
                      <a:noFill/>
                    </a:lnR>
                    <a:lnT w="0">
                      <a:noFill/>
                    </a:lnT>
                    <a:lnB w="0">
                      <a:noFill/>
                    </a:lnB>
                    <a:solidFill>
                      <a:srgbClr val="FFFFFF"/>
                    </a:solidFill>
                  </a:tcPr>
                </a:tc>
                <a:tc>
                  <a:txBody>
                    <a:bodyPr/>
                    <a:lstStyle/>
                    <a:p>
                      <a:pPr marL="0" indent="0" algn="ctr">
                        <a:buNone/>
                      </a:pPr>
                      <a:r>
                        <a:rPr lang="en-US" sz="1250" b="0" dirty="0">
                          <a:solidFill>
                            <a:srgbClr val="56606B"/>
                          </a:solidFill>
                          <a:latin typeface="Calibri"/>
                          <a:ea typeface="Calibri"/>
                          <a:cs typeface="Calibri"/>
                        </a:rPr>
                        <a:t>80.3%</a:t>
                      </a:r>
                    </a:p>
                  </a:txBody>
                  <a:tcPr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9235440" y="1783080"/>
            <a:ext cx="2423160" cy="2468880"/>
          </a:xfrm>
          <a:prstGeom prst="roundRect">
            <a:avLst>
              <a:gd name="adj" fmla="val 3599"/>
            </a:avLst>
          </a:prstGeom>
          <a:solidFill>
            <a:srgbClr val="F7FAFC"/>
          </a:solidFill>
          <a:ln>
            <a:noFill/>
          </a:ln>
          <a:effectLst>
            <a:outerShdw blurRad="88900" dist="25400" dir="5400000" algn="bl" rotWithShape="0">
              <a:srgbClr val="1C1C1C">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418320" y="1920240"/>
            <a:ext cx="2103120" cy="274320"/>
          </a:xfrm>
          <a:prstGeom prst="rect">
            <a:avLst/>
          </a:prstGeom>
          <a:noFill/>
        </p:spPr>
        <p:txBody>
          <a:bodyPr wrap="square" lIns="0" tIns="0" rIns="0" bIns="0" anchor="t">
            <a:spAutoFit/>
          </a:bodyPr>
          <a:lstStyle/>
          <a:p>
            <a:pPr marL="0" indent="0" algn="l">
              <a:buNone/>
            </a:pPr>
            <a:r>
              <a:rPr lang="en-US" sz="1100" b="1" kern="0" spc="100" dirty="0">
                <a:solidFill>
                  <a:srgbClr val="1C7293"/>
                </a:solidFill>
                <a:latin typeface="Calibri"/>
                <a:ea typeface="Calibri"/>
                <a:cs typeface="Calibri"/>
              </a:rPr>
              <a:t>TO CLOSE 16.07×</a:t>
            </a:r>
          </a:p>
        </p:txBody>
      </p:sp>
      <p:sp>
        <p:nvSpPr>
          <p:cNvPr id="7" name="TextBox 6"/>
          <p:cNvSpPr txBox="1"/>
          <p:nvPr/>
        </p:nvSpPr>
        <p:spPr>
          <a:xfrm>
            <a:off x="9418320" y="2240280"/>
            <a:ext cx="2103120" cy="777240"/>
          </a:xfrm>
          <a:prstGeom prst="rect">
            <a:avLst/>
          </a:prstGeom>
          <a:noFill/>
        </p:spPr>
        <p:txBody>
          <a:bodyPr wrap="square" lIns="0" tIns="0" rIns="0" bIns="0" anchor="ctr">
            <a:spAutoFit/>
          </a:bodyPr>
          <a:lstStyle/>
          <a:p>
            <a:pPr marL="0" indent="0" algn="l">
              <a:buNone/>
            </a:pPr>
            <a:r>
              <a:rPr lang="en-US" sz="3200" b="1" dirty="0">
                <a:solidFill>
                  <a:srgbClr val="C8791A"/>
                </a:solidFill>
                <a:latin typeface="Cambria"/>
                <a:ea typeface="Cambria"/>
                <a:cs typeface="Cambria"/>
              </a:rPr>
              <a:t>α = 0.60</a:t>
            </a:r>
          </a:p>
        </p:txBody>
      </p:sp>
      <p:sp>
        <p:nvSpPr>
          <p:cNvPr id="8" name="TextBox 7"/>
          <p:cNvSpPr txBox="1"/>
          <p:nvPr/>
        </p:nvSpPr>
        <p:spPr>
          <a:xfrm>
            <a:off x="9418320" y="3063240"/>
            <a:ext cx="2103120" cy="1097280"/>
          </a:xfrm>
          <a:prstGeom prst="rect">
            <a:avLst/>
          </a:prstGeom>
          <a:noFill/>
        </p:spPr>
        <p:txBody>
          <a:bodyPr wrap="square" lIns="0" tIns="0" rIns="0" bIns="0" anchor="t">
            <a:spAutoFit/>
          </a:bodyPr>
          <a:lstStyle/>
          <a:p>
            <a:pPr marL="0" indent="0" algn="l">
              <a:lnSpc>
                <a:spcPct val="110000"/>
              </a:lnSpc>
              <a:buNone/>
            </a:pPr>
            <a:r>
              <a:rPr lang="en-US" sz="1100" b="0" i="1" dirty="0">
                <a:solidFill>
                  <a:srgbClr val="56606B"/>
                </a:solidFill>
                <a:latin typeface="Calibri"/>
                <a:ea typeface="Calibri"/>
                <a:cs typeface="Calibri"/>
              </a:rPr>
              <a:t>four times the Hellmann value, outside any surface in Peterson &amp; Hennessey (1978).</a:t>
            </a:r>
          </a:p>
        </p:txBody>
      </p:sp>
      <p:sp>
        <p:nvSpPr>
          <p:cNvPr id="9" name="Rounded Rectangle 8"/>
          <p:cNvSpPr/>
          <p:nvPr/>
        </p:nvSpPr>
        <p:spPr>
          <a:xfrm>
            <a:off x="548640" y="4526280"/>
            <a:ext cx="11109960" cy="1691640"/>
          </a:xfrm>
          <a:prstGeom prst="roundRect">
            <a:avLst>
              <a:gd name="adj" fmla="val 3599"/>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22960" y="4617720"/>
            <a:ext cx="10561320" cy="1508760"/>
          </a:xfrm>
          <a:prstGeom prst="rect">
            <a:avLst/>
          </a:prstGeom>
          <a:noFill/>
        </p:spPr>
        <p:txBody>
          <a:bodyPr wrap="square" lIns="0" tIns="0" rIns="0" bIns="0" anchor="ctr">
            <a:spAutoFit/>
          </a:bodyPr>
          <a:lstStyle/>
          <a:p>
            <a:pPr marL="0" indent="0" algn="l">
              <a:lnSpc>
                <a:spcPct val="108000"/>
              </a:lnSpc>
              <a:spcAft>
                <a:spcPts val="600"/>
              </a:spcAft>
              <a:buNone/>
            </a:pPr>
            <a:r>
              <a:rPr lang="en-US" sz="1200" b="1" dirty="0">
                <a:solidFill>
                  <a:srgbClr val="21295C"/>
                </a:solidFill>
                <a:latin typeface="Calibri"/>
                <a:ea typeface="Calibri"/>
                <a:cs typeface="Calibri"/>
              </a:rPr>
              <a:t>Only the 1/7 row is a frozen phase output; </a:t>
            </a:r>
            <a:r>
              <a:rPr lang="en-US" sz="1200" b="0" dirty="0">
                <a:solidFill>
                  <a:srgbClr val="56606B"/>
                </a:solidFill>
                <a:latin typeface="Calibri"/>
                <a:ea typeface="Calibri"/>
                <a:cs typeface="Calibri"/>
              </a:rPr>
              <a:t>the other four are an arithmetic sensitivity computed for Chapter 3.</a:t>
            </a:r>
          </a:p>
          <a:p>
            <a:pPr marL="0" indent="0" algn="l">
              <a:lnSpc>
                <a:spcPct val="108000"/>
              </a:lnSpc>
              <a:spcAft>
                <a:spcPts val="600"/>
              </a:spcAft>
              <a:buNone/>
            </a:pPr>
            <a:r>
              <a:rPr lang="en-US" sz="1200" b="0" dirty="0">
                <a:solidFill>
                  <a:srgbClr val="56606B"/>
                </a:solidFill>
                <a:latin typeface="Calibri"/>
                <a:ea typeface="Calibri"/>
                <a:cs typeface="Calibri"/>
              </a:rPr>
              <a:t>0.168 is measured at Nordfriesland (ERA5 10 m vs 100 m means, 5.4825 vs 8.0682 m/s) and is a lower bound for Bologna's sheltered Po-Valley site. A larger α means a smaller residual, so 88.0% is an upper bound on the share attributable to geography — the operative result is the 80.3% floor.</a:t>
            </a:r>
          </a:p>
        </p:txBody>
      </p:sp>
      <p:sp>
        <p:nvSpPr>
          <p:cNvPr id="11" name="TextBox 10"/>
          <p:cNvSpPr txBox="1"/>
          <p:nvPr/>
        </p:nvSpPr>
        <p:spPr>
          <a:xfrm>
            <a:off x="548640" y="6510528"/>
            <a:ext cx="8229600" cy="256032"/>
          </a:xfrm>
          <a:prstGeom prst="rect">
            <a:avLst/>
          </a:prstGeom>
          <a:noFill/>
        </p:spPr>
        <p:txBody>
          <a:bodyPr wrap="square" lIns="0" tIns="0" rIns="0" bIns="0" anchor="ctr">
            <a:spAutoFit/>
          </a:bodyPr>
          <a:lstStyle/>
          <a:p>
            <a:pPr marL="0" indent="0" algn="l">
              <a:buNone/>
            </a:pPr>
            <a:r>
              <a:rPr lang="en-US" sz="900" b="0" i="1" dirty="0">
                <a:solidFill>
                  <a:srgbClr val="56606B"/>
                </a:solidFill>
                <a:latin typeface="Calibri"/>
                <a:ea typeface="Calibri"/>
                <a:cs typeface="Calibri"/>
              </a:rPr>
              <a:t>Wind Speed Modelling for Derivatives Pricing — Final Defence</a:t>
            </a:r>
          </a:p>
        </p:txBody>
      </p:sp>
      <p:sp>
        <p:nvSpPr>
          <p:cNvPr id="12" name="TextBox 11"/>
          <p:cNvSpPr txBox="1"/>
          <p:nvPr/>
        </p:nvSpPr>
        <p:spPr>
          <a:xfrm>
            <a:off x="11365992" y="6510528"/>
            <a:ext cx="365760" cy="256032"/>
          </a:xfrm>
          <a:prstGeom prst="rect">
            <a:avLst/>
          </a:prstGeom>
          <a:noFill/>
        </p:spPr>
        <p:txBody>
          <a:bodyPr wrap="square" lIns="0" tIns="0" rIns="0" bIns="0" anchor="ctr">
            <a:spAutoFit/>
          </a:bodyPr>
          <a:lstStyle/>
          <a:p>
            <a:pPr marL="0" indent="0" algn="r">
              <a:buNone/>
            </a:pPr>
            <a:r>
              <a:rPr lang="en-US" sz="900" b="0" dirty="0">
                <a:solidFill>
                  <a:srgbClr val="56606B"/>
                </a:solidFill>
                <a:latin typeface="Calibri"/>
                <a:ea typeface="Calibri"/>
                <a:cs typeface="Calibri"/>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BACKUP B6 · CH. 2 — MODEL ESTIMATES</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The pipeline’s fitted parameters, both datasets</a:t>
            </a:r>
            <a:endParaRPr lang="en-US" sz="270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19</a:t>
            </a:r>
            <a:endParaRPr lang="en-US" sz="900" dirty="0"/>
          </a:p>
        </p:txBody>
      </p:sp>
      <p:graphicFrame>
        <p:nvGraphicFramePr>
          <p:cNvPr id="14" name="Table 13"/>
          <p:cNvGraphicFramePr>
            <a:graphicFrameLocks noGrp="1"/>
          </p:cNvGraphicFramePr>
          <p:nvPr/>
        </p:nvGraphicFramePr>
        <p:xfrm>
          <a:off x="548640" y="1737360"/>
          <a:ext cx="11109960" cy="4023360"/>
        </p:xfrm>
        <a:graphic>
          <a:graphicData uri="http://schemas.openxmlformats.org/drawingml/2006/table">
            <a:tbl>
              <a:tblPr>
                <a:tableStyleId>{5C22544A-7EE6-4342-B048-85BDC9FD1C3A}</a:tableStyleId>
              </a:tblPr>
              <a:tblGrid>
                <a:gridCol w="37947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65760">
                <a:tc>
                  <a:txBody>
                    <a:bodyPr/>
                    <a:lstStyle/>
                    <a:p>
                      <a:pPr algn="l"/>
                      <a:r>
                        <a:rPr sz="1200" b="1">
                          <a:solidFill>
                            <a:srgbClr val="FFFFFF"/>
                          </a:solidFill>
                          <a:latin typeface="Calibri"/>
                        </a:rPr>
                        <a:t>Quantity</a:t>
                      </a:r>
                    </a:p>
                  </a:txBody>
                  <a:tcPr marT="36576" marB="36576" anchor="ctr">
                    <a:lnB w="0">
                      <a:noFill/>
                    </a:lnB>
                    <a:solidFill>
                      <a:srgbClr val="21295C"/>
                    </a:solidFill>
                  </a:tcPr>
                </a:tc>
                <a:tc>
                  <a:txBody>
                    <a:bodyPr/>
                    <a:lstStyle/>
                    <a:p>
                      <a:pPr algn="ctr"/>
                      <a:r>
                        <a:rPr sz="1200" b="1">
                          <a:solidFill>
                            <a:srgbClr val="FFFFFF"/>
                          </a:solidFill>
                          <a:latin typeface="Calibri"/>
                        </a:rPr>
                        <a:t>Dataset A — Bologna 10 m</a:t>
                      </a:r>
                    </a:p>
                  </a:txBody>
                  <a:tcPr marT="36576" marB="36576" anchor="ctr">
                    <a:lnB w="0">
                      <a:noFill/>
                    </a:lnB>
                    <a:solidFill>
                      <a:srgbClr val="21295C"/>
                    </a:solidFill>
                  </a:tcPr>
                </a:tc>
                <a:tc>
                  <a:txBody>
                    <a:bodyPr/>
                    <a:lstStyle/>
                    <a:p>
                      <a:pPr algn="ctr"/>
                      <a:r>
                        <a:rPr sz="1200" b="1">
                          <a:solidFill>
                            <a:srgbClr val="FFFFFF"/>
                          </a:solidFill>
                          <a:latin typeface="Calibri"/>
                        </a:rPr>
                        <a:t>Dataset B — Nordfriesland 100 m</a:t>
                      </a:r>
                    </a:p>
                  </a:txBody>
                  <a:tcPr marT="36576" marB="36576" anchor="ctr">
                    <a:lnB w="0">
                      <a:noFill/>
                    </a:lnB>
                    <a:solidFill>
                      <a:srgbClr val="21295C"/>
                    </a:solidFill>
                  </a:tcPr>
                </a:tc>
                <a:extLst>
                  <a:ext uri="{0D108BD9-81ED-4DB2-BD59-A6C34878D82A}">
                    <a16:rowId xmlns:a16="http://schemas.microsoft.com/office/drawing/2014/main" val="10000"/>
                  </a:ext>
                </a:extLst>
              </a:tr>
              <a:tr h="365760">
                <a:tc>
                  <a:txBody>
                    <a:bodyPr/>
                    <a:lstStyle/>
                    <a:p>
                      <a:pPr algn="l"/>
                      <a:r>
                        <a:rPr sz="1200" b="1">
                          <a:solidFill>
                            <a:srgbClr val="21295C"/>
                          </a:solidFill>
                          <a:latin typeface="Calibri"/>
                        </a:rPr>
                        <a:t>Box–Cox λ (optimum → adopted, 1/λ ∈ ℤ⁺)</a:t>
                      </a:r>
                    </a:p>
                  </a:txBody>
                  <a:tcPr marT="36576" marB="36576" anchor="ctr">
                    <a:lnT>
                      <a:noFill/>
                    </a:lnT>
                    <a:lnB w="0">
                      <a:noFill/>
                    </a:lnB>
                    <a:solidFill>
                      <a:srgbClr val="FFFFFF"/>
                    </a:solidFill>
                  </a:tcPr>
                </a:tc>
                <a:tc>
                  <a:txBody>
                    <a:bodyPr/>
                    <a:lstStyle/>
                    <a:p>
                      <a:pPr algn="ctr"/>
                      <a:r>
                        <a:rPr sz="1200">
                          <a:solidFill>
                            <a:srgbClr val="56606B"/>
                          </a:solidFill>
                          <a:latin typeface="Calibri"/>
                        </a:rPr>
                        <a:t>−0.450 → 0.1</a:t>
                      </a:r>
                    </a:p>
                  </a:txBody>
                  <a:tcPr marT="36576" marB="36576" anchor="ctr">
                    <a:lnT>
                      <a:noFill/>
                    </a:lnT>
                    <a:lnB w="0">
                      <a:noFill/>
                    </a:lnB>
                    <a:solidFill>
                      <a:srgbClr val="FFFFFF"/>
                    </a:solidFill>
                  </a:tcPr>
                </a:tc>
                <a:tc>
                  <a:txBody>
                    <a:bodyPr/>
                    <a:lstStyle/>
                    <a:p>
                      <a:pPr algn="ctr"/>
                      <a:r>
                        <a:rPr sz="1200">
                          <a:solidFill>
                            <a:srgbClr val="56606B"/>
                          </a:solidFill>
                          <a:latin typeface="Calibri"/>
                        </a:rPr>
                        <a:t>0.404 → 0.5</a:t>
                      </a:r>
                    </a:p>
                  </a:txBody>
                  <a:tcPr marT="36576" marB="36576" anchor="ctr">
                    <a:lnT>
                      <a:noFill/>
                    </a:lnT>
                    <a:lnB w="0">
                      <a:noFill/>
                    </a:lnB>
                    <a:solidFill>
                      <a:srgbClr val="FFFFFF"/>
                    </a:solidFill>
                  </a:tcPr>
                </a:tc>
                <a:extLst>
                  <a:ext uri="{0D108BD9-81ED-4DB2-BD59-A6C34878D82A}">
                    <a16:rowId xmlns:a16="http://schemas.microsoft.com/office/drawing/2014/main" val="10001"/>
                  </a:ext>
                </a:extLst>
              </a:tr>
              <a:tr h="365760">
                <a:tc>
                  <a:txBody>
                    <a:bodyPr/>
                    <a:lstStyle/>
                    <a:p>
                      <a:pPr algn="l"/>
                      <a:r>
                        <a:rPr sz="1200" b="1">
                          <a:solidFill>
                            <a:srgbClr val="21295C"/>
                          </a:solidFill>
                          <a:latin typeface="Calibri"/>
                        </a:rPr>
                        <a:t>AR(4) β₁, β₂, β₃, β₄</a:t>
                      </a:r>
                    </a:p>
                  </a:txBody>
                  <a:tcPr marT="36576" marB="36576" anchor="ctr">
                    <a:lnT>
                      <a:noFill/>
                    </a:lnT>
                    <a:lnB w="0">
                      <a:noFill/>
                    </a:lnB>
                    <a:solidFill>
                      <a:srgbClr val="EEF3F7"/>
                    </a:solidFill>
                  </a:tcPr>
                </a:tc>
                <a:tc>
                  <a:txBody>
                    <a:bodyPr/>
                    <a:lstStyle/>
                    <a:p>
                      <a:pPr algn="ctr"/>
                      <a:r>
                        <a:rPr sz="1200">
                          <a:solidFill>
                            <a:srgbClr val="56606B"/>
                          </a:solidFill>
                          <a:latin typeface="Calibri"/>
                        </a:rPr>
                        <a:t>0.6299, −0.1443, 0.0926, 0.0310</a:t>
                      </a:r>
                    </a:p>
                  </a:txBody>
                  <a:tcPr marT="36576" marB="36576" anchor="ctr">
                    <a:lnT>
                      <a:noFill/>
                    </a:lnT>
                    <a:lnB w="0">
                      <a:noFill/>
                    </a:lnB>
                    <a:solidFill>
                      <a:srgbClr val="EEF3F7"/>
                    </a:solidFill>
                  </a:tcPr>
                </a:tc>
                <a:tc>
                  <a:txBody>
                    <a:bodyPr/>
                    <a:lstStyle/>
                    <a:p>
                      <a:pPr algn="ctr"/>
                      <a:r>
                        <a:rPr sz="1200">
                          <a:solidFill>
                            <a:srgbClr val="56606B"/>
                          </a:solidFill>
                          <a:latin typeface="Calibri"/>
                        </a:rPr>
                        <a:t>0.5324, −0.0763, 0.0324, −0.0074</a:t>
                      </a:r>
                    </a:p>
                  </a:txBody>
                  <a:tcPr marT="36576" marB="36576" anchor="ctr">
                    <a:lnT>
                      <a:noFill/>
                    </a:lnT>
                    <a:lnB w="0">
                      <a:noFill/>
                    </a:lnB>
                    <a:solidFill>
                      <a:srgbClr val="EEF3F7"/>
                    </a:solidFill>
                  </a:tcPr>
                </a:tc>
                <a:extLst>
                  <a:ext uri="{0D108BD9-81ED-4DB2-BD59-A6C34878D82A}">
                    <a16:rowId xmlns:a16="http://schemas.microsoft.com/office/drawing/2014/main" val="10002"/>
                  </a:ext>
                </a:extLst>
              </a:tr>
              <a:tr h="365760">
                <a:tc>
                  <a:txBody>
                    <a:bodyPr/>
                    <a:lstStyle/>
                    <a:p>
                      <a:pPr algn="l"/>
                      <a:r>
                        <a:rPr sz="1200" b="1">
                          <a:solidFill>
                            <a:srgbClr val="21295C"/>
                          </a:solidFill>
                          <a:latin typeface="Calibri"/>
                        </a:rPr>
                        <a:t>AIC advantage of AR(3) over AR(4)</a:t>
                      </a:r>
                    </a:p>
                  </a:txBody>
                  <a:tcPr marT="36576" marB="36576" anchor="ctr">
                    <a:lnT>
                      <a:noFill/>
                    </a:lnT>
                    <a:lnB w="0">
                      <a:noFill/>
                    </a:lnB>
                    <a:solidFill>
                      <a:srgbClr val="FFFFFF"/>
                    </a:solidFill>
                  </a:tcPr>
                </a:tc>
                <a:tc>
                  <a:txBody>
                    <a:bodyPr/>
                    <a:lstStyle/>
                    <a:p>
                      <a:pPr algn="ctr"/>
                      <a:r>
                        <a:rPr sz="1200">
                          <a:solidFill>
                            <a:srgbClr val="56606B"/>
                          </a:solidFill>
                          <a:latin typeface="Calibri"/>
                        </a:rPr>
                        <a:t>0.59</a:t>
                      </a:r>
                    </a:p>
                  </a:txBody>
                  <a:tcPr marT="36576" marB="36576" anchor="ctr">
                    <a:lnT>
                      <a:noFill/>
                    </a:lnT>
                    <a:lnB w="0">
                      <a:noFill/>
                    </a:lnB>
                    <a:solidFill>
                      <a:srgbClr val="FFFFFF"/>
                    </a:solidFill>
                  </a:tcPr>
                </a:tc>
                <a:tc>
                  <a:txBody>
                    <a:bodyPr/>
                    <a:lstStyle/>
                    <a:p>
                      <a:pPr algn="ctr"/>
                      <a:r>
                        <a:rPr sz="1200">
                          <a:solidFill>
                            <a:srgbClr val="56606B"/>
                          </a:solidFill>
                          <a:latin typeface="Calibri"/>
                        </a:rPr>
                        <a:t>1.8</a:t>
                      </a:r>
                    </a:p>
                  </a:txBody>
                  <a:tcPr marT="36576" marB="36576" anchor="ctr">
                    <a:lnT>
                      <a:noFill/>
                    </a:lnT>
                    <a:lnB w="0">
                      <a:noFill/>
                    </a:lnB>
                    <a:solidFill>
                      <a:srgbClr val="FFFFFF"/>
                    </a:solidFill>
                  </a:tcPr>
                </a:tc>
                <a:extLst>
                  <a:ext uri="{0D108BD9-81ED-4DB2-BD59-A6C34878D82A}">
                    <a16:rowId xmlns:a16="http://schemas.microsoft.com/office/drawing/2014/main" val="10003"/>
                  </a:ext>
                </a:extLst>
              </a:tr>
              <a:tr h="365760">
                <a:tc>
                  <a:txBody>
                    <a:bodyPr/>
                    <a:lstStyle/>
                    <a:p>
                      <a:pPr algn="l"/>
                      <a:r>
                        <a:rPr sz="1200" b="1">
                          <a:solidFill>
                            <a:srgbClr val="21295C"/>
                          </a:solidFill>
                          <a:latin typeface="Calibri"/>
                        </a:rPr>
                        <a:t>GARCH ω, α, β</a:t>
                      </a:r>
                    </a:p>
                  </a:txBody>
                  <a:tcPr marT="36576" marB="36576" anchor="ctr">
                    <a:lnT>
                      <a:noFill/>
                    </a:lnT>
                    <a:lnB w="0">
                      <a:noFill/>
                    </a:lnB>
                    <a:solidFill>
                      <a:srgbClr val="EEF3F7"/>
                    </a:solidFill>
                  </a:tcPr>
                </a:tc>
                <a:tc>
                  <a:txBody>
                    <a:bodyPr/>
                    <a:lstStyle/>
                    <a:p>
                      <a:pPr algn="ctr"/>
                      <a:r>
                        <a:rPr sz="1200">
                          <a:solidFill>
                            <a:srgbClr val="56606B"/>
                          </a:solidFill>
                          <a:latin typeface="Calibri"/>
                        </a:rPr>
                        <a:t>0.01004, 0.03105, 0.95242</a:t>
                      </a:r>
                    </a:p>
                  </a:txBody>
                  <a:tcPr marT="36576" marB="36576" anchor="ctr">
                    <a:lnT>
                      <a:noFill/>
                    </a:lnT>
                    <a:lnB w="0">
                      <a:noFill/>
                    </a:lnB>
                    <a:solidFill>
                      <a:srgbClr val="EEF3F7"/>
                    </a:solidFill>
                  </a:tcPr>
                </a:tc>
                <a:tc>
                  <a:txBody>
                    <a:bodyPr/>
                    <a:lstStyle/>
                    <a:p>
                      <a:pPr algn="ctr"/>
                      <a:r>
                        <a:rPr sz="1200">
                          <a:solidFill>
                            <a:srgbClr val="56606B"/>
                          </a:solidFill>
                          <a:latin typeface="Calibri"/>
                        </a:rPr>
                        <a:t>0.01348, 0.00590, 0.97618</a:t>
                      </a:r>
                    </a:p>
                  </a:txBody>
                  <a:tcPr marT="36576" marB="36576" anchor="ctr">
                    <a:lnT>
                      <a:noFill/>
                    </a:lnT>
                    <a:lnB w="0">
                      <a:noFill/>
                    </a:lnB>
                    <a:solidFill>
                      <a:srgbClr val="EEF3F7"/>
                    </a:solidFill>
                  </a:tcPr>
                </a:tc>
                <a:extLst>
                  <a:ext uri="{0D108BD9-81ED-4DB2-BD59-A6C34878D82A}">
                    <a16:rowId xmlns:a16="http://schemas.microsoft.com/office/drawing/2014/main" val="10004"/>
                  </a:ext>
                </a:extLst>
              </a:tr>
              <a:tr h="365760">
                <a:tc>
                  <a:txBody>
                    <a:bodyPr/>
                    <a:lstStyle/>
                    <a:p>
                      <a:pPr algn="l"/>
                      <a:r>
                        <a:rPr sz="1200" b="1">
                          <a:solidFill>
                            <a:srgbClr val="21295C"/>
                          </a:solidFill>
                          <a:latin typeface="Calibri"/>
                        </a:rPr>
                        <a:t>Persistence α + β · volatility half-life</a:t>
                      </a:r>
                    </a:p>
                  </a:txBody>
                  <a:tcPr marT="36576" marB="36576" anchor="ctr">
                    <a:lnT>
                      <a:noFill/>
                    </a:lnT>
                    <a:lnB w="0">
                      <a:noFill/>
                    </a:lnB>
                    <a:solidFill>
                      <a:srgbClr val="FFFFFF"/>
                    </a:solidFill>
                  </a:tcPr>
                </a:tc>
                <a:tc>
                  <a:txBody>
                    <a:bodyPr/>
                    <a:lstStyle/>
                    <a:p>
                      <a:pPr algn="ctr"/>
                      <a:r>
                        <a:rPr sz="1200">
                          <a:solidFill>
                            <a:srgbClr val="56606B"/>
                          </a:solidFill>
                          <a:latin typeface="Calibri"/>
                        </a:rPr>
                        <a:t>0.9835 · 41.6 days</a:t>
                      </a:r>
                    </a:p>
                  </a:txBody>
                  <a:tcPr marT="36576" marB="36576" anchor="ctr">
                    <a:lnT>
                      <a:noFill/>
                    </a:lnT>
                    <a:lnB w="0">
                      <a:noFill/>
                    </a:lnB>
                    <a:solidFill>
                      <a:srgbClr val="FFFFFF"/>
                    </a:solidFill>
                  </a:tcPr>
                </a:tc>
                <a:tc>
                  <a:txBody>
                    <a:bodyPr/>
                    <a:lstStyle/>
                    <a:p>
                      <a:pPr algn="ctr"/>
                      <a:r>
                        <a:rPr sz="1200">
                          <a:solidFill>
                            <a:srgbClr val="56606B"/>
                          </a:solidFill>
                          <a:latin typeface="Calibri"/>
                        </a:rPr>
                        <a:t>0.9821 · 38.3 days</a:t>
                      </a:r>
                    </a:p>
                  </a:txBody>
                  <a:tcPr marT="36576" marB="36576" anchor="ctr">
                    <a:lnT>
                      <a:noFill/>
                    </a:lnT>
                    <a:lnB w="0">
                      <a:noFill/>
                    </a:lnB>
                    <a:solidFill>
                      <a:srgbClr val="FFFFFF"/>
                    </a:solidFill>
                  </a:tcPr>
                </a:tc>
                <a:extLst>
                  <a:ext uri="{0D108BD9-81ED-4DB2-BD59-A6C34878D82A}">
                    <a16:rowId xmlns:a16="http://schemas.microsoft.com/office/drawing/2014/main" val="10005"/>
                  </a:ext>
                </a:extLst>
              </a:tr>
              <a:tr h="365760">
                <a:tc>
                  <a:txBody>
                    <a:bodyPr/>
                    <a:lstStyle/>
                    <a:p>
                      <a:pPr algn="l"/>
                      <a:r>
                        <a:rPr sz="1200" b="1">
                          <a:solidFill>
                            <a:srgbClr val="21295C"/>
                          </a:solidFill>
                          <a:latin typeface="Calibri"/>
                        </a:rPr>
                        <a:t>CAR(4) α₁, α₂, α₃, α₄</a:t>
                      </a:r>
                    </a:p>
                  </a:txBody>
                  <a:tcPr marT="36576" marB="36576" anchor="ctr">
                    <a:lnT>
                      <a:noFill/>
                    </a:lnT>
                    <a:lnB w="0">
                      <a:noFill/>
                    </a:lnB>
                    <a:solidFill>
                      <a:srgbClr val="EEF3F7"/>
                    </a:solidFill>
                  </a:tcPr>
                </a:tc>
                <a:tc>
                  <a:txBody>
                    <a:bodyPr/>
                    <a:lstStyle/>
                    <a:p>
                      <a:pPr algn="ctr"/>
                      <a:r>
                        <a:rPr sz="1200">
                          <a:solidFill>
                            <a:srgbClr val="56606B"/>
                          </a:solidFill>
                          <a:latin typeface="Calibri"/>
                        </a:rPr>
                        <a:t>3.3701, 4.2546, 2.3063, 0.3908</a:t>
                      </a:r>
                    </a:p>
                  </a:txBody>
                  <a:tcPr marT="36576" marB="36576" anchor="ctr">
                    <a:lnT>
                      <a:noFill/>
                    </a:lnT>
                    <a:lnB w="0">
                      <a:noFill/>
                    </a:lnB>
                    <a:solidFill>
                      <a:srgbClr val="EEF3F7"/>
                    </a:solidFill>
                  </a:tcPr>
                </a:tc>
                <a:tc>
                  <a:txBody>
                    <a:bodyPr/>
                    <a:lstStyle/>
                    <a:p>
                      <a:pPr algn="ctr"/>
                      <a:r>
                        <a:rPr sz="1200">
                          <a:solidFill>
                            <a:srgbClr val="56606B"/>
                          </a:solidFill>
                          <a:latin typeface="Calibri"/>
                        </a:rPr>
                        <a:t>3.4676, 4.4789, 2.5228, 0.5188</a:t>
                      </a:r>
                    </a:p>
                  </a:txBody>
                  <a:tcPr marT="36576" marB="36576" anchor="ctr">
                    <a:lnT>
                      <a:noFill/>
                    </a:lnT>
                    <a:lnB w="0">
                      <a:noFill/>
                    </a:lnB>
                    <a:solidFill>
                      <a:srgbClr val="EEF3F7"/>
                    </a:solidFill>
                  </a:tcPr>
                </a:tc>
                <a:extLst>
                  <a:ext uri="{0D108BD9-81ED-4DB2-BD59-A6C34878D82A}">
                    <a16:rowId xmlns:a16="http://schemas.microsoft.com/office/drawing/2014/main" val="10006"/>
                  </a:ext>
                </a:extLst>
              </a:tr>
              <a:tr h="365760">
                <a:tc>
                  <a:txBody>
                    <a:bodyPr/>
                    <a:lstStyle/>
                    <a:p>
                      <a:pPr algn="l"/>
                      <a:r>
                        <a:rPr sz="1200" b="1">
                          <a:solidFill>
                            <a:srgbClr val="21295C"/>
                          </a:solidFill>
                          <a:latin typeface="Calibri"/>
                        </a:rPr>
                        <a:t>Eigenvalues of A</a:t>
                      </a:r>
                    </a:p>
                  </a:txBody>
                  <a:tcPr marT="36576" marB="36576" anchor="ctr">
                    <a:lnT>
                      <a:noFill/>
                    </a:lnT>
                    <a:lnB w="0">
                      <a:noFill/>
                    </a:lnB>
                    <a:solidFill>
                      <a:srgbClr val="FFFFFF"/>
                    </a:solidFill>
                  </a:tcPr>
                </a:tc>
                <a:tc>
                  <a:txBody>
                    <a:bodyPr/>
                    <a:lstStyle/>
                    <a:p>
                      <a:pPr algn="ctr"/>
                      <a:r>
                        <a:rPr sz="1200">
                          <a:solidFill>
                            <a:srgbClr val="56606B"/>
                          </a:solidFill>
                          <a:latin typeface="Calibri"/>
                        </a:rPr>
                        <a:t>−0.9358 ± 0.4653i, −1.2004, −0.2980</a:t>
                      </a:r>
                    </a:p>
                  </a:txBody>
                  <a:tcPr marT="36576" marB="36576" anchor="ctr">
                    <a:lnT>
                      <a:noFill/>
                    </a:lnT>
                    <a:lnB w="0">
                      <a:noFill/>
                    </a:lnB>
                    <a:solidFill>
                      <a:srgbClr val="FFFFFF"/>
                    </a:solidFill>
                  </a:tcPr>
                </a:tc>
                <a:tc>
                  <a:txBody>
                    <a:bodyPr/>
                    <a:lstStyle/>
                    <a:p>
                      <a:pPr algn="ctr"/>
                      <a:r>
                        <a:rPr sz="1200">
                          <a:solidFill>
                            <a:srgbClr val="56606B"/>
                          </a:solidFill>
                          <a:latin typeface="Calibri"/>
                        </a:rPr>
                        <a:t>−1.0730 ± 0.2550i, −0.7614, −0.5602</a:t>
                      </a:r>
                    </a:p>
                  </a:txBody>
                  <a:tcPr marT="36576" marB="36576" anchor="ctr">
                    <a:lnT>
                      <a:noFill/>
                    </a:lnT>
                    <a:lnB w="0">
                      <a:noFill/>
                    </a:lnB>
                    <a:solidFill>
                      <a:srgbClr val="FFFFFF"/>
                    </a:solidFill>
                  </a:tcPr>
                </a:tc>
                <a:extLst>
                  <a:ext uri="{0D108BD9-81ED-4DB2-BD59-A6C34878D82A}">
                    <a16:rowId xmlns:a16="http://schemas.microsoft.com/office/drawing/2014/main" val="10007"/>
                  </a:ext>
                </a:extLst>
              </a:tr>
              <a:tr h="365760">
                <a:tc>
                  <a:txBody>
                    <a:bodyPr/>
                    <a:lstStyle/>
                    <a:p>
                      <a:pPr algn="l"/>
                      <a:r>
                        <a:rPr sz="1200" b="1">
                          <a:solidFill>
                            <a:srgbClr val="21295C"/>
                          </a:solidFill>
                          <a:latin typeface="Calibri"/>
                        </a:rPr>
                        <a:t>Oscillatory period · mean-reversion half-life</a:t>
                      </a:r>
                    </a:p>
                  </a:txBody>
                  <a:tcPr marT="36576" marB="36576" anchor="ctr">
                    <a:lnT>
                      <a:noFill/>
                    </a:lnT>
                    <a:lnB w="0">
                      <a:noFill/>
                    </a:lnB>
                    <a:solidFill>
                      <a:srgbClr val="EEF3F7"/>
                    </a:solidFill>
                  </a:tcPr>
                </a:tc>
                <a:tc>
                  <a:txBody>
                    <a:bodyPr/>
                    <a:lstStyle/>
                    <a:p>
                      <a:pPr algn="ctr"/>
                      <a:r>
                        <a:rPr sz="1200">
                          <a:solidFill>
                            <a:srgbClr val="56606B"/>
                          </a:solidFill>
                          <a:latin typeface="Calibri"/>
                        </a:rPr>
                        <a:t>13.5 days · 2.33 days</a:t>
                      </a:r>
                    </a:p>
                  </a:txBody>
                  <a:tcPr marT="36576" marB="36576" anchor="ctr">
                    <a:lnT>
                      <a:noFill/>
                    </a:lnT>
                    <a:lnB w="0">
                      <a:noFill/>
                    </a:lnB>
                    <a:solidFill>
                      <a:srgbClr val="EEF3F7"/>
                    </a:solidFill>
                  </a:tcPr>
                </a:tc>
                <a:tc>
                  <a:txBody>
                    <a:bodyPr/>
                    <a:lstStyle/>
                    <a:p>
                      <a:pPr algn="ctr"/>
                      <a:r>
                        <a:rPr sz="1200">
                          <a:solidFill>
                            <a:srgbClr val="56606B"/>
                          </a:solidFill>
                          <a:latin typeface="Calibri"/>
                        </a:rPr>
                        <a:t>24.6 days · 1.24 days</a:t>
                      </a:r>
                    </a:p>
                  </a:txBody>
                  <a:tcPr marT="36576" marB="36576" anchor="ctr">
                    <a:lnT>
                      <a:noFill/>
                    </a:lnT>
                    <a:lnB w="0">
                      <a:noFill/>
                    </a:lnB>
                    <a:solidFill>
                      <a:srgbClr val="EEF3F7"/>
                    </a:solidFill>
                  </a:tcPr>
                </a:tc>
                <a:extLst>
                  <a:ext uri="{0D108BD9-81ED-4DB2-BD59-A6C34878D82A}">
                    <a16:rowId xmlns:a16="http://schemas.microsoft.com/office/drawing/2014/main" val="10008"/>
                  </a:ext>
                </a:extLst>
              </a:tr>
              <a:tr h="365760">
                <a:tc>
                  <a:txBody>
                    <a:bodyPr/>
                    <a:lstStyle/>
                    <a:p>
                      <a:pPr algn="l"/>
                      <a:r>
                        <a:rPr sz="1200" b="1">
                          <a:solidFill>
                            <a:srgbClr val="21295C"/>
                          </a:solidFill>
                          <a:latin typeface="Calibri"/>
                        </a:rPr>
                        <a:t>NIG α̂ · KS p (NIG / Gaussian)</a:t>
                      </a:r>
                    </a:p>
                  </a:txBody>
                  <a:tcPr marT="36576" marB="36576" anchor="ctr">
                    <a:lnT>
                      <a:noFill/>
                    </a:lnT>
                    <a:lnB w="0">
                      <a:noFill/>
                    </a:lnB>
                    <a:solidFill>
                      <a:srgbClr val="FFFFFF"/>
                    </a:solidFill>
                  </a:tcPr>
                </a:tc>
                <a:tc>
                  <a:txBody>
                    <a:bodyPr/>
                    <a:lstStyle/>
                    <a:p>
                      <a:pPr algn="ctr"/>
                      <a:r>
                        <a:rPr sz="1200">
                          <a:solidFill>
                            <a:srgbClr val="56606B"/>
                          </a:solidFill>
                          <a:latin typeface="Calibri"/>
                        </a:rPr>
                        <a:t>4.374 · 0.120 / 0.079</a:t>
                      </a:r>
                    </a:p>
                  </a:txBody>
                  <a:tcPr marT="36576" marB="36576" anchor="ctr">
                    <a:lnT>
                      <a:noFill/>
                    </a:lnT>
                    <a:lnB w="0">
                      <a:noFill/>
                    </a:lnB>
                    <a:solidFill>
                      <a:srgbClr val="FFFFFF"/>
                    </a:solidFill>
                  </a:tcPr>
                </a:tc>
                <a:tc>
                  <a:txBody>
                    <a:bodyPr/>
                    <a:lstStyle/>
                    <a:p>
                      <a:pPr algn="ctr"/>
                      <a:r>
                        <a:rPr sz="1200">
                          <a:solidFill>
                            <a:srgbClr val="56606B"/>
                          </a:solidFill>
                          <a:latin typeface="Calibri"/>
                        </a:rPr>
                        <a:t>2,649.57 · 0.0275 / 0.0269</a:t>
                      </a:r>
                    </a:p>
                  </a:txBody>
                  <a:tcPr marT="36576" marB="36576" anchor="ctr">
                    <a:lnT>
                      <a:noFill/>
                    </a:lnT>
                    <a:lnB w="0">
                      <a:noFill/>
                    </a:lnB>
                    <a:solidFill>
                      <a:srgbClr val="FFFFFF"/>
                    </a:solidFill>
                  </a:tcPr>
                </a:tc>
                <a:extLst>
                  <a:ext uri="{0D108BD9-81ED-4DB2-BD59-A6C34878D82A}">
                    <a16:rowId xmlns:a16="http://schemas.microsoft.com/office/drawing/2014/main" val="10009"/>
                  </a:ext>
                </a:extLst>
              </a:tr>
              <a:tr h="365760">
                <a:tc>
                  <a:txBody>
                    <a:bodyPr/>
                    <a:lstStyle/>
                    <a:p>
                      <a:pPr algn="l"/>
                      <a:r>
                        <a:rPr sz="1200" b="1">
                          <a:solidFill>
                            <a:srgbClr val="21295C"/>
                          </a:solidFill>
                          <a:latin typeface="Calibri"/>
                        </a:rPr>
                        <a:t>GARCH standardised residuals</a:t>
                      </a:r>
                    </a:p>
                  </a:txBody>
                  <a:tcPr marT="36576" marB="36576" anchor="ctr">
                    <a:lnT>
                      <a:noFill/>
                    </a:lnT>
                    <a:lnB w="0">
                      <a:noFill/>
                    </a:lnB>
                    <a:solidFill>
                      <a:srgbClr val="EEF3F7"/>
                    </a:solidFill>
                  </a:tcPr>
                </a:tc>
                <a:tc>
                  <a:txBody>
                    <a:bodyPr/>
                    <a:lstStyle/>
                    <a:p>
                      <a:pPr algn="ctr"/>
                      <a:r>
                        <a:rPr sz="1200">
                          <a:solidFill>
                            <a:srgbClr val="56606B"/>
                          </a:solidFill>
                          <a:latin typeface="Calibri"/>
                        </a:rPr>
                        <a:t>all diagnostics pass</a:t>
                      </a:r>
                    </a:p>
                  </a:txBody>
                  <a:tcPr marT="36576" marB="36576" anchor="ctr">
                    <a:lnT>
                      <a:noFill/>
                    </a:lnT>
                    <a:lnB w="0">
                      <a:noFill/>
                    </a:lnB>
                    <a:solidFill>
                      <a:srgbClr val="EEF3F7"/>
                    </a:solidFill>
                  </a:tcPr>
                </a:tc>
                <a:tc>
                  <a:txBody>
                    <a:bodyPr/>
                    <a:lstStyle/>
                    <a:p>
                      <a:pPr algn="ctr"/>
                      <a:r>
                        <a:rPr sz="1200">
                          <a:solidFill>
                            <a:srgbClr val="56606B"/>
                          </a:solidFill>
                          <a:latin typeface="Calibri"/>
                        </a:rPr>
                        <a:t>z² lag 5 p = 0.0167; ARCH-LM p = 0.0185</a:t>
                      </a:r>
                    </a:p>
                  </a:txBody>
                  <a:tcPr marT="36576" marB="36576" anchor="ctr">
                    <a:lnT>
                      <a:noFill/>
                    </a:lnT>
                    <a:lnB w="0">
                      <a:noFill/>
                    </a:lnB>
                    <a:solidFill>
                      <a:srgbClr val="EEF3F7"/>
                    </a:solidFill>
                  </a:tcPr>
                </a:tc>
                <a:extLst>
                  <a:ext uri="{0D108BD9-81ED-4DB2-BD59-A6C34878D82A}">
                    <a16:rowId xmlns:a16="http://schemas.microsoft.com/office/drawing/2014/main" val="10010"/>
                  </a:ext>
                </a:extLst>
              </a:tr>
            </a:tbl>
          </a:graphicData>
        </a:graphic>
      </p:graphicFrame>
      <p:sp>
        <p:nvSpPr>
          <p:cNvPr id="15" name="Rounded Rectangle 14"/>
          <p:cNvSpPr/>
          <p:nvPr/>
        </p:nvSpPr>
        <p:spPr>
          <a:xfrm>
            <a:off x="548640" y="5852160"/>
            <a:ext cx="11109960" cy="457200"/>
          </a:xfrm>
          <a:prstGeom prst="roundRect">
            <a:avLst>
              <a:gd name="adj" fmla="val 18000"/>
            </a:avLst>
          </a:prstGeom>
          <a:solidFill>
            <a:srgbClr val="EEF3F7"/>
          </a:solidFill>
          <a:ln>
            <a:noFill/>
          </a:ln>
        </p:spPr>
        <p:txBody>
          <a:bodyPr rtlCol="0" anchor="ctr"/>
          <a:lstStyle/>
          <a:p>
            <a:pPr algn="ctr"/>
            <a:endParaRPr/>
          </a:p>
        </p:txBody>
      </p:sp>
      <p:sp>
        <p:nvSpPr>
          <p:cNvPr id="16" name="TextBox 15"/>
          <p:cNvSpPr txBox="1"/>
          <p:nvPr/>
        </p:nvSpPr>
        <p:spPr>
          <a:xfrm>
            <a:off x="822960" y="5870448"/>
            <a:ext cx="10607040" cy="411480"/>
          </a:xfrm>
          <a:prstGeom prst="rect">
            <a:avLst/>
          </a:prstGeom>
          <a:noFill/>
        </p:spPr>
        <p:txBody>
          <a:bodyPr wrap="square" lIns="0" tIns="0" rIns="0" bIns="0" anchor="ctr">
            <a:spAutoFit/>
          </a:bodyPr>
          <a:lstStyle/>
          <a:p>
            <a:pPr algn="l"/>
            <a:r>
              <a:rPr sz="1150" b="1" i="0">
                <a:solidFill>
                  <a:srgbClr val="21295C"/>
                </a:solidFill>
                <a:latin typeface="Calibri"/>
              </a:rPr>
              <a:t>Frozen phase outputs (thesis Tables 5, 7, 10, 13, 14, 16, 24). </a:t>
            </a:r>
            <a:r>
              <a:rPr sz="1150" b="0" i="0">
                <a:solidFill>
                  <a:srgbClr val="56606B"/>
                </a:solidFill>
                <a:latin typeface="Calibri"/>
              </a:rPr>
              <a:t>AR(4) is retained on structural grounds: CAR(4) needs a four-dimensional companion matrix.</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BACKUP B7 · CH. 3 §3.3 — VALUE OF INFORMATION ON A COMMON SCALE</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On a common scale, the two sites look alike</a:t>
            </a:r>
            <a:endParaRPr lang="en-US" sz="270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20</a:t>
            </a:r>
            <a:endParaRPr lang="en-US" sz="900" dirty="0"/>
          </a:p>
        </p:txBody>
      </p:sp>
      <p:sp>
        <p:nvSpPr>
          <p:cNvPr id="14" name="Rounded Rectangle 13"/>
          <p:cNvSpPr/>
          <p:nvPr/>
        </p:nvSpPr>
        <p:spPr>
          <a:xfrm>
            <a:off x="548640" y="1783080"/>
            <a:ext cx="5486400" cy="3246120"/>
          </a:xfrm>
          <a:prstGeom prst="roundRect">
            <a:avLst>
              <a:gd name="adj" fmla="val 2535"/>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TextBox 14"/>
          <p:cNvSpPr txBox="1"/>
          <p:nvPr/>
        </p:nvSpPr>
        <p:spPr>
          <a:xfrm>
            <a:off x="868680" y="1920240"/>
            <a:ext cx="5029200" cy="274320"/>
          </a:xfrm>
          <a:prstGeom prst="rect">
            <a:avLst/>
          </a:prstGeom>
          <a:noFill/>
        </p:spPr>
        <p:txBody>
          <a:bodyPr wrap="square" lIns="0" tIns="0" rIns="0" bIns="0" anchor="ctr">
            <a:spAutoFit/>
          </a:bodyPr>
          <a:lstStyle/>
          <a:p>
            <a:pPr algn="l"/>
            <a:r>
              <a:rPr sz="1200" b="1" i="0" spc="100">
                <a:solidFill>
                  <a:srgbClr val="1C7293"/>
                </a:solidFill>
                <a:latin typeface="Calibri"/>
              </a:rPr>
              <a:t>STRIKE RATIO  B / A</a:t>
            </a:r>
          </a:p>
        </p:txBody>
      </p:sp>
      <p:graphicFrame>
        <p:nvGraphicFramePr>
          <p:cNvPr id="16" name="Chart 15"/>
          <p:cNvGraphicFramePr>
            <a:graphicFrameLocks noGrp="1"/>
          </p:cNvGraphicFramePr>
          <p:nvPr/>
        </p:nvGraphicFramePr>
        <p:xfrm>
          <a:off x="685800" y="2194560"/>
          <a:ext cx="521208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7" name="Rounded Rectangle 16"/>
          <p:cNvSpPr/>
          <p:nvPr/>
        </p:nvSpPr>
        <p:spPr>
          <a:xfrm>
            <a:off x="6263640" y="1783080"/>
            <a:ext cx="5394960" cy="3246120"/>
          </a:xfrm>
          <a:prstGeom prst="roundRect">
            <a:avLst>
              <a:gd name="adj" fmla="val 2535"/>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8" name="TextBox 17"/>
          <p:cNvSpPr txBox="1"/>
          <p:nvPr/>
        </p:nvSpPr>
        <p:spPr>
          <a:xfrm>
            <a:off x="6537960" y="1920240"/>
            <a:ext cx="4937760" cy="274320"/>
          </a:xfrm>
          <a:prstGeom prst="rect">
            <a:avLst/>
          </a:prstGeom>
          <a:noFill/>
        </p:spPr>
        <p:txBody>
          <a:bodyPr wrap="square" lIns="0" tIns="0" rIns="0" bIns="0" anchor="ctr">
            <a:spAutoFit/>
          </a:bodyPr>
          <a:lstStyle/>
          <a:p>
            <a:pPr algn="l"/>
            <a:r>
              <a:rPr sz="1200" b="1" i="0" spc="100">
                <a:solidFill>
                  <a:srgbClr val="1C7293"/>
                </a:solidFill>
                <a:latin typeface="Calibri"/>
              </a:rPr>
              <a:t>RECONCILED MODEL STRIKE ÷ MARKET STRIKE</a:t>
            </a:r>
          </a:p>
        </p:txBody>
      </p:sp>
      <p:graphicFrame>
        <p:nvGraphicFramePr>
          <p:cNvPr id="19" name="Chart 18"/>
          <p:cNvGraphicFramePr>
            <a:graphicFrameLocks noGrp="1"/>
          </p:cNvGraphicFramePr>
          <p:nvPr/>
        </p:nvGraphicFramePr>
        <p:xfrm>
          <a:off x="6400800" y="2194560"/>
          <a:ext cx="512064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20" name="TextBox 19"/>
          <p:cNvSpPr txBox="1"/>
          <p:nvPr/>
        </p:nvSpPr>
        <p:spPr>
          <a:xfrm>
            <a:off x="8778240" y="1920240"/>
            <a:ext cx="2743200" cy="274320"/>
          </a:xfrm>
          <a:prstGeom prst="rect">
            <a:avLst/>
          </a:prstGeom>
          <a:noFill/>
        </p:spPr>
        <p:txBody>
          <a:bodyPr wrap="square" lIns="0" tIns="0" rIns="0" bIns="0" anchor="ctr">
            <a:spAutoFit/>
          </a:bodyPr>
          <a:lstStyle/>
          <a:p>
            <a:pPr algn="r"/>
            <a:r>
              <a:rPr sz="1100" b="0" i="1">
                <a:solidFill>
                  <a:srgbClr val="56606B"/>
                </a:solidFill>
                <a:latin typeface="Calibri"/>
              </a:rPr>
              <a:t>1.0× = market</a:t>
            </a:r>
          </a:p>
        </p:txBody>
      </p:sp>
      <p:sp>
        <p:nvSpPr>
          <p:cNvPr id="21" name="Rounded Rectangle 20"/>
          <p:cNvSpPr/>
          <p:nvPr/>
        </p:nvSpPr>
        <p:spPr>
          <a:xfrm>
            <a:off x="548640" y="5212080"/>
            <a:ext cx="3557016" cy="1051560"/>
          </a:xfrm>
          <a:prstGeom prst="roundRect">
            <a:avLst>
              <a:gd name="adj" fmla="val 7826"/>
            </a:avLst>
          </a:prstGeom>
          <a:solidFill>
            <a:srgbClr val="EEF3F7"/>
          </a:solidFill>
          <a:ln>
            <a:noFill/>
          </a:ln>
        </p:spPr>
        <p:txBody>
          <a:bodyPr rtlCol="0" anchor="ctr"/>
          <a:lstStyle/>
          <a:p>
            <a:pPr algn="ctr"/>
            <a:endParaRPr/>
          </a:p>
        </p:txBody>
      </p:sp>
      <p:sp>
        <p:nvSpPr>
          <p:cNvPr id="22" name="TextBox 21"/>
          <p:cNvSpPr txBox="1"/>
          <p:nvPr/>
        </p:nvSpPr>
        <p:spPr>
          <a:xfrm>
            <a:off x="777240" y="5303520"/>
            <a:ext cx="3200400" cy="274320"/>
          </a:xfrm>
          <a:prstGeom prst="rect">
            <a:avLst/>
          </a:prstGeom>
          <a:noFill/>
        </p:spPr>
        <p:txBody>
          <a:bodyPr wrap="square" lIns="0" tIns="0" rIns="0" bIns="0" anchor="ctr">
            <a:spAutoFit/>
          </a:bodyPr>
          <a:lstStyle/>
          <a:p>
            <a:pPr algn="l"/>
            <a:r>
              <a:rPr sz="1150" b="1" i="0" spc="100">
                <a:solidFill>
                  <a:srgbClr val="C8791A"/>
                </a:solidFill>
                <a:latin typeface="Calibri"/>
              </a:rPr>
              <a:t>TWO MEASUREMENT SCALES</a:t>
            </a:r>
          </a:p>
        </p:txBody>
      </p:sp>
      <p:sp>
        <p:nvSpPr>
          <p:cNvPr id="23" name="TextBox 22"/>
          <p:cNvSpPr txBox="1"/>
          <p:nvPr/>
        </p:nvSpPr>
        <p:spPr>
          <a:xfrm>
            <a:off x="777240" y="5596128"/>
            <a:ext cx="3154680" cy="621792"/>
          </a:xfrm>
          <a:prstGeom prst="rect">
            <a:avLst/>
          </a:prstGeom>
          <a:noFill/>
        </p:spPr>
        <p:txBody>
          <a:bodyPr wrap="square" lIns="0" tIns="0" rIns="0" bIns="0" anchor="t">
            <a:spAutoFit/>
          </a:bodyPr>
          <a:lstStyle/>
          <a:p>
            <a:pPr algn="l">
              <a:lnSpc>
                <a:spcPct val="105000"/>
              </a:lnSpc>
            </a:pPr>
            <a:r>
              <a:rPr sz="1250" b="0" i="0">
                <a:solidFill>
                  <a:srgbClr val="56606B"/>
                </a:solidFill>
                <a:latin typeface="Calibri"/>
              </a:rPr>
              <a:t>C₀ is a variance in Box–Cox units: λ = 0.1 (A) vs λ = 0.5 (B).</a:t>
            </a:r>
          </a:p>
        </p:txBody>
      </p:sp>
      <p:sp>
        <p:nvSpPr>
          <p:cNvPr id="24" name="Rounded Rectangle 23"/>
          <p:cNvSpPr/>
          <p:nvPr/>
        </p:nvSpPr>
        <p:spPr>
          <a:xfrm>
            <a:off x="4325112" y="5212080"/>
            <a:ext cx="3557016" cy="1051560"/>
          </a:xfrm>
          <a:prstGeom prst="roundRect">
            <a:avLst>
              <a:gd name="adj" fmla="val 7826"/>
            </a:avLst>
          </a:prstGeom>
          <a:solidFill>
            <a:srgbClr val="EEF3F7"/>
          </a:solidFill>
          <a:ln>
            <a:noFill/>
          </a:ln>
        </p:spPr>
        <p:txBody>
          <a:bodyPr rtlCol="0" anchor="ctr"/>
          <a:lstStyle/>
          <a:p>
            <a:pPr algn="ctr"/>
            <a:endParaRPr/>
          </a:p>
        </p:txBody>
      </p:sp>
      <p:sp>
        <p:nvSpPr>
          <p:cNvPr id="25" name="TextBox 24"/>
          <p:cNvSpPr txBox="1"/>
          <p:nvPr/>
        </p:nvSpPr>
        <p:spPr>
          <a:xfrm>
            <a:off x="4553712" y="5303520"/>
            <a:ext cx="3200400" cy="274320"/>
          </a:xfrm>
          <a:prstGeom prst="rect">
            <a:avLst/>
          </a:prstGeom>
          <a:noFill/>
        </p:spPr>
        <p:txBody>
          <a:bodyPr wrap="square" lIns="0" tIns="0" rIns="0" bIns="0" anchor="ctr">
            <a:spAutoFit/>
          </a:bodyPr>
          <a:lstStyle/>
          <a:p>
            <a:pPr algn="l"/>
            <a:r>
              <a:rPr sz="1150" b="1" i="0" spc="100">
                <a:solidFill>
                  <a:srgbClr val="C8791A"/>
                </a:solidFill>
                <a:latin typeface="Calibri"/>
              </a:rPr>
              <a:t>TWO PRICING DATES</a:t>
            </a:r>
          </a:p>
        </p:txBody>
      </p:sp>
      <p:sp>
        <p:nvSpPr>
          <p:cNvPr id="26" name="TextBox 25"/>
          <p:cNvSpPr txBox="1"/>
          <p:nvPr/>
        </p:nvSpPr>
        <p:spPr>
          <a:xfrm>
            <a:off x="4553712" y="5596128"/>
            <a:ext cx="3154680" cy="621792"/>
          </a:xfrm>
          <a:prstGeom prst="rect">
            <a:avLst/>
          </a:prstGeom>
          <a:noFill/>
        </p:spPr>
        <p:txBody>
          <a:bodyPr wrap="square" lIns="0" tIns="0" rIns="0" bIns="0" anchor="t">
            <a:spAutoFit/>
          </a:bodyPr>
          <a:lstStyle/>
          <a:p>
            <a:pPr algn="l">
              <a:lnSpc>
                <a:spcPct val="105000"/>
              </a:lnSpc>
            </a:pPr>
            <a:r>
              <a:rPr sz="1250" b="0" i="0">
                <a:solidFill>
                  <a:srgbClr val="56606B"/>
                </a:solidFill>
                <a:latin typeface="Calibri"/>
              </a:rPr>
              <a:t>h(t₀) on 31 Dec 2018 vs 31 Dec 2024: the 1.82× compares dates, not sites.</a:t>
            </a:r>
          </a:p>
        </p:txBody>
      </p:sp>
      <p:sp>
        <p:nvSpPr>
          <p:cNvPr id="27" name="Rounded Rectangle 26"/>
          <p:cNvSpPr/>
          <p:nvPr/>
        </p:nvSpPr>
        <p:spPr>
          <a:xfrm>
            <a:off x="8101583" y="5212080"/>
            <a:ext cx="3557016" cy="1051560"/>
          </a:xfrm>
          <a:prstGeom prst="roundRect">
            <a:avLst>
              <a:gd name="adj" fmla="val 7826"/>
            </a:avLst>
          </a:prstGeom>
          <a:solidFill>
            <a:srgbClr val="EEF3F7"/>
          </a:solidFill>
          <a:ln>
            <a:noFill/>
          </a:ln>
        </p:spPr>
        <p:txBody>
          <a:bodyPr rtlCol="0" anchor="ctr"/>
          <a:lstStyle/>
          <a:p>
            <a:pPr algn="ctr"/>
            <a:endParaRPr/>
          </a:p>
        </p:txBody>
      </p:sp>
      <p:sp>
        <p:nvSpPr>
          <p:cNvPr id="28" name="TextBox 27"/>
          <p:cNvSpPr txBox="1"/>
          <p:nvPr/>
        </p:nvSpPr>
        <p:spPr>
          <a:xfrm>
            <a:off x="8330183" y="5303520"/>
            <a:ext cx="3200400" cy="274320"/>
          </a:xfrm>
          <a:prstGeom prst="rect">
            <a:avLst/>
          </a:prstGeom>
          <a:noFill/>
        </p:spPr>
        <p:txBody>
          <a:bodyPr wrap="square" lIns="0" tIns="0" rIns="0" bIns="0" anchor="ctr">
            <a:spAutoFit/>
          </a:bodyPr>
          <a:lstStyle/>
          <a:p>
            <a:pPr algn="l"/>
            <a:r>
              <a:rPr sz="1150" b="1" i="0" spc="100">
                <a:solidFill>
                  <a:srgbClr val="C8791A"/>
                </a:solidFill>
                <a:latin typeface="Calibri"/>
              </a:rPr>
              <a:t>SAME RELATIVE VARIABILITY</a:t>
            </a:r>
          </a:p>
        </p:txBody>
      </p:sp>
      <p:sp>
        <p:nvSpPr>
          <p:cNvPr id="29" name="TextBox 28"/>
          <p:cNvSpPr txBox="1"/>
          <p:nvPr/>
        </p:nvSpPr>
        <p:spPr>
          <a:xfrm>
            <a:off x="8330183" y="5596128"/>
            <a:ext cx="3154680" cy="621792"/>
          </a:xfrm>
          <a:prstGeom prst="rect">
            <a:avLst/>
          </a:prstGeom>
          <a:noFill/>
        </p:spPr>
        <p:txBody>
          <a:bodyPr wrap="square" lIns="0" tIns="0" rIns="0" bIns="0" anchor="t">
            <a:spAutoFit/>
          </a:bodyPr>
          <a:lstStyle/>
          <a:p>
            <a:pPr algn="l">
              <a:lnSpc>
                <a:spcPct val="105000"/>
              </a:lnSpc>
            </a:pPr>
            <a:r>
              <a:rPr sz="1250" b="0" i="0">
                <a:solidFill>
                  <a:srgbClr val="56606B"/>
                </a:solidFill>
                <a:latin typeface="Calibri"/>
              </a:rPr>
              <a:t>Coefficient of variation 0.384 (Bologna) vs 0.401 (Nordfriesland).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65760"/>
            <a:ext cx="11064240" cy="292608"/>
          </a:xfrm>
          <a:prstGeom prst="rect">
            <a:avLst/>
          </a:prstGeom>
          <a:noFill/>
        </p:spPr>
        <p:txBody>
          <a:bodyPr wrap="square" lIns="0" tIns="0" rIns="0" bIns="0" anchor="ctr">
            <a:spAutoFit/>
          </a:bodyPr>
          <a:lstStyle/>
          <a:p>
            <a:pPr marL="0" indent="0" algn="l">
              <a:buNone/>
            </a:pPr>
            <a:r>
              <a:rPr lang="en-US" sz="1250" b="1" kern="0" spc="200" dirty="0">
                <a:solidFill>
                  <a:srgbClr val="1C7293"/>
                </a:solidFill>
                <a:latin typeface="Calibri"/>
                <a:ea typeface="Calibri"/>
                <a:cs typeface="Calibri"/>
              </a:rPr>
              <a:t>BACKUP B8 · CH. 3 — CAWS TAIL STATISTICS</a:t>
            </a:r>
          </a:p>
        </p:txBody>
      </p:sp>
      <p:sp>
        <p:nvSpPr>
          <p:cNvPr id="3" name="TextBox 2"/>
          <p:cNvSpPr txBox="1"/>
          <p:nvPr/>
        </p:nvSpPr>
        <p:spPr>
          <a:xfrm>
            <a:off x="548640" y="658368"/>
            <a:ext cx="11109960" cy="868680"/>
          </a:xfrm>
          <a:prstGeom prst="rect">
            <a:avLst/>
          </a:prstGeom>
          <a:noFill/>
        </p:spPr>
        <p:txBody>
          <a:bodyPr wrap="square" lIns="0" tIns="0" rIns="0" bIns="0" anchor="ctr">
            <a:spAutoFit/>
          </a:bodyPr>
          <a:lstStyle/>
          <a:p>
            <a:pPr marL="0" indent="0" algn="l">
              <a:buNone/>
            </a:pPr>
            <a:r>
              <a:rPr lang="en-US" sz="2700" b="1" dirty="0">
                <a:solidFill>
                  <a:srgbClr val="21295C"/>
                </a:solidFill>
                <a:latin typeface="Cambria"/>
                <a:ea typeface="Cambria"/>
                <a:cs typeface="Cambria"/>
              </a:rPr>
              <a:t>CAWS on both datasets: calmest year, windiest year, CVaR₅%</a:t>
            </a:r>
          </a:p>
        </p:txBody>
      </p:sp>
      <p:sp>
        <p:nvSpPr>
          <p:cNvPr id="7" name="TextBox 6"/>
          <p:cNvSpPr txBox="1"/>
          <p:nvPr/>
        </p:nvSpPr>
        <p:spPr>
          <a:xfrm>
            <a:off x="548640" y="6510528"/>
            <a:ext cx="8229600" cy="256032"/>
          </a:xfrm>
          <a:prstGeom prst="rect">
            <a:avLst/>
          </a:prstGeom>
          <a:noFill/>
        </p:spPr>
        <p:txBody>
          <a:bodyPr wrap="square" lIns="0" tIns="0" rIns="0" bIns="0" anchor="ctr">
            <a:spAutoFit/>
          </a:bodyPr>
          <a:lstStyle/>
          <a:p>
            <a:pPr marL="0" indent="0" algn="l">
              <a:buNone/>
            </a:pPr>
            <a:r>
              <a:rPr lang="en-US" sz="900" b="0" i="1" dirty="0">
                <a:solidFill>
                  <a:srgbClr val="56606B"/>
                </a:solidFill>
                <a:latin typeface="Calibri"/>
                <a:ea typeface="Calibri"/>
                <a:cs typeface="Calibri"/>
              </a:rPr>
              <a:t>Wind Speed Modelling for Derivatives Pricing — Final Defence</a:t>
            </a:r>
          </a:p>
        </p:txBody>
      </p:sp>
      <p:sp>
        <p:nvSpPr>
          <p:cNvPr id="8" name="TextBox 7"/>
          <p:cNvSpPr txBox="1"/>
          <p:nvPr/>
        </p:nvSpPr>
        <p:spPr>
          <a:xfrm>
            <a:off x="11365992" y="6510528"/>
            <a:ext cx="365760" cy="256032"/>
          </a:xfrm>
          <a:prstGeom prst="rect">
            <a:avLst/>
          </a:prstGeom>
          <a:noFill/>
        </p:spPr>
        <p:txBody>
          <a:bodyPr wrap="square" lIns="0" tIns="0" rIns="0" bIns="0" anchor="ctr">
            <a:spAutoFit/>
          </a:bodyPr>
          <a:lstStyle/>
          <a:p>
            <a:pPr marL="0" indent="0" algn="r">
              <a:buNone/>
            </a:pPr>
            <a:r>
              <a:rPr lang="en-US" sz="900" b="0" dirty="0">
                <a:solidFill>
                  <a:srgbClr val="56606B"/>
                </a:solidFill>
                <a:latin typeface="Calibri"/>
                <a:ea typeface="Calibri"/>
                <a:cs typeface="Calibri"/>
              </a:rPr>
              <a:t>21</a:t>
            </a:r>
          </a:p>
        </p:txBody>
      </p:sp>
      <p:graphicFrame>
        <p:nvGraphicFramePr>
          <p:cNvPr id="50" name="Table 19"/>
          <p:cNvGraphicFramePr>
            <a:graphicFrameLocks noGrp="1"/>
          </p:cNvGraphicFramePr>
          <p:nvPr/>
        </p:nvGraphicFramePr>
        <p:xfrm>
          <a:off x="548640" y="1783080"/>
          <a:ext cx="7040880" cy="2020820"/>
        </p:xfrm>
        <a:graphic>
          <a:graphicData uri="http://schemas.openxmlformats.org/drawingml/2006/table">
            <a:tbl>
              <a:tblPr>
                <a:tableStyleId>{5C22544A-7EE6-4342-B048-85BDC9FD1C3A}</a:tableStyleId>
              </a:tblPr>
              <a:tblGrid>
                <a:gridCol w="26517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404164">
                <a:tc>
                  <a:txBody>
                    <a:bodyPr/>
                    <a:lstStyle/>
                    <a:p>
                      <a:pPr algn="l"/>
                      <a:endParaRPr/>
                    </a:p>
                  </a:txBody>
                  <a:tcPr marT="36576" marB="36576" anchor="ctr">
                    <a:lnB w="0">
                      <a:noFill/>
                    </a:lnB>
                    <a:solidFill>
                      <a:srgbClr val="21295C"/>
                    </a:solidFill>
                  </a:tcPr>
                </a:tc>
                <a:tc>
                  <a:txBody>
                    <a:bodyPr/>
                    <a:lstStyle/>
                    <a:p>
                      <a:pPr algn="ctr"/>
                      <a:r>
                        <a:rPr sz="1400" b="1">
                          <a:solidFill>
                            <a:srgbClr val="FFFFFF"/>
                          </a:solidFill>
                          <a:latin typeface="Calibri"/>
                        </a:rPr>
                        <a:t>A · Bologna</a:t>
                      </a:r>
                    </a:p>
                  </a:txBody>
                  <a:tcPr marT="36576" marB="36576" anchor="ctr">
                    <a:lnB w="0">
                      <a:noFill/>
                    </a:lnB>
                    <a:solidFill>
                      <a:srgbClr val="21295C"/>
                    </a:solidFill>
                  </a:tcPr>
                </a:tc>
                <a:tc>
                  <a:txBody>
                    <a:bodyPr/>
                    <a:lstStyle/>
                    <a:p>
                      <a:pPr algn="ctr"/>
                      <a:r>
                        <a:rPr sz="1400" b="1">
                          <a:solidFill>
                            <a:srgbClr val="FFFFFF"/>
                          </a:solidFill>
                          <a:latin typeface="Calibri"/>
                        </a:rPr>
                        <a:t>B · Nordfr.</a:t>
                      </a:r>
                    </a:p>
                  </a:txBody>
                  <a:tcPr marT="36576" marB="36576" anchor="ctr">
                    <a:lnB w="0">
                      <a:noFill/>
                    </a:lnB>
                    <a:solidFill>
                      <a:srgbClr val="21295C"/>
                    </a:solidFill>
                  </a:tcPr>
                </a:tc>
                <a:extLst>
                  <a:ext uri="{0D108BD9-81ED-4DB2-BD59-A6C34878D82A}">
                    <a16:rowId xmlns:a16="http://schemas.microsoft.com/office/drawing/2014/main" val="10000"/>
                  </a:ext>
                </a:extLst>
              </a:tr>
              <a:tr h="404164">
                <a:tc>
                  <a:txBody>
                    <a:bodyPr/>
                    <a:lstStyle/>
                    <a:p>
                      <a:pPr algn="l"/>
                      <a:r>
                        <a:rPr sz="1400" b="1">
                          <a:solidFill>
                            <a:srgbClr val="21295C"/>
                          </a:solidFill>
                          <a:latin typeface="Calibri"/>
                        </a:rPr>
                        <a:t>Strike K</a:t>
                      </a:r>
                    </a:p>
                  </a:txBody>
                  <a:tcPr marT="36576" marB="36576" anchor="ctr">
                    <a:lnT>
                      <a:noFill/>
                    </a:lnT>
                    <a:lnB w="0">
                      <a:noFill/>
                    </a:lnB>
                    <a:solidFill>
                      <a:srgbClr val="FFFFFF"/>
                    </a:solidFill>
                  </a:tcPr>
                </a:tc>
                <a:tc>
                  <a:txBody>
                    <a:bodyPr/>
                    <a:lstStyle/>
                    <a:p>
                      <a:pPr algn="ctr"/>
                      <a:r>
                        <a:rPr sz="1400">
                          <a:solidFill>
                            <a:srgbClr val="56606B"/>
                          </a:solidFill>
                          <a:latin typeface="Calibri"/>
                        </a:rPr>
                        <a:t>2.4644 m/s</a:t>
                      </a:r>
                    </a:p>
                  </a:txBody>
                  <a:tcPr marT="36576" marB="36576" anchor="ctr">
                    <a:lnT>
                      <a:noFill/>
                    </a:lnT>
                    <a:lnB w="0">
                      <a:noFill/>
                    </a:lnB>
                    <a:solidFill>
                      <a:srgbClr val="FFFFFF"/>
                    </a:solidFill>
                  </a:tcPr>
                </a:tc>
                <a:tc>
                  <a:txBody>
                    <a:bodyPr/>
                    <a:lstStyle/>
                    <a:p>
                      <a:pPr algn="ctr"/>
                      <a:r>
                        <a:rPr sz="1400">
                          <a:solidFill>
                            <a:srgbClr val="56606B"/>
                          </a:solidFill>
                          <a:latin typeface="Calibri"/>
                        </a:rPr>
                        <a:t>8.0531 m/s</a:t>
                      </a:r>
                    </a:p>
                  </a:txBody>
                  <a:tcPr marT="36576" marB="36576" anchor="ctr">
                    <a:lnT>
                      <a:noFill/>
                    </a:lnT>
                    <a:lnB w="0">
                      <a:noFill/>
                    </a:lnB>
                    <a:solidFill>
                      <a:srgbClr val="FFFFFF"/>
                    </a:solidFill>
                  </a:tcPr>
                </a:tc>
                <a:extLst>
                  <a:ext uri="{0D108BD9-81ED-4DB2-BD59-A6C34878D82A}">
                    <a16:rowId xmlns:a16="http://schemas.microsoft.com/office/drawing/2014/main" val="10001"/>
                  </a:ext>
                </a:extLst>
              </a:tr>
              <a:tr h="404164">
                <a:tc>
                  <a:txBody>
                    <a:bodyPr/>
                    <a:lstStyle/>
                    <a:p>
                      <a:pPr algn="l"/>
                      <a:r>
                        <a:rPr sz="1400" b="1">
                          <a:solidFill>
                            <a:srgbClr val="21295C"/>
                          </a:solidFill>
                          <a:latin typeface="Calibri"/>
                        </a:rPr>
                        <a:t>Calmest year</a:t>
                      </a:r>
                    </a:p>
                  </a:txBody>
                  <a:tcPr marT="36576" marB="36576" anchor="ctr">
                    <a:lnT>
                      <a:noFill/>
                    </a:lnT>
                    <a:lnB w="0">
                      <a:noFill/>
                    </a:lnB>
                    <a:solidFill>
                      <a:srgbClr val="FBF1E4"/>
                    </a:solidFill>
                  </a:tcPr>
                </a:tc>
                <a:tc>
                  <a:txBody>
                    <a:bodyPr/>
                    <a:lstStyle/>
                    <a:p>
                      <a:pPr algn="ctr"/>
                      <a:r>
                        <a:rPr sz="1400">
                          <a:solidFill>
                            <a:srgbClr val="56606B"/>
                          </a:solidFill>
                          <a:latin typeface="Calibri"/>
                        </a:rPr>
                        <a:t>+6.70% (2017)</a:t>
                      </a:r>
                    </a:p>
                  </a:txBody>
                  <a:tcPr marT="36576" marB="36576" anchor="ctr">
                    <a:lnT>
                      <a:noFill/>
                    </a:lnT>
                    <a:lnB w="0">
                      <a:noFill/>
                    </a:lnB>
                    <a:solidFill>
                      <a:srgbClr val="FBF1E4"/>
                    </a:solidFill>
                  </a:tcPr>
                </a:tc>
                <a:tc>
                  <a:txBody>
                    <a:bodyPr/>
                    <a:lstStyle/>
                    <a:p>
                      <a:pPr algn="ctr"/>
                      <a:r>
                        <a:rPr sz="1400">
                          <a:solidFill>
                            <a:srgbClr val="56606B"/>
                          </a:solidFill>
                          <a:latin typeface="Calibri"/>
                        </a:rPr>
                        <a:t>+4.99% (2021)</a:t>
                      </a:r>
                    </a:p>
                  </a:txBody>
                  <a:tcPr marT="36576" marB="36576" anchor="ctr">
                    <a:lnT>
                      <a:noFill/>
                    </a:lnT>
                    <a:lnB w="0">
                      <a:noFill/>
                    </a:lnB>
                    <a:solidFill>
                      <a:srgbClr val="FBF1E4"/>
                    </a:solidFill>
                  </a:tcPr>
                </a:tc>
                <a:extLst>
                  <a:ext uri="{0D108BD9-81ED-4DB2-BD59-A6C34878D82A}">
                    <a16:rowId xmlns:a16="http://schemas.microsoft.com/office/drawing/2014/main" val="10002"/>
                  </a:ext>
                </a:extLst>
              </a:tr>
              <a:tr h="404164">
                <a:tc>
                  <a:txBody>
                    <a:bodyPr/>
                    <a:lstStyle/>
                    <a:p>
                      <a:pPr algn="l"/>
                      <a:r>
                        <a:rPr sz="1400" b="1">
                          <a:solidFill>
                            <a:srgbClr val="21295C"/>
                          </a:solidFill>
                          <a:latin typeface="Calibri"/>
                        </a:rPr>
                        <a:t>Windiest = CVaR₅%</a:t>
                      </a:r>
                    </a:p>
                  </a:txBody>
                  <a:tcPr marT="36576" marB="36576" anchor="ctr">
                    <a:lnT>
                      <a:noFill/>
                    </a:lnT>
                    <a:lnB w="0">
                      <a:noFill/>
                    </a:lnB>
                    <a:solidFill>
                      <a:srgbClr val="FFFFFF"/>
                    </a:solidFill>
                  </a:tcPr>
                </a:tc>
                <a:tc>
                  <a:txBody>
                    <a:bodyPr/>
                    <a:lstStyle/>
                    <a:p>
                      <a:pPr algn="ctr"/>
                      <a:r>
                        <a:rPr sz="1400">
                          <a:solidFill>
                            <a:srgbClr val="56606B"/>
                          </a:solidFill>
                          <a:latin typeface="Calibri"/>
                        </a:rPr>
                        <a:t>−4.91% (2018)</a:t>
                      </a:r>
                    </a:p>
                  </a:txBody>
                  <a:tcPr marT="36576" marB="36576" anchor="ctr">
                    <a:lnT>
                      <a:noFill/>
                    </a:lnT>
                    <a:lnB w="0">
                      <a:noFill/>
                    </a:lnB>
                    <a:solidFill>
                      <a:srgbClr val="FFFFFF"/>
                    </a:solidFill>
                  </a:tcPr>
                </a:tc>
                <a:tc>
                  <a:txBody>
                    <a:bodyPr/>
                    <a:lstStyle/>
                    <a:p>
                      <a:pPr algn="ctr"/>
                      <a:r>
                        <a:rPr sz="1400">
                          <a:solidFill>
                            <a:srgbClr val="56606B"/>
                          </a:solidFill>
                          <a:latin typeface="Calibri"/>
                        </a:rPr>
                        <a:t>−6.33% (2015)</a:t>
                      </a:r>
                    </a:p>
                  </a:txBody>
                  <a:tcPr marT="36576" marB="36576" anchor="ctr">
                    <a:lnT>
                      <a:noFill/>
                    </a:lnT>
                    <a:lnB w="0">
                      <a:noFill/>
                    </a:lnB>
                    <a:solidFill>
                      <a:srgbClr val="FFFFFF"/>
                    </a:solidFill>
                  </a:tcPr>
                </a:tc>
                <a:extLst>
                  <a:ext uri="{0D108BD9-81ED-4DB2-BD59-A6C34878D82A}">
                    <a16:rowId xmlns:a16="http://schemas.microsoft.com/office/drawing/2014/main" val="10003"/>
                  </a:ext>
                </a:extLst>
              </a:tr>
              <a:tr h="404164">
                <a:tc>
                  <a:txBody>
                    <a:bodyPr/>
                    <a:lstStyle/>
                    <a:p>
                      <a:pPr algn="l"/>
                      <a:r>
                        <a:rPr sz="1400" b="1">
                          <a:solidFill>
                            <a:srgbClr val="21295C"/>
                          </a:solidFill>
                          <a:latin typeface="Calibri"/>
                        </a:rPr>
                        <a:t>Annual obs.</a:t>
                      </a:r>
                    </a:p>
                  </a:txBody>
                  <a:tcPr marT="36576" marB="36576" anchor="ctr">
                    <a:lnT>
                      <a:noFill/>
                    </a:lnT>
                    <a:lnB w="0">
                      <a:noFill/>
                    </a:lnB>
                    <a:solidFill>
                      <a:srgbClr val="EEF3F7"/>
                    </a:solidFill>
                  </a:tcPr>
                </a:tc>
                <a:tc>
                  <a:txBody>
                    <a:bodyPr/>
                    <a:lstStyle/>
                    <a:p>
                      <a:pPr algn="ctr"/>
                      <a:r>
                        <a:rPr sz="1400">
                          <a:solidFill>
                            <a:srgbClr val="56606B"/>
                          </a:solidFill>
                          <a:latin typeface="Calibri"/>
                        </a:rPr>
                        <a:t>4</a:t>
                      </a:r>
                    </a:p>
                  </a:txBody>
                  <a:tcPr marT="36576" marB="36576" anchor="ctr">
                    <a:lnT>
                      <a:noFill/>
                    </a:lnT>
                    <a:lnB w="0">
                      <a:noFill/>
                    </a:lnB>
                    <a:solidFill>
                      <a:srgbClr val="EEF3F7"/>
                    </a:solidFill>
                  </a:tcPr>
                </a:tc>
                <a:tc>
                  <a:txBody>
                    <a:bodyPr/>
                    <a:lstStyle/>
                    <a:p>
                      <a:pPr algn="ctr"/>
                      <a:r>
                        <a:rPr sz="1400">
                          <a:solidFill>
                            <a:srgbClr val="56606B"/>
                          </a:solidFill>
                          <a:latin typeface="Calibri"/>
                        </a:rPr>
                        <a:t>10</a:t>
                      </a:r>
                    </a:p>
                  </a:txBody>
                  <a:tcPr marT="36576" marB="36576" anchor="ctr">
                    <a:lnT>
                      <a:noFill/>
                    </a:lnT>
                    <a:lnB w="0">
                      <a:noFill/>
                    </a:lnB>
                    <a:solidFill>
                      <a:srgbClr val="EEF3F7"/>
                    </a:solidFill>
                  </a:tcPr>
                </a:tc>
                <a:extLst>
                  <a:ext uri="{0D108BD9-81ED-4DB2-BD59-A6C34878D82A}">
                    <a16:rowId xmlns:a16="http://schemas.microsoft.com/office/drawing/2014/main" val="10004"/>
                  </a:ext>
                </a:extLst>
              </a:tr>
            </a:tbl>
          </a:graphicData>
        </a:graphic>
      </p:graphicFrame>
      <p:sp>
        <p:nvSpPr>
          <p:cNvPr id="51" name="TextBox 20"/>
          <p:cNvSpPr txBox="1"/>
          <p:nvPr/>
        </p:nvSpPr>
        <p:spPr>
          <a:xfrm>
            <a:off x="548640" y="4451452"/>
            <a:ext cx="7040880" cy="502920"/>
          </a:xfrm>
          <a:prstGeom prst="rect">
            <a:avLst/>
          </a:prstGeom>
          <a:noFill/>
        </p:spPr>
        <p:txBody>
          <a:bodyPr wrap="square" lIns="0" tIns="0" rIns="0" bIns="0" anchor="t">
            <a:spAutoFit/>
          </a:bodyPr>
          <a:lstStyle/>
          <a:p>
            <a:pPr algn="l">
              <a:lnSpc>
                <a:spcPct val="100000"/>
              </a:lnSpc>
            </a:pPr>
            <a:r>
              <a:rPr sz="1050" b="0" i="1">
                <a:solidFill>
                  <a:srgbClr val="56606B"/>
                </a:solidFill>
                <a:latin typeface="Calibri"/>
              </a:rPr>
              <a:t>CVaR₅% is the premium leg, and on 4 and 10 points a sample minimum: descriptive, not inferential.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p:nvPr/>
        </p:nvSpPr>
        <p:spPr>
          <a:xfrm>
            <a:off x="548640" y="365760"/>
            <a:ext cx="11064240" cy="292608"/>
          </a:xfrm>
          <a:prstGeom prst="rect">
            <a:avLst/>
          </a:prstGeom>
          <a:noFill/>
          <a:ln/>
        </p:spPr>
        <p:txBody>
          <a:bodyPr wrap="square" lIns="0" tIns="0" rIns="0" bIns="0" rtlCol="0" anchor="ctr"/>
          <a:lstStyle/>
          <a:p>
            <a:pPr marL="0" indent="0" algn="l">
              <a:buNone/>
            </a:pPr>
            <a:r>
              <a:rPr lang="en-US" sz="1250" b="1" kern="0" spc="200" dirty="0">
                <a:solidFill>
                  <a:srgbClr val="1C7293"/>
                </a:solidFill>
                <a:latin typeface="Calibri" pitchFamily="34" charset="0"/>
                <a:ea typeface="Calibri" pitchFamily="34" charset="-122"/>
                <a:cs typeface="Calibri" pitchFamily="34" charset="-120"/>
              </a:rPr>
              <a:t>BACKUP B9 · CH. 3 §3.1 — BACK-TEST OF THE MARKET STRIKE</a:t>
            </a:r>
            <a:endParaRPr lang="en-US" sz="1250" dirty="0"/>
          </a:p>
        </p:txBody>
      </p:sp>
      <p:sp>
        <p:nvSpPr>
          <p:cNvPr id="3" name="Text 1"/>
          <p:cNvSpPr/>
          <p:nvPr/>
        </p:nvSpPr>
        <p:spPr>
          <a:xfrm>
            <a:off x="548640" y="658368"/>
            <a:ext cx="11109960" cy="868680"/>
          </a:xfrm>
          <a:prstGeom prst="rect">
            <a:avLst/>
          </a:prstGeom>
          <a:noFill/>
          <a:ln/>
        </p:spPr>
        <p:txBody>
          <a:bodyPr wrap="square" lIns="0" tIns="0" rIns="0" bIns="0" rtlCol="0" anchor="ctr"/>
          <a:lstStyle/>
          <a:p>
            <a:pPr marL="0" indent="0" algn="l">
              <a:lnSpc>
                <a:spcPct val="104000"/>
              </a:lnSpc>
              <a:buNone/>
            </a:pPr>
            <a:r>
              <a:rPr lang="en-US" sz="2700" b="1" dirty="0">
                <a:solidFill>
                  <a:srgbClr val="21295C"/>
                </a:solidFill>
                <a:latin typeface="Cambria" pitchFamily="34" charset="0"/>
                <a:ea typeface="Cambria" pitchFamily="34" charset="-122"/>
                <a:cs typeface="Cambria" pitchFamily="34" charset="-120"/>
              </a:rPr>
              <a:t>The instrument: a variance swap on German wind generation</a:t>
            </a:r>
            <a:endParaRPr lang="en-US" sz="2700" dirty="0"/>
          </a:p>
        </p:txBody>
      </p:sp>
      <p:sp>
        <p:nvSpPr>
          <p:cNvPr id="12" name="Text 10"/>
          <p:cNvSpPr/>
          <p:nvPr/>
        </p:nvSpPr>
        <p:spPr>
          <a:xfrm>
            <a:off x="548640" y="6510528"/>
            <a:ext cx="8229600" cy="256032"/>
          </a:xfrm>
          <a:prstGeom prst="rect">
            <a:avLst/>
          </a:prstGeom>
          <a:noFill/>
          <a:ln/>
        </p:spPr>
        <p:txBody>
          <a:bodyPr wrap="square" lIns="0" tIns="0" rIns="0" bIns="0" rtlCol="0" anchor="ctr"/>
          <a:lstStyle/>
          <a:p>
            <a:pPr marL="0" indent="0" algn="l">
              <a:buNone/>
            </a:pPr>
            <a:r>
              <a:rPr lang="en-US" sz="900" i="1" dirty="0">
                <a:solidFill>
                  <a:srgbClr val="56606B"/>
                </a:solidFill>
                <a:latin typeface="Calibri" pitchFamily="34" charset="0"/>
                <a:ea typeface="Calibri" pitchFamily="34" charset="-122"/>
                <a:cs typeface="Calibri" pitchFamily="34" charset="-120"/>
              </a:rPr>
              <a:t>Wind Speed Modelling for Derivatives Pricing — Final Defence</a:t>
            </a:r>
            <a:endParaRPr lang="en-US" sz="900" dirty="0"/>
          </a:p>
        </p:txBody>
      </p:sp>
      <p:sp>
        <p:nvSpPr>
          <p:cNvPr id="13" name="Text 11"/>
          <p:cNvSpPr/>
          <p:nvPr/>
        </p:nvSpPr>
        <p:spPr>
          <a:xfrm>
            <a:off x="11365992" y="6510528"/>
            <a:ext cx="365760" cy="256032"/>
          </a:xfrm>
          <a:prstGeom prst="rect">
            <a:avLst/>
          </a:prstGeom>
          <a:noFill/>
          <a:ln/>
        </p:spPr>
        <p:txBody>
          <a:bodyPr wrap="square" lIns="0" tIns="0" rIns="0" bIns="0" rtlCol="0" anchor="ctr"/>
          <a:lstStyle/>
          <a:p>
            <a:pPr marL="0" indent="0" algn="r">
              <a:buNone/>
            </a:pPr>
            <a:r>
              <a:rPr lang="en-US" sz="900" dirty="0">
                <a:solidFill>
                  <a:srgbClr val="56606B"/>
                </a:solidFill>
                <a:latin typeface="Calibri" pitchFamily="34" charset="0"/>
                <a:ea typeface="Calibri" pitchFamily="34" charset="-122"/>
                <a:cs typeface="Calibri" pitchFamily="34" charset="-120"/>
              </a:rPr>
              <a:t>22</a:t>
            </a:r>
            <a:endParaRPr lang="en-US" sz="900" dirty="0"/>
          </a:p>
        </p:txBody>
      </p:sp>
      <p:sp>
        <p:nvSpPr>
          <p:cNvPr id="14" name="Rounded Rectangle 13"/>
          <p:cNvSpPr/>
          <p:nvPr/>
        </p:nvSpPr>
        <p:spPr>
          <a:xfrm>
            <a:off x="548640" y="1783080"/>
            <a:ext cx="4572000" cy="4480560"/>
          </a:xfrm>
          <a:prstGeom prst="roundRect">
            <a:avLst>
              <a:gd name="adj" fmla="val 183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15" name="TextBox 14"/>
          <p:cNvSpPr txBox="1"/>
          <p:nvPr/>
        </p:nvSpPr>
        <p:spPr>
          <a:xfrm>
            <a:off x="868680" y="1938528"/>
            <a:ext cx="4023360" cy="274320"/>
          </a:xfrm>
          <a:prstGeom prst="rect">
            <a:avLst/>
          </a:prstGeom>
          <a:noFill/>
        </p:spPr>
        <p:txBody>
          <a:bodyPr wrap="square" lIns="0" tIns="0" rIns="0" bIns="0" anchor="ctr">
            <a:spAutoFit/>
          </a:bodyPr>
          <a:lstStyle/>
          <a:p>
            <a:pPr algn="l"/>
            <a:r>
              <a:rPr sz="1200" b="1" i="0" spc="100">
                <a:solidFill>
                  <a:srgbClr val="1C7293"/>
                </a:solidFill>
                <a:latin typeface="Calibri"/>
              </a:rPr>
              <a:t>THE CONTRACT</a:t>
            </a:r>
          </a:p>
        </p:txBody>
      </p:sp>
      <p:sp>
        <p:nvSpPr>
          <p:cNvPr id="16" name="TextBox 15"/>
          <p:cNvSpPr txBox="1"/>
          <p:nvPr/>
        </p:nvSpPr>
        <p:spPr>
          <a:xfrm>
            <a:off x="868680" y="2286000"/>
            <a:ext cx="4023360" cy="777240"/>
          </a:xfrm>
          <a:prstGeom prst="rect">
            <a:avLst/>
          </a:prstGeom>
          <a:noFill/>
        </p:spPr>
        <p:txBody>
          <a:bodyPr wrap="square" lIns="0" tIns="0" rIns="0" bIns="0" anchor="t">
            <a:spAutoFit/>
          </a:bodyPr>
          <a:lstStyle/>
          <a:p>
            <a:pPr algn="l">
              <a:spcAft>
                <a:spcPts val="200"/>
              </a:spcAft>
            </a:pPr>
            <a:r>
              <a:rPr sz="2000" b="1" i="0">
                <a:solidFill>
                  <a:srgbClr val="21295C"/>
                </a:solidFill>
                <a:latin typeface="Cambria"/>
              </a:rPr>
              <a:t>Π = RV[t,T] − K</a:t>
            </a:r>
          </a:p>
          <a:p>
            <a:pPr algn="l"/>
            <a:r>
              <a:rPr sz="1700" b="0" i="0">
                <a:solidFill>
                  <a:srgbClr val="21295C"/>
                </a:solidFill>
                <a:latin typeface="Cambria"/>
              </a:rPr>
              <a:t>RV = (252 / N) · Σ rₛ²</a:t>
            </a:r>
          </a:p>
        </p:txBody>
      </p:sp>
      <p:sp>
        <p:nvSpPr>
          <p:cNvPr id="17" name="TextBox 16"/>
          <p:cNvSpPr txBox="1"/>
          <p:nvPr/>
        </p:nvSpPr>
        <p:spPr>
          <a:xfrm>
            <a:off x="868680" y="3154680"/>
            <a:ext cx="3977639" cy="1600200"/>
          </a:xfrm>
          <a:prstGeom prst="rect">
            <a:avLst/>
          </a:prstGeom>
          <a:noFill/>
        </p:spPr>
        <p:txBody>
          <a:bodyPr wrap="square" lIns="0" tIns="0" rIns="0" bIns="0" anchor="t">
            <a:spAutoFit/>
          </a:bodyPr>
          <a:lstStyle/>
          <a:p>
            <a:pPr algn="l">
              <a:lnSpc>
                <a:spcPct val="108000"/>
              </a:lnSpc>
              <a:spcAft>
                <a:spcPts val="500"/>
              </a:spcAft>
            </a:pPr>
            <a:r>
              <a:rPr sz="1250" b="0" i="0">
                <a:solidFill>
                  <a:srgbClr val="56606B"/>
                </a:solidFill>
                <a:latin typeface="Calibri"/>
              </a:rPr>
              <a:t>rₛ: daily log-return of SMARD German onshore wind generation.</a:t>
            </a:r>
          </a:p>
          <a:p>
            <a:pPr algn="l">
              <a:lnSpc>
                <a:spcPct val="108000"/>
              </a:lnSpc>
              <a:spcAft>
                <a:spcPts val="500"/>
              </a:spcAft>
            </a:pPr>
            <a:r>
              <a:rPr sz="1250" b="0" i="0">
                <a:solidFill>
                  <a:srgbClr val="56606B"/>
                </a:solidFill>
                <a:latin typeface="Calibri"/>
              </a:rPr>
              <a:t>The long side receives realised variance; the producer (long volume, short its stability) sells it and receives K − RV.</a:t>
            </a:r>
          </a:p>
          <a:p>
            <a:pPr algn="l">
              <a:lnSpc>
                <a:spcPct val="108000"/>
              </a:lnSpc>
            </a:pPr>
            <a:r>
              <a:rPr sz="1250" b="0" i="0">
                <a:solidFill>
                  <a:srgbClr val="56606B"/>
                </a:solidFill>
                <a:latin typeface="Calibri"/>
              </a:rPr>
              <a:t>Linear in RV: no gamma, no path-dependent convexity.</a:t>
            </a:r>
          </a:p>
        </p:txBody>
      </p:sp>
      <p:sp>
        <p:nvSpPr>
          <p:cNvPr id="18" name="Rectangle 17"/>
          <p:cNvSpPr/>
          <p:nvPr/>
        </p:nvSpPr>
        <p:spPr>
          <a:xfrm>
            <a:off x="868680" y="4846320"/>
            <a:ext cx="3931920" cy="13716"/>
          </a:xfrm>
          <a:prstGeom prst="rect">
            <a:avLst/>
          </a:prstGeom>
          <a:solidFill>
            <a:srgbClr val="D5DEE6"/>
          </a:solidFill>
          <a:ln>
            <a:noFill/>
          </a:ln>
        </p:spPr>
        <p:txBody>
          <a:bodyPr rtlCol="0" anchor="ctr"/>
          <a:lstStyle/>
          <a:p>
            <a:pPr algn="ctr"/>
            <a:endParaRPr/>
          </a:p>
        </p:txBody>
      </p:sp>
      <p:sp>
        <p:nvSpPr>
          <p:cNvPr id="19" name="TextBox 18"/>
          <p:cNvSpPr txBox="1"/>
          <p:nvPr/>
        </p:nvSpPr>
        <p:spPr>
          <a:xfrm>
            <a:off x="868680" y="4919472"/>
            <a:ext cx="4023360" cy="274320"/>
          </a:xfrm>
          <a:prstGeom prst="rect">
            <a:avLst/>
          </a:prstGeom>
          <a:noFill/>
        </p:spPr>
        <p:txBody>
          <a:bodyPr wrap="square" lIns="0" tIns="0" rIns="0" bIns="0" anchor="ctr">
            <a:spAutoFit/>
          </a:bodyPr>
          <a:lstStyle/>
          <a:p>
            <a:pPr algn="l"/>
            <a:r>
              <a:rPr sz="1200" b="1" i="0" spc="100">
                <a:solidFill>
                  <a:srgbClr val="1C7293"/>
                </a:solidFill>
                <a:latin typeface="Calibri"/>
              </a:rPr>
              <a:t>TRACK A — EMPIRICAL FAIR STRIKE</a:t>
            </a:r>
          </a:p>
        </p:txBody>
      </p:sp>
      <p:sp>
        <p:nvSpPr>
          <p:cNvPr id="20" name="TextBox 19"/>
          <p:cNvSpPr txBox="1"/>
          <p:nvPr/>
        </p:nvSpPr>
        <p:spPr>
          <a:xfrm>
            <a:off x="868680" y="5230368"/>
            <a:ext cx="1463040" cy="640080"/>
          </a:xfrm>
          <a:prstGeom prst="rect">
            <a:avLst/>
          </a:prstGeom>
          <a:noFill/>
        </p:spPr>
        <p:txBody>
          <a:bodyPr wrap="square" lIns="0" tIns="0" rIns="0" bIns="0" anchor="ctr">
            <a:spAutoFit/>
          </a:bodyPr>
          <a:lstStyle/>
          <a:p>
            <a:pPr algn="l"/>
            <a:r>
              <a:rPr sz="3200" b="1" i="0">
                <a:solidFill>
                  <a:srgbClr val="C8791A"/>
                </a:solidFill>
                <a:latin typeface="Cambria"/>
              </a:rPr>
              <a:t>113.1</a:t>
            </a:r>
          </a:p>
        </p:txBody>
      </p:sp>
      <p:sp>
        <p:nvSpPr>
          <p:cNvPr id="21" name="TextBox 20"/>
          <p:cNvSpPr txBox="1"/>
          <p:nvPr/>
        </p:nvSpPr>
        <p:spPr>
          <a:xfrm>
            <a:off x="2331720" y="5166360"/>
            <a:ext cx="2560320" cy="914400"/>
          </a:xfrm>
          <a:prstGeom prst="rect">
            <a:avLst/>
          </a:prstGeom>
          <a:noFill/>
        </p:spPr>
        <p:txBody>
          <a:bodyPr wrap="square" lIns="0" tIns="0" rIns="0" bIns="0" anchor="ctr">
            <a:spAutoFit/>
          </a:bodyPr>
          <a:lstStyle/>
          <a:p>
            <a:pPr algn="l">
              <a:lnSpc>
                <a:spcPct val="105000"/>
              </a:lnSpc>
            </a:pPr>
            <a:r>
              <a:rPr sz="1150" b="0" i="0">
                <a:solidFill>
                  <a:srgbClr val="56606B"/>
                </a:solidFill>
                <a:latin typeface="Calibri"/>
              </a:rPr>
              <a:t>252× rolling mean realised variance, 2015–2024. A realised quantity — nothing is backed out of a traded price.</a:t>
            </a:r>
          </a:p>
        </p:txBody>
      </p:sp>
      <p:sp>
        <p:nvSpPr>
          <p:cNvPr id="22" name="Rounded Rectangle 21"/>
          <p:cNvSpPr/>
          <p:nvPr/>
        </p:nvSpPr>
        <p:spPr>
          <a:xfrm>
            <a:off x="5349240" y="1783080"/>
            <a:ext cx="6309360" cy="4480560"/>
          </a:xfrm>
          <a:prstGeom prst="roundRect">
            <a:avLst>
              <a:gd name="adj" fmla="val 1836"/>
            </a:avLst>
          </a:prstGeom>
          <a:solidFill>
            <a:srgbClr val="F7FAFC"/>
          </a:solidFill>
          <a:ln>
            <a:noFill/>
          </a:ln>
          <a:effectLst>
            <a:outerShdw blurRad="88900" dist="25400" dir="5400000" algn="bl" rotWithShape="0">
              <a:srgbClr val="1C1C1C">
                <a:alpha val="16000"/>
              </a:srgbClr>
            </a:outerShdw>
          </a:effectLst>
        </p:spPr>
        <p:txBody>
          <a:bodyPr rtlCol="0" anchor="ctr"/>
          <a:lstStyle/>
          <a:p>
            <a:pPr algn="ctr"/>
            <a:endParaRPr/>
          </a:p>
        </p:txBody>
      </p:sp>
      <p:sp>
        <p:nvSpPr>
          <p:cNvPr id="23" name="TextBox 22"/>
          <p:cNvSpPr txBox="1"/>
          <p:nvPr/>
        </p:nvSpPr>
        <p:spPr>
          <a:xfrm>
            <a:off x="5623560" y="1938528"/>
            <a:ext cx="5852160" cy="274320"/>
          </a:xfrm>
          <a:prstGeom prst="rect">
            <a:avLst/>
          </a:prstGeom>
          <a:noFill/>
        </p:spPr>
        <p:txBody>
          <a:bodyPr wrap="square" lIns="0" tIns="0" rIns="0" bIns="0" anchor="ctr">
            <a:spAutoFit/>
          </a:bodyPr>
          <a:lstStyle/>
          <a:p>
            <a:pPr algn="l"/>
            <a:r>
              <a:rPr sz="1200" b="1" i="0" spc="100">
                <a:solidFill>
                  <a:srgbClr val="1C7293"/>
                </a:solidFill>
                <a:latin typeface="Calibri"/>
              </a:rPr>
              <a:t>ANNUAL PAYOFF OF A LONG UNIT-NOTIONAL SWAP STRUCK AT K = 113.1</a:t>
            </a:r>
          </a:p>
        </p:txBody>
      </p:sp>
      <p:graphicFrame>
        <p:nvGraphicFramePr>
          <p:cNvPr id="24" name="Chart 23"/>
          <p:cNvGraphicFramePr>
            <a:graphicFrameLocks noGrp="1"/>
          </p:cNvGraphicFramePr>
          <p:nvPr/>
        </p:nvGraphicFramePr>
        <p:xfrm>
          <a:off x="5486400" y="2240280"/>
          <a:ext cx="603504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25" name="TextBox 24"/>
          <p:cNvSpPr txBox="1"/>
          <p:nvPr/>
        </p:nvSpPr>
        <p:spPr>
          <a:xfrm>
            <a:off x="5623560" y="5257800"/>
            <a:ext cx="1874519" cy="365760"/>
          </a:xfrm>
          <a:prstGeom prst="rect">
            <a:avLst/>
          </a:prstGeom>
          <a:noFill/>
        </p:spPr>
        <p:txBody>
          <a:bodyPr wrap="square" lIns="0" tIns="0" rIns="0" bIns="0" anchor="ctr">
            <a:spAutoFit/>
          </a:bodyPr>
          <a:lstStyle/>
          <a:p>
            <a:pPr algn="l"/>
            <a:r>
              <a:rPr sz="1700" b="1" i="0">
                <a:solidFill>
                  <a:srgbClr val="C8791A"/>
                </a:solidFill>
                <a:latin typeface="Cambria"/>
              </a:rPr>
              <a:t>95.5 – 132.0</a:t>
            </a:r>
          </a:p>
        </p:txBody>
      </p:sp>
      <p:sp>
        <p:nvSpPr>
          <p:cNvPr id="26" name="TextBox 25"/>
          <p:cNvSpPr txBox="1"/>
          <p:nvPr/>
        </p:nvSpPr>
        <p:spPr>
          <a:xfrm>
            <a:off x="5623560" y="5623560"/>
            <a:ext cx="1874519" cy="502920"/>
          </a:xfrm>
          <a:prstGeom prst="rect">
            <a:avLst/>
          </a:prstGeom>
          <a:noFill/>
        </p:spPr>
        <p:txBody>
          <a:bodyPr wrap="square" lIns="0" tIns="0" rIns="0" bIns="0" anchor="t">
            <a:spAutoFit/>
          </a:bodyPr>
          <a:lstStyle/>
          <a:p>
            <a:pPr algn="l">
              <a:lnSpc>
                <a:spcPct val="100000"/>
              </a:lnSpc>
            </a:pPr>
            <a:r>
              <a:rPr sz="1100" b="0" i="0">
                <a:solidFill>
                  <a:srgbClr val="56606B"/>
                </a:solidFill>
                <a:latin typeface="Calibri"/>
              </a:rPr>
              <a:t>annual realised variance, 2019 – 2024</a:t>
            </a:r>
          </a:p>
        </p:txBody>
      </p:sp>
      <p:sp>
        <p:nvSpPr>
          <p:cNvPr id="27" name="TextBox 26"/>
          <p:cNvSpPr txBox="1"/>
          <p:nvPr/>
        </p:nvSpPr>
        <p:spPr>
          <a:xfrm>
            <a:off x="7607808" y="5257800"/>
            <a:ext cx="1874519" cy="365760"/>
          </a:xfrm>
          <a:prstGeom prst="rect">
            <a:avLst/>
          </a:prstGeom>
          <a:noFill/>
        </p:spPr>
        <p:txBody>
          <a:bodyPr wrap="square" lIns="0" tIns="0" rIns="0" bIns="0" anchor="ctr">
            <a:spAutoFit/>
          </a:bodyPr>
          <a:lstStyle/>
          <a:p>
            <a:pPr algn="l"/>
            <a:r>
              <a:rPr sz="1700" b="1" i="0">
                <a:solidFill>
                  <a:srgbClr val="C8791A"/>
                </a:solidFill>
                <a:latin typeface="Cambria"/>
              </a:rPr>
              <a:t>+2.34</a:t>
            </a:r>
          </a:p>
        </p:txBody>
      </p:sp>
      <p:sp>
        <p:nvSpPr>
          <p:cNvPr id="28" name="TextBox 27"/>
          <p:cNvSpPr txBox="1"/>
          <p:nvPr/>
        </p:nvSpPr>
        <p:spPr>
          <a:xfrm>
            <a:off x="7607808" y="5623560"/>
            <a:ext cx="1874519" cy="502920"/>
          </a:xfrm>
          <a:prstGeom prst="rect">
            <a:avLst/>
          </a:prstGeom>
          <a:noFill/>
        </p:spPr>
        <p:txBody>
          <a:bodyPr wrap="square" lIns="0" tIns="0" rIns="0" bIns="0" anchor="t">
            <a:spAutoFit/>
          </a:bodyPr>
          <a:lstStyle/>
          <a:p>
            <a:pPr algn="l">
              <a:lnSpc>
                <a:spcPct val="100000"/>
              </a:lnSpc>
            </a:pPr>
            <a:r>
              <a:rPr sz="1100" b="0" i="0">
                <a:solidFill>
                  <a:srgbClr val="56606B"/>
                </a:solidFill>
                <a:latin typeface="Calibri"/>
              </a:rPr>
              <a:t>mean payoff: the strike was close to fair</a:t>
            </a:r>
          </a:p>
        </p:txBody>
      </p:sp>
      <p:sp>
        <p:nvSpPr>
          <p:cNvPr id="29" name="TextBox 28"/>
          <p:cNvSpPr txBox="1"/>
          <p:nvPr/>
        </p:nvSpPr>
        <p:spPr>
          <a:xfrm>
            <a:off x="9592056" y="5257800"/>
            <a:ext cx="1874519" cy="365760"/>
          </a:xfrm>
          <a:prstGeom prst="rect">
            <a:avLst/>
          </a:prstGeom>
          <a:noFill/>
        </p:spPr>
        <p:txBody>
          <a:bodyPr wrap="square" lIns="0" tIns="0" rIns="0" bIns="0" anchor="ctr">
            <a:spAutoFit/>
          </a:bodyPr>
          <a:lstStyle/>
          <a:p>
            <a:pPr algn="l"/>
            <a:r>
              <a:rPr sz="1700" b="1" i="0">
                <a:solidFill>
                  <a:srgbClr val="C8791A"/>
                </a:solidFill>
                <a:latin typeface="Cambria"/>
              </a:rPr>
              <a:t>−14.8</a:t>
            </a:r>
          </a:p>
        </p:txBody>
      </p:sp>
      <p:sp>
        <p:nvSpPr>
          <p:cNvPr id="30" name="TextBox 29"/>
          <p:cNvSpPr txBox="1"/>
          <p:nvPr/>
        </p:nvSpPr>
        <p:spPr>
          <a:xfrm>
            <a:off x="9592056" y="5623560"/>
            <a:ext cx="1874519" cy="502920"/>
          </a:xfrm>
          <a:prstGeom prst="rect">
            <a:avLst/>
          </a:prstGeom>
          <a:noFill/>
        </p:spPr>
        <p:txBody>
          <a:bodyPr wrap="square" lIns="0" tIns="0" rIns="0" bIns="0" anchor="t">
            <a:spAutoFit/>
          </a:bodyPr>
          <a:lstStyle/>
          <a:p>
            <a:pPr algn="l">
              <a:lnSpc>
                <a:spcPct val="100000"/>
              </a:lnSpc>
            </a:pPr>
            <a:r>
              <a:rPr sz="1100" b="0" i="0">
                <a:solidFill>
                  <a:srgbClr val="56606B"/>
                </a:solidFill>
                <a:latin typeface="Calibri"/>
              </a:rPr>
              <a:t>5th-percentile year, ≈13% of strike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4969</Words>
  <Application>Microsoft Office PowerPoint</Application>
  <PresentationFormat>Widescreen</PresentationFormat>
  <Paragraphs>481</Paragraphs>
  <Slides>22</Slides>
  <Notes>17</Notes>
  <HiddenSlides>10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22</vt:i4>
      </vt:variant>
    </vt:vector>
  </HeadingPairs>
  <TitlesOfParts>
    <vt:vector size="27" baseType="lpstr">
      <vt:lpstr>Aptos</vt:lpstr>
      <vt:lpstr>Arial</vt:lpstr>
      <vt:lpstr>Calibri</vt:lpstr>
      <vt:lpstr>Cambria</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Enrico Butali - enrico.butali@studio.unibo.it</cp:lastModifiedBy>
  <cp:revision>38</cp:revision>
  <dcterms:created xsi:type="dcterms:W3CDTF">2026-09-24T10:39:50Z</dcterms:created>
  <dcterms:modified xsi:type="dcterms:W3CDTF">2026-10-27T10:38:49Z</dcterms:modified>
</cp:coreProperties>
</file>