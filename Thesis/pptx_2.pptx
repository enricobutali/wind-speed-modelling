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0" r:id="rId21"/>
    <p:sldId id="263" r:id="rId9"/>
    <p:sldId id="264" r:id="rId10"/>
    <p:sldId id="265" r:id="rId11"/>
    <p:sldId id="271" r:id="rId22"/>
    <p:sldId id="266" r:id="rId12"/>
    <p:sldId id="267" r:id="rId13"/>
    <p:sldId id="268" r:id="rId14"/>
    <p:sldId id="269" r:id="rId15"/>
    <p:sldId id="272" r:id="rId23"/>
    <p:sldId id="262" r:id="rId8"/>
    <p:sldId id="273" r:id="rId24"/>
    <p:sldId id="274" r:id="rId25"/>
    <p:sldId id="275" r:id="rId26"/>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 s. Title, candidate, supervisor.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Two legs of exposure: volume and price. The merit-order correlation is only −0.16 (−0.476 / −0.275 within the two price regimes), so the natural hedge is weak and one-sided. The residual volumetric risk is what the thesis prices. €16.1m = 225,100 MWh × €71.38.</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A = proxy used to build and validate; B = aligned reference carrying the headline claims. Mention λ = 0.1 / 0.5 now so the commensurability point in Ch. 3 is not a surprise.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Read the three questions; they structure the rest of the talk.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most uncomfortable, and most interesting, result, and it is stated rather than smoothed over. The Feller condition asks whether the CIR variance process stays strictly positive almost surely. For Dataset B it holds comfortably, at a margin of 28.1 times, on every estimator considered. For Dataset A, the full-sample estimator — the same one used for B — gives a margin of only 0.8, meaning the condition is violated; but 30-day rolling estimators give margins of 3.6 to 5.1, meaning it holds. The verdict flips depending on which estimator you trust. That sensitivity is itself the finding: xi, the volatility-of-volatility parameter, is the least identified of the four CIR parameters at daily sampling frequency. It also means an earlier project record of a 27.9-times margin is not reproducible under any estimator tested and needed correcting.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All four fitted specifications share the AR(4) conditional mean, so they are identical on one-step RMSE by construction — separable only on pricing and hedging criteria. All beat persistence decisively. If asked about the Ch. 2 figures: sign convention and sample differ (backup).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min. Track A ≈ 114, Track B ≈ 0.05–0.87: not comparable raw. Four conventions: power curve (9/W̄²), annualisation (×252), Box–Cox scale (W̄^{2(1−λ)}), innovation vs first difference. Reconciled: 132.9 and 328.8 vs ≈113. Both overstate the market — consistent with a single grid point vs a national fleet (spatial averaging). Full chain in backup.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min. Headline: 93.8% raw, 88.0% after the 1.931× height correction. Robust to the profile exponent (backup table: 90.1% to 80.3%). Then state the qualification yourself before the committee does: different Box–Cox scales and pricing dates. This hands over to the power-curve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min. The variance swap is blind to direction; CAWS pays when the wind resource falls short. Emphasise the protection leg (2017 for A, 2021 for B). Pre-empt the misreading: the negative CVaR is the windy year paying the premium. Cross-dataset: 4.2× in m/s is mostly a height/units ratio; normalised the gap is ≈30%.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One sentence per research question, then close on the quotation.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Limitations in the thesis's order (§3.5.2); future work maps one-to-one onto them (§3.5.3).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Walk the pipeline quickly: each stage is applied identically to both datasets. Only two outputs enter the price: C₀ from the seasonal-variance fit and h(t₀) from GARCH. AR(4) is retained over the AIC-preferred AR(3) because CAR(4) needs a 4-dimensional companion matrix. Precedents: Tol (1997) for seasonal variance × GARCH; Benth &amp; Šaltytė Benth (2009) for the AR(4)↔CAR(4) Euler map. Feller: holds for B (28.1×), estimator-dependent for A — backup.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The sharpest single result. Regress SMARD generation on cubed wind speed: Nordfriesland explains 58.7%, Bologna 0.01% with p = 0.723 — no measurable information. This is where the Value of Information really sits, and it costs one OLS fit: screen candidate wind series on R² before pricing. Correction to the record: the Phase 6 write-up reported p &lt; 0.0001 for A; the executed notebook gives 0.723.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79992" y="-2560320"/>
            <a:ext cx="5669280" cy="5669280"/>
          </a:xfrm>
          <a:prstGeom prst="ellipse">
            <a:avLst/>
          </a:prstGeom>
          <a:solidFill>
            <a:srgbClr val="1C7293">
              <a:alpha val="42000"/>
            </a:srgbClr>
          </a:solidFill>
          <a:ln/>
        </p:spPr>
        <p:txBody>
          <a:bodyPr/>
          <a:p/>
        </p:txBody>
      </p:sp>
      <p:sp>
        <p:nvSpPr>
          <p:cNvPr id="3" name="Shape 1"/>
          <p:cNvSpPr/>
          <p:nvPr/>
        </p:nvSpPr>
        <p:spPr>
          <a:xfrm>
            <a:off x="10634472" y="-640080"/>
            <a:ext cx="2743200" cy="2743200"/>
          </a:xfrm>
          <a:prstGeom prst="ellipse">
            <a:avLst/>
          </a:prstGeom>
          <a:solidFill>
            <a:srgbClr val="065A82">
              <a:alpha val="70000"/>
            </a:srgbClr>
          </a:solidFill>
          <a:ln/>
        </p:spPr>
        <p:txBody>
          <a:bodyPr/>
          <a:p/>
        </p:txBody>
      </p:sp>
      <p:sp>
        <p:nvSpPr>
          <p:cNvPr id="4" name="Text 2"/>
          <p:cNvSpPr/>
          <p:nvPr/>
        </p:nvSpPr>
        <p:spPr>
          <a:xfrm>
            <a:off x="822960" y="1965960"/>
            <a:ext cx="9144000" cy="365760"/>
          </a:xfrm>
          <a:prstGeom prst="rect">
            <a:avLst/>
          </a:prstGeom>
          <a:noFill/>
          <a:ln/>
        </p:spPr>
        <p:txBody>
          <a:bodyPr wrap="square" lIns="0" tIns="0" rIns="0" bIns="0" rtlCol="0" anchor="ctr"/>
          <a:lstStyle/>
          <a:p>
            <a:pPr algn="l" indent="0" marL="0">
              <a:buNone/>
            </a:pPr>
            <a:r>
              <a:rPr lang="en-US" sz="1400" b="1" spc="250" kern="0" dirty="0">
                <a:solidFill>
                  <a:srgbClr val="E8A33D"/>
                </a:solidFill>
                <a:latin typeface="Calibri" pitchFamily="34" charset="0"/>
                <a:ea typeface="Calibri" pitchFamily="34" charset="-122"/>
                <a:cs typeface="Calibri" pitchFamily="34" charset="-120"/>
              </a:rPr>
              <a:t>MASTER'S THESIS · FINAL EXAMINATION</a:t>
            </a:r>
            <a:endParaRPr lang="en-US" sz="1400" dirty="0"/>
          </a:p>
        </p:txBody>
      </p:sp>
      <p:sp>
        <p:nvSpPr>
          <p:cNvPr id="5" name="Text 3"/>
          <p:cNvSpPr/>
          <p:nvPr/>
        </p:nvSpPr>
        <p:spPr>
          <a:xfrm>
            <a:off x="822960" y="2423160"/>
            <a:ext cx="10241280" cy="1737360"/>
          </a:xfrm>
          <a:prstGeom prst="rect">
            <a:avLst/>
          </a:prstGeom>
          <a:noFill/>
          <a:ln/>
        </p:spPr>
        <p:txBody>
          <a:bodyPr wrap="square" lIns="0" tIns="0" rIns="0" bIns="0" rtlCol="0" anchor="ctr"/>
          <a:lstStyle/>
          <a:p>
            <a:pPr algn="l" marL="0" indent="0">
              <a:buNone/>
            </a:pPr>
            <a:r>
              <a:rPr lang="en-US" sz="3400" b="1" dirty="0">
                <a:solidFill>
                  <a:srgbClr val="FFFFFF"/>
                </a:solidFill>
                <a:latin typeface="Cambria"/>
                <a:ea typeface="Cambria"/>
                <a:cs typeface="Cambria"/>
              </a:rPr>
              <a:t>Wind Speed Modelling</a:t>
            </a:r>
          </a:p>
          <a:p>
            <a:pPr algn="l" marL="0" indent="0">
              <a:buNone/>
            </a:pPr>
            <a:r>
              <a:rPr lang="en-US" sz="3400" b="1" dirty="0">
                <a:solidFill>
                  <a:srgbClr val="FFFFFF"/>
                </a:solidFill>
                <a:latin typeface="Cambria"/>
                <a:ea typeface="Cambria"/>
                <a:cs typeface="Cambria"/>
              </a:rPr>
              <a:t>for Derivatives Pricing</a:t>
            </a:r>
          </a:p>
        </p:txBody>
      </p:sp>
      <p:sp>
        <p:nvSpPr>
          <p:cNvPr id="6" name="Text 4"/>
          <p:cNvSpPr/>
          <p:nvPr/>
        </p:nvSpPr>
        <p:spPr>
          <a:xfrm>
            <a:off x="822960" y="4343400"/>
            <a:ext cx="10058400" cy="365760"/>
          </a:xfrm>
          <a:prstGeom prst="rect">
            <a:avLst/>
          </a:prstGeom>
          <a:noFill/>
          <a:ln/>
        </p:spPr>
        <p:txBody>
          <a:bodyPr wrap="square" lIns="0" tIns="0" rIns="0" bIns="0" rtlCol="0" anchor="ctr"/>
          <a:lstStyle/>
          <a:p>
            <a:pPr algn="l" marL="0" indent="0">
              <a:buNone/>
            </a:pPr>
            <a:r>
              <a:rPr lang="en-US" sz="1500" b="0" i="1" dirty="0">
                <a:solidFill>
                  <a:srgbClr val="FFFFFF"/>
                </a:solidFill>
                <a:latin typeface="Calibri"/>
                <a:ea typeface="Calibri"/>
                <a:cs typeface="Calibri"/>
              </a:rPr>
              <a:t>Candidate: Enrico Butali</a:t>
            </a:r>
            <a:r>
              <a:rPr lang="en-US" sz="1500" b="0" i="1" dirty="0">
                <a:solidFill>
                  <a:srgbClr val="CADCFC"/>
                </a:solidFill>
                <a:latin typeface="Calibri"/>
                <a:ea typeface="Calibri"/>
                <a:cs typeface="Calibri"/>
              </a:rPr>
              <a:t>      Supervisor: Prof.ssa Silvia Romagnoli</a:t>
            </a:r>
          </a:p>
        </p:txBody>
      </p:sp>
      <p:sp>
        <p:nvSpPr>
          <p:cNvPr id="7" name="Text 5"/>
          <p:cNvSpPr/>
          <p:nvPr/>
        </p:nvSpPr>
        <p:spPr>
          <a:xfrm>
            <a:off x="822960" y="4800600"/>
            <a:ext cx="9144000" cy="640080"/>
          </a:xfrm>
          <a:prstGeom prst="rect">
            <a:avLst/>
          </a:prstGeom>
          <a:noFill/>
          <a:ln/>
        </p:spPr>
        <p:txBody>
          <a:bodyPr wrap="square" lIns="0" tIns="0" rIns="0" bIns="0" rtlCol="0" anchor="ctr"/>
          <a:lstStyle/>
          <a:p>
            <a:pPr algn="l" indent="0" marL="0">
              <a:lnSpc>
                <a:spcPct val="120000"/>
              </a:lnSpc>
              <a:buNone/>
            </a:pPr>
            <a:r>
              <a:rPr lang="en-US" sz="1250" dirty="0">
                <a:solidFill>
                  <a:srgbClr val="EEF3F7"/>
                </a:solidFill>
                <a:latin typeface="Calibri" pitchFamily="34" charset="0"/>
                <a:ea typeface="Calibri" pitchFamily="34" charset="-122"/>
                <a:cs typeface="Calibri" pitchFamily="34" charset="-120"/>
              </a:rPr>
              <a:t>Second Cycle Degree in Greening Energy Market and Finance (LM-16 R)</a:t>
            </a:r>
            <a:endParaRPr lang="en-US" sz="1250" dirty="0"/>
          </a:p>
          <a:p>
            <a:pPr algn="l" indent="0" marL="0">
              <a:lnSpc>
                <a:spcPct val="120000"/>
              </a:lnSpc>
              <a:buNone/>
            </a:pPr>
            <a:r>
              <a:rPr lang="en-US" sz="1250" dirty="0">
                <a:solidFill>
                  <a:srgbClr val="EEF3F7"/>
                </a:solidFill>
                <a:latin typeface="Calibri" pitchFamily="34" charset="0"/>
                <a:ea typeface="Calibri" pitchFamily="34" charset="-122"/>
                <a:cs typeface="Calibri" pitchFamily="34" charset="-120"/>
              </a:rPr>
              <a:t>Department of Statistical Sciences “Paolo Fortunati” · University of Bologna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CH. 1 · MOTIVATION</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Wind is free to generate — and impossible to store</a:t>
            </a:r>
            <a:endParaRPr lang="en-US" sz="2700" dirty="0"/>
          </a:p>
        </p:txBody>
      </p:sp>
      <p:sp>
        <p:nvSpPr>
          <p:cNvPr id="4" name="Shape 2"/>
          <p:cNvSpPr/>
          <p:nvPr/>
        </p:nvSpPr>
        <p:spPr>
          <a:xfrm>
            <a:off x="548640" y="1783080"/>
            <a:ext cx="6675120" cy="4297680"/>
          </a:xfrm>
          <a:prstGeom prst="roundRect">
            <a:avLst>
              <a:gd name="adj" fmla="val 1915"/>
            </a:avLst>
          </a:prstGeom>
          <a:solidFill>
            <a:srgbClr val="F7FAFC"/>
          </a:solidFill>
          <a:ln/>
          <a:effectLst>
            <a:outerShdw sx="100000" sy="100000" kx="0" ky="0" algn="bl" rotWithShape="0" blurRad="88900" dist="25400" dir="5400000">
              <a:srgbClr val="1C1C1C">
                <a:alpha val="16000"/>
              </a:srgbClr>
            </a:outerShdw>
          </a:effectLst>
        </p:spPr>
        <p:txBody>
          <a:bodyPr/>
          <a:p/>
        </p:txBody>
      </p:sp>
      <p:sp>
        <p:nvSpPr>
          <p:cNvPr id="5" name="Text 3"/>
          <p:cNvSpPr/>
          <p:nvPr/>
        </p:nvSpPr>
        <p:spPr>
          <a:xfrm>
            <a:off x="868680" y="2011680"/>
            <a:ext cx="6080760" cy="3840480"/>
          </a:xfrm>
          <a:prstGeom prst="rect">
            <a:avLst/>
          </a:prstGeom>
          <a:noFill/>
          <a:ln/>
        </p:spPr>
        <p:txBody>
          <a:bodyPr wrap="square" lIns="0" tIns="0" rIns="0" bIns="0" rtlCol="0" anchor="ctr"/>
          <a:lstStyle/>
          <a:p>
            <a:pPr algn="l" indent="0" marL="0">
              <a:lnSpc>
                <a:spcPct val="118000"/>
              </a:lnSpc>
              <a:buNone/>
            </a:pPr>
            <a:r>
              <a:rPr lang="en-US" sz="1500" b="1" dirty="0">
                <a:solidFill>
                  <a:srgbClr val="21295C"/>
                </a:solidFill>
                <a:latin typeface="Calibri" pitchFamily="34" charset="0"/>
                <a:ea typeface="Calibri" pitchFamily="34" charset="-122"/>
                <a:cs typeface="Calibri" pitchFamily="34" charset="-120"/>
              </a:rPr>
              <a:t>Two legs of exposure for a wind producer
</a:t>
            </a:r>
            <a:endParaRPr lang="en-US" sz="1500" dirty="0"/>
          </a:p>
          <a:p>
            <a:pPr algn="l" indent="0" marL="0">
              <a:lnSpc>
                <a:spcPct val="118000"/>
              </a:lnSpc>
              <a:buNone/>
            </a:pPr>
            <a:r>
              <a:rPr lang="en-US" sz="1300" dirty="0">
                <a:solidFill>
                  <a:srgbClr val="56606B"/>
                </a:solidFill>
                <a:latin typeface="Calibri" pitchFamily="34" charset="0"/>
                <a:ea typeface="Calibri" pitchFamily="34" charset="-122"/>
                <a:cs typeface="Calibri" pitchFamily="34" charset="-120"/>
              </a:rPr>
              <a:t>Volumetric — calm days cut generation directly; the shortfall is autocorrelated and seasonally heteroskedastic, not diversified away.
</a:t>
            </a:r>
            <a:endParaRPr lang="en-US" sz="1500" dirty="0"/>
          </a:p>
          <a:p>
            <a:pPr algn="l" indent="0" marL="0">
              <a:lnSpc>
                <a:spcPct val="118000"/>
              </a:lnSpc>
              <a:buNone/>
            </a:pPr>
            <a:r>
              <a:rPr lang="en-US" sz="1300" dirty="0">
                <a:solidFill>
                  <a:srgbClr val="56606B"/>
                </a:solidFill>
                <a:latin typeface="Calibri" pitchFamily="34" charset="0"/>
                <a:ea typeface="Calibri" pitchFamily="34" charset="-122"/>
                <a:cs typeface="Calibri" pitchFamily="34" charset="-120"/>
              </a:rPr>
              <a:t>Price (merit order) — high wind output depresses the day-ahead clearing price; storm passages can push it to zero or below.
</a:t>
            </a:r>
            <a:endParaRPr lang="en-US" sz="1500" dirty="0"/>
          </a:p>
          <a:p>
            <a:pPr algn="l" indent="0" marL="0">
              <a:lnSpc>
                <a:spcPct val="118000"/>
              </a:lnSpc>
              <a:buNone/>
            </a:pPr>
            <a:r>
              <a:rPr lang="en-US" sz="1500" b="1" dirty="0">
                <a:solidFill>
                  <a:srgbClr val="21295C"/>
                </a:solidFill>
                <a:latin typeface="Calibri" pitchFamily="34" charset="0"/>
                <a:ea typeface="Calibri" pitchFamily="34" charset="-122"/>
                <a:cs typeface="Calibri" pitchFamily="34" charset="-120"/>
              </a:rPr>
              <a:t>A weak, asymmetric natural hedge
</a:t>
            </a:r>
            <a:endParaRPr lang="en-US" sz="1500" dirty="0"/>
          </a:p>
          <a:p>
            <a:pPr algn="l" indent="0" marL="0">
              <a:lnSpc>
                <a:spcPct val="118000"/>
              </a:lnSpc>
              <a:buNone/>
            </a:pPr>
            <a:r>
              <a:rPr lang="en-US" sz="1300" dirty="0">
                <a:solidFill>
                  <a:srgbClr val="56606B"/>
                </a:solidFill>
                <a:latin typeface="Calibri" pitchFamily="34" charset="0"/>
                <a:ea typeface="Calibri" pitchFamily="34" charset="-122"/>
                <a:cs typeface="Calibri" pitchFamily="34" charset="-120"/>
              </a:rPr>
              <a:t>ρ(generation, price) = −0.16 over 2015–2024 — real, but too weak and one-sided to substitute for a dedicated instrument. It cuts the upside without a floor under the downside.</a:t>
            </a:r>
            <a:endParaRPr lang="en-US" sz="1500" dirty="0"/>
          </a:p>
        </p:txBody>
      </p:sp>
      <p:sp>
        <p:nvSpPr>
          <p:cNvPr id="6" name="Shape 4"/>
          <p:cNvSpPr/>
          <p:nvPr/>
        </p:nvSpPr>
        <p:spPr>
          <a:xfrm>
            <a:off x="7452360" y="1783080"/>
            <a:ext cx="4206240" cy="4297680"/>
          </a:xfrm>
          <a:prstGeom prst="roundRect">
            <a:avLst>
              <a:gd name="adj" fmla="val 1957"/>
            </a:avLst>
          </a:prstGeom>
          <a:solidFill>
            <a:srgbClr val="21295C"/>
          </a:solidFill>
          <a:ln/>
          <a:effectLst>
            <a:outerShdw sx="100000" sy="100000" kx="0" ky="0" algn="bl" rotWithShape="0" blurRad="88900" dist="25400" dir="5400000">
              <a:srgbClr val="1C1C1C">
                <a:alpha val="16000"/>
              </a:srgbClr>
            </a:outerShdw>
          </a:effectLst>
        </p:spPr>
        <p:txBody>
          <a:bodyPr/>
          <a:p/>
        </p:txBody>
      </p:sp>
      <p:sp>
        <p:nvSpPr>
          <p:cNvPr id="7" name="Text 5"/>
          <p:cNvSpPr/>
          <p:nvPr/>
        </p:nvSpPr>
        <p:spPr>
          <a:xfrm>
            <a:off x="7726680" y="2011680"/>
            <a:ext cx="365760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ILLUSTRATIVE SCALE</a:t>
            </a:r>
            <a:endParaRPr lang="en-US" sz="1100" dirty="0"/>
          </a:p>
        </p:txBody>
      </p:sp>
      <p:sp>
        <p:nvSpPr>
          <p:cNvPr id="8" name="Text 6"/>
          <p:cNvSpPr/>
          <p:nvPr/>
        </p:nvSpPr>
        <p:spPr>
          <a:xfrm>
            <a:off x="7726680" y="2331720"/>
            <a:ext cx="36576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100 MW</a:t>
            </a:r>
            <a:endParaRPr lang="en-US" sz="4000" dirty="0"/>
          </a:p>
        </p:txBody>
      </p:sp>
      <p:sp>
        <p:nvSpPr>
          <p:cNvPr id="9" name="Text 7"/>
          <p:cNvSpPr/>
          <p:nvPr/>
        </p:nvSpPr>
        <p:spPr>
          <a:xfrm>
            <a:off x="7726680" y="3063240"/>
            <a:ext cx="3566160" cy="548640"/>
          </a:xfrm>
          <a:prstGeom prst="rect">
            <a:avLst/>
          </a:prstGeom>
          <a:noFill/>
          <a:ln/>
        </p:spPr>
        <p:txBody>
          <a:bodyPr wrap="square" lIns="0" tIns="0" rIns="0" bIns="0" rtlCol="0" anchor="ctr"/>
          <a:lstStyle/>
          <a:p>
            <a:pPr algn="l" marL="0" indent="0">
              <a:buNone/>
            </a:pPr>
            <a:r>
              <a:rPr lang="en-US" sz="1200" b="0" dirty="0">
                <a:solidFill>
                  <a:srgbClr val="EEF3F7"/>
                </a:solidFill>
                <a:latin typeface="Calibri"/>
                <a:ea typeface="Calibri"/>
                <a:cs typeface="Calibri"/>
              </a:rPr>
              <a:t>farm, 25.7% capacity factor → ≈225,100 MWh / yr</a:t>
            </a:r>
          </a:p>
        </p:txBody>
      </p:sp>
      <p:sp>
        <p:nvSpPr>
          <p:cNvPr id="10" name="Text 8"/>
          <p:cNvSpPr/>
          <p:nvPr/>
        </p:nvSpPr>
        <p:spPr>
          <a:xfrm>
            <a:off x="7726680" y="3794760"/>
            <a:ext cx="3657600" cy="548640"/>
          </a:xfrm>
          <a:prstGeom prst="rect">
            <a:avLst/>
          </a:prstGeom>
          <a:noFill/>
          <a:ln/>
        </p:spPr>
        <p:txBody>
          <a:bodyPr wrap="square" lIns="0" tIns="0" rIns="0" bIns="0" rtlCol="0" anchor="ctr"/>
          <a:lstStyle/>
          <a:p>
            <a:pPr indent="0" marL="0">
              <a:buNone/>
            </a:pPr>
            <a:r>
              <a:rPr lang="en-US" sz="3000" b="1" dirty="0">
                <a:solidFill>
                  <a:srgbClr val="E8A33D"/>
                </a:solidFill>
                <a:latin typeface="Cambria" pitchFamily="34" charset="0"/>
                <a:ea typeface="Cambria" pitchFamily="34" charset="-122"/>
                <a:cs typeface="Cambria" pitchFamily="34" charset="-120"/>
              </a:rPr>
              <a:t>≈ €16.1m</a:t>
            </a:r>
            <a:endParaRPr lang="en-US" sz="3000" dirty="0"/>
          </a:p>
        </p:txBody>
      </p:sp>
      <p:sp>
        <p:nvSpPr>
          <p:cNvPr id="11" name="Text 9"/>
          <p:cNvSpPr/>
          <p:nvPr/>
        </p:nvSpPr>
        <p:spPr>
          <a:xfrm>
            <a:off x="7726680" y="4343400"/>
            <a:ext cx="3566160" cy="1463040"/>
          </a:xfrm>
          <a:prstGeom prst="rect">
            <a:avLst/>
          </a:prstGeom>
          <a:noFill/>
          <a:ln/>
        </p:spPr>
        <p:txBody>
          <a:bodyPr wrap="square" lIns="0" tIns="0" rIns="0" bIns="0" rtlCol="0" anchor="ctr"/>
          <a:lstStyle/>
          <a:p>
            <a:pPr indent="0" marL="0">
              <a:lnSpc>
                <a:spcPct val="118000"/>
              </a:lnSpc>
              <a:buNone/>
            </a:pPr>
            <a:r>
              <a:rPr lang="en-US" sz="1150" dirty="0">
                <a:solidFill>
                  <a:srgbClr val="EEF3F7"/>
                </a:solidFill>
                <a:latin typeface="Calibri" pitchFamily="34" charset="0"/>
                <a:ea typeface="Calibri" pitchFamily="34" charset="-122"/>
                <a:cs typeface="Calibri" pitchFamily="34" charset="-120"/>
              </a:rPr>
              <a:t>annual revenue at the 2015–2024 mean SMARD price (€71.38/MWh) — gross, illustrative, not a project valuation.</a:t>
            </a:r>
            <a:endParaRPr lang="en-US" sz="115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CH. 1 · DATA</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Two datasets, one identical pipeline</a:t>
            </a:r>
            <a:endParaRPr lang="en-US" sz="2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109960" cy="914400"/>
        </p:xfrm>
        <a:graphic>
          <a:graphicData uri="http://schemas.openxmlformats.org/drawingml/2006/table">
            <a:tbl>
              <a:tblPr/>
              <a:tblGrid>
                <a:gridCol w="2011680"/>
                <a:gridCol w="4572000"/>
                <a:gridCol w="4526280"/>
              </a:tblGrid>
              <a:tr h="402336">
                <a:tc>
                  <a:txBody>
                    <a:bodyPr/>
                    <a:lstStyle/>
                    <a:p>
                      <a:pPr algn="l" indent="0" marL="0">
                        <a:buNone/>
                      </a:pP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Dataset A — Proxy</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Dataset B — Reference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1295C"/>
                    </a:solidFill>
                  </a:tcPr>
                </a:tc>
              </a:tr>
              <a:tr h="402336">
                <a:tc>
                  <a:txBody>
                    <a:bodyPr/>
                    <a:lstStyle/>
                    <a:p>
                      <a:pPr algn="l" indent="0" marL="0">
                        <a:buNone/>
                      </a:pPr>
                      <a:r>
                        <a:rPr lang="en-US" sz="1300" b="1" dirty="0">
                          <a:solidFill>
                            <a:srgbClr val="56606B"/>
                          </a:solidFill>
                          <a:latin typeface="Calibri" pitchFamily="34" charset="0"/>
                          <a:ea typeface="Calibri" pitchFamily="34" charset="-122"/>
                          <a:cs typeface="Calibri" pitchFamily="34" charset="-120"/>
                        </a:rPr>
                        <a:t>Location</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Bologna, Italy (44.29°N, 11.20°E)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Nordfriesland, Germany (54.77°N, 8.85°E)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02336">
                <a:tc>
                  <a:txBody>
                    <a:bodyPr/>
                    <a:lstStyle/>
                    <a:p>
                      <a:pPr algn="l" indent="0" marL="0">
                        <a:buNone/>
                      </a:pPr>
                      <a:r>
                        <a:rPr lang="en-US" sz="1300" b="1" dirty="0">
                          <a:solidFill>
                            <a:srgbClr val="56606B"/>
                          </a:solidFill>
                          <a:latin typeface="Calibri" pitchFamily="34" charset="0"/>
                          <a:ea typeface="Calibri" pitchFamily="34" charset="-122"/>
                          <a:cs typeface="Calibri" pitchFamily="34" charset="-120"/>
                        </a:rPr>
                        <a:t>Height</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10 m</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100 m (hub height)</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r>
              <a:tr h="402336">
                <a:tc>
                  <a:txBody>
                    <a:bodyPr/>
                    <a:lstStyle/>
                    <a:p>
                      <a:pPr algn="l" indent="0" marL="0">
                        <a:buNone/>
                      </a:pPr>
                      <a:r>
                        <a:rPr lang="en-US" sz="1300" b="1" dirty="0">
                          <a:solidFill>
                            <a:srgbClr val="56606B"/>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OpenWeatherMap API</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Open-Meteo · ERA5 reanalysis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02336">
                <a:tc>
                  <a:txBody>
                    <a:bodyPr/>
                    <a:lstStyle/>
                    <a:p>
                      <a:pPr algn="l" indent="0" marL="0">
                        <a:buNone/>
                      </a:pPr>
                      <a:r>
                        <a:rPr lang="en-US" sz="1300" b="1" dirty="0">
                          <a:solidFill>
                            <a:srgbClr val="56606B"/>
                          </a:solidFill>
                          <a:latin typeface="Calibri" pitchFamily="34" charset="0"/>
                          <a:ea typeface="Calibri" pitchFamily="34" charset="-122"/>
                          <a:cs typeface="Calibri" pitchFamily="34" charset="-120"/>
                        </a:rPr>
                        <a:t>Period</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2015–2018 (4 yr)</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2015–2024 (10 yr)</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r>
              <a:tr h="402336">
                <a:tc>
                  <a:txBody>
                    <a:bodyPr/>
                    <a:lstStyle/>
                    <a:p>
                      <a:pPr algn="l" indent="0" marL="0">
                        <a:buNone/>
                      </a:pPr>
                      <a:r>
                        <a:rPr lang="en-US" sz="1300" b="1" dirty="0">
                          <a:solidFill>
                            <a:srgbClr val="56606B"/>
                          </a:solidFill>
                          <a:latin typeface="Calibri" pitchFamily="34" charset="0"/>
                          <a:ea typeface="Calibri" pitchFamily="34" charset="-122"/>
                          <a:cs typeface="Calibri" pitchFamily="34" charset="-120"/>
                        </a:rPr>
                        <a:t>Observations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1,462 daily</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3,653 daily</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02336">
                <a:tc>
                  <a:txBody>
                    <a:bodyPr/>
                    <a:lstStyle/>
                    <a:p>
                      <a:pPr algn="l" indent="0" marL="0">
                        <a:buNone/>
                      </a:pPr>
                      <a:r>
                        <a:rPr lang="en-US" sz="1300" b="1" dirty="0">
                          <a:solidFill>
                            <a:srgbClr val="56606B"/>
                          </a:solidFill>
                          <a:latin typeface="Calibri" pitchFamily="34" charset="0"/>
                          <a:ea typeface="Calibri" pitchFamily="34" charset="-122"/>
                          <a:cs typeface="Calibri" pitchFamily="34" charset="-120"/>
                        </a:rPr>
                        <a:t>Mean wind speed</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2.47 m/s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8.07 m/s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r>
              <a:tr h="402336">
                <a:tc>
                  <a:txBody>
                    <a:bodyPr/>
                    <a:lstStyle/>
                    <a:p>
                      <a:pPr algn="l" indent="0" marL="0">
                        <a:buNone/>
                      </a:pPr>
                      <a:r>
                        <a:rPr lang="en-US" sz="1300" b="1" dirty="0">
                          <a:solidFill>
                            <a:srgbClr val="56606B"/>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Build &amp; validate the methodology</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Carries all headline empirical claims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548640" y="5257800"/>
            <a:ext cx="11109960" cy="868680"/>
          </a:xfrm>
          <a:prstGeom prst="roundRect">
            <a:avLst>
              <a:gd name="adj" fmla="val 9474"/>
            </a:avLst>
          </a:prstGeom>
          <a:solidFill>
            <a:srgbClr val="EEF3F7"/>
          </a:solidFill>
          <a:ln/>
        </p:spPr>
        <p:txBody>
          <a:bodyPr/>
          <a:p/>
        </p:txBody>
      </p:sp>
      <p:sp>
        <p:nvSpPr>
          <p:cNvPr id="6" name="Text 3"/>
          <p:cNvSpPr/>
          <p:nvPr/>
        </p:nvSpPr>
        <p:spPr>
          <a:xfrm>
            <a:off x="822960" y="5394960"/>
            <a:ext cx="10515600" cy="640080"/>
          </a:xfrm>
          <a:prstGeom prst="rect">
            <a:avLst/>
          </a:prstGeom>
          <a:noFill/>
          <a:ln/>
        </p:spPr>
        <p:txBody>
          <a:bodyPr wrap="square" lIns="0" tIns="0" rIns="0" bIns="0" rtlCol="0" anchor="ctr"/>
          <a:lstStyle/>
          <a:p>
            <a:pPr algn="l" marL="0" indent="0">
              <a:lnSpc>
                <a:spcPct val="110000"/>
              </a:lnSpc>
              <a:buNone/>
            </a:pPr>
            <a:r>
              <a:rPr lang="en-US" sz="1250" b="1" dirty="0">
                <a:solidFill>
                  <a:srgbClr val="21295C"/>
                </a:solidFill>
                <a:latin typeface="Calibri"/>
                <a:ea typeface="Calibri"/>
                <a:cs typeface="Calibri"/>
              </a:rPr>
              <a:t>Why this pairing: </a:t>
            </a:r>
            <a:r>
              <a:rPr lang="en-US" sz="1250" b="0" dirty="0">
                <a:solidFill>
                  <a:srgbClr val="56606B"/>
                </a:solidFill>
                <a:latin typeface="Calibri"/>
                <a:ea typeface="Calibri"/>
                <a:cs typeface="Calibri"/>
              </a:rPr>
              <a:t>the same five-stage pipeline, identical in functional form, is applied to both sites, so a difference in the resulting price is attributable to the data. One caveat, taken up in Ch. 3: the Box–Cox λ is set per dataset (0.1 vs 0.5), so raw strikes sit on different measurement scales.</a:t>
            </a:r>
          </a:p>
        </p:txBody>
      </p:sp>
      <p:sp>
        <p:nvSpPr>
          <p:cNvPr id="7" name="Text 4"/>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8" name="Text 5"/>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CH. 1 · RESEARCH QUESTIONS</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Three questions, one pipeline</a:t>
            </a:r>
            <a:endParaRPr lang="en-US" sz="2700" dirty="0"/>
          </a:p>
        </p:txBody>
      </p:sp>
      <p:sp>
        <p:nvSpPr>
          <p:cNvPr id="4" name="Shape 2"/>
          <p:cNvSpPr/>
          <p:nvPr/>
        </p:nvSpPr>
        <p:spPr>
          <a:xfrm>
            <a:off x="548640" y="1828800"/>
            <a:ext cx="3593592" cy="4206240"/>
          </a:xfrm>
          <a:prstGeom prst="roundRect">
            <a:avLst>
              <a:gd name="adj" fmla="val 2290"/>
            </a:avLst>
          </a:prstGeom>
          <a:solidFill>
            <a:srgbClr val="F7FAFC"/>
          </a:solidFill>
          <a:ln/>
          <a:effectLst>
            <a:outerShdw sx="100000" sy="100000" kx="0" ky="0" algn="bl" rotWithShape="0" blurRad="88900" dist="25400" dir="5400000">
              <a:srgbClr val="1C1C1C">
                <a:alpha val="16000"/>
              </a:srgbClr>
            </a:outerShdw>
          </a:effectLst>
        </p:spPr>
        <p:txBody>
          <a:bodyPr/>
          <a:p/>
        </p:txBody>
      </p:sp>
      <p:sp>
        <p:nvSpPr>
          <p:cNvPr id="5" name="Shape 3"/>
          <p:cNvSpPr/>
          <p:nvPr/>
        </p:nvSpPr>
        <p:spPr>
          <a:xfrm>
            <a:off x="841248" y="2148840"/>
            <a:ext cx="566928" cy="566928"/>
          </a:xfrm>
          <a:prstGeom prst="ellipse">
            <a:avLst/>
          </a:prstGeom>
          <a:solidFill>
            <a:srgbClr val="1C7293"/>
          </a:solidFill>
          <a:ln/>
        </p:spPr>
        <p:txBody>
          <a:bodyPr/>
          <a:p/>
        </p:txBody>
      </p:sp>
      <p:sp>
        <p:nvSpPr>
          <p:cNvPr id="6" name="Text 4"/>
          <p:cNvSpPr/>
          <p:nvPr/>
        </p:nvSpPr>
        <p:spPr>
          <a:xfrm>
            <a:off x="841248" y="214884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841248" y="2880360"/>
            <a:ext cx="3044952" cy="320040"/>
          </a:xfrm>
          <a:prstGeom prst="rect">
            <a:avLst/>
          </a:prstGeom>
          <a:noFill/>
          <a:ln/>
        </p:spPr>
        <p:txBody>
          <a:bodyPr wrap="square" lIns="0" tIns="0" rIns="0" bIns="0" rtlCol="0" anchor="ctr"/>
          <a:lstStyle/>
          <a:p>
            <a:pPr indent="0" marL="0">
              <a:buNone/>
            </a:pPr>
            <a:r>
              <a:rPr lang="en-US" sz="1200" b="1" spc="100" kern="0" dirty="0">
                <a:solidFill>
                  <a:srgbClr val="C8791A"/>
                </a:solidFill>
                <a:latin typeface="Calibri" pitchFamily="34" charset="0"/>
                <a:ea typeface="Calibri" pitchFamily="34" charset="-122"/>
                <a:cs typeface="Calibri" pitchFamily="34" charset="-120"/>
              </a:rPr>
              <a:t>FEASIBILITY</a:t>
            </a:r>
            <a:endParaRPr lang="en-US" sz="1200" dirty="0"/>
          </a:p>
        </p:txBody>
      </p:sp>
      <p:sp>
        <p:nvSpPr>
          <p:cNvPr id="8" name="Text 6"/>
          <p:cNvSpPr/>
          <p:nvPr/>
        </p:nvSpPr>
        <p:spPr>
          <a:xfrm>
            <a:off x="841248" y="3246120"/>
            <a:ext cx="3044952" cy="2468880"/>
          </a:xfrm>
          <a:prstGeom prst="rect">
            <a:avLst/>
          </a:prstGeom>
          <a:noFill/>
          <a:ln/>
        </p:spPr>
        <p:txBody>
          <a:bodyPr wrap="square" lIns="0" tIns="0" rIns="0" bIns="0" rtlCol="0" anchor="ctr"/>
          <a:lstStyle/>
          <a:p>
            <a:pPr indent="0" marL="0">
              <a:lnSpc>
                <a:spcPct val="120000"/>
              </a:lnSpc>
              <a:buNone/>
            </a:pPr>
            <a:r>
              <a:rPr lang="en-US" sz="1300" dirty="0">
                <a:solidFill>
                  <a:srgbClr val="56606B"/>
                </a:solidFill>
                <a:latin typeface="Calibri" pitchFamily="34" charset="0"/>
                <a:ea typeface="Calibri" pitchFamily="34" charset="-122"/>
                <a:cs typeface="Calibri" pitchFamily="34" charset="-120"/>
              </a:rPr>
              <a:t>Can CAR(4)+GARCH(1,1), calibrated on wind speed aligned in geography and height with the generation being hedged, price a synthetic wind variance swap in closed form?</a:t>
            </a:r>
            <a:endParaRPr lang="en-US" sz="1300" dirty="0"/>
          </a:p>
        </p:txBody>
      </p:sp>
      <p:sp>
        <p:nvSpPr>
          <p:cNvPr id="9" name="Shape 7"/>
          <p:cNvSpPr/>
          <p:nvPr/>
        </p:nvSpPr>
        <p:spPr>
          <a:xfrm>
            <a:off x="4306824" y="1828800"/>
            <a:ext cx="3593592" cy="4206240"/>
          </a:xfrm>
          <a:prstGeom prst="roundRect">
            <a:avLst>
              <a:gd name="adj" fmla="val 2290"/>
            </a:avLst>
          </a:prstGeom>
          <a:solidFill>
            <a:srgbClr val="F7FAFC"/>
          </a:solidFill>
          <a:ln/>
          <a:effectLst>
            <a:outerShdw sx="100000" sy="100000" kx="0" ky="0" algn="bl" rotWithShape="0" blurRad="88900" dist="25400" dir="5400000">
              <a:srgbClr val="1C1C1C">
                <a:alpha val="16000"/>
              </a:srgbClr>
            </a:outerShdw>
          </a:effectLst>
        </p:spPr>
        <p:txBody>
          <a:bodyPr/>
          <a:p/>
        </p:txBody>
      </p:sp>
      <p:sp>
        <p:nvSpPr>
          <p:cNvPr id="10" name="Shape 8"/>
          <p:cNvSpPr/>
          <p:nvPr/>
        </p:nvSpPr>
        <p:spPr>
          <a:xfrm>
            <a:off x="4599432" y="2148840"/>
            <a:ext cx="566928" cy="566928"/>
          </a:xfrm>
          <a:prstGeom prst="ellipse">
            <a:avLst/>
          </a:prstGeom>
          <a:solidFill>
            <a:srgbClr val="1C7293"/>
          </a:solidFill>
          <a:ln/>
        </p:spPr>
        <p:txBody>
          <a:bodyPr/>
          <a:p/>
        </p:txBody>
      </p:sp>
      <p:sp>
        <p:nvSpPr>
          <p:cNvPr id="11" name="Text 9"/>
          <p:cNvSpPr/>
          <p:nvPr/>
        </p:nvSpPr>
        <p:spPr>
          <a:xfrm>
            <a:off x="4599432" y="214884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4599432" y="2880360"/>
            <a:ext cx="3044952" cy="320040"/>
          </a:xfrm>
          <a:prstGeom prst="rect">
            <a:avLst/>
          </a:prstGeom>
          <a:noFill/>
          <a:ln/>
        </p:spPr>
        <p:txBody>
          <a:bodyPr wrap="square" lIns="0" tIns="0" rIns="0" bIns="0" rtlCol="0" anchor="ctr"/>
          <a:lstStyle/>
          <a:p>
            <a:pPr indent="0" marL="0">
              <a:buNone/>
            </a:pPr>
            <a:r>
              <a:rPr lang="en-US" sz="1200" b="1" spc="100" kern="0" dirty="0">
                <a:solidFill>
                  <a:srgbClr val="C8791A"/>
                </a:solidFill>
                <a:latin typeface="Calibri" pitchFamily="34" charset="0"/>
                <a:ea typeface="Calibri" pitchFamily="34" charset="-122"/>
                <a:cs typeface="Calibri" pitchFamily="34" charset="-120"/>
              </a:rPr>
              <a:t>VALUE OF INFORMATION</a:t>
            </a:r>
            <a:endParaRPr lang="en-US" sz="1200" dirty="0"/>
          </a:p>
        </p:txBody>
      </p:sp>
      <p:sp>
        <p:nvSpPr>
          <p:cNvPr id="13" name="Text 11"/>
          <p:cNvSpPr/>
          <p:nvPr/>
        </p:nvSpPr>
        <p:spPr>
          <a:xfrm>
            <a:off x="4599432" y="3246120"/>
            <a:ext cx="3044952" cy="2468880"/>
          </a:xfrm>
          <a:prstGeom prst="rect">
            <a:avLst/>
          </a:prstGeom>
          <a:noFill/>
          <a:ln/>
        </p:spPr>
        <p:txBody>
          <a:bodyPr wrap="square" lIns="0" tIns="0" rIns="0" bIns="0" rtlCol="0" anchor="ctr"/>
          <a:lstStyle/>
          <a:p>
            <a:pPr indent="0" marL="0">
              <a:lnSpc>
                <a:spcPct val="120000"/>
              </a:lnSpc>
              <a:buNone/>
            </a:pPr>
            <a:r>
              <a:rPr lang="en-US" sz="1300" dirty="0">
                <a:solidFill>
                  <a:srgbClr val="56606B"/>
                </a:solidFill>
                <a:latin typeface="Calibri" pitchFamily="34" charset="0"/>
                <a:ea typeface="Calibri" pitchFamily="34" charset="-122"/>
                <a:cs typeface="Calibri" pitchFamily="34" charset="-120"/>
              </a:rPr>
              <a:t>What is the pricing cost — the Value of Information — of using a geographic proxy instead of an aligned reference, before and after a wind-profile height correction?</a:t>
            </a:r>
            <a:endParaRPr lang="en-US" sz="1300" dirty="0"/>
          </a:p>
        </p:txBody>
      </p:sp>
      <p:sp>
        <p:nvSpPr>
          <p:cNvPr id="14" name="Shape 12"/>
          <p:cNvSpPr/>
          <p:nvPr/>
        </p:nvSpPr>
        <p:spPr>
          <a:xfrm>
            <a:off x="8065008" y="1828800"/>
            <a:ext cx="3593592" cy="4206240"/>
          </a:xfrm>
          <a:prstGeom prst="roundRect">
            <a:avLst>
              <a:gd name="adj" fmla="val 2290"/>
            </a:avLst>
          </a:prstGeom>
          <a:solidFill>
            <a:srgbClr val="F7FAFC"/>
          </a:solidFill>
          <a:ln/>
          <a:effectLst>
            <a:outerShdw sx="100000" sy="100000" kx="0" ky="0" algn="bl" rotWithShape="0" blurRad="88900" dist="25400" dir="5400000">
              <a:srgbClr val="1C1C1C">
                <a:alpha val="16000"/>
              </a:srgbClr>
            </a:outerShdw>
          </a:effectLst>
        </p:spPr>
        <p:txBody>
          <a:bodyPr/>
          <a:p/>
        </p:txBody>
      </p:sp>
      <p:sp>
        <p:nvSpPr>
          <p:cNvPr id="15" name="Shape 13"/>
          <p:cNvSpPr/>
          <p:nvPr/>
        </p:nvSpPr>
        <p:spPr>
          <a:xfrm>
            <a:off x="8357616" y="2148840"/>
            <a:ext cx="566928" cy="566928"/>
          </a:xfrm>
          <a:prstGeom prst="ellipse">
            <a:avLst/>
          </a:prstGeom>
          <a:solidFill>
            <a:srgbClr val="1C7293"/>
          </a:solidFill>
          <a:ln/>
        </p:spPr>
        <p:txBody>
          <a:bodyPr/>
          <a:p/>
        </p:txBody>
      </p:sp>
      <p:sp>
        <p:nvSpPr>
          <p:cNvPr id="16" name="Text 14"/>
          <p:cNvSpPr/>
          <p:nvPr/>
        </p:nvSpPr>
        <p:spPr>
          <a:xfrm>
            <a:off x="8357616" y="214884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8357616" y="2880360"/>
            <a:ext cx="3044952" cy="320040"/>
          </a:xfrm>
          <a:prstGeom prst="rect">
            <a:avLst/>
          </a:prstGeom>
          <a:noFill/>
          <a:ln/>
        </p:spPr>
        <p:txBody>
          <a:bodyPr wrap="square" lIns="0" tIns="0" rIns="0" bIns="0" rtlCol="0" anchor="ctr"/>
          <a:lstStyle/>
          <a:p>
            <a:pPr indent="0" marL="0">
              <a:buNone/>
            </a:pPr>
            <a:r>
              <a:rPr lang="en-US" sz="1200" b="1" spc="100" kern="0" dirty="0">
                <a:solidFill>
                  <a:srgbClr val="C8791A"/>
                </a:solidFill>
                <a:latin typeface="Calibri" pitchFamily="34" charset="0"/>
                <a:ea typeface="Calibri" pitchFamily="34" charset="-122"/>
                <a:cs typeface="Calibri" pitchFamily="34" charset="-120"/>
              </a:rPr>
              <a:t>RISK MANAGEMENT</a:t>
            </a:r>
            <a:endParaRPr lang="en-US" sz="1200" dirty="0"/>
          </a:p>
        </p:txBody>
      </p:sp>
      <p:sp>
        <p:nvSpPr>
          <p:cNvPr id="18" name="Text 16"/>
          <p:cNvSpPr/>
          <p:nvPr/>
        </p:nvSpPr>
        <p:spPr>
          <a:xfrm>
            <a:off x="8357616" y="3246120"/>
            <a:ext cx="3044952" cy="2468880"/>
          </a:xfrm>
          <a:prstGeom prst="rect">
            <a:avLst/>
          </a:prstGeom>
          <a:noFill/>
          <a:ln/>
        </p:spPr>
        <p:txBody>
          <a:bodyPr wrap="square" lIns="0" tIns="0" rIns="0" bIns="0" rtlCol="0" anchor="ctr"/>
          <a:lstStyle/>
          <a:p>
            <a:pPr indent="0" marL="0">
              <a:lnSpc>
                <a:spcPct val="120000"/>
              </a:lnSpc>
              <a:buNone/>
            </a:pPr>
            <a:r>
              <a:rPr lang="en-US" sz="1300" dirty="0">
                <a:solidFill>
                  <a:srgbClr val="56606B"/>
                </a:solidFill>
                <a:latin typeface="Calibri" pitchFamily="34" charset="0"/>
                <a:ea typeface="Calibri" pitchFamily="34" charset="-122"/>
                <a:cs typeface="Calibri" pitchFamily="34" charset="-120"/>
              </a:rPr>
              <a:t>How does a Cumulative Accumulated Wind Speed (CAWS) instrument behave as a left-tail complement to the variance swap?</a:t>
            </a:r>
            <a:endParaRPr lang="en-US" sz="1300" dirty="0"/>
          </a:p>
        </p:txBody>
      </p:sp>
      <p:sp>
        <p:nvSpPr>
          <p:cNvPr id="19" name="Text 17"/>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20" name="Text 18"/>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marL="0" indent="0">
              <a:buNone/>
            </a:pPr>
            <a:r>
              <a:rPr lang="en-US" sz="1250" b="1" spc="200" kern="0" dirty="0">
                <a:solidFill>
                  <a:srgbClr val="1C7293"/>
                </a:solidFill>
                <a:latin typeface="Calibri"/>
                <a:ea typeface="Calibri"/>
                <a:cs typeface="Calibri"/>
              </a:rPr>
              <a:t>BACKUP B1 · CH. 2 §2.5.3 — FELLER CONDITION</a:t>
            </a:r>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The Feller condition depends on which estimator you trust</a:t>
            </a:r>
            <a:endParaRPr lang="en-US" sz="2700" dirty="0"/>
          </a:p>
        </p:txBody>
      </p:sp>
      <p:sp>
        <p:nvSpPr>
          <p:cNvPr id="4" name="Shape 2"/>
          <p:cNvSpPr/>
          <p:nvPr/>
        </p:nvSpPr>
        <p:spPr>
          <a:xfrm>
            <a:off x="548640" y="1828800"/>
            <a:ext cx="5394960" cy="4206240"/>
          </a:xfrm>
          <a:prstGeom prst="roundRect">
            <a:avLst>
              <a:gd name="adj" fmla="val 1957"/>
            </a:avLst>
          </a:prstGeom>
          <a:solidFill>
            <a:srgbClr val="F7FAFC"/>
          </a:solidFill>
          <a:ln/>
          <a:effectLst>
            <a:outerShdw sx="100000" sy="100000" kx="0" ky="0" algn="bl" rotWithShape="0" blurRad="88900" dist="25400" dir="5400000">
              <a:srgbClr val="1C1C1C">
                <a:alpha val="16000"/>
              </a:srgbClr>
            </a:outerShdw>
          </a:effectLst>
        </p:spPr>
        <p:txBody>
          <a:bodyPr/>
          <a:p/>
        </p:txBody>
      </p:sp>
      <p:sp>
        <p:nvSpPr>
          <p:cNvPr id="5" name="Text 3"/>
          <p:cNvSpPr/>
          <p:nvPr/>
        </p:nvSpPr>
        <p:spPr>
          <a:xfrm>
            <a:off x="868680" y="2057400"/>
            <a:ext cx="4846320" cy="320040"/>
          </a:xfrm>
          <a:prstGeom prst="rect">
            <a:avLst/>
          </a:prstGeom>
          <a:noFill/>
          <a:ln/>
        </p:spPr>
        <p:txBody>
          <a:bodyPr wrap="square" lIns="0" tIns="0" rIns="0" bIns="0" rtlCol="0" anchor="ctr"/>
          <a:lstStyle/>
          <a:p>
            <a:pPr indent="0" marL="0">
              <a:buNone/>
            </a:pPr>
            <a:r>
              <a:rPr lang="en-US" sz="1200" b="1" spc="100" kern="0" dirty="0">
                <a:solidFill>
                  <a:srgbClr val="1C7293"/>
                </a:solidFill>
                <a:latin typeface="Calibri" pitchFamily="34" charset="0"/>
                <a:ea typeface="Calibri" pitchFamily="34" charset="-122"/>
                <a:cs typeface="Calibri" pitchFamily="34" charset="-120"/>
              </a:rPr>
              <a:t>DATASET B — REFERENCE</a:t>
            </a:r>
            <a:endParaRPr lang="en-US" sz="1200" dirty="0"/>
          </a:p>
        </p:txBody>
      </p:sp>
      <p:sp>
        <p:nvSpPr>
          <p:cNvPr id="6" name="Text 4"/>
          <p:cNvSpPr/>
          <p:nvPr/>
        </p:nvSpPr>
        <p:spPr>
          <a:xfrm>
            <a:off x="868680" y="2395728"/>
            <a:ext cx="4846320" cy="50292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Holds, robustly</a:t>
            </a:r>
            <a:endParaRPr lang="en-US" sz="2400" dirty="0"/>
          </a:p>
        </p:txBody>
      </p:sp>
      <p:sp>
        <p:nvSpPr>
          <p:cNvPr id="7" name="Text 5"/>
          <p:cNvSpPr/>
          <p:nvPr/>
        </p:nvSpPr>
        <p:spPr>
          <a:xfrm>
            <a:off x="868680" y="2971800"/>
            <a:ext cx="4846320" cy="822960"/>
          </a:xfrm>
          <a:prstGeom prst="rect">
            <a:avLst/>
          </a:prstGeom>
          <a:noFill/>
          <a:ln/>
        </p:spPr>
        <p:txBody>
          <a:bodyPr wrap="square" lIns="0" tIns="0" rIns="0" bIns="0" rtlCol="0" anchor="ctr"/>
          <a:lstStyle/>
          <a:p>
            <a:pPr indent="0" marL="0">
              <a:lnSpc>
                <a:spcPct val="120000"/>
              </a:lnSpc>
              <a:buNone/>
            </a:pPr>
            <a:r>
              <a:rPr lang="en-US" sz="1300" dirty="0">
                <a:solidFill>
                  <a:srgbClr val="56606B"/>
                </a:solidFill>
                <a:latin typeface="Calibri" pitchFamily="34" charset="0"/>
                <a:ea typeface="Calibri" pitchFamily="34" charset="-122"/>
                <a:cs typeface="Calibri" pitchFamily="34" charset="-120"/>
              </a:rPr>
              <a:t>2κᵥv̄ = 0.0270 vs ξ² = 0.000959 → margin 28.1×, on every estimator considered.</a:t>
            </a:r>
            <a:endParaRPr lang="en-US" sz="1300" dirty="0"/>
          </a:p>
        </p:txBody>
      </p:sp>
      <p:sp>
        <p:nvSpPr>
          <p:cNvPr id="8" name="Shape 6"/>
          <p:cNvSpPr/>
          <p:nvPr/>
        </p:nvSpPr>
        <p:spPr>
          <a:xfrm>
            <a:off x="6263640" y="1828800"/>
            <a:ext cx="5394960" cy="4206240"/>
          </a:xfrm>
          <a:prstGeom prst="roundRect">
            <a:avLst>
              <a:gd name="adj" fmla="val 1957"/>
            </a:avLst>
          </a:prstGeom>
          <a:solidFill>
            <a:srgbClr val="EEF3F7"/>
          </a:solidFill>
          <a:ln/>
        </p:spPr>
        <p:txBody>
          <a:bodyPr/>
          <a:p/>
        </p:txBody>
      </p:sp>
      <p:sp>
        <p:nvSpPr>
          <p:cNvPr id="9" name="Text 7"/>
          <p:cNvSpPr/>
          <p:nvPr/>
        </p:nvSpPr>
        <p:spPr>
          <a:xfrm>
            <a:off x="6583680" y="2057400"/>
            <a:ext cx="4846320" cy="320040"/>
          </a:xfrm>
          <a:prstGeom prst="rect">
            <a:avLst/>
          </a:prstGeom>
          <a:noFill/>
          <a:ln/>
        </p:spPr>
        <p:txBody>
          <a:bodyPr wrap="square" lIns="0" tIns="0" rIns="0" bIns="0" rtlCol="0" anchor="ctr"/>
          <a:lstStyle/>
          <a:p>
            <a:pPr indent="0" marL="0">
              <a:buNone/>
            </a:pPr>
            <a:r>
              <a:rPr lang="en-US" sz="1200" b="1" spc="100" kern="0" dirty="0">
                <a:solidFill>
                  <a:srgbClr val="C8791A"/>
                </a:solidFill>
                <a:latin typeface="Calibri" pitchFamily="34" charset="0"/>
                <a:ea typeface="Calibri" pitchFamily="34" charset="-122"/>
                <a:cs typeface="Calibri" pitchFamily="34" charset="-120"/>
              </a:rPr>
              <a:t>DATASET A — PROXY</a:t>
            </a:r>
            <a:endParaRPr lang="en-US" sz="1200" dirty="0"/>
          </a:p>
        </p:txBody>
      </p:sp>
      <p:sp>
        <p:nvSpPr>
          <p:cNvPr id="10" name="Text 8"/>
          <p:cNvSpPr/>
          <p:nvPr/>
        </p:nvSpPr>
        <p:spPr>
          <a:xfrm>
            <a:off x="6583680" y="2395728"/>
            <a:ext cx="4846320" cy="50292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Estimator-dependent</a:t>
            </a:r>
            <a:endParaRPr lang="en-US" sz="2400" dirty="0"/>
          </a:p>
        </p:txBody>
      </p:sp>
      <p:sp>
        <p:nvSpPr>
          <p:cNvPr id="11" name="Text 9"/>
          <p:cNvSpPr/>
          <p:nvPr/>
        </p:nvSpPr>
        <p:spPr>
          <a:xfrm>
            <a:off x="6583680" y="2971800"/>
            <a:ext cx="4846320" cy="1463040"/>
          </a:xfrm>
          <a:prstGeom prst="rect">
            <a:avLst/>
          </a:prstGeom>
          <a:noFill/>
          <a:ln/>
        </p:spPr>
        <p:txBody>
          <a:bodyPr wrap="square" lIns="0" tIns="0" rIns="0" bIns="0" rtlCol="0" anchor="ctr"/>
          <a:lstStyle/>
          <a:p>
            <a:pPr indent="0" marL="0">
              <a:lnSpc>
                <a:spcPct val="120000"/>
              </a:lnSpc>
              <a:buNone/>
            </a:pPr>
            <a:r>
              <a:rPr lang="en-US" sz="1300" dirty="0">
                <a:solidFill>
                  <a:srgbClr val="56606B"/>
                </a:solidFill>
                <a:latin typeface="Calibri" pitchFamily="34" charset="0"/>
                <a:ea typeface="Calibri" pitchFamily="34" charset="-122"/>
                <a:cs typeface="Calibri" pitchFamily="34" charset="-120"/>
              </a:rPr>
              <a:t>Full-sample estimator (same one used for B): margin </a:t>
            </a:r>
            <a:pPr indent="0" marL="0">
              <a:lnSpc>
                <a:spcPct val="120000"/>
              </a:lnSpc>
              <a:buNone/>
            </a:pPr>
            <a:r>
              <a:rPr lang="en-US" sz="1300" b="1" dirty="0">
                <a:solidFill>
                  <a:srgbClr val="C8791A"/>
                </a:solidFill>
                <a:latin typeface="Calibri" pitchFamily="34" charset="0"/>
                <a:ea typeface="Calibri" pitchFamily="34" charset="-122"/>
                <a:cs typeface="Calibri" pitchFamily="34" charset="-120"/>
              </a:rPr>
              <a:t>0.8× — violated.</a:t>
            </a:r>
            <a:pPr indent="0" marL="0">
              <a:lnSpc>
                <a:spcPct val="120000"/>
              </a:lnSpc>
              <a:buNone/>
            </a:pPr>
            <a:endParaRPr lang="en-US" sz="1300" dirty="0"/>
          </a:p>
          <a:p>
            <a:pPr indent="0" marL="0">
              <a:lnSpc>
                <a:spcPct val="120000"/>
              </a:lnSpc>
              <a:buNone/>
            </a:pPr>
            <a:r>
              <a:rPr lang="en-US" sz="1300" dirty="0">
                <a:solidFill>
                  <a:srgbClr val="56606B"/>
                </a:solidFill>
                <a:latin typeface="Calibri" pitchFamily="34" charset="0"/>
                <a:ea typeface="Calibri" pitchFamily="34" charset="-122"/>
                <a:cs typeface="Calibri" pitchFamily="34" charset="-120"/>
              </a:rPr>
              <a:t>30-day rolling estimators: margins ≈5.1× and 3.6× — holds, but on a different estimator than B's.</a:t>
            </a:r>
            <a:endParaRPr lang="en-US" sz="1300" dirty="0"/>
          </a:p>
        </p:txBody>
      </p:sp>
      <p:sp>
        <p:nvSpPr>
          <p:cNvPr id="12" name="Shape 10"/>
          <p:cNvSpPr/>
          <p:nvPr/>
        </p:nvSpPr>
        <p:spPr>
          <a:xfrm>
            <a:off x="548640" y="5166360"/>
            <a:ext cx="11109960" cy="914400"/>
          </a:xfrm>
          <a:prstGeom prst="roundRect">
            <a:avLst>
              <a:gd name="adj" fmla="val 9000"/>
            </a:avLst>
          </a:prstGeom>
          <a:solidFill>
            <a:srgbClr val="21295C"/>
          </a:solidFill>
          <a:ln/>
          <a:effectLst>
            <a:outerShdw sx="100000" sy="100000" kx="0" ky="0" algn="bl" rotWithShape="0" blurRad="88900" dist="25400" dir="5400000">
              <a:srgbClr val="1C1C1C">
                <a:alpha val="16000"/>
              </a:srgbClr>
            </a:outerShdw>
          </a:effectLst>
        </p:spPr>
        <p:txBody>
          <a:bodyPr/>
          <a:p/>
        </p:txBody>
      </p:sp>
      <p:sp>
        <p:nvSpPr>
          <p:cNvPr id="13" name="Text 11"/>
          <p:cNvSpPr/>
          <p:nvPr/>
        </p:nvSpPr>
        <p:spPr>
          <a:xfrm>
            <a:off x="822960" y="5321808"/>
            <a:ext cx="10515600" cy="640080"/>
          </a:xfrm>
          <a:prstGeom prst="rect">
            <a:avLst/>
          </a:prstGeom>
          <a:noFill/>
          <a:ln/>
        </p:spPr>
        <p:txBody>
          <a:bodyPr wrap="square" lIns="0" tIns="0" rIns="0" bIns="0" rtlCol="0" anchor="ctr"/>
          <a:lstStyle/>
          <a:p>
            <a:pPr algn="l" indent="0" marL="0">
              <a:lnSpc>
                <a:spcPct val="118000"/>
              </a:lnSpc>
              <a:buNone/>
            </a:pPr>
            <a:r>
              <a:rPr lang="en-US" sz="1250" b="1" dirty="0">
                <a:solidFill>
                  <a:srgbClr val="E8A33D"/>
                </a:solidFill>
                <a:latin typeface="Calibri" pitchFamily="34" charset="0"/>
                <a:ea typeface="Calibri" pitchFamily="34" charset="-122"/>
                <a:cs typeface="Calibri" pitchFamily="34" charset="-120"/>
              </a:rPr>
              <a:t>The finding is the sensitivity itself: </a:t>
            </a:r>
            <a:pPr algn="l" indent="0" marL="0">
              <a:lnSpc>
                <a:spcPct val="118000"/>
              </a:lnSpc>
              <a:buNone/>
            </a:pPr>
            <a:r>
              <a:rPr lang="en-US" sz="1250" dirty="0">
                <a:solidFill>
                  <a:srgbClr val="EEF3F7"/>
                </a:solidFill>
                <a:latin typeface="Calibri" pitchFamily="34" charset="0"/>
                <a:ea typeface="Calibri" pitchFamily="34" charset="-122"/>
                <a:cs typeface="Calibri" pitchFamily="34" charset="-120"/>
              </a:rPr>
              <a:t>ξ (vol-of-vol) is the least identified of the four CIR parameters at daily frequency — it also reverses an earlier project anchor of 27.9×, which is not reproducible under any estimator tested.</a:t>
            </a:r>
            <a:endParaRPr lang="en-US" sz="1250" dirty="0"/>
          </a:p>
        </p:txBody>
      </p:sp>
      <p:sp>
        <p:nvSpPr>
          <p:cNvPr id="14" name="Text 12"/>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5" name="Text 13"/>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marL="0" indent="0">
              <a:buNone/>
            </a:pPr>
            <a:r>
              <a:rPr lang="en-US" sz="1250" b="1" spc="200" kern="0" dirty="0">
                <a:solidFill>
                  <a:srgbClr val="1C7293"/>
                </a:solidFill>
                <a:latin typeface="Calibri"/>
                <a:ea typeface="Calibri"/>
                <a:cs typeface="Calibri"/>
              </a:rPr>
              <a:t>CH. 2–3 · MODEL VALIDATION</a:t>
            </a:r>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Four specifications, one conditional mean</a:t>
            </a:r>
            <a:endParaRPr lang="en-US" sz="2700" dirty="0"/>
          </a:p>
        </p:txBody>
      </p:sp>
      <p:sp>
        <p:nvSpPr>
          <p:cNvPr id="4" name="Shape 2"/>
          <p:cNvSpPr/>
          <p:nvPr/>
        </p:nvSpPr>
        <p:spPr>
          <a:xfrm>
            <a:off x="548640" y="1783080"/>
            <a:ext cx="11109960" cy="1554480"/>
          </a:xfrm>
          <a:prstGeom prst="roundRect">
            <a:avLst>
              <a:gd name="adj" fmla="val 5294"/>
            </a:avLst>
          </a:prstGeom>
          <a:solidFill>
            <a:srgbClr val="EEF3F7"/>
          </a:solidFill>
          <a:ln/>
        </p:spPr>
        <p:txBody>
          <a:bodyPr/>
          <a:p/>
        </p:txBody>
      </p:sp>
      <p:sp>
        <p:nvSpPr>
          <p:cNvPr id="5" name="Text 3"/>
          <p:cNvSpPr/>
          <p:nvPr/>
        </p:nvSpPr>
        <p:spPr>
          <a:xfrm>
            <a:off x="868680" y="1965960"/>
            <a:ext cx="10424160" cy="411480"/>
          </a:xfrm>
          <a:prstGeom prst="rect">
            <a:avLst/>
          </a:prstGeom>
          <a:noFill/>
          <a:ln/>
        </p:spPr>
        <p:txBody>
          <a:bodyPr wrap="square" lIns="0" tIns="0" rIns="0" bIns="0"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AR(4)  •  AR(4)+GARCH  •  CAR(4)+Gaussian  •  CAR(4)+NIG</a:t>
            </a:r>
            <a:endParaRPr lang="en-US" sz="1800" dirty="0"/>
          </a:p>
        </p:txBody>
      </p:sp>
      <p:sp>
        <p:nvSpPr>
          <p:cNvPr id="6" name="Text 4"/>
          <p:cNvSpPr/>
          <p:nvPr/>
        </p:nvSpPr>
        <p:spPr>
          <a:xfrm>
            <a:off x="868680" y="2423160"/>
            <a:ext cx="10424160" cy="822960"/>
          </a:xfrm>
          <a:prstGeom prst="rect">
            <a:avLst/>
          </a:prstGeom>
          <a:noFill/>
          <a:ln/>
        </p:spPr>
        <p:txBody>
          <a:bodyPr wrap="square" lIns="0" tIns="0" rIns="0" bIns="0" rtlCol="0" anchor="ctr"/>
          <a:lstStyle/>
          <a:p>
            <a:pPr indent="0" marL="0">
              <a:lnSpc>
                <a:spcPct val="120000"/>
              </a:lnSpc>
              <a:buNone/>
            </a:pPr>
            <a:r>
              <a:rPr lang="en-US" sz="1350" dirty="0">
                <a:solidFill>
                  <a:srgbClr val="56606B"/>
                </a:solidFill>
                <a:latin typeface="Calibri" pitchFamily="34" charset="0"/>
                <a:ea typeface="Calibri" pitchFamily="34" charset="-122"/>
                <a:cs typeface="Calibri" pitchFamily="34" charset="-120"/>
              </a:rPr>
              <a:t>share one conditional mean by construction → indistinguishable on one-day-ahead forecast accuracy. They separate only on pricing and hedging criteria — which is why Chapter 3 does not rank them by RMSE alone.</a:t>
            </a:r>
            <a:endParaRPr lang="en-US" sz="1350" dirty="0"/>
          </a:p>
        </p:txBody>
      </p:sp>
      <p:sp>
        <p:nvSpPr>
          <p:cNvPr id="7" name="Text 5"/>
          <p:cNvSpPr/>
          <p:nvPr/>
        </p:nvSpPr>
        <p:spPr>
          <a:xfrm>
            <a:off x="548640" y="3611880"/>
            <a:ext cx="11109960" cy="320040"/>
          </a:xfrm>
          <a:prstGeom prst="rect">
            <a:avLst/>
          </a:prstGeom>
          <a:noFill/>
          <a:ln/>
        </p:spPr>
        <p:txBody>
          <a:bodyPr wrap="square" lIns="0" tIns="0" rIns="0" bIns="0" rtlCol="0" anchor="ctr"/>
          <a:lstStyle/>
          <a:p>
            <a:pPr indent="0" marL="0">
              <a:buNone/>
            </a:pPr>
            <a:r>
              <a:rPr lang="en-US" sz="1250" b="1" spc="150" kern="0" dirty="0">
                <a:solidFill>
                  <a:srgbClr val="1C7293"/>
                </a:solidFill>
                <a:latin typeface="Calibri" pitchFamily="34" charset="0"/>
                <a:ea typeface="Calibri" pitchFamily="34" charset="-122"/>
                <a:cs typeface="Calibri" pitchFamily="34" charset="-120"/>
              </a:rPr>
              <a:t>ALL FOUR STILL REJECT PERSISTENCE, DECISIVELY</a:t>
            </a:r>
            <a:endParaRPr lang="en-US" sz="1250" dirty="0"/>
          </a:p>
        </p:txBody>
      </p:sp>
      <p:sp>
        <p:nvSpPr>
          <p:cNvPr id="8" name="Shape 6"/>
          <p:cNvSpPr/>
          <p:nvPr/>
        </p:nvSpPr>
        <p:spPr>
          <a:xfrm>
            <a:off x="548640" y="4023360"/>
            <a:ext cx="5349240" cy="2057400"/>
          </a:xfrm>
          <a:prstGeom prst="roundRect">
            <a:avLst>
              <a:gd name="adj" fmla="val 4000"/>
            </a:avLst>
          </a:prstGeom>
          <a:solidFill>
            <a:srgbClr val="F7FAFC"/>
          </a:solidFill>
          <a:ln/>
          <a:effectLst>
            <a:outerShdw sx="100000" sy="100000" kx="0" ky="0" algn="bl" rotWithShape="0" blurRad="88900" dist="25400" dir="5400000">
              <a:srgbClr val="1C1C1C">
                <a:alpha val="16000"/>
              </a:srgbClr>
            </a:outerShdw>
          </a:effectLst>
        </p:spPr>
        <p:txBody>
          <a:bodyPr/>
          <a:p/>
        </p:txBody>
      </p:sp>
      <p:sp>
        <p:nvSpPr>
          <p:cNvPr id="9" name="Text 7"/>
          <p:cNvSpPr/>
          <p:nvPr/>
        </p:nvSpPr>
        <p:spPr>
          <a:xfrm>
            <a:off x="914400" y="4297680"/>
            <a:ext cx="4617720" cy="365760"/>
          </a:xfrm>
          <a:prstGeom prst="rect">
            <a:avLst/>
          </a:prstGeom>
          <a:noFill/>
          <a:ln/>
        </p:spPr>
        <p:txBody>
          <a:bodyPr wrap="square" lIns="0" tIns="0" rIns="0" bIns="0" rtlCol="0" anchor="ctr"/>
          <a:lstStyle/>
          <a:p>
            <a:pPr indent="0" marL="0">
              <a:buNone/>
            </a:pPr>
            <a:r>
              <a:rPr lang="en-US" sz="1250" i="1" dirty="0">
                <a:solidFill>
                  <a:srgbClr val="56606B"/>
                </a:solidFill>
                <a:latin typeface="Calibri" pitchFamily="34" charset="0"/>
                <a:ea typeface="Calibri" pitchFamily="34" charset="-122"/>
                <a:cs typeface="Calibri" pitchFamily="34" charset="-120"/>
              </a:rPr>
              <a:t>Diebold–Mariano statistic vs. persistence</a:t>
            </a:r>
            <a:endParaRPr lang="en-US" sz="1250" dirty="0"/>
          </a:p>
        </p:txBody>
      </p:sp>
      <p:sp>
        <p:nvSpPr>
          <p:cNvPr id="10" name="Text 8"/>
          <p:cNvSpPr/>
          <p:nvPr/>
        </p:nvSpPr>
        <p:spPr>
          <a:xfrm>
            <a:off x="914400" y="4617720"/>
            <a:ext cx="4617720" cy="914400"/>
          </a:xfrm>
          <a:prstGeom prst="rect">
            <a:avLst/>
          </a:prstGeom>
          <a:noFill/>
          <a:ln/>
        </p:spPr>
        <p:txBody>
          <a:bodyPr wrap="square" lIns="0" tIns="0" rIns="0" bIns="0" rtlCol="0" anchor="ctr"/>
          <a:lstStyle/>
          <a:p>
            <a:pPr indent="0" marL="0">
              <a:buNone/>
            </a:pPr>
            <a:r>
              <a:rPr lang="en-US" sz="4600" b="1" dirty="0">
                <a:solidFill>
                  <a:srgbClr val="C8791A"/>
                </a:solidFill>
                <a:latin typeface="Cambria" pitchFamily="34" charset="0"/>
                <a:ea typeface="Cambria" pitchFamily="34" charset="-122"/>
                <a:cs typeface="Cambria" pitchFamily="34" charset="-120"/>
              </a:rPr>
              <a:t>+8.27</a:t>
            </a:r>
            <a:endParaRPr lang="en-US" sz="4600" dirty="0"/>
          </a:p>
        </p:txBody>
      </p:sp>
      <p:sp>
        <p:nvSpPr>
          <p:cNvPr id="11" name="Text 9"/>
          <p:cNvSpPr/>
          <p:nvPr/>
        </p:nvSpPr>
        <p:spPr>
          <a:xfrm>
            <a:off x="914400" y="5532120"/>
            <a:ext cx="4617720" cy="457200"/>
          </a:xfrm>
          <a:prstGeom prst="rect">
            <a:avLst/>
          </a:prstGeom>
          <a:noFill/>
          <a:ln/>
        </p:spPr>
        <p:txBody>
          <a:bodyPr wrap="square" lIns="0" tIns="0" rIns="0" bIns="0" rtlCol="0" anchor="ctr"/>
          <a:lstStyle/>
          <a:p>
            <a:pPr algn="l" marL="0" indent="0">
              <a:buNone/>
            </a:pPr>
            <a:r>
              <a:rPr lang="en-US" sz="1250" b="1" dirty="0">
                <a:solidFill>
                  <a:srgbClr val="21295C"/>
                </a:solidFill>
                <a:latin typeface="Calibri"/>
                <a:ea typeface="Calibri"/>
                <a:cs typeface="Calibri"/>
              </a:rPr>
              <a:t>Dataset A — RMSE 0.8868 → 0.7802 (12.0% better than persistence)</a:t>
            </a:r>
          </a:p>
        </p:txBody>
      </p:sp>
      <p:sp>
        <p:nvSpPr>
          <p:cNvPr id="12" name="Shape 10"/>
          <p:cNvSpPr/>
          <p:nvPr/>
        </p:nvSpPr>
        <p:spPr>
          <a:xfrm>
            <a:off x="6309360" y="4023360"/>
            <a:ext cx="5349240" cy="2057400"/>
          </a:xfrm>
          <a:prstGeom prst="roundRect">
            <a:avLst>
              <a:gd name="adj" fmla="val 4000"/>
            </a:avLst>
          </a:prstGeom>
          <a:solidFill>
            <a:srgbClr val="F7FAFC"/>
          </a:solidFill>
          <a:ln/>
          <a:effectLst>
            <a:outerShdw sx="100000" sy="100000" kx="0" ky="0" algn="bl" rotWithShape="0" blurRad="88900" dist="25400" dir="5400000">
              <a:srgbClr val="1C1C1C">
                <a:alpha val="16000"/>
              </a:srgbClr>
            </a:outerShdw>
          </a:effectLst>
        </p:spPr>
        <p:txBody>
          <a:bodyPr/>
          <a:p/>
        </p:txBody>
      </p:sp>
      <p:sp>
        <p:nvSpPr>
          <p:cNvPr id="13" name="Text 11"/>
          <p:cNvSpPr/>
          <p:nvPr/>
        </p:nvSpPr>
        <p:spPr>
          <a:xfrm>
            <a:off x="6675120" y="4297680"/>
            <a:ext cx="4617720" cy="365760"/>
          </a:xfrm>
          <a:prstGeom prst="rect">
            <a:avLst/>
          </a:prstGeom>
          <a:noFill/>
          <a:ln/>
        </p:spPr>
        <p:txBody>
          <a:bodyPr wrap="square" lIns="0" tIns="0" rIns="0" bIns="0" rtlCol="0" anchor="ctr"/>
          <a:lstStyle/>
          <a:p>
            <a:pPr indent="0" marL="0">
              <a:buNone/>
            </a:pPr>
            <a:r>
              <a:rPr lang="en-US" sz="1250" i="1" dirty="0">
                <a:solidFill>
                  <a:srgbClr val="56606B"/>
                </a:solidFill>
                <a:latin typeface="Calibri" pitchFamily="34" charset="0"/>
                <a:ea typeface="Calibri" pitchFamily="34" charset="-122"/>
                <a:cs typeface="Calibri" pitchFamily="34" charset="-120"/>
              </a:rPr>
              <a:t>Diebold–Mariano statistic vs. persistence</a:t>
            </a:r>
            <a:endParaRPr lang="en-US" sz="1250" dirty="0"/>
          </a:p>
        </p:txBody>
      </p:sp>
      <p:sp>
        <p:nvSpPr>
          <p:cNvPr id="14" name="Text 12"/>
          <p:cNvSpPr/>
          <p:nvPr/>
        </p:nvSpPr>
        <p:spPr>
          <a:xfrm>
            <a:off x="6675120" y="4617720"/>
            <a:ext cx="4617720" cy="914400"/>
          </a:xfrm>
          <a:prstGeom prst="rect">
            <a:avLst/>
          </a:prstGeom>
          <a:noFill/>
          <a:ln/>
        </p:spPr>
        <p:txBody>
          <a:bodyPr wrap="square" lIns="0" tIns="0" rIns="0" bIns="0" rtlCol="0" anchor="ctr"/>
          <a:lstStyle/>
          <a:p>
            <a:pPr indent="0" marL="0">
              <a:buNone/>
            </a:pPr>
            <a:r>
              <a:rPr lang="en-US" sz="4600" b="1" dirty="0">
                <a:solidFill>
                  <a:srgbClr val="C8791A"/>
                </a:solidFill>
                <a:latin typeface="Cambria" pitchFamily="34" charset="0"/>
                <a:ea typeface="Cambria" pitchFamily="34" charset="-122"/>
                <a:cs typeface="Cambria" pitchFamily="34" charset="-120"/>
              </a:rPr>
              <a:t>+16.76</a:t>
            </a:r>
            <a:endParaRPr lang="en-US" sz="4600" dirty="0"/>
          </a:p>
        </p:txBody>
      </p:sp>
      <p:sp>
        <p:nvSpPr>
          <p:cNvPr id="15" name="Text 13"/>
          <p:cNvSpPr/>
          <p:nvPr/>
        </p:nvSpPr>
        <p:spPr>
          <a:xfrm>
            <a:off x="6675120" y="5532120"/>
            <a:ext cx="4617720" cy="457200"/>
          </a:xfrm>
          <a:prstGeom prst="rect">
            <a:avLst/>
          </a:prstGeom>
          <a:noFill/>
          <a:ln/>
        </p:spPr>
        <p:txBody>
          <a:bodyPr wrap="square" lIns="0" tIns="0" rIns="0" bIns="0" rtlCol="0" anchor="ctr"/>
          <a:lstStyle/>
          <a:p>
            <a:pPr algn="l" marL="0" indent="0">
              <a:buNone/>
            </a:pPr>
            <a:r>
              <a:rPr lang="en-US" sz="1250" b="1" dirty="0">
                <a:solidFill>
                  <a:srgbClr val="21295C"/>
                </a:solidFill>
                <a:latin typeface="Calibri"/>
                <a:ea typeface="Calibri"/>
                <a:cs typeface="Calibri"/>
              </a:rPr>
              <a:t>Dataset B — RMSE 1.0046 → 0.8681 (13.6% better than persistence)</a:t>
            </a:r>
          </a:p>
        </p:txBody>
      </p:sp>
      <p:sp>
        <p:nvSpPr>
          <p:cNvPr id="16" name="Text 14"/>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7" name="Text 15"/>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6</a:t>
            </a:r>
            <a:endParaRPr lang="en-US" sz="900" dirty="0"/>
          </a:p>
        </p:txBody>
      </p:sp>
      <p:sp>
        <p:nvSpPr>
          <p:cNvPr id="18" name="TextBox 17"/>
          <p:cNvSpPr txBox="1"/>
          <p:nvPr/>
        </p:nvSpPr>
        <p:spPr>
          <a:xfrm>
            <a:off x="548640" y="6144768"/>
            <a:ext cx="11109960" cy="292608"/>
          </a:xfrm>
          <a:prstGeom prst="rect">
            <a:avLst/>
          </a:prstGeom>
          <a:noFill/>
        </p:spPr>
        <p:txBody>
          <a:bodyPr wrap="square" lIns="0" rIns="0" tIns="0" bIns="0" anchor="t">
            <a:spAutoFit/>
          </a:bodyPr>
          <a:lstStyle/>
          <a:p>
            <a:pPr algn="l" marL="0" indent="0">
              <a:buNone/>
            </a:pPr>
            <a:r>
              <a:rPr lang="en-US" sz="1000" b="0" i="1" dirty="0">
                <a:solidFill>
                  <a:srgbClr val="5A6470"/>
                </a:solidFill>
                <a:latin typeface="Calibri"/>
                <a:ea typeface="Calibri"/>
                <a:cs typeface="Calibri"/>
              </a:rPr>
              <a:t>Full standardised series, dₜ = e²(persistence) − e²(model), §3.2. Chapter 2's held-out split reports −3.681 / −7.019 under the reversed sign convention — same test, same conclusion (backup).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marL="0" indent="0">
              <a:buNone/>
            </a:pPr>
            <a:r>
              <a:rPr lang="en-US" sz="1250" b="1" spc="200" kern="0" dirty="0">
                <a:solidFill>
                  <a:srgbClr val="1C7293"/>
                </a:solidFill>
                <a:latin typeface="Calibri"/>
                <a:ea typeface="Calibri"/>
                <a:cs typeface="Calibri"/>
              </a:rPr>
              <a:t>CH. 3 · §3.1.5 — COMMENSURABILITY</a:t>
            </a:r>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marL="0" indent="0">
              <a:buNone/>
            </a:pPr>
            <a:r>
              <a:rPr lang="en-US" sz="2700" b="1" dirty="0">
                <a:solidFill>
                  <a:srgbClr val="21295C"/>
                </a:solidFill>
                <a:latin typeface="Cambria"/>
                <a:ea typeface="Cambria"/>
                <a:cs typeface="Cambria"/>
              </a:rPr>
              <a:t>Four conventions separate model from market</a:t>
            </a:r>
          </a:p>
        </p:txBody>
      </p:sp>
      <p:sp>
        <p:nvSpPr>
          <p:cNvPr id="4" name="Shape 2"/>
          <p:cNvSpPr/>
          <p:nvPr/>
        </p:nvSpPr>
        <p:spPr>
          <a:xfrm>
            <a:off x="548640" y="1828800"/>
            <a:ext cx="5394960" cy="1920240"/>
          </a:xfrm>
          <a:prstGeom prst="roundRect">
            <a:avLst>
              <a:gd name="adj" fmla="val 4286"/>
            </a:avLst>
          </a:prstGeom>
          <a:solidFill>
            <a:srgbClr val="F7FAFC"/>
          </a:solidFill>
          <a:ln/>
          <a:effectLst>
            <a:outerShdw sx="100000" sy="100000" kx="0" ky="0" algn="bl" rotWithShape="0" blurRad="88900" dist="25400" dir="5400000">
              <a:srgbClr val="1C1C1C">
                <a:alpha val="16000"/>
              </a:srgbClr>
            </a:outerShdw>
          </a:effectLst>
        </p:spPr>
        <p:txBody>
          <a:bodyPr/>
          <a:p/>
        </p:txBody>
      </p:sp>
      <p:sp>
        <p:nvSpPr>
          <p:cNvPr id="5" name="Text 3"/>
          <p:cNvSpPr/>
          <p:nvPr/>
        </p:nvSpPr>
        <p:spPr>
          <a:xfrm>
            <a:off x="868680" y="2011680"/>
            <a:ext cx="4846320" cy="292608"/>
          </a:xfrm>
          <a:prstGeom prst="rect">
            <a:avLst/>
          </a:prstGeom>
          <a:noFill/>
          <a:ln/>
        </p:spPr>
        <p:txBody>
          <a:bodyPr wrap="square" lIns="0" tIns="0" rIns="0" bIns="0" rtlCol="0" anchor="ctr"/>
          <a:lstStyle/>
          <a:p>
            <a:pPr indent="0" marL="0">
              <a:buNone/>
            </a:pPr>
            <a:r>
              <a:rPr lang="en-US" sz="1150" b="1" spc="100" kern="0" dirty="0">
                <a:solidFill>
                  <a:srgbClr val="1C7293"/>
                </a:solidFill>
                <a:latin typeface="Calibri" pitchFamily="34" charset="0"/>
                <a:ea typeface="Calibri" pitchFamily="34" charset="-122"/>
                <a:cs typeface="Calibri" pitchFamily="34" charset="-120"/>
              </a:rPr>
              <a:t>TRACK A — EMPIRICAL</a:t>
            </a:r>
            <a:endParaRPr lang="en-US" sz="1150" dirty="0"/>
          </a:p>
        </p:txBody>
      </p:sp>
      <p:sp>
        <p:nvSpPr>
          <p:cNvPr id="6" name="Text 4"/>
          <p:cNvSpPr/>
          <p:nvPr/>
        </p:nvSpPr>
        <p:spPr>
          <a:xfrm>
            <a:off x="868680" y="2359152"/>
            <a:ext cx="4846320" cy="1280160"/>
          </a:xfrm>
          <a:prstGeom prst="rect">
            <a:avLst/>
          </a:prstGeom>
          <a:noFill/>
          <a:ln/>
        </p:spPr>
        <p:txBody>
          <a:bodyPr wrap="square" lIns="0" tIns="0" rIns="0" bIns="0" rtlCol="0" anchor="ctr"/>
          <a:lstStyle/>
          <a:p>
            <a:pPr algn="l" marL="0" indent="0">
              <a:lnSpc>
                <a:spcPct val="110000"/>
              </a:lnSpc>
              <a:buNone/>
            </a:pPr>
            <a:r>
              <a:rPr lang="en-US" sz="1300" b="0" dirty="0">
                <a:solidFill>
                  <a:srgbClr val="56606B"/>
                </a:solidFill>
                <a:latin typeface="Calibri"/>
                <a:ea typeface="Calibri"/>
                <a:cs typeface="Calibri"/>
              </a:rPr>
              <a:t>252×-annualised realised variance of SMARD generation log-returns — the market benchmark, 113.999 / 113.145 on the two samples.</a:t>
            </a:r>
          </a:p>
        </p:txBody>
      </p:sp>
      <p:sp>
        <p:nvSpPr>
          <p:cNvPr id="7" name="Shape 5"/>
          <p:cNvSpPr/>
          <p:nvPr/>
        </p:nvSpPr>
        <p:spPr>
          <a:xfrm>
            <a:off x="6263640" y="1828800"/>
            <a:ext cx="5394960" cy="1920240"/>
          </a:xfrm>
          <a:prstGeom prst="roundRect">
            <a:avLst>
              <a:gd name="adj" fmla="val 4286"/>
            </a:avLst>
          </a:prstGeom>
          <a:solidFill>
            <a:srgbClr val="F7FAFC"/>
          </a:solidFill>
          <a:ln/>
          <a:effectLst>
            <a:outerShdw sx="100000" sy="100000" kx="0" ky="0" algn="bl" rotWithShape="0" blurRad="88900" dist="25400" dir="5400000">
              <a:srgbClr val="1C1C1C">
                <a:alpha val="16000"/>
              </a:srgbClr>
            </a:outerShdw>
          </a:effectLst>
        </p:spPr>
        <p:txBody>
          <a:bodyPr/>
          <a:p/>
        </p:txBody>
      </p:sp>
      <p:sp>
        <p:nvSpPr>
          <p:cNvPr id="8" name="Text 6"/>
          <p:cNvSpPr/>
          <p:nvPr/>
        </p:nvSpPr>
        <p:spPr>
          <a:xfrm>
            <a:off x="6583680" y="2011680"/>
            <a:ext cx="4846320" cy="292608"/>
          </a:xfrm>
          <a:prstGeom prst="rect">
            <a:avLst/>
          </a:prstGeom>
          <a:noFill/>
          <a:ln/>
        </p:spPr>
        <p:txBody>
          <a:bodyPr wrap="square" lIns="0" tIns="0" rIns="0" bIns="0" rtlCol="0" anchor="ctr"/>
          <a:lstStyle/>
          <a:p>
            <a:pPr indent="0" marL="0">
              <a:buNone/>
            </a:pPr>
            <a:r>
              <a:rPr lang="en-US" sz="1150" b="1" spc="100" kern="0" dirty="0">
                <a:solidFill>
                  <a:srgbClr val="1C7293"/>
                </a:solidFill>
                <a:latin typeface="Calibri" pitchFamily="34" charset="0"/>
                <a:ea typeface="Calibri" pitchFamily="34" charset="-122"/>
                <a:cs typeface="Calibri" pitchFamily="34" charset="-120"/>
              </a:rPr>
              <a:t>TRACK B — MODEL</a:t>
            </a:r>
            <a:endParaRPr lang="en-US" sz="1150" dirty="0"/>
          </a:p>
        </p:txBody>
      </p:sp>
      <p:sp>
        <p:nvSpPr>
          <p:cNvPr id="9" name="Text 7"/>
          <p:cNvSpPr/>
          <p:nvPr/>
        </p:nvSpPr>
        <p:spPr>
          <a:xfrm>
            <a:off x="6583680" y="2359152"/>
            <a:ext cx="4846320" cy="1280160"/>
          </a:xfrm>
          <a:prstGeom prst="rect">
            <a:avLst/>
          </a:prstGeom>
          <a:noFill/>
          <a:ln/>
        </p:spPr>
        <p:txBody>
          <a:bodyPr wrap="square" lIns="0" tIns="0" rIns="0" bIns="0" rtlCol="0" anchor="ctr"/>
          <a:lstStyle/>
          <a:p>
            <a:pPr algn="l" marL="0" indent="0">
              <a:lnSpc>
                <a:spcPct val="110000"/>
              </a:lnSpc>
              <a:buNone/>
            </a:pPr>
            <a:r>
              <a:rPr lang="en-US" sz="1300" b="0" dirty="0">
                <a:solidFill>
                  <a:srgbClr val="56606B"/>
                </a:solidFill>
                <a:latin typeface="Calibri"/>
                <a:ea typeface="Calibri"/>
                <a:cs typeface="Calibri"/>
              </a:rPr>
              <a:t>h(t₀) × C₀ — the daily variance of a Box–Cox wind anomaly, not annualised. The raw gap to Track A (130× to 2,100×) is a units artefact, not model error.</a:t>
            </a:r>
          </a:p>
        </p:txBody>
      </p:sp>
      <p:sp>
        <p:nvSpPr>
          <p:cNvPr id="10" name="Text 8"/>
          <p:cNvSpPr/>
          <p:nvPr/>
        </p:nvSpPr>
        <p:spPr>
          <a:xfrm>
            <a:off x="548640" y="3977640"/>
            <a:ext cx="11109960" cy="292608"/>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RECONCILIATION CHAIN — TRACK B INTO TRACK A UNITS</a:t>
            </a:r>
            <a:endParaRPr lang="en-US" sz="1150" dirty="0"/>
          </a:p>
        </p:txBody>
      </p:sp>
      <p:sp>
        <p:nvSpPr>
          <p:cNvPr id="11" name="Shape 9"/>
          <p:cNvSpPr/>
          <p:nvPr/>
        </p:nvSpPr>
        <p:spPr>
          <a:xfrm>
            <a:off x="548640" y="4389120"/>
            <a:ext cx="1691640" cy="777240"/>
          </a:xfrm>
          <a:prstGeom prst="roundRect">
            <a:avLst>
              <a:gd name="adj" fmla="val 9412"/>
            </a:avLst>
          </a:prstGeom>
          <a:solidFill>
            <a:srgbClr val="065A82"/>
          </a:solidFill>
          <a:ln/>
        </p:spPr>
        <p:txBody>
          <a:bodyPr/>
          <a:p/>
        </p:txBody>
      </p:sp>
      <p:sp>
        <p:nvSpPr>
          <p:cNvPr id="12" name="Text 10"/>
          <p:cNvSpPr/>
          <p:nvPr/>
        </p:nvSpPr>
        <p:spPr>
          <a:xfrm>
            <a:off x="594360" y="4389120"/>
            <a:ext cx="160020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h(t₀)×C₀</a:t>
            </a:r>
            <a:endParaRPr lang="en-US" sz="1100" dirty="0"/>
          </a:p>
        </p:txBody>
      </p:sp>
      <p:sp>
        <p:nvSpPr>
          <p:cNvPr id="13" name="Shape 11"/>
          <p:cNvSpPr/>
          <p:nvPr/>
        </p:nvSpPr>
        <p:spPr>
          <a:xfrm>
            <a:off x="2240280" y="4777740"/>
            <a:ext cx="164592" cy="0"/>
          </a:xfrm>
          <a:prstGeom prst="line">
            <a:avLst/>
          </a:prstGeom>
          <a:noFill/>
          <a:ln w="19050">
            <a:solidFill>
              <a:srgbClr val="56606B"/>
            </a:solidFill>
            <a:prstDash val="solid"/>
            <a:tailEnd type="triangle"/>
          </a:ln>
        </p:spPr>
        <p:txBody>
          <a:bodyPr/>
          <a:p/>
        </p:txBody>
      </p:sp>
      <p:sp>
        <p:nvSpPr>
          <p:cNvPr id="14" name="Shape 12"/>
          <p:cNvSpPr/>
          <p:nvPr/>
        </p:nvSpPr>
        <p:spPr>
          <a:xfrm>
            <a:off x="2404872" y="4389120"/>
            <a:ext cx="1691640" cy="777240"/>
          </a:xfrm>
          <a:prstGeom prst="roundRect">
            <a:avLst>
              <a:gd name="adj" fmla="val 9412"/>
            </a:avLst>
          </a:prstGeom>
          <a:solidFill>
            <a:srgbClr val="065A82"/>
          </a:solidFill>
          <a:ln/>
        </p:spPr>
        <p:txBody>
          <a:bodyPr/>
          <a:p/>
        </p:txBody>
      </p:sp>
      <p:sp>
        <p:nvSpPr>
          <p:cNvPr id="15" name="Text 13"/>
          <p:cNvSpPr/>
          <p:nvPr/>
        </p:nvSpPr>
        <p:spPr>
          <a:xfrm>
            <a:off x="2450592" y="4389120"/>
            <a:ext cx="160020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Box–Cox scale</a:t>
            </a:r>
            <a:endParaRPr lang="en-US" sz="1100" dirty="0"/>
          </a:p>
        </p:txBody>
      </p:sp>
      <p:sp>
        <p:nvSpPr>
          <p:cNvPr id="16" name="Shape 14"/>
          <p:cNvSpPr/>
          <p:nvPr/>
        </p:nvSpPr>
        <p:spPr>
          <a:xfrm>
            <a:off x="4096512" y="4777740"/>
            <a:ext cx="164592" cy="0"/>
          </a:xfrm>
          <a:prstGeom prst="line">
            <a:avLst/>
          </a:prstGeom>
          <a:noFill/>
          <a:ln w="19050">
            <a:solidFill>
              <a:srgbClr val="56606B"/>
            </a:solidFill>
            <a:prstDash val="solid"/>
            <a:tailEnd type="triangle"/>
          </a:ln>
        </p:spPr>
        <p:txBody>
          <a:bodyPr/>
          <a:p/>
        </p:txBody>
      </p:sp>
      <p:sp>
        <p:nvSpPr>
          <p:cNvPr id="17" name="Shape 15"/>
          <p:cNvSpPr/>
          <p:nvPr/>
        </p:nvSpPr>
        <p:spPr>
          <a:xfrm>
            <a:off x="4261104" y="4389120"/>
            <a:ext cx="1691640" cy="777240"/>
          </a:xfrm>
          <a:prstGeom prst="roundRect">
            <a:avLst>
              <a:gd name="adj" fmla="val 9412"/>
            </a:avLst>
          </a:prstGeom>
          <a:solidFill>
            <a:srgbClr val="065A82"/>
          </a:solidFill>
          <a:ln/>
        </p:spPr>
        <p:txBody>
          <a:bodyPr/>
          <a:p/>
        </p:txBody>
      </p:sp>
      <p:sp>
        <p:nvSpPr>
          <p:cNvPr id="18" name="Text 16"/>
          <p:cNvSpPr/>
          <p:nvPr/>
        </p:nvSpPr>
        <p:spPr>
          <a:xfrm>
            <a:off x="4306824" y="4389120"/>
            <a:ext cx="160020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innovation ratio²</a:t>
            </a:r>
            <a:endParaRPr lang="en-US" sz="1100" dirty="0"/>
          </a:p>
        </p:txBody>
      </p:sp>
      <p:sp>
        <p:nvSpPr>
          <p:cNvPr id="19" name="Shape 17"/>
          <p:cNvSpPr/>
          <p:nvPr/>
        </p:nvSpPr>
        <p:spPr>
          <a:xfrm>
            <a:off x="5952744" y="4777740"/>
            <a:ext cx="164592" cy="0"/>
          </a:xfrm>
          <a:prstGeom prst="line">
            <a:avLst/>
          </a:prstGeom>
          <a:noFill/>
          <a:ln w="19050">
            <a:solidFill>
              <a:srgbClr val="56606B"/>
            </a:solidFill>
            <a:prstDash val="solid"/>
            <a:tailEnd type="triangle"/>
          </a:ln>
        </p:spPr>
        <p:txBody>
          <a:bodyPr/>
          <a:p/>
        </p:txBody>
      </p:sp>
      <p:sp>
        <p:nvSpPr>
          <p:cNvPr id="20" name="Shape 18"/>
          <p:cNvSpPr/>
          <p:nvPr/>
        </p:nvSpPr>
        <p:spPr>
          <a:xfrm>
            <a:off x="6117336" y="4389120"/>
            <a:ext cx="1691640" cy="777240"/>
          </a:xfrm>
          <a:prstGeom prst="roundRect">
            <a:avLst>
              <a:gd name="adj" fmla="val 9412"/>
            </a:avLst>
          </a:prstGeom>
          <a:solidFill>
            <a:srgbClr val="065A82"/>
          </a:solidFill>
          <a:ln/>
        </p:spPr>
        <p:txBody>
          <a:bodyPr/>
          <a:p/>
        </p:txBody>
      </p:sp>
      <p:sp>
        <p:nvSpPr>
          <p:cNvPr id="21" name="Text 19"/>
          <p:cNvSpPr/>
          <p:nvPr/>
        </p:nvSpPr>
        <p:spPr>
          <a:xfrm>
            <a:off x="6163056" y="4389120"/>
            <a:ext cx="160020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power curve</a:t>
            </a:r>
            <a:endParaRPr lang="en-US" sz="1100" dirty="0"/>
          </a:p>
        </p:txBody>
      </p:sp>
      <p:sp>
        <p:nvSpPr>
          <p:cNvPr id="22" name="Shape 20"/>
          <p:cNvSpPr/>
          <p:nvPr/>
        </p:nvSpPr>
        <p:spPr>
          <a:xfrm>
            <a:off x="7808976" y="4777740"/>
            <a:ext cx="164592" cy="0"/>
          </a:xfrm>
          <a:prstGeom prst="line">
            <a:avLst/>
          </a:prstGeom>
          <a:noFill/>
          <a:ln w="19050">
            <a:solidFill>
              <a:srgbClr val="56606B"/>
            </a:solidFill>
            <a:prstDash val="solid"/>
            <a:tailEnd type="triangle"/>
          </a:ln>
        </p:spPr>
        <p:txBody>
          <a:bodyPr/>
          <a:p/>
        </p:txBody>
      </p:sp>
      <p:sp>
        <p:nvSpPr>
          <p:cNvPr id="23" name="Shape 21"/>
          <p:cNvSpPr/>
          <p:nvPr/>
        </p:nvSpPr>
        <p:spPr>
          <a:xfrm>
            <a:off x="7973568" y="4389120"/>
            <a:ext cx="1691640" cy="777240"/>
          </a:xfrm>
          <a:prstGeom prst="roundRect">
            <a:avLst>
              <a:gd name="adj" fmla="val 9412"/>
            </a:avLst>
          </a:prstGeom>
          <a:solidFill>
            <a:srgbClr val="065A82"/>
          </a:solidFill>
          <a:ln/>
        </p:spPr>
        <p:txBody>
          <a:bodyPr/>
          <a:p/>
        </p:txBody>
      </p:sp>
      <p:sp>
        <p:nvSpPr>
          <p:cNvPr id="24" name="Text 22"/>
          <p:cNvSpPr/>
          <p:nvPr/>
        </p:nvSpPr>
        <p:spPr>
          <a:xfrm>
            <a:off x="8019288" y="4389120"/>
            <a:ext cx="160020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252 annualise</a:t>
            </a:r>
            <a:endParaRPr lang="en-US" sz="1100" dirty="0"/>
          </a:p>
        </p:txBody>
      </p:sp>
      <p:sp>
        <p:nvSpPr>
          <p:cNvPr id="25" name="Shape 23"/>
          <p:cNvSpPr/>
          <p:nvPr/>
        </p:nvSpPr>
        <p:spPr>
          <a:xfrm>
            <a:off x="9665208" y="4777740"/>
            <a:ext cx="164592" cy="0"/>
          </a:xfrm>
          <a:prstGeom prst="line">
            <a:avLst/>
          </a:prstGeom>
          <a:noFill/>
          <a:ln w="19050">
            <a:solidFill>
              <a:srgbClr val="56606B"/>
            </a:solidFill>
            <a:prstDash val="solid"/>
            <a:tailEnd type="triangle"/>
          </a:ln>
        </p:spPr>
        <p:txBody>
          <a:bodyPr/>
          <a:p/>
        </p:txBody>
      </p:sp>
      <p:sp>
        <p:nvSpPr>
          <p:cNvPr id="26" name="Shape 24"/>
          <p:cNvSpPr/>
          <p:nvPr/>
        </p:nvSpPr>
        <p:spPr>
          <a:xfrm>
            <a:off x="9829800" y="4389120"/>
            <a:ext cx="1691640" cy="777240"/>
          </a:xfrm>
          <a:prstGeom prst="roundRect">
            <a:avLst>
              <a:gd name="adj" fmla="val 9412"/>
            </a:avLst>
          </a:prstGeom>
          <a:solidFill>
            <a:srgbClr val="C8791A"/>
          </a:solidFill>
          <a:ln/>
        </p:spPr>
        <p:txBody>
          <a:bodyPr/>
          <a:p/>
        </p:txBody>
      </p:sp>
      <p:sp>
        <p:nvSpPr>
          <p:cNvPr id="27" name="Text 25"/>
          <p:cNvSpPr/>
          <p:nvPr/>
        </p:nvSpPr>
        <p:spPr>
          <a:xfrm>
            <a:off x="9875520" y="4389120"/>
            <a:ext cx="160020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reconciled</a:t>
            </a:r>
            <a:endParaRPr lang="en-US" sz="1100" dirty="0"/>
          </a:p>
        </p:txBody>
      </p:sp>
      <p:sp>
        <p:nvSpPr>
          <p:cNvPr id="28" name="Shape 26"/>
          <p:cNvSpPr/>
          <p:nvPr/>
        </p:nvSpPr>
        <p:spPr>
          <a:xfrm>
            <a:off x="548640" y="5394960"/>
            <a:ext cx="11109960" cy="1051560"/>
          </a:xfrm>
          <a:prstGeom prst="roundRect">
            <a:avLst>
              <a:gd name="adj" fmla="val 8182"/>
            </a:avLst>
          </a:prstGeom>
          <a:solidFill>
            <a:srgbClr val="EEF3F7"/>
          </a:solidFill>
          <a:ln/>
        </p:spPr>
        <p:txBody>
          <a:bodyPr/>
          <a:p/>
        </p:txBody>
      </p:sp>
      <p:sp>
        <p:nvSpPr>
          <p:cNvPr id="29" name="Text 27"/>
          <p:cNvSpPr/>
          <p:nvPr/>
        </p:nvSpPr>
        <p:spPr>
          <a:xfrm>
            <a:off x="822960" y="5468112"/>
            <a:ext cx="10515600" cy="914400"/>
          </a:xfrm>
          <a:prstGeom prst="rect">
            <a:avLst/>
          </a:prstGeom>
          <a:noFill/>
          <a:ln/>
        </p:spPr>
        <p:txBody>
          <a:bodyPr wrap="square" lIns="0" tIns="0" rIns="0" bIns="0" rtlCol="0" anchor="ctr"/>
          <a:lstStyle/>
          <a:p>
            <a:pPr algn="l" marL="0" indent="0">
              <a:spcAft>
                <a:spcPts val="400"/>
              </a:spcAft>
              <a:buNone/>
            </a:pPr>
            <a:r>
              <a:rPr lang="en-US" sz="1800" b="1" dirty="0">
                <a:solidFill>
                  <a:srgbClr val="21295C"/>
                </a:solidFill>
                <a:latin typeface="Calibri"/>
                <a:ea typeface="Calibri"/>
                <a:cs typeface="Calibri"/>
              </a:rPr>
              <a:t>132.9 </a:t>
            </a:r>
            <a:r>
              <a:rPr lang="en-US" sz="1300" b="0" dirty="0">
                <a:solidFill>
                  <a:srgbClr val="56606B"/>
                </a:solidFill>
                <a:latin typeface="Calibri"/>
                <a:ea typeface="Calibri"/>
                <a:cs typeface="Calibri"/>
              </a:rPr>
              <a:t>(A, 1.17× market)          </a:t>
            </a:r>
            <a:r>
              <a:rPr lang="en-US" sz="1800" b="1" dirty="0">
                <a:solidFill>
                  <a:srgbClr val="21295C"/>
                </a:solidFill>
                <a:latin typeface="Calibri"/>
                <a:ea typeface="Calibri"/>
                <a:cs typeface="Calibri"/>
              </a:rPr>
              <a:t>328.8 </a:t>
            </a:r>
            <a:r>
              <a:rPr lang="en-US" sz="1300" b="0" dirty="0">
                <a:solidFill>
                  <a:srgbClr val="56606B"/>
                </a:solidFill>
                <a:latin typeface="Calibri"/>
                <a:ea typeface="Calibri"/>
                <a:cs typeface="Calibri"/>
              </a:rPr>
              <a:t>(B, 2.91× market)   </a:t>
            </a:r>
            <a:r>
              <a:rPr lang="en-US" sz="1300" b="0" dirty="0">
                <a:solidFill>
                  <a:srgbClr val="56606B"/>
                </a:solidFill>
                <a:latin typeface="Calibri"/>
                <a:ea typeface="Calibri"/>
                <a:cs typeface="Calibri"/>
              </a:rPr>
              <a:t>— once reconciled, the same order of magnitude.</a:t>
            </a:r>
          </a:p>
          <a:p>
            <a:pPr algn="l" marL="0" indent="0">
              <a:spcAft>
                <a:spcPts val="400"/>
              </a:spcAft>
              <a:buNone/>
            </a:pPr>
            <a:r>
              <a:rPr lang="en-US" sz="1300" b="1" dirty="0">
                <a:solidFill>
                  <a:srgbClr val="C8791A"/>
                </a:solidFill>
                <a:latin typeface="Calibri"/>
                <a:ea typeface="Calibri"/>
                <a:cs typeface="Calibri"/>
              </a:rPr>
              <a:t>Note the proxy lands closer to the market. </a:t>
            </a:r>
            <a:r>
              <a:rPr lang="en-US" sz="1300" b="0" dirty="0">
                <a:solidFill>
                  <a:srgbClr val="56606B"/>
                </a:solidFill>
                <a:latin typeface="Calibri"/>
                <a:ea typeface="Calibri"/>
                <a:cs typeface="Calibri"/>
              </a:rPr>
              <a:t>A coincidence of level, not of information — the power curve shows why.</a:t>
            </a:r>
          </a:p>
        </p:txBody>
      </p:sp>
      <p:sp>
        <p:nvSpPr>
          <p:cNvPr id="30" name="Text 28"/>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31" name="Text 29"/>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CH. 3 · VALUE OF INFORMATION</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marL="0" indent="0">
              <a:buNone/>
            </a:pPr>
            <a:r>
              <a:rPr lang="en-US" sz="2700" b="1" dirty="0">
                <a:solidFill>
                  <a:srgbClr val="21295C"/>
                </a:solidFill>
                <a:latin typeface="Cambria"/>
                <a:ea typeface="Cambria"/>
                <a:cs typeface="Cambria"/>
              </a:rPr>
              <a:t>Pricing on the proxy understates the strike by 88–94%</a:t>
            </a:r>
          </a:p>
        </p:txBody>
      </p:sp>
      <p:sp>
        <p:nvSpPr>
          <p:cNvPr id="4" name="Shape 2"/>
          <p:cNvSpPr/>
          <p:nvPr/>
        </p:nvSpPr>
        <p:spPr>
          <a:xfrm>
            <a:off x="548640" y="1874520"/>
            <a:ext cx="3520440" cy="2286000"/>
          </a:xfrm>
          <a:prstGeom prst="roundRect">
            <a:avLst>
              <a:gd name="adj" fmla="val 3600"/>
            </a:avLst>
          </a:prstGeom>
          <a:solidFill>
            <a:srgbClr val="F7FAFC"/>
          </a:solidFill>
          <a:ln/>
          <a:effectLst>
            <a:outerShdw sx="100000" sy="100000" kx="0" ky="0" algn="bl" rotWithShape="0" blurRad="88900" dist="25400" dir="5400000">
              <a:srgbClr val="1C1C1C">
                <a:alpha val="16000"/>
              </a:srgbClr>
            </a:outerShdw>
          </a:effectLst>
        </p:spPr>
        <p:txBody>
          <a:bodyPr/>
          <a:p/>
        </p:txBody>
      </p:sp>
      <p:sp>
        <p:nvSpPr>
          <p:cNvPr id="5" name="Text 3"/>
          <p:cNvSpPr/>
          <p:nvPr/>
        </p:nvSpPr>
        <p:spPr>
          <a:xfrm>
            <a:off x="822960" y="2057400"/>
            <a:ext cx="3017520"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RAW MISPRICING</a:t>
            </a:r>
            <a:endParaRPr lang="en-US" sz="1100" dirty="0"/>
          </a:p>
        </p:txBody>
      </p:sp>
      <p:sp>
        <p:nvSpPr>
          <p:cNvPr id="6" name="Text 4"/>
          <p:cNvSpPr/>
          <p:nvPr/>
        </p:nvSpPr>
        <p:spPr>
          <a:xfrm>
            <a:off x="822960" y="2377440"/>
            <a:ext cx="3017520" cy="914400"/>
          </a:xfrm>
          <a:prstGeom prst="rect">
            <a:avLst/>
          </a:prstGeom>
          <a:noFill/>
          <a:ln/>
        </p:spPr>
        <p:txBody>
          <a:bodyPr wrap="square" lIns="0" tIns="0" rIns="0" bIns="0" rtlCol="0" anchor="ctr"/>
          <a:lstStyle/>
          <a:p>
            <a:pPr indent="0" marL="0">
              <a:buNone/>
            </a:pPr>
            <a:r>
              <a:rPr lang="en-US" sz="4400" b="1" dirty="0">
                <a:solidFill>
                  <a:srgbClr val="C8791A"/>
                </a:solidFill>
                <a:latin typeface="Cambria" pitchFamily="34" charset="0"/>
                <a:ea typeface="Cambria" pitchFamily="34" charset="-122"/>
                <a:cs typeface="Cambria" pitchFamily="34" charset="-120"/>
              </a:rPr>
              <a:t>93.8%</a:t>
            </a:r>
            <a:endParaRPr lang="en-US" sz="4400" dirty="0"/>
          </a:p>
        </p:txBody>
      </p:sp>
      <p:sp>
        <p:nvSpPr>
          <p:cNvPr id="7" name="Text 5"/>
          <p:cNvSpPr/>
          <p:nvPr/>
        </p:nvSpPr>
        <p:spPr>
          <a:xfrm>
            <a:off x="822960" y="3383280"/>
            <a:ext cx="3017520" cy="640080"/>
          </a:xfrm>
          <a:prstGeom prst="rect">
            <a:avLst/>
          </a:prstGeom>
          <a:noFill/>
          <a:ln/>
        </p:spPr>
        <p:txBody>
          <a:bodyPr wrap="square" lIns="0" tIns="0" rIns="0" bIns="0" rtlCol="0" anchor="ctr"/>
          <a:lstStyle/>
          <a:p>
            <a:pPr indent="0" marL="0">
              <a:lnSpc>
                <a:spcPct val="115000"/>
              </a:lnSpc>
              <a:buNone/>
            </a:pPr>
            <a:r>
              <a:rPr lang="en-US" sz="1150" i="1" dirty="0">
                <a:solidFill>
                  <a:srgbClr val="56606B"/>
                </a:solidFill>
                <a:latin typeface="Calibri" pitchFamily="34" charset="0"/>
                <a:ea typeface="Calibri" pitchFamily="34" charset="-122"/>
                <a:cs typeface="Calibri" pitchFamily="34" charset="-120"/>
              </a:rPr>
              <a:t>pricing on the Bologna proxy as-is</a:t>
            </a:r>
            <a:endParaRPr lang="en-US" sz="1150" dirty="0"/>
          </a:p>
        </p:txBody>
      </p:sp>
      <p:sp>
        <p:nvSpPr>
          <p:cNvPr id="8" name="Shape 6"/>
          <p:cNvSpPr/>
          <p:nvPr/>
        </p:nvSpPr>
        <p:spPr>
          <a:xfrm>
            <a:off x="4251960" y="1874520"/>
            <a:ext cx="3520440" cy="2286000"/>
          </a:xfrm>
          <a:prstGeom prst="roundRect">
            <a:avLst>
              <a:gd name="adj" fmla="val 3600"/>
            </a:avLst>
          </a:prstGeom>
          <a:solidFill>
            <a:srgbClr val="F7FAFC"/>
          </a:solidFill>
          <a:ln/>
          <a:effectLst>
            <a:outerShdw sx="100000" sy="100000" kx="0" ky="0" algn="bl" rotWithShape="0" blurRad="88900" dist="25400" dir="5400000">
              <a:srgbClr val="1C1C1C">
                <a:alpha val="16000"/>
              </a:srgbClr>
            </a:outerShdw>
          </a:effectLst>
        </p:spPr>
        <p:txBody>
          <a:bodyPr/>
          <a:p/>
        </p:txBody>
      </p:sp>
      <p:sp>
        <p:nvSpPr>
          <p:cNvPr id="9" name="Text 7"/>
          <p:cNvSpPr/>
          <p:nvPr/>
        </p:nvSpPr>
        <p:spPr>
          <a:xfrm>
            <a:off x="4526280" y="2057400"/>
            <a:ext cx="3017520" cy="365760"/>
          </a:xfrm>
          <a:prstGeom prst="rect">
            <a:avLst/>
          </a:prstGeom>
          <a:noFill/>
          <a:ln/>
        </p:spPr>
        <p:txBody>
          <a:bodyPr wrap="square" lIns="0" tIns="0" rIns="0" bIns="0" rtlCol="0" anchor="ctr"/>
          <a:lstStyle/>
          <a:p>
            <a:pPr indent="0" marL="0">
              <a:buNone/>
            </a:pPr>
            <a:r>
              <a:rPr lang="en-US" sz="1050" b="1" spc="80" kern="0" dirty="0">
                <a:solidFill>
                  <a:srgbClr val="1C7293"/>
                </a:solidFill>
                <a:latin typeface="Calibri" pitchFamily="34" charset="0"/>
                <a:ea typeface="Calibri" pitchFamily="34" charset="-122"/>
                <a:cs typeface="Calibri" pitchFamily="34" charset="-120"/>
              </a:rPr>
              <a:t>AFTER 1.931× HEIGHT CORRECTION</a:t>
            </a:r>
            <a:endParaRPr lang="en-US" sz="1050" dirty="0"/>
          </a:p>
        </p:txBody>
      </p:sp>
      <p:sp>
        <p:nvSpPr>
          <p:cNvPr id="10" name="Text 8"/>
          <p:cNvSpPr/>
          <p:nvPr/>
        </p:nvSpPr>
        <p:spPr>
          <a:xfrm>
            <a:off x="4526280" y="2377440"/>
            <a:ext cx="3017520" cy="914400"/>
          </a:xfrm>
          <a:prstGeom prst="rect">
            <a:avLst/>
          </a:prstGeom>
          <a:noFill/>
          <a:ln/>
        </p:spPr>
        <p:txBody>
          <a:bodyPr wrap="square" lIns="0" tIns="0" rIns="0" bIns="0" rtlCol="0" anchor="ctr"/>
          <a:lstStyle/>
          <a:p>
            <a:pPr indent="0" marL="0">
              <a:buNone/>
            </a:pPr>
            <a:r>
              <a:rPr lang="en-US" sz="4400" b="1" dirty="0">
                <a:solidFill>
                  <a:srgbClr val="C8791A"/>
                </a:solidFill>
                <a:latin typeface="Cambria" pitchFamily="34" charset="0"/>
                <a:ea typeface="Cambria" pitchFamily="34" charset="-122"/>
                <a:cs typeface="Cambria" pitchFamily="34" charset="-120"/>
              </a:rPr>
              <a:t>88.0%</a:t>
            </a:r>
            <a:endParaRPr lang="en-US" sz="4400" dirty="0"/>
          </a:p>
        </p:txBody>
      </p:sp>
      <p:sp>
        <p:nvSpPr>
          <p:cNvPr id="11" name="Text 9"/>
          <p:cNvSpPr/>
          <p:nvPr/>
        </p:nvSpPr>
        <p:spPr>
          <a:xfrm>
            <a:off x="4526280" y="3383280"/>
            <a:ext cx="3017520" cy="731520"/>
          </a:xfrm>
          <a:prstGeom prst="rect">
            <a:avLst/>
          </a:prstGeom>
          <a:noFill/>
          <a:ln/>
        </p:spPr>
        <p:txBody>
          <a:bodyPr wrap="square" lIns="0" tIns="0" rIns="0" bIns="0" rtlCol="0" anchor="ctr"/>
          <a:lstStyle/>
          <a:p>
            <a:pPr algn="l" marL="0" indent="0">
              <a:lnSpc>
                <a:spcPct val="110000"/>
              </a:lnSpc>
              <a:buNone/>
            </a:pPr>
            <a:r>
              <a:rPr lang="en-US" sz="1100" b="0" i="1" dirty="0">
                <a:solidFill>
                  <a:srgbClr val="56606B"/>
                </a:solidFill>
                <a:latin typeface="Calibri"/>
                <a:ea typeface="Calibri"/>
                <a:cs typeface="Calibri"/>
              </a:rPr>
              <a:t>(100/10)^(2/7), Peterson &amp; Hennessey 1978. Stays above 80% for every exponent α from 1/10 to 0.25.</a:t>
            </a:r>
          </a:p>
        </p:txBody>
      </p:sp>
      <p:sp>
        <p:nvSpPr>
          <p:cNvPr id="12" name="Shape 10"/>
          <p:cNvSpPr/>
          <p:nvPr/>
        </p:nvSpPr>
        <p:spPr>
          <a:xfrm>
            <a:off x="7955280" y="1874520"/>
            <a:ext cx="3520440" cy="2286000"/>
          </a:xfrm>
          <a:prstGeom prst="roundRect">
            <a:avLst>
              <a:gd name="adj" fmla="val 3600"/>
            </a:avLst>
          </a:prstGeom>
          <a:solidFill>
            <a:srgbClr val="21295C"/>
          </a:solidFill>
          <a:ln/>
          <a:effectLst>
            <a:outerShdw sx="100000" sy="100000" kx="0" ky="0" algn="bl" rotWithShape="0" blurRad="88900" dist="25400" dir="5400000">
              <a:srgbClr val="1C1C1C">
                <a:alpha val="16000"/>
              </a:srgbClr>
            </a:outerShdw>
          </a:effectLst>
        </p:spPr>
        <p:txBody>
          <a:bodyPr/>
          <a:p/>
        </p:txBody>
      </p:sp>
      <p:sp>
        <p:nvSpPr>
          <p:cNvPr id="13" name="Text 11"/>
          <p:cNvSpPr/>
          <p:nvPr/>
        </p:nvSpPr>
        <p:spPr>
          <a:xfrm>
            <a:off x="8229600" y="2057400"/>
            <a:ext cx="3017520" cy="274320"/>
          </a:xfrm>
          <a:prstGeom prst="rect">
            <a:avLst/>
          </a:prstGeom>
          <a:noFill/>
          <a:ln/>
        </p:spPr>
        <p:txBody>
          <a:bodyPr wrap="square" lIns="0" tIns="0" rIns="0" bIns="0" rtlCol="0" anchor="ctr"/>
          <a:lstStyle/>
          <a:p>
            <a:pPr indent="0" marL="0">
              <a:buNone/>
            </a:pPr>
            <a:r>
              <a:rPr lang="en-US" sz="1100" b="1" spc="100" kern="0" dirty="0">
                <a:solidFill>
                  <a:srgbClr val="E8A33D"/>
                </a:solidFill>
                <a:latin typeface="Calibri" pitchFamily="34" charset="0"/>
                <a:ea typeface="Calibri" pitchFamily="34" charset="-122"/>
                <a:cs typeface="Calibri" pitchFamily="34" charset="-120"/>
              </a:rPr>
              <a:t>STRIKE RATIO B / A</a:t>
            </a:r>
            <a:endParaRPr lang="en-US" sz="1100" dirty="0"/>
          </a:p>
        </p:txBody>
      </p:sp>
      <p:sp>
        <p:nvSpPr>
          <p:cNvPr id="14" name="Text 12"/>
          <p:cNvSpPr/>
          <p:nvPr/>
        </p:nvSpPr>
        <p:spPr>
          <a:xfrm>
            <a:off x="8229600" y="2377440"/>
            <a:ext cx="301752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16.07×</a:t>
            </a:r>
            <a:endParaRPr lang="en-US" sz="4400" dirty="0"/>
          </a:p>
        </p:txBody>
      </p:sp>
      <p:sp>
        <p:nvSpPr>
          <p:cNvPr id="15" name="Text 13"/>
          <p:cNvSpPr/>
          <p:nvPr/>
        </p:nvSpPr>
        <p:spPr>
          <a:xfrm>
            <a:off x="8229600" y="3383280"/>
            <a:ext cx="3017520" cy="640080"/>
          </a:xfrm>
          <a:prstGeom prst="rect">
            <a:avLst/>
          </a:prstGeom>
          <a:noFill/>
          <a:ln/>
        </p:spPr>
        <p:txBody>
          <a:bodyPr wrap="square" lIns="0" tIns="0" rIns="0" bIns="0" rtlCol="0" anchor="ctr"/>
          <a:lstStyle/>
          <a:p>
            <a:pPr indent="0" marL="0">
              <a:lnSpc>
                <a:spcPct val="115000"/>
              </a:lnSpc>
              <a:buNone/>
            </a:pPr>
            <a:r>
              <a:rPr lang="en-US" sz="1150" dirty="0">
                <a:solidFill>
                  <a:srgbClr val="EEF3F7"/>
                </a:solidFill>
                <a:latin typeface="Calibri" pitchFamily="34" charset="0"/>
                <a:ea typeface="Calibri" pitchFamily="34" charset="-122"/>
                <a:cs typeface="Calibri" pitchFamily="34" charset="-120"/>
              </a:rPr>
              <a:t>8.85× from C₀  ×  1.82× from h(t₀)</a:t>
            </a:r>
            <a:endParaRPr lang="en-US" sz="1150" dirty="0"/>
          </a:p>
        </p:txBody>
      </p:sp>
      <p:sp>
        <p:nvSpPr>
          <p:cNvPr id="16" name="Shape 14"/>
          <p:cNvSpPr/>
          <p:nvPr/>
        </p:nvSpPr>
        <p:spPr>
          <a:xfrm>
            <a:off x="548640" y="4434840"/>
            <a:ext cx="11109960" cy="1828800"/>
          </a:xfrm>
          <a:prstGeom prst="roundRect">
            <a:avLst>
              <a:gd name="adj" fmla="val 4500"/>
            </a:avLst>
          </a:prstGeom>
          <a:solidFill>
            <a:srgbClr val="EEF3F7"/>
          </a:solidFill>
          <a:ln/>
        </p:spPr>
        <p:txBody>
          <a:bodyPr/>
          <a:p/>
        </p:txBody>
      </p:sp>
      <p:sp>
        <p:nvSpPr>
          <p:cNvPr id="17" name="Text 15"/>
          <p:cNvSpPr/>
          <p:nvPr/>
        </p:nvSpPr>
        <p:spPr>
          <a:xfrm>
            <a:off x="822960" y="4617720"/>
            <a:ext cx="10515600" cy="1508760"/>
          </a:xfrm>
          <a:prstGeom prst="rect">
            <a:avLst/>
          </a:prstGeom>
          <a:noFill/>
          <a:ln/>
        </p:spPr>
        <p:txBody>
          <a:bodyPr wrap="square" lIns="0" tIns="0" rIns="0" bIns="0" rtlCol="0" anchor="ctr"/>
          <a:lstStyle/>
          <a:p>
            <a:pPr algn="l" marL="0" indent="0">
              <a:lnSpc>
                <a:spcPct val="108000"/>
              </a:lnSpc>
              <a:spcAft>
                <a:spcPts val="400"/>
              </a:spcAft>
              <a:buNone/>
            </a:pPr>
            <a:r>
              <a:rPr lang="en-US" sz="1500" b="1" dirty="0">
                <a:solidFill>
                  <a:srgbClr val="21295C"/>
                </a:solidFill>
                <a:latin typeface="Calibri"/>
                <a:ea typeface="Calibri"/>
                <a:cs typeface="Calibri"/>
              </a:rPr>
              <a:t>Height is not the explanation — and the headline is not scale-free.</a:t>
            </a:r>
          </a:p>
          <a:p>
            <a:pPr algn="l" marL="0" indent="0">
              <a:lnSpc>
                <a:spcPct val="108000"/>
              </a:lnSpc>
              <a:spcAft>
                <a:spcPts val="400"/>
              </a:spcAft>
              <a:buNone/>
            </a:pPr>
            <a:r>
              <a:rPr lang="en-US" sz="1250" b="0" dirty="0">
                <a:solidFill>
                  <a:srgbClr val="56606B"/>
                </a:solidFill>
                <a:latin typeface="Calibri"/>
                <a:ea typeface="Calibri"/>
                <a:cs typeface="Calibri"/>
              </a:rPr>
              <a:t>Of the 16.07× ratio, 8.85× sits in C₀ and 1.82× in h(t₀). But the two C₀ are variances on different Box–Cox scales (λ = 0.1 vs 0.5), and the two h(t₀) are pricing dates six years apart. On a common axis the gap shrinks to ≈2.5×, ≈1.36× of it climatological: the sites' coefficients of variation are 0.384 vs 0.401. The case for the aligned dataset rests elsewhere.</a:t>
            </a:r>
          </a:p>
        </p:txBody>
      </p:sp>
      <p:sp>
        <p:nvSpPr>
          <p:cNvPr id="18" name="Text 16"/>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9" name="Text 17"/>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CH. 3 · RISK MANAGEMENT</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CAWS — a left-tail complement to the variance swap</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109960" cy="914400"/>
        </p:xfrm>
        <a:graphic>
          <a:graphicData uri="http://schemas.openxmlformats.org/drawingml/2006/table">
            <a:tbl>
              <a:tblPr/>
              <a:tblGrid>
                <a:gridCol w="4206240"/>
                <a:gridCol w="3474720"/>
                <a:gridCol w="3429000"/>
              </a:tblGrid>
              <a:tr h="457200">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Dataset A (n = 4 yr)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Dataset B (n = 10 yr)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1295C"/>
                    </a:solidFill>
                  </a:tcPr>
                </a:tc>
              </a:tr>
              <a:tr h="457200">
                <a:tc>
                  <a:txBody>
                    <a:bodyPr/>
                    <a:lstStyle/>
                    <a:p>
                      <a:pPr algn="l" indent="0" marL="0">
                        <a:buNone/>
                      </a:pPr>
                      <a:r>
                        <a:rPr lang="en-US" sz="1400" b="1" dirty="0">
                          <a:solidFill>
                            <a:srgbClr val="56606B"/>
                          </a:solidFill>
                          <a:latin typeface="Calibri" pitchFamily="34" charset="0"/>
                          <a:ea typeface="Calibri" pitchFamily="34" charset="-122"/>
                          <a:cs typeface="Calibri" pitchFamily="34" charset="-120"/>
                        </a:rPr>
                        <a:t>Strike K (full-sample mean CAWS)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00" dirty="0">
                          <a:solidFill>
                            <a:srgbClr val="56606B"/>
                          </a:solidFill>
                          <a:latin typeface="Calibri" pitchFamily="34" charset="0"/>
                          <a:ea typeface="Calibri" pitchFamily="34" charset="-122"/>
                          <a:cs typeface="Calibri" pitchFamily="34" charset="-120"/>
                        </a:rPr>
                        <a:t>2.4644 m/s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00" dirty="0">
                          <a:solidFill>
                            <a:srgbClr val="56606B"/>
                          </a:solidFill>
                          <a:latin typeface="Calibri" pitchFamily="34" charset="0"/>
                          <a:ea typeface="Calibri" pitchFamily="34" charset="-122"/>
                          <a:cs typeface="Calibri" pitchFamily="34" charset="-120"/>
                        </a:rPr>
                        <a:t>8.0531 m/s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l" indent="0" marL="0">
                        <a:buNone/>
                      </a:pPr>
                      <a:r>
                        <a:rPr lang="en-US" sz="1400" b="1" dirty="0">
                          <a:solidFill>
                            <a:srgbClr val="56606B"/>
                          </a:solidFill>
                          <a:latin typeface="Calibri" pitchFamily="34" charset="0"/>
                          <a:ea typeface="Calibri" pitchFamily="34" charset="-122"/>
                          <a:cs typeface="Calibri" pitchFamily="34" charset="-120"/>
                        </a:rPr>
                        <a:t>Protection leg — calmest year, % of K</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l" indent="0" marL="0">
                        <a:buNone/>
                      </a:pPr>
                      <a:r>
                        <a:rPr lang="en-US" sz="1400" dirty="0">
                          <a:solidFill>
                            <a:srgbClr val="56606B"/>
                          </a:solidFill>
                          <a:latin typeface="Calibri" pitchFamily="34" charset="0"/>
                          <a:ea typeface="Calibri" pitchFamily="34" charset="-122"/>
                          <a:cs typeface="Calibri" pitchFamily="34" charset="-120"/>
                        </a:rPr>
                        <a:t>+6.70% (2017)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l" indent="0" marL="0">
                        <a:buNone/>
                      </a:pPr>
                      <a:r>
                        <a:rPr lang="en-US" sz="1400" dirty="0">
                          <a:solidFill>
                            <a:srgbClr val="56606B"/>
                          </a:solidFill>
                          <a:latin typeface="Calibri" pitchFamily="34" charset="0"/>
                          <a:ea typeface="Calibri" pitchFamily="34" charset="-122"/>
                          <a:cs typeface="Calibri" pitchFamily="34" charset="-120"/>
                        </a:rPr>
                        <a:t>+4.99% (2021)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r>
              <a:tr h="457200">
                <a:tc>
                  <a:txBody>
                    <a:bodyPr/>
                    <a:lstStyle/>
                    <a:p>
                      <a:pPr algn="l" indent="0" marL="0">
                        <a:buNone/>
                      </a:pPr>
                      <a:r>
                        <a:rPr lang="en-US" sz="1400" b="1" dirty="0">
                          <a:solidFill>
                            <a:srgbClr val="56606B"/>
                          </a:solidFill>
                          <a:latin typeface="Calibri" pitchFamily="34" charset="0"/>
                          <a:ea typeface="Calibri" pitchFamily="34" charset="-122"/>
                          <a:cs typeface="Calibri" pitchFamily="34" charset="-120"/>
                        </a:rPr>
                        <a:t>Premium leg — windiest year (CVaR₅%)</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00" dirty="0">
                          <a:solidFill>
                            <a:srgbClr val="56606B"/>
                          </a:solidFill>
                          <a:latin typeface="Calibri" pitchFamily="34" charset="0"/>
                          <a:ea typeface="Calibri" pitchFamily="34" charset="-122"/>
                          <a:cs typeface="Calibri" pitchFamily="34" charset="-120"/>
                        </a:rPr>
                        <a:t>−4.91% (2018)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00" dirty="0">
                          <a:solidFill>
                            <a:srgbClr val="56606B"/>
                          </a:solidFill>
                          <a:latin typeface="Calibri" pitchFamily="34" charset="0"/>
                          <a:ea typeface="Calibri" pitchFamily="34" charset="-122"/>
                          <a:cs typeface="Calibri" pitchFamily="34" charset="-120"/>
                        </a:rPr>
                        <a:t>−6.33% (2015)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548640" y="3886200"/>
            <a:ext cx="11109960" cy="2286000"/>
          </a:xfrm>
          <a:prstGeom prst="roundRect">
            <a:avLst>
              <a:gd name="adj" fmla="val 3600"/>
            </a:avLst>
          </a:prstGeom>
          <a:solidFill>
            <a:srgbClr val="EEF3F7"/>
          </a:solidFill>
          <a:ln/>
        </p:spPr>
        <p:txBody>
          <a:bodyPr/>
          <a:p/>
        </p:txBody>
      </p:sp>
      <p:sp>
        <p:nvSpPr>
          <p:cNvPr id="6" name="Text 3"/>
          <p:cNvSpPr/>
          <p:nvPr/>
        </p:nvSpPr>
        <p:spPr>
          <a:xfrm>
            <a:off x="822960" y="4069080"/>
            <a:ext cx="10515600" cy="2011680"/>
          </a:xfrm>
          <a:prstGeom prst="rect">
            <a:avLst/>
          </a:prstGeom>
          <a:noFill/>
          <a:ln/>
        </p:spPr>
        <p:txBody>
          <a:bodyPr wrap="square" lIns="0" tIns="0" rIns="0" bIns="0" rtlCol="0" anchor="ctr"/>
          <a:lstStyle/>
          <a:p>
            <a:pPr algn="l" marL="0" indent="0">
              <a:lnSpc>
                <a:spcPct val="108000"/>
              </a:lnSpc>
              <a:spcAft>
                <a:spcPts val="800"/>
              </a:spcAft>
              <a:buNone/>
            </a:pPr>
            <a:r>
              <a:rPr lang="en-US" sz="1300" b="1" dirty="0">
                <a:solidFill>
                  <a:srgbClr val="21295C"/>
                </a:solidFill>
                <a:latin typeface="Calibri"/>
                <a:ea typeface="Calibri"/>
                <a:cs typeface="Calibri"/>
              </a:rPr>
              <a:t>Read the right tail. </a:t>
            </a:r>
            <a:r>
              <a:rPr lang="en-US" sz="1300" b="0" dirty="0">
                <a:solidFill>
                  <a:srgbClr val="56606B"/>
                </a:solidFill>
                <a:latin typeface="Calibri"/>
                <a:ea typeface="Calibri"/>
                <a:cs typeface="Calibri"/>
              </a:rPr>
              <a:t>Π = N × (K − CAWS) pays in calm years, when generation revenue is depressed. The negative CVaR₅% is the premium paid in a windy year, not a loss; with 4 and 10 non-overlapping annual observations it is a sample minimum, so tail statistics are descriptive.</a:t>
            </a:r>
          </a:p>
          <a:p>
            <a:pPr algn="l" marL="0" indent="0">
              <a:lnSpc>
                <a:spcPct val="108000"/>
              </a:lnSpc>
              <a:spcAft>
                <a:spcPts val="800"/>
              </a:spcAft>
              <a:buNone/>
            </a:pPr>
            <a:r>
              <a:rPr lang="en-US" sz="1300" b="1" dirty="0">
                <a:solidFill>
                  <a:srgbClr val="21295C"/>
                </a:solidFill>
                <a:latin typeface="Calibri"/>
                <a:ea typeface="Calibri"/>
                <a:cs typeface="Calibri"/>
              </a:rPr>
              <a:t>Calm-year translation (2021, illustrative): </a:t>
            </a:r>
            <a:r>
              <a:rPr lang="en-US" sz="1300" b="0" dirty="0">
                <a:solidFill>
                  <a:srgbClr val="56606B"/>
                </a:solidFill>
                <a:latin typeface="Calibri"/>
                <a:ea typeface="Calibri"/>
                <a:cs typeface="Calibri"/>
              </a:rPr>
              <a:t>a 4.99% wind shortfall ≈ 14% generation shortfall ≈ 32,000 MWh ≈ €2.3m at €71.38/MWh. An order of magnitude, not a 2021 P&amp;L: the price crisis would have partly offset that year's shortfall (§3.4.3).</a:t>
            </a:r>
          </a:p>
        </p:txBody>
      </p:sp>
      <p:sp>
        <p:nvSpPr>
          <p:cNvPr id="7" name="Text 4"/>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8" name="Text 5"/>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SUMMARY</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Three research questions, answered</a:t>
            </a:r>
            <a:endParaRPr lang="en-US" sz="2700" dirty="0"/>
          </a:p>
        </p:txBody>
      </p:sp>
      <p:sp>
        <p:nvSpPr>
          <p:cNvPr id="4" name="Shape 2"/>
          <p:cNvSpPr/>
          <p:nvPr/>
        </p:nvSpPr>
        <p:spPr>
          <a:xfrm>
            <a:off x="548640" y="1828800"/>
            <a:ext cx="3593592" cy="3246120"/>
          </a:xfrm>
          <a:prstGeom prst="roundRect">
            <a:avLst>
              <a:gd name="adj" fmla="val 2290"/>
            </a:avLst>
          </a:prstGeom>
          <a:solidFill>
            <a:srgbClr val="F7FAFC"/>
          </a:solidFill>
          <a:ln/>
          <a:effectLst>
            <a:outerShdw sx="100000" sy="100000" kx="0" ky="0" algn="bl" rotWithShape="0" blurRad="88900" dist="25400" dir="5400000">
              <a:srgbClr val="1C1C1C">
                <a:alpha val="16000"/>
              </a:srgbClr>
            </a:outerShdw>
          </a:effectLst>
        </p:spPr>
        <p:txBody>
          <a:bodyPr/>
          <a:p/>
        </p:txBody>
      </p:sp>
      <p:sp>
        <p:nvSpPr>
          <p:cNvPr id="5" name="Shape 3"/>
          <p:cNvSpPr/>
          <p:nvPr/>
        </p:nvSpPr>
        <p:spPr>
          <a:xfrm>
            <a:off x="841248" y="2011680"/>
            <a:ext cx="566928" cy="566928"/>
          </a:xfrm>
          <a:prstGeom prst="ellipse">
            <a:avLst/>
          </a:prstGeom>
          <a:solidFill>
            <a:srgbClr val="C8791A"/>
          </a:solidFill>
          <a:ln/>
        </p:spPr>
        <p:txBody>
          <a:bodyPr/>
          <a:p/>
        </p:txBody>
      </p:sp>
      <p:sp>
        <p:nvSpPr>
          <p:cNvPr id="6" name="Text 4"/>
          <p:cNvSpPr/>
          <p:nvPr/>
        </p:nvSpPr>
        <p:spPr>
          <a:xfrm>
            <a:off x="841248" y="201168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841248" y="2697480"/>
            <a:ext cx="3044952" cy="411480"/>
          </a:xfrm>
          <a:prstGeom prst="rect">
            <a:avLst/>
          </a:prstGeom>
          <a:noFill/>
          <a:ln/>
        </p:spPr>
        <p:txBody>
          <a:bodyPr wrap="square" lIns="0" tIns="0" rIns="0" bIns="0" rtlCol="0" anchor="ctr"/>
          <a:lstStyle/>
          <a:p>
            <a:pPr indent="0" marL="0">
              <a:lnSpc>
                <a:spcPct val="110000"/>
              </a:lnSpc>
              <a:buNone/>
            </a:pPr>
            <a:r>
              <a:rPr lang="en-US" sz="1450" b="1" dirty="0">
                <a:solidFill>
                  <a:srgbClr val="21295C"/>
                </a:solidFill>
                <a:latin typeface="Cambria" pitchFamily="34" charset="0"/>
                <a:ea typeface="Cambria" pitchFamily="34" charset="-122"/>
                <a:cs typeface="Cambria" pitchFamily="34" charset="-120"/>
              </a:rPr>
              <a:t>FEASIBILITY — YES</a:t>
            </a:r>
            <a:endParaRPr lang="en-US" sz="1450" dirty="0"/>
          </a:p>
        </p:txBody>
      </p:sp>
      <p:sp>
        <p:nvSpPr>
          <p:cNvPr id="8" name="Text 6"/>
          <p:cNvSpPr/>
          <p:nvPr/>
        </p:nvSpPr>
        <p:spPr>
          <a:xfrm>
            <a:off x="841248" y="3154680"/>
            <a:ext cx="3044952" cy="1828800"/>
          </a:xfrm>
          <a:prstGeom prst="rect">
            <a:avLst/>
          </a:prstGeom>
          <a:noFill/>
          <a:ln/>
        </p:spPr>
        <p:txBody>
          <a:bodyPr wrap="square" lIns="0" tIns="0" rIns="0" bIns="0" rtlCol="0" anchor="t"/>
          <a:lstStyle/>
          <a:p>
            <a:pPr algn="l" marL="0" indent="0">
              <a:lnSpc>
                <a:spcPct val="110000"/>
              </a:lnSpc>
              <a:buNone/>
            </a:pPr>
            <a:r>
              <a:rPr lang="en-US" sz="1250" b="0" dirty="0">
                <a:solidFill>
                  <a:srgbClr val="56606B"/>
                </a:solidFill>
                <a:latin typeface="Calibri"/>
                <a:ea typeface="Calibri"/>
                <a:cs typeface="Calibri"/>
              </a:rPr>
              <a:t>Yes, in closed form: K = h(t₀) × C₀. It prices a variance swap but not an option on variance, for which the Heston characteristic function (§2.5.5) would have to be evaluated, not merely written down.</a:t>
            </a:r>
          </a:p>
        </p:txBody>
      </p:sp>
      <p:sp>
        <p:nvSpPr>
          <p:cNvPr id="9" name="Shape 7"/>
          <p:cNvSpPr/>
          <p:nvPr/>
        </p:nvSpPr>
        <p:spPr>
          <a:xfrm>
            <a:off x="4306824" y="1828800"/>
            <a:ext cx="3593592" cy="3246120"/>
          </a:xfrm>
          <a:prstGeom prst="roundRect">
            <a:avLst>
              <a:gd name="adj" fmla="val 2290"/>
            </a:avLst>
          </a:prstGeom>
          <a:solidFill>
            <a:srgbClr val="F7FAFC"/>
          </a:solidFill>
          <a:ln/>
          <a:effectLst>
            <a:outerShdw sx="100000" sy="100000" kx="0" ky="0" algn="bl" rotWithShape="0" blurRad="88900" dist="25400" dir="5400000">
              <a:srgbClr val="1C1C1C">
                <a:alpha val="16000"/>
              </a:srgbClr>
            </a:outerShdw>
          </a:effectLst>
        </p:spPr>
        <p:txBody>
          <a:bodyPr/>
          <a:p/>
        </p:txBody>
      </p:sp>
      <p:sp>
        <p:nvSpPr>
          <p:cNvPr id="10" name="Shape 8"/>
          <p:cNvSpPr/>
          <p:nvPr/>
        </p:nvSpPr>
        <p:spPr>
          <a:xfrm>
            <a:off x="4599432" y="2011680"/>
            <a:ext cx="566928" cy="566928"/>
          </a:xfrm>
          <a:prstGeom prst="ellipse">
            <a:avLst/>
          </a:prstGeom>
          <a:solidFill>
            <a:srgbClr val="C8791A"/>
          </a:solidFill>
          <a:ln/>
        </p:spPr>
        <p:txBody>
          <a:bodyPr/>
          <a:p/>
        </p:txBody>
      </p:sp>
      <p:sp>
        <p:nvSpPr>
          <p:cNvPr id="11" name="Text 9"/>
          <p:cNvSpPr/>
          <p:nvPr/>
        </p:nvSpPr>
        <p:spPr>
          <a:xfrm>
            <a:off x="4599432" y="201168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4599432" y="2697480"/>
            <a:ext cx="3044952" cy="411480"/>
          </a:xfrm>
          <a:prstGeom prst="rect">
            <a:avLst/>
          </a:prstGeom>
          <a:noFill/>
          <a:ln/>
        </p:spPr>
        <p:txBody>
          <a:bodyPr wrap="square" lIns="0" tIns="0" rIns="0" bIns="0" rtlCol="0" anchor="ctr"/>
          <a:lstStyle/>
          <a:p>
            <a:pPr algn="l" marL="0" indent="0">
              <a:buNone/>
            </a:pPr>
            <a:r>
              <a:rPr lang="en-US" sz="1400" b="1" dirty="0">
                <a:solidFill>
                  <a:srgbClr val="21295C"/>
                </a:solidFill>
                <a:latin typeface="Cambria"/>
                <a:ea typeface="Cambria"/>
                <a:cs typeface="Cambria"/>
              </a:rPr>
              <a:t>VOI — LOCATED</a:t>
            </a:r>
          </a:p>
        </p:txBody>
      </p:sp>
      <p:sp>
        <p:nvSpPr>
          <p:cNvPr id="13" name="Text 11"/>
          <p:cNvSpPr/>
          <p:nvPr/>
        </p:nvSpPr>
        <p:spPr>
          <a:xfrm>
            <a:off x="4599432" y="3154680"/>
            <a:ext cx="3044952" cy="1828800"/>
          </a:xfrm>
          <a:prstGeom prst="rect">
            <a:avLst/>
          </a:prstGeom>
          <a:noFill/>
          <a:ln/>
        </p:spPr>
        <p:txBody>
          <a:bodyPr wrap="square" lIns="0" tIns="0" rIns="0" bIns="0" rtlCol="0" anchor="t"/>
          <a:lstStyle/>
          <a:p>
            <a:pPr algn="l" marL="0" indent="0">
              <a:lnSpc>
                <a:spcPct val="110000"/>
              </a:lnSpc>
              <a:buNone/>
            </a:pPr>
            <a:r>
              <a:rPr lang="en-US" sz="1250" b="0" dirty="0">
                <a:solidFill>
                  <a:srgbClr val="56606B"/>
                </a:solidFill>
                <a:latin typeface="Calibri"/>
                <a:ea typeface="Calibri"/>
                <a:cs typeface="Calibri"/>
              </a:rPr>
              <a:t>The proxy understates the fair strike by 94%, 88% after height correction. The decisive evidence is the power curve: R² = 58.7% vs 0.01%.</a:t>
            </a:r>
          </a:p>
        </p:txBody>
      </p:sp>
      <p:sp>
        <p:nvSpPr>
          <p:cNvPr id="14" name="Shape 12"/>
          <p:cNvSpPr/>
          <p:nvPr/>
        </p:nvSpPr>
        <p:spPr>
          <a:xfrm>
            <a:off x="8065008" y="1828800"/>
            <a:ext cx="3593592" cy="3246120"/>
          </a:xfrm>
          <a:prstGeom prst="roundRect">
            <a:avLst>
              <a:gd name="adj" fmla="val 2290"/>
            </a:avLst>
          </a:prstGeom>
          <a:solidFill>
            <a:srgbClr val="F7FAFC"/>
          </a:solidFill>
          <a:ln/>
          <a:effectLst>
            <a:outerShdw sx="100000" sy="100000" kx="0" ky="0" algn="bl" rotWithShape="0" blurRad="88900" dist="25400" dir="5400000">
              <a:srgbClr val="1C1C1C">
                <a:alpha val="16000"/>
              </a:srgbClr>
            </a:outerShdw>
          </a:effectLst>
        </p:spPr>
        <p:txBody>
          <a:bodyPr/>
          <a:p/>
        </p:txBody>
      </p:sp>
      <p:sp>
        <p:nvSpPr>
          <p:cNvPr id="15" name="Shape 13"/>
          <p:cNvSpPr/>
          <p:nvPr/>
        </p:nvSpPr>
        <p:spPr>
          <a:xfrm>
            <a:off x="8357616" y="2011680"/>
            <a:ext cx="566928" cy="566928"/>
          </a:xfrm>
          <a:prstGeom prst="ellipse">
            <a:avLst/>
          </a:prstGeom>
          <a:solidFill>
            <a:srgbClr val="C8791A"/>
          </a:solidFill>
          <a:ln/>
        </p:spPr>
        <p:txBody>
          <a:bodyPr/>
          <a:p/>
        </p:txBody>
      </p:sp>
      <p:sp>
        <p:nvSpPr>
          <p:cNvPr id="16" name="Text 14"/>
          <p:cNvSpPr/>
          <p:nvPr/>
        </p:nvSpPr>
        <p:spPr>
          <a:xfrm>
            <a:off x="8357616" y="201168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8357616" y="2697480"/>
            <a:ext cx="3044952" cy="411480"/>
          </a:xfrm>
          <a:prstGeom prst="rect">
            <a:avLst/>
          </a:prstGeom>
          <a:noFill/>
          <a:ln/>
        </p:spPr>
        <p:txBody>
          <a:bodyPr wrap="square" lIns="0" tIns="0" rIns="0" bIns="0" rtlCol="0" anchor="ctr"/>
          <a:lstStyle/>
          <a:p>
            <a:pPr indent="0" marL="0">
              <a:lnSpc>
                <a:spcPct val="110000"/>
              </a:lnSpc>
              <a:buNone/>
            </a:pPr>
            <a:r>
              <a:rPr lang="en-US" sz="1450" b="1" dirty="0">
                <a:solidFill>
                  <a:srgbClr val="21295C"/>
                </a:solidFill>
                <a:latin typeface="Cambria" pitchFamily="34" charset="0"/>
                <a:ea typeface="Cambria" pitchFamily="34" charset="-122"/>
                <a:cs typeface="Cambria" pitchFamily="34" charset="-120"/>
              </a:rPr>
              <a:t>CAWS — BUILT &amp; STRESS-TESTED</a:t>
            </a:r>
            <a:endParaRPr lang="en-US" sz="1450" dirty="0"/>
          </a:p>
        </p:txBody>
      </p:sp>
      <p:sp>
        <p:nvSpPr>
          <p:cNvPr id="18" name="Text 16"/>
          <p:cNvSpPr/>
          <p:nvPr/>
        </p:nvSpPr>
        <p:spPr>
          <a:xfrm>
            <a:off x="8357616" y="3154680"/>
            <a:ext cx="3044952" cy="1828800"/>
          </a:xfrm>
          <a:prstGeom prst="rect">
            <a:avLst/>
          </a:prstGeom>
          <a:noFill/>
          <a:ln/>
        </p:spPr>
        <p:txBody>
          <a:bodyPr wrap="square" lIns="0" tIns="0" rIns="0" bIns="0" rtlCol="0" anchor="t"/>
          <a:lstStyle/>
          <a:p>
            <a:pPr algn="l" marL="0" indent="0">
              <a:lnSpc>
                <a:spcPct val="110000"/>
              </a:lnSpc>
              <a:buNone/>
            </a:pPr>
            <a:r>
              <a:rPr lang="en-US" sz="1250" b="0" dirty="0">
                <a:solidFill>
                  <a:srgbClr val="56606B"/>
                </a:solidFill>
                <a:latin typeface="Calibri"/>
                <a:ea typeface="Calibri"/>
                <a:cs typeface="Calibri"/>
              </a:rPr>
              <a:t>Pays in exactly the calm years that depress revenue — 2021 would have paid 4.99% of strike. Tail statistics are descriptive on 4 and 10 annual observations.</a:t>
            </a:r>
          </a:p>
        </p:txBody>
      </p:sp>
      <p:sp>
        <p:nvSpPr>
          <p:cNvPr id="19" name="Text 17"/>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20" name="Text 18"/>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11</a:t>
            </a:r>
            <a:endParaRPr lang="en-US" sz="900" dirty="0"/>
          </a:p>
        </p:txBody>
      </p:sp>
      <p:sp>
        <p:nvSpPr>
          <p:cNvPr id="21" name="Rounded Rectangle 20"/>
          <p:cNvSpPr/>
          <p:nvPr/>
        </p:nvSpPr>
        <p:spPr>
          <a:xfrm>
            <a:off x="548640" y="5257800"/>
            <a:ext cx="11109960" cy="1005840"/>
          </a:xfrm>
          <a:prstGeom prst="roundRect">
            <a:avLst>
              <a:gd name="adj" fmla="val 3599"/>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5303520"/>
            <a:ext cx="10561320" cy="914400"/>
          </a:xfrm>
          <a:prstGeom prst="rect">
            <a:avLst/>
          </a:prstGeom>
          <a:noFill/>
        </p:spPr>
        <p:txBody>
          <a:bodyPr wrap="square" lIns="0" rIns="0" tIns="0" bIns="0" anchor="ctr">
            <a:spAutoFit/>
          </a:bodyPr>
          <a:lstStyle/>
          <a:p>
            <a:pPr algn="ctr" marL="0" indent="0">
              <a:lnSpc>
                <a:spcPct val="105000"/>
              </a:lnSpc>
              <a:buNone/>
            </a:pPr>
            <a:r>
              <a:rPr lang="en-US" sz="1600" b="0" i="1" dirty="0">
                <a:solidFill>
                  <a:srgbClr val="FFFFFF"/>
                </a:solidFill>
                <a:latin typeface="Cambria"/>
                <a:ea typeface="Cambria"/>
                <a:cs typeface="Cambria"/>
              </a:rPr>
              <a:t>“Data alignment is not a refinement to be added once the model works — it is a precondition for the model meaning anything.”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LOOKING AHEAD</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Limitations, stated — and the work they motivate</a:t>
            </a:r>
            <a:endParaRPr lang="en-US" sz="2700" dirty="0"/>
          </a:p>
        </p:txBody>
      </p:sp>
      <p:sp>
        <p:nvSpPr>
          <p:cNvPr id="4" name="Shape 2"/>
          <p:cNvSpPr/>
          <p:nvPr/>
        </p:nvSpPr>
        <p:spPr>
          <a:xfrm>
            <a:off x="548640" y="1828800"/>
            <a:ext cx="5394960" cy="4160520"/>
          </a:xfrm>
          <a:prstGeom prst="roundRect">
            <a:avLst>
              <a:gd name="adj" fmla="val 1978"/>
            </a:avLst>
          </a:prstGeom>
          <a:solidFill>
            <a:srgbClr val="F7FAFC"/>
          </a:solidFill>
          <a:ln/>
          <a:effectLst>
            <a:outerShdw sx="100000" sy="100000" kx="0" ky="0" algn="bl" rotWithShape="0" blurRad="88900" dist="25400" dir="5400000">
              <a:srgbClr val="1C1C1C">
                <a:alpha val="16000"/>
              </a:srgbClr>
            </a:outerShdw>
          </a:effectLst>
        </p:spPr>
        <p:txBody>
          <a:bodyPr/>
          <a:p/>
        </p:txBody>
      </p:sp>
      <p:sp>
        <p:nvSpPr>
          <p:cNvPr id="5" name="Text 3"/>
          <p:cNvSpPr/>
          <p:nvPr/>
        </p:nvSpPr>
        <p:spPr>
          <a:xfrm>
            <a:off x="868680" y="2057400"/>
            <a:ext cx="4754880" cy="320040"/>
          </a:xfrm>
          <a:prstGeom prst="rect">
            <a:avLst/>
          </a:prstGeom>
          <a:noFill/>
          <a:ln/>
        </p:spPr>
        <p:txBody>
          <a:bodyPr wrap="square" lIns="0" tIns="0" rIns="0" bIns="0" rtlCol="0" anchor="ctr"/>
          <a:lstStyle/>
          <a:p>
            <a:pPr indent="0" marL="0">
              <a:buNone/>
            </a:pPr>
            <a:r>
              <a:rPr lang="en-US" sz="1250" b="1" spc="120" kern="0" dirty="0">
                <a:solidFill>
                  <a:srgbClr val="1C7293"/>
                </a:solidFill>
                <a:latin typeface="Calibri" pitchFamily="34" charset="0"/>
                <a:ea typeface="Calibri" pitchFamily="34" charset="-122"/>
                <a:cs typeface="Calibri" pitchFamily="34" charset="-120"/>
              </a:rPr>
              <a:t>LIMITATIONS</a:t>
            </a:r>
            <a:endParaRPr lang="en-US" sz="1250" dirty="0"/>
          </a:p>
        </p:txBody>
      </p:sp>
      <p:sp>
        <p:nvSpPr>
          <p:cNvPr id="6" name="Text 4"/>
          <p:cNvSpPr/>
          <p:nvPr/>
        </p:nvSpPr>
        <p:spPr>
          <a:xfrm>
            <a:off x="868680" y="2450592"/>
            <a:ext cx="4754880" cy="3383280"/>
          </a:xfrm>
          <a:prstGeom prst="rect">
            <a:avLst/>
          </a:prstGeom>
          <a:noFill/>
          <a:ln/>
        </p:spPr>
        <p:txBody>
          <a:bodyPr wrap="square" lIns="0" tIns="0" rIns="0" bIns="0" rtlCol="0" anchor="t"/>
          <a:lstStyle/>
          <a:p>
            <a:pPr algn="l" marL="228600" indent="-228600">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θ = 0 is a benchmark in the absence of EEX option-implied data — not a claim the risk premium is zero.</a:t>
            </a:r>
          </a:p>
          <a:p>
            <a:pPr algn="l" marL="228600" indent="-228600">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Cross-dataset strikes sit on two Box–Cox scales and two pricing dates: the headline VoI is not scale-free.</a:t>
            </a:r>
          </a:p>
          <a:p>
            <a:pPr algn="l" marL="228600" indent="-228600">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One grid point vs a national fleet: spatial averaging caps R² and explains the 3–4× variance overstatement.</a:t>
            </a:r>
          </a:p>
          <a:p>
            <a:pPr algn="l" marL="228600" indent="-228600">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Daily data leave the SV parameters unidentified; Feller holds for B, estimator-dependent for A (backup).</a:t>
            </a:r>
          </a:p>
          <a:p>
            <a:pPr algn="l" marL="228600" indent="-228600">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4 and 10 annual CAWS observations: tail statistics are descriptive, not inferential.</a:t>
            </a:r>
          </a:p>
        </p:txBody>
      </p:sp>
      <p:sp>
        <p:nvSpPr>
          <p:cNvPr id="7" name="Shape 5"/>
          <p:cNvSpPr/>
          <p:nvPr/>
        </p:nvSpPr>
        <p:spPr>
          <a:xfrm>
            <a:off x="6263640" y="1828800"/>
            <a:ext cx="5394960" cy="4160520"/>
          </a:xfrm>
          <a:prstGeom prst="roundRect">
            <a:avLst>
              <a:gd name="adj" fmla="val 1978"/>
            </a:avLst>
          </a:prstGeom>
          <a:solidFill>
            <a:srgbClr val="EEF3F7"/>
          </a:solidFill>
          <a:ln/>
        </p:spPr>
        <p:txBody>
          <a:bodyPr/>
          <a:p/>
        </p:txBody>
      </p:sp>
      <p:sp>
        <p:nvSpPr>
          <p:cNvPr id="8" name="Text 6"/>
          <p:cNvSpPr/>
          <p:nvPr/>
        </p:nvSpPr>
        <p:spPr>
          <a:xfrm>
            <a:off x="6583680" y="2057400"/>
            <a:ext cx="4754880" cy="320040"/>
          </a:xfrm>
          <a:prstGeom prst="rect">
            <a:avLst/>
          </a:prstGeom>
          <a:noFill/>
          <a:ln/>
        </p:spPr>
        <p:txBody>
          <a:bodyPr wrap="square" lIns="0" tIns="0" rIns="0" bIns="0" rtlCol="0" anchor="ctr"/>
          <a:lstStyle/>
          <a:p>
            <a:pPr indent="0" marL="0">
              <a:buNone/>
            </a:pPr>
            <a:r>
              <a:rPr lang="en-US" sz="1250" b="1" spc="120" kern="0" dirty="0">
                <a:solidFill>
                  <a:srgbClr val="1C7293"/>
                </a:solidFill>
                <a:latin typeface="Calibri" pitchFamily="34" charset="0"/>
                <a:ea typeface="Calibri" pitchFamily="34" charset="-122"/>
                <a:cs typeface="Calibri" pitchFamily="34" charset="-120"/>
              </a:rPr>
              <a:t>FUTURE WORK</a:t>
            </a:r>
            <a:endParaRPr lang="en-US" sz="1250" dirty="0"/>
          </a:p>
        </p:txBody>
      </p:sp>
      <p:sp>
        <p:nvSpPr>
          <p:cNvPr id="9" name="Text 7"/>
          <p:cNvSpPr/>
          <p:nvPr/>
        </p:nvSpPr>
        <p:spPr>
          <a:xfrm>
            <a:off x="6583680" y="2450592"/>
            <a:ext cx="4754880" cy="3383280"/>
          </a:xfrm>
          <a:prstGeom prst="rect">
            <a:avLst/>
          </a:prstGeom>
          <a:noFill/>
          <a:ln/>
        </p:spPr>
        <p:txBody>
          <a:bodyPr wrap="square" lIns="0" tIns="0" rIns="0" bIns="0" rtlCol="0" anchor="t"/>
          <a:lstStyle/>
          <a:p>
            <a:pPr algn="l" marL="228600" indent="-228600">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Option-implied θ from EEX power options — needs a joint price–generation model; Carr–Lee as scaffolding.</a:t>
            </a:r>
          </a:p>
          <a:p>
            <a:pPr algn="l" marL="228600" indent="-228600">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Hourly ERA5 at the same coordinates (24 observations per day instead of one) to identify ξ separately from κᵥ.</a:t>
            </a:r>
          </a:p>
          <a:p>
            <a:pPr algn="l" marL="228600" indent="-228600">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A capacity-weighted, spatially aggregated wind input across the German fleet.</a:t>
            </a:r>
          </a:p>
          <a:p>
            <a:pPr algn="l" marL="228600" indent="-228600">
              <a:lnSpc>
                <a:spcPct val="105000"/>
              </a:lnSpc>
              <a:spcAft>
                <a:spcPts val="700"/>
              </a:spcAft>
              <a:buClr>
                <a:srgbClr val="1C7293"/>
              </a:buClr>
              <a:buFont typeface="Arial"/>
              <a:buChar char="•"/>
            </a:pPr>
            <a:r>
              <a:rPr lang="en-US" sz="1250" b="0" dirty="0">
                <a:solidFill>
                  <a:srgbClr val="56606B"/>
                </a:solidFill>
                <a:latin typeface="Calibri"/>
                <a:ea typeface="Calibri"/>
                <a:cs typeface="Calibri"/>
              </a:rPr>
              <a:t>Screen candidate wind series on power-curve R² before pricing — one OLS fit.</a:t>
            </a:r>
          </a:p>
        </p:txBody>
      </p:sp>
      <p:sp>
        <p:nvSpPr>
          <p:cNvPr id="10" name="Text 8"/>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1" name="Text 9"/>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79992" y="-2560320"/>
            <a:ext cx="5669280" cy="5669280"/>
          </a:xfrm>
          <a:prstGeom prst="ellipse">
            <a:avLst/>
          </a:prstGeom>
          <a:solidFill>
            <a:srgbClr val="1C7293">
              <a:alpha val="42000"/>
            </a:srgbClr>
          </a:solidFill>
          <a:ln/>
        </p:spPr>
        <p:txBody>
          <a:bodyPr/>
          <a:p/>
        </p:txBody>
      </p:sp>
      <p:sp>
        <p:nvSpPr>
          <p:cNvPr id="3" name="Shape 1"/>
          <p:cNvSpPr/>
          <p:nvPr/>
        </p:nvSpPr>
        <p:spPr>
          <a:xfrm>
            <a:off x="10634472" y="-640080"/>
            <a:ext cx="2743200" cy="2743200"/>
          </a:xfrm>
          <a:prstGeom prst="ellipse">
            <a:avLst/>
          </a:prstGeom>
          <a:solidFill>
            <a:srgbClr val="065A82">
              <a:alpha val="70000"/>
            </a:srgbClr>
          </a:solidFill>
          <a:ln/>
        </p:spPr>
        <p:txBody>
          <a:bodyPr/>
          <a:p/>
        </p:txBody>
      </p:sp>
      <p:sp>
        <p:nvSpPr>
          <p:cNvPr id="4" name="Text 2"/>
          <p:cNvSpPr/>
          <p:nvPr/>
        </p:nvSpPr>
        <p:spPr>
          <a:xfrm>
            <a:off x="822960" y="2651760"/>
            <a:ext cx="9144000" cy="640080"/>
          </a:xfrm>
          <a:prstGeom prst="rect">
            <a:avLst/>
          </a:prstGeom>
          <a:noFill/>
          <a:ln/>
        </p:spPr>
        <p:txBody>
          <a:bodyPr wrap="square" lIns="0" tIns="0" rIns="0" bIns="0" rtlCol="0" anchor="ctr"/>
          <a:lstStyle/>
          <a:p>
            <a:pPr indent="0" marL="0">
              <a:buNone/>
            </a:pPr>
            <a:r>
              <a:rPr lang="en-US" sz="1600" b="1" spc="300" kern="0" dirty="0">
                <a:solidFill>
                  <a:srgbClr val="E8A33D"/>
                </a:solidFill>
                <a:latin typeface="Calibri" pitchFamily="34" charset="0"/>
                <a:ea typeface="Calibri" pitchFamily="34" charset="-122"/>
                <a:cs typeface="Calibri" pitchFamily="34" charset="-120"/>
              </a:rPr>
              <a:t>THANK YOU</a:t>
            </a:r>
            <a:endParaRPr lang="en-US" sz="1600" dirty="0"/>
          </a:p>
        </p:txBody>
      </p:sp>
      <p:sp>
        <p:nvSpPr>
          <p:cNvPr id="5" name="Text 3"/>
          <p:cNvSpPr/>
          <p:nvPr/>
        </p:nvSpPr>
        <p:spPr>
          <a:xfrm>
            <a:off x="822960" y="3154680"/>
            <a:ext cx="960120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Questions and discussion</a:t>
            </a:r>
            <a:endParaRPr lang="en-US" sz="3600" dirty="0"/>
          </a:p>
        </p:txBody>
      </p:sp>
      <p:sp>
        <p:nvSpPr>
          <p:cNvPr id="6" name="Text 4"/>
          <p:cNvSpPr/>
          <p:nvPr/>
        </p:nvSpPr>
        <p:spPr>
          <a:xfrm>
            <a:off x="822960" y="4160520"/>
            <a:ext cx="9601200" cy="457200"/>
          </a:xfrm>
          <a:prstGeom prst="rect">
            <a:avLst/>
          </a:prstGeom>
          <a:noFill/>
          <a:ln/>
        </p:spPr>
        <p:txBody>
          <a:bodyPr wrap="square" lIns="0" tIns="0" rIns="0" bIns="0" rtlCol="0" anchor="ctr"/>
          <a:lstStyle/>
          <a:p>
            <a:pPr algn="l" marL="0" indent="0">
              <a:buNone/>
            </a:pPr>
            <a:r>
              <a:rPr lang="en-US" sz="1300" b="0" i="1" dirty="0">
                <a:solidFill>
                  <a:srgbClr val="EEF3F7"/>
                </a:solidFill>
                <a:latin typeface="Calibri"/>
                <a:ea typeface="Calibri"/>
                <a:cs typeface="Calibri"/>
              </a:rPr>
              <a:t>Enrico Butali · Wind Speed Modelling for Derivatives Pricing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292608"/>
          </a:xfrm>
          <a:prstGeom prst="rect">
            <a:avLst/>
          </a:prstGeom>
          <a:noFill/>
        </p:spPr>
        <p:txBody>
          <a:bodyPr wrap="square" lIns="0" rIns="0" tIns="0" bIns="0" anchor="ctr">
            <a:spAutoFit/>
          </a:bodyPr>
          <a:lstStyle/>
          <a:p>
            <a:pPr algn="l" marL="0" indent="0">
              <a:buNone/>
            </a:pPr>
            <a:r>
              <a:rPr lang="en-US" sz="1250" b="1" spc="200" kern="0" dirty="0">
                <a:solidFill>
                  <a:srgbClr val="1C7293"/>
                </a:solidFill>
                <a:latin typeface="Calibri"/>
                <a:ea typeface="Calibri"/>
                <a:cs typeface="Calibri"/>
              </a:rPr>
              <a:t>CH. 2 · METHODOLOGY AND PRICING INPUTS</a:t>
            </a:r>
          </a:p>
        </p:txBody>
      </p:sp>
      <p:sp>
        <p:nvSpPr>
          <p:cNvPr id="3" name="TextBox 2"/>
          <p:cNvSpPr txBox="1"/>
          <p:nvPr/>
        </p:nvSpPr>
        <p:spPr>
          <a:xfrm>
            <a:off x="548640" y="658368"/>
            <a:ext cx="11109960" cy="868680"/>
          </a:xfrm>
          <a:prstGeom prst="rect">
            <a:avLst/>
          </a:prstGeom>
          <a:noFill/>
        </p:spPr>
        <p:txBody>
          <a:bodyPr wrap="square" lIns="0" rIns="0" tIns="0" bIns="0" anchor="ctr">
            <a:spAutoFit/>
          </a:bodyPr>
          <a:lstStyle/>
          <a:p>
            <a:pPr algn="l" marL="0" indent="0">
              <a:buNone/>
            </a:pPr>
            <a:r>
              <a:rPr lang="en-US" sz="2700" b="1" dirty="0">
                <a:solidFill>
                  <a:srgbClr val="21295C"/>
                </a:solidFill>
                <a:latin typeface="Cambria"/>
                <a:ea typeface="Cambria"/>
                <a:cs typeface="Cambria"/>
              </a:rPr>
              <a:t>One pipeline, five stages — two numbers carry the price</a:t>
            </a:r>
          </a:p>
        </p:txBody>
      </p:sp>
      <p:sp>
        <p:nvSpPr>
          <p:cNvPr id="4" name="Oval 3"/>
          <p:cNvSpPr/>
          <p:nvPr/>
        </p:nvSpPr>
        <p:spPr>
          <a:xfrm>
            <a:off x="1330452" y="1691640"/>
            <a:ext cx="658368" cy="658368"/>
          </a:xfrm>
          <a:prstGeom prst="ellipse">
            <a:avLst/>
          </a:prstGeom>
          <a:solidFill>
            <a:srgbClr val="C8791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30452" y="1691640"/>
            <a:ext cx="658368" cy="658368"/>
          </a:xfrm>
          <a:prstGeom prst="rect">
            <a:avLst/>
          </a:prstGeom>
          <a:noFill/>
        </p:spPr>
        <p:txBody>
          <a:bodyPr wrap="square" lIns="0" rIns="0" tIns="0" bIns="0" anchor="ctr">
            <a:spAutoFit/>
          </a:bodyPr>
          <a:lstStyle/>
          <a:p>
            <a:pPr algn="ctr" marL="0" indent="0">
              <a:buNone/>
            </a:pPr>
            <a:r>
              <a:rPr lang="en-US" sz="1800" b="1" dirty="0">
                <a:solidFill>
                  <a:srgbClr val="FFFFFF"/>
                </a:solidFill>
                <a:latin typeface="Calibri"/>
                <a:ea typeface="Calibri"/>
                <a:cs typeface="Calibri"/>
              </a:rPr>
              <a:t>1</a:t>
            </a:r>
          </a:p>
        </p:txBody>
      </p:sp>
      <p:cxnSp>
        <p:nvCxnSpPr>
          <p:cNvPr id="6" name="Connector 5"/>
          <p:cNvCxnSpPr/>
          <p:nvPr/>
        </p:nvCxnSpPr>
        <p:spPr>
          <a:xfrm>
            <a:off x="2098548"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2423160"/>
            <a:ext cx="2221992" cy="310896"/>
          </a:xfrm>
          <a:prstGeom prst="rect">
            <a:avLst/>
          </a:prstGeom>
          <a:noFill/>
        </p:spPr>
        <p:txBody>
          <a:bodyPr wrap="square" lIns="0" rIns="0" tIns="0" bIns="0" anchor="t">
            <a:spAutoFit/>
          </a:bodyPr>
          <a:lstStyle/>
          <a:p>
            <a:pPr algn="ctr" marL="0" indent="0">
              <a:buNone/>
            </a:pPr>
            <a:r>
              <a:rPr lang="en-US" sz="1500" b="1" dirty="0">
                <a:solidFill>
                  <a:srgbClr val="21295C"/>
                </a:solidFill>
                <a:latin typeface="Cambria"/>
                <a:ea typeface="Cambria"/>
                <a:cs typeface="Cambria"/>
              </a:rPr>
              <a:t>Deseasonalise</a:t>
            </a:r>
          </a:p>
        </p:txBody>
      </p:sp>
      <p:sp>
        <p:nvSpPr>
          <p:cNvPr id="8" name="TextBox 7"/>
          <p:cNvSpPr txBox="1"/>
          <p:nvPr/>
        </p:nvSpPr>
        <p:spPr>
          <a:xfrm>
            <a:off x="548640" y="2724912"/>
            <a:ext cx="2221992" cy="256032"/>
          </a:xfrm>
          <a:prstGeom prst="rect">
            <a:avLst/>
          </a:prstGeom>
          <a:noFill/>
        </p:spPr>
        <p:txBody>
          <a:bodyPr wrap="square" lIns="0" rIns="0" tIns="0" bIns="0" anchor="t">
            <a:spAutoFit/>
          </a:bodyPr>
          <a:lstStyle/>
          <a:p>
            <a:pPr algn="ctr" marL="0" indent="0">
              <a:buNone/>
            </a:pPr>
            <a:r>
              <a:rPr lang="en-US" sz="1100" b="0" dirty="0">
                <a:solidFill>
                  <a:srgbClr val="56606B"/>
                </a:solidFill>
                <a:latin typeface="Calibri"/>
                <a:ea typeface="Calibri"/>
                <a:cs typeface="Calibri"/>
              </a:rPr>
              <a:t>Box–Cox + Fourier</a:t>
            </a:r>
          </a:p>
        </p:txBody>
      </p:sp>
      <p:sp>
        <p:nvSpPr>
          <p:cNvPr id="9" name="TextBox 8"/>
          <p:cNvSpPr txBox="1"/>
          <p:nvPr/>
        </p:nvSpPr>
        <p:spPr>
          <a:xfrm>
            <a:off x="548640" y="2980944"/>
            <a:ext cx="2221992" cy="256032"/>
          </a:xfrm>
          <a:prstGeom prst="rect">
            <a:avLst/>
          </a:prstGeom>
          <a:noFill/>
        </p:spPr>
        <p:txBody>
          <a:bodyPr wrap="square" lIns="0" rIns="0" tIns="0" bIns="0" anchor="t">
            <a:spAutoFit/>
          </a:bodyPr>
          <a:lstStyle/>
          <a:p>
            <a:pPr algn="ctr" marL="0" indent="0">
              <a:buNone/>
            </a:pPr>
            <a:r>
              <a:rPr lang="en-US" sz="1150" b="1" dirty="0">
                <a:solidFill>
                  <a:srgbClr val="C8791A"/>
                </a:solidFill>
                <a:latin typeface="Calibri"/>
                <a:ea typeface="Calibri"/>
                <a:cs typeface="Calibri"/>
              </a:rPr>
              <a:t>→ W̃(t), C₀</a:t>
            </a:r>
          </a:p>
        </p:txBody>
      </p:sp>
      <p:sp>
        <p:nvSpPr>
          <p:cNvPr id="10" name="Oval 9"/>
          <p:cNvSpPr/>
          <p:nvPr/>
        </p:nvSpPr>
        <p:spPr>
          <a:xfrm>
            <a:off x="3552444" y="1691640"/>
            <a:ext cx="658368" cy="65836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552444" y="1691640"/>
            <a:ext cx="658368" cy="658368"/>
          </a:xfrm>
          <a:prstGeom prst="rect">
            <a:avLst/>
          </a:prstGeom>
          <a:noFill/>
        </p:spPr>
        <p:txBody>
          <a:bodyPr wrap="square" lIns="0" rIns="0" tIns="0" bIns="0" anchor="ctr">
            <a:spAutoFit/>
          </a:bodyPr>
          <a:lstStyle/>
          <a:p>
            <a:pPr algn="ctr" marL="0" indent="0">
              <a:buNone/>
            </a:pPr>
            <a:r>
              <a:rPr lang="en-US" sz="1800" b="1" dirty="0">
                <a:solidFill>
                  <a:srgbClr val="FFFFFF"/>
                </a:solidFill>
                <a:latin typeface="Calibri"/>
                <a:ea typeface="Calibri"/>
                <a:cs typeface="Calibri"/>
              </a:rPr>
              <a:t>2</a:t>
            </a:r>
          </a:p>
        </p:txBody>
      </p:sp>
      <p:cxnSp>
        <p:nvCxnSpPr>
          <p:cNvPr id="12" name="Connector 11"/>
          <p:cNvCxnSpPr/>
          <p:nvPr/>
        </p:nvCxnSpPr>
        <p:spPr>
          <a:xfrm>
            <a:off x="4320540"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70632" y="2423160"/>
            <a:ext cx="2221992" cy="310896"/>
          </a:xfrm>
          <a:prstGeom prst="rect">
            <a:avLst/>
          </a:prstGeom>
          <a:noFill/>
        </p:spPr>
        <p:txBody>
          <a:bodyPr wrap="square" lIns="0" rIns="0" tIns="0" bIns="0" anchor="t">
            <a:spAutoFit/>
          </a:bodyPr>
          <a:lstStyle/>
          <a:p>
            <a:pPr algn="ctr" marL="0" indent="0">
              <a:buNone/>
            </a:pPr>
            <a:r>
              <a:rPr lang="en-US" sz="1500" b="1" dirty="0">
                <a:solidFill>
                  <a:srgbClr val="21295C"/>
                </a:solidFill>
                <a:latin typeface="Cambria"/>
                <a:ea typeface="Cambria"/>
                <a:cs typeface="Cambria"/>
              </a:rPr>
              <a:t>AR(4)</a:t>
            </a:r>
          </a:p>
        </p:txBody>
      </p:sp>
      <p:sp>
        <p:nvSpPr>
          <p:cNvPr id="14" name="TextBox 13"/>
          <p:cNvSpPr txBox="1"/>
          <p:nvPr/>
        </p:nvSpPr>
        <p:spPr>
          <a:xfrm>
            <a:off x="2770632" y="2724912"/>
            <a:ext cx="2221992" cy="256032"/>
          </a:xfrm>
          <a:prstGeom prst="rect">
            <a:avLst/>
          </a:prstGeom>
          <a:noFill/>
        </p:spPr>
        <p:txBody>
          <a:bodyPr wrap="square" lIns="0" rIns="0" tIns="0" bIns="0" anchor="t">
            <a:spAutoFit/>
          </a:bodyPr>
          <a:lstStyle/>
          <a:p>
            <a:pPr algn="ctr" marL="0" indent="0">
              <a:buNone/>
            </a:pPr>
            <a:r>
              <a:rPr lang="en-US" sz="1100" b="0" dirty="0">
                <a:solidFill>
                  <a:srgbClr val="56606B"/>
                </a:solidFill>
                <a:latin typeface="Calibri"/>
                <a:ea typeface="Calibri"/>
                <a:cs typeface="Calibri"/>
              </a:rPr>
              <a:t>conditional mean</a:t>
            </a:r>
          </a:p>
        </p:txBody>
      </p:sp>
      <p:sp>
        <p:nvSpPr>
          <p:cNvPr id="15" name="TextBox 14"/>
          <p:cNvSpPr txBox="1"/>
          <p:nvPr/>
        </p:nvSpPr>
        <p:spPr>
          <a:xfrm>
            <a:off x="2770632" y="2980944"/>
            <a:ext cx="2221992" cy="256032"/>
          </a:xfrm>
          <a:prstGeom prst="rect">
            <a:avLst/>
          </a:prstGeom>
          <a:noFill/>
        </p:spPr>
        <p:txBody>
          <a:bodyPr wrap="square" lIns="0" rIns="0" tIns="0" bIns="0" anchor="t">
            <a:spAutoFit/>
          </a:bodyPr>
          <a:lstStyle/>
          <a:p>
            <a:pPr algn="ctr" marL="0" indent="0">
              <a:buNone/>
            </a:pPr>
            <a:r>
              <a:rPr lang="en-US" sz="1150" b="1" dirty="0">
                <a:solidFill>
                  <a:srgbClr val="1C7293"/>
                </a:solidFill>
                <a:latin typeface="Calibri"/>
                <a:ea typeface="Calibri"/>
                <a:cs typeface="Calibri"/>
              </a:rPr>
              <a:t>→ β₁ … β₄</a:t>
            </a:r>
          </a:p>
        </p:txBody>
      </p:sp>
      <p:sp>
        <p:nvSpPr>
          <p:cNvPr id="16" name="Oval 15"/>
          <p:cNvSpPr/>
          <p:nvPr/>
        </p:nvSpPr>
        <p:spPr>
          <a:xfrm>
            <a:off x="5774436" y="1691640"/>
            <a:ext cx="658368" cy="658368"/>
          </a:xfrm>
          <a:prstGeom prst="ellipse">
            <a:avLst/>
          </a:prstGeom>
          <a:solidFill>
            <a:srgbClr val="C8791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774436" y="1691640"/>
            <a:ext cx="658368" cy="658368"/>
          </a:xfrm>
          <a:prstGeom prst="rect">
            <a:avLst/>
          </a:prstGeom>
          <a:noFill/>
        </p:spPr>
        <p:txBody>
          <a:bodyPr wrap="square" lIns="0" rIns="0" tIns="0" bIns="0" anchor="ctr">
            <a:spAutoFit/>
          </a:bodyPr>
          <a:lstStyle/>
          <a:p>
            <a:pPr algn="ctr" marL="0" indent="0">
              <a:buNone/>
            </a:pPr>
            <a:r>
              <a:rPr lang="en-US" sz="1800" b="1" dirty="0">
                <a:solidFill>
                  <a:srgbClr val="FFFFFF"/>
                </a:solidFill>
                <a:latin typeface="Calibri"/>
                <a:ea typeface="Calibri"/>
                <a:cs typeface="Calibri"/>
              </a:rPr>
              <a:t>3</a:t>
            </a:r>
          </a:p>
        </p:txBody>
      </p:sp>
      <p:cxnSp>
        <p:nvCxnSpPr>
          <p:cNvPr id="18" name="Connector 17"/>
          <p:cNvCxnSpPr/>
          <p:nvPr/>
        </p:nvCxnSpPr>
        <p:spPr>
          <a:xfrm>
            <a:off x="6542532"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992624" y="2423160"/>
            <a:ext cx="2221992" cy="310896"/>
          </a:xfrm>
          <a:prstGeom prst="rect">
            <a:avLst/>
          </a:prstGeom>
          <a:noFill/>
        </p:spPr>
        <p:txBody>
          <a:bodyPr wrap="square" lIns="0" rIns="0" tIns="0" bIns="0" anchor="t">
            <a:spAutoFit/>
          </a:bodyPr>
          <a:lstStyle/>
          <a:p>
            <a:pPr algn="ctr" marL="0" indent="0">
              <a:buNone/>
            </a:pPr>
            <a:r>
              <a:rPr lang="en-US" sz="1500" b="1" dirty="0">
                <a:solidFill>
                  <a:srgbClr val="21295C"/>
                </a:solidFill>
                <a:latin typeface="Cambria"/>
                <a:ea typeface="Cambria"/>
                <a:cs typeface="Cambria"/>
              </a:rPr>
              <a:t>GARCH(1,1)</a:t>
            </a:r>
          </a:p>
        </p:txBody>
      </p:sp>
      <p:sp>
        <p:nvSpPr>
          <p:cNvPr id="20" name="TextBox 19"/>
          <p:cNvSpPr txBox="1"/>
          <p:nvPr/>
        </p:nvSpPr>
        <p:spPr>
          <a:xfrm>
            <a:off x="4992624" y="2724912"/>
            <a:ext cx="2221992" cy="256032"/>
          </a:xfrm>
          <a:prstGeom prst="rect">
            <a:avLst/>
          </a:prstGeom>
          <a:noFill/>
        </p:spPr>
        <p:txBody>
          <a:bodyPr wrap="square" lIns="0" rIns="0" tIns="0" bIns="0" anchor="t">
            <a:spAutoFit/>
          </a:bodyPr>
          <a:lstStyle/>
          <a:p>
            <a:pPr algn="ctr" marL="0" indent="0">
              <a:buNone/>
            </a:pPr>
            <a:r>
              <a:rPr lang="en-US" sz="1100" b="0" dirty="0">
                <a:solidFill>
                  <a:srgbClr val="56606B"/>
                </a:solidFill>
                <a:latin typeface="Calibri"/>
                <a:ea typeface="Calibri"/>
                <a:cs typeface="Calibri"/>
              </a:rPr>
              <a:t>conditional variance</a:t>
            </a:r>
          </a:p>
        </p:txBody>
      </p:sp>
      <p:sp>
        <p:nvSpPr>
          <p:cNvPr id="21" name="TextBox 20"/>
          <p:cNvSpPr txBox="1"/>
          <p:nvPr/>
        </p:nvSpPr>
        <p:spPr>
          <a:xfrm>
            <a:off x="4992624" y="2980944"/>
            <a:ext cx="2221992" cy="256032"/>
          </a:xfrm>
          <a:prstGeom prst="rect">
            <a:avLst/>
          </a:prstGeom>
          <a:noFill/>
        </p:spPr>
        <p:txBody>
          <a:bodyPr wrap="square" lIns="0" rIns="0" tIns="0" bIns="0" anchor="t">
            <a:spAutoFit/>
          </a:bodyPr>
          <a:lstStyle/>
          <a:p>
            <a:pPr algn="ctr" marL="0" indent="0">
              <a:buNone/>
            </a:pPr>
            <a:r>
              <a:rPr lang="en-US" sz="1150" b="1" dirty="0">
                <a:solidFill>
                  <a:srgbClr val="C8791A"/>
                </a:solidFill>
                <a:latin typeface="Calibri"/>
                <a:ea typeface="Calibri"/>
                <a:cs typeface="Calibri"/>
              </a:rPr>
              <a:t>→ h(t₀)</a:t>
            </a:r>
          </a:p>
        </p:txBody>
      </p:sp>
      <p:sp>
        <p:nvSpPr>
          <p:cNvPr id="22" name="Oval 21"/>
          <p:cNvSpPr/>
          <p:nvPr/>
        </p:nvSpPr>
        <p:spPr>
          <a:xfrm>
            <a:off x="7996428" y="1691640"/>
            <a:ext cx="658368" cy="65836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996428" y="1691640"/>
            <a:ext cx="658368" cy="658368"/>
          </a:xfrm>
          <a:prstGeom prst="rect">
            <a:avLst/>
          </a:prstGeom>
          <a:noFill/>
        </p:spPr>
        <p:txBody>
          <a:bodyPr wrap="square" lIns="0" rIns="0" tIns="0" bIns="0" anchor="ctr">
            <a:spAutoFit/>
          </a:bodyPr>
          <a:lstStyle/>
          <a:p>
            <a:pPr algn="ctr" marL="0" indent="0">
              <a:buNone/>
            </a:pPr>
            <a:r>
              <a:rPr lang="en-US" sz="1800" b="1" dirty="0">
                <a:solidFill>
                  <a:srgbClr val="FFFFFF"/>
                </a:solidFill>
                <a:latin typeface="Calibri"/>
                <a:ea typeface="Calibri"/>
                <a:cs typeface="Calibri"/>
              </a:rPr>
              <a:t>4</a:t>
            </a:r>
          </a:p>
        </p:txBody>
      </p:sp>
      <p:cxnSp>
        <p:nvCxnSpPr>
          <p:cNvPr id="24" name="Connector 23"/>
          <p:cNvCxnSpPr/>
          <p:nvPr/>
        </p:nvCxnSpPr>
        <p:spPr>
          <a:xfrm>
            <a:off x="8764524"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214616" y="2423160"/>
            <a:ext cx="2221992" cy="310896"/>
          </a:xfrm>
          <a:prstGeom prst="rect">
            <a:avLst/>
          </a:prstGeom>
          <a:noFill/>
        </p:spPr>
        <p:txBody>
          <a:bodyPr wrap="square" lIns="0" rIns="0" tIns="0" bIns="0" anchor="t">
            <a:spAutoFit/>
          </a:bodyPr>
          <a:lstStyle/>
          <a:p>
            <a:pPr algn="ctr" marL="0" indent="0">
              <a:buNone/>
            </a:pPr>
            <a:r>
              <a:rPr lang="en-US" sz="1500" b="1" dirty="0">
                <a:solidFill>
                  <a:srgbClr val="21295C"/>
                </a:solidFill>
                <a:latin typeface="Cambria"/>
                <a:ea typeface="Cambria"/>
                <a:cs typeface="Cambria"/>
              </a:rPr>
              <a:t>CAR(4)</a:t>
            </a:r>
          </a:p>
        </p:txBody>
      </p:sp>
      <p:sp>
        <p:nvSpPr>
          <p:cNvPr id="26" name="TextBox 25"/>
          <p:cNvSpPr txBox="1"/>
          <p:nvPr/>
        </p:nvSpPr>
        <p:spPr>
          <a:xfrm>
            <a:off x="7214616" y="2724912"/>
            <a:ext cx="2221992" cy="256032"/>
          </a:xfrm>
          <a:prstGeom prst="rect">
            <a:avLst/>
          </a:prstGeom>
          <a:noFill/>
        </p:spPr>
        <p:txBody>
          <a:bodyPr wrap="square" lIns="0" rIns="0" tIns="0" bIns="0" anchor="t">
            <a:spAutoFit/>
          </a:bodyPr>
          <a:lstStyle/>
          <a:p>
            <a:pPr algn="ctr" marL="0" indent="0">
              <a:buNone/>
            </a:pPr>
            <a:r>
              <a:rPr lang="en-US" sz="1100" b="0" dirty="0">
                <a:solidFill>
                  <a:srgbClr val="56606B"/>
                </a:solidFill>
                <a:latin typeface="Calibri"/>
                <a:ea typeface="Calibri"/>
                <a:cs typeface="Calibri"/>
              </a:rPr>
              <a:t>continuous-time embedding</a:t>
            </a:r>
          </a:p>
        </p:txBody>
      </p:sp>
      <p:sp>
        <p:nvSpPr>
          <p:cNvPr id="27" name="TextBox 26"/>
          <p:cNvSpPr txBox="1"/>
          <p:nvPr/>
        </p:nvSpPr>
        <p:spPr>
          <a:xfrm>
            <a:off x="7214616" y="2980944"/>
            <a:ext cx="2221992" cy="256032"/>
          </a:xfrm>
          <a:prstGeom prst="rect">
            <a:avLst/>
          </a:prstGeom>
          <a:noFill/>
        </p:spPr>
        <p:txBody>
          <a:bodyPr wrap="square" lIns="0" rIns="0" tIns="0" bIns="0" anchor="t">
            <a:spAutoFit/>
          </a:bodyPr>
          <a:lstStyle/>
          <a:p>
            <a:pPr algn="ctr" marL="0" indent="0">
              <a:buNone/>
            </a:pPr>
            <a:r>
              <a:rPr lang="en-US" sz="1150" b="1" dirty="0">
                <a:solidFill>
                  <a:srgbClr val="1C7293"/>
                </a:solidFill>
                <a:latin typeface="Calibri"/>
                <a:ea typeface="Calibri"/>
                <a:cs typeface="Calibri"/>
              </a:rPr>
              <a:t>→ A, exp(Aτ)</a:t>
            </a:r>
          </a:p>
        </p:txBody>
      </p:sp>
      <p:sp>
        <p:nvSpPr>
          <p:cNvPr id="28" name="Oval 27"/>
          <p:cNvSpPr/>
          <p:nvPr/>
        </p:nvSpPr>
        <p:spPr>
          <a:xfrm>
            <a:off x="10218420" y="1691640"/>
            <a:ext cx="658368" cy="65836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218420" y="1691640"/>
            <a:ext cx="658368" cy="658368"/>
          </a:xfrm>
          <a:prstGeom prst="rect">
            <a:avLst/>
          </a:prstGeom>
          <a:noFill/>
        </p:spPr>
        <p:txBody>
          <a:bodyPr wrap="square" lIns="0" rIns="0" tIns="0" bIns="0" anchor="ctr">
            <a:spAutoFit/>
          </a:bodyPr>
          <a:lstStyle/>
          <a:p>
            <a:pPr algn="ctr" marL="0" indent="0">
              <a:buNone/>
            </a:pPr>
            <a:r>
              <a:rPr lang="en-US" sz="1800" b="1" dirty="0">
                <a:solidFill>
                  <a:srgbClr val="FFFFFF"/>
                </a:solidFill>
                <a:latin typeface="Calibri"/>
                <a:ea typeface="Calibri"/>
                <a:cs typeface="Calibri"/>
              </a:rPr>
              <a:t>5</a:t>
            </a:r>
          </a:p>
        </p:txBody>
      </p:sp>
      <p:sp>
        <p:nvSpPr>
          <p:cNvPr id="30" name="TextBox 29"/>
          <p:cNvSpPr txBox="1"/>
          <p:nvPr/>
        </p:nvSpPr>
        <p:spPr>
          <a:xfrm>
            <a:off x="9436608" y="2423160"/>
            <a:ext cx="2221992" cy="310896"/>
          </a:xfrm>
          <a:prstGeom prst="rect">
            <a:avLst/>
          </a:prstGeom>
          <a:noFill/>
        </p:spPr>
        <p:txBody>
          <a:bodyPr wrap="square" lIns="0" rIns="0" tIns="0" bIns="0" anchor="t">
            <a:spAutoFit/>
          </a:bodyPr>
          <a:lstStyle/>
          <a:p>
            <a:pPr algn="ctr" marL="0" indent="0">
              <a:buNone/>
            </a:pPr>
            <a:r>
              <a:rPr lang="en-US" sz="1500" b="1" dirty="0">
                <a:solidFill>
                  <a:srgbClr val="21295C"/>
                </a:solidFill>
                <a:latin typeface="Cambria"/>
                <a:ea typeface="Cambria"/>
                <a:cs typeface="Cambria"/>
              </a:rPr>
              <a:t>Stochastic vol.</a:t>
            </a:r>
          </a:p>
        </p:txBody>
      </p:sp>
      <p:sp>
        <p:nvSpPr>
          <p:cNvPr id="31" name="TextBox 30"/>
          <p:cNvSpPr txBox="1"/>
          <p:nvPr/>
        </p:nvSpPr>
        <p:spPr>
          <a:xfrm>
            <a:off x="9436608" y="2724912"/>
            <a:ext cx="2221992" cy="256032"/>
          </a:xfrm>
          <a:prstGeom prst="rect">
            <a:avLst/>
          </a:prstGeom>
          <a:noFill/>
        </p:spPr>
        <p:txBody>
          <a:bodyPr wrap="square" lIns="0" rIns="0" tIns="0" bIns="0" anchor="t">
            <a:spAutoFit/>
          </a:bodyPr>
          <a:lstStyle/>
          <a:p>
            <a:pPr algn="ctr" marL="0" indent="0">
              <a:buNone/>
            </a:pPr>
            <a:r>
              <a:rPr lang="en-US" sz="1100" b="0" dirty="0">
                <a:solidFill>
                  <a:srgbClr val="56606B"/>
                </a:solidFill>
                <a:latin typeface="Calibri"/>
                <a:ea typeface="Calibri"/>
                <a:cs typeface="Calibri"/>
              </a:rPr>
              <a:t>Heston / CIR, theoretical</a:t>
            </a:r>
          </a:p>
        </p:txBody>
      </p:sp>
      <p:sp>
        <p:nvSpPr>
          <p:cNvPr id="32" name="TextBox 31"/>
          <p:cNvSpPr txBox="1"/>
          <p:nvPr/>
        </p:nvSpPr>
        <p:spPr>
          <a:xfrm>
            <a:off x="9436608" y="2980944"/>
            <a:ext cx="2221992" cy="256032"/>
          </a:xfrm>
          <a:prstGeom prst="rect">
            <a:avLst/>
          </a:prstGeom>
          <a:noFill/>
        </p:spPr>
        <p:txBody>
          <a:bodyPr wrap="square" lIns="0" rIns="0" tIns="0" bIns="0" anchor="t">
            <a:spAutoFit/>
          </a:bodyPr>
          <a:lstStyle/>
          <a:p>
            <a:pPr algn="ctr" marL="0" indent="0">
              <a:buNone/>
            </a:pPr>
            <a:r>
              <a:rPr lang="en-US" sz="1150" b="1" dirty="0">
                <a:solidFill>
                  <a:srgbClr val="1C7293"/>
                </a:solidFill>
                <a:latin typeface="Calibri"/>
                <a:ea typeface="Calibri"/>
                <a:cs typeface="Calibri"/>
              </a:rPr>
              <a:t>→ Feller check</a:t>
            </a:r>
          </a:p>
        </p:txBody>
      </p:sp>
      <p:sp>
        <p:nvSpPr>
          <p:cNvPr id="33" name="Rounded Rectangle 32"/>
          <p:cNvSpPr/>
          <p:nvPr/>
        </p:nvSpPr>
        <p:spPr>
          <a:xfrm>
            <a:off x="548640" y="3474720"/>
            <a:ext cx="5349240" cy="1600200"/>
          </a:xfrm>
          <a:prstGeom prst="roundRect">
            <a:avLst>
              <a:gd name="adj" fmla="val 3599"/>
            </a:avLst>
          </a:prstGeom>
          <a:solidFill>
            <a:srgbClr val="F7FAFC"/>
          </a:solidFill>
          <a:ln>
            <a:noFill/>
          </a:ln>
          <a:effectLst>
            <a:outerShdw blurRad="88900" dist="25400" dir="5400000" algn="bl" rotWithShape="0">
              <a:srgbClr val="1C1C1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68680" y="3584448"/>
            <a:ext cx="1737360" cy="685800"/>
          </a:xfrm>
          <a:prstGeom prst="rect">
            <a:avLst/>
          </a:prstGeom>
          <a:noFill/>
        </p:spPr>
        <p:txBody>
          <a:bodyPr wrap="square" lIns="0" rIns="0" tIns="0" bIns="0" anchor="ctr">
            <a:spAutoFit/>
          </a:bodyPr>
          <a:lstStyle/>
          <a:p>
            <a:pPr algn="l" marL="0" indent="0">
              <a:buNone/>
            </a:pPr>
            <a:r>
              <a:rPr lang="en-US" sz="3400" b="1" dirty="0">
                <a:solidFill>
                  <a:srgbClr val="21295C"/>
                </a:solidFill>
                <a:latin typeface="Cambria"/>
                <a:ea typeface="Cambria"/>
                <a:cs typeface="Cambria"/>
              </a:rPr>
              <a:t>C₀</a:t>
            </a:r>
          </a:p>
        </p:txBody>
      </p:sp>
      <p:sp>
        <p:nvSpPr>
          <p:cNvPr id="35" name="TextBox 34"/>
          <p:cNvSpPr txBox="1"/>
          <p:nvPr/>
        </p:nvSpPr>
        <p:spPr>
          <a:xfrm>
            <a:off x="868680" y="4315968"/>
            <a:ext cx="4663440" cy="274320"/>
          </a:xfrm>
          <a:prstGeom prst="rect">
            <a:avLst/>
          </a:prstGeom>
          <a:noFill/>
        </p:spPr>
        <p:txBody>
          <a:bodyPr wrap="square" lIns="0" rIns="0" tIns="0" bIns="0" anchor="t">
            <a:spAutoFit/>
          </a:bodyPr>
          <a:lstStyle/>
          <a:p>
            <a:pPr algn="l" marL="0" indent="0">
              <a:buNone/>
            </a:pPr>
            <a:r>
              <a:rPr lang="en-US" sz="1150" b="0" i="1" dirty="0">
                <a:solidFill>
                  <a:srgbClr val="56606B"/>
                </a:solidFill>
                <a:latin typeface="Calibri"/>
                <a:ea typeface="Calibri"/>
                <a:cs typeface="Calibri"/>
              </a:rPr>
              <a:t>Fourier seasonal-variance mean  (stage 1)</a:t>
            </a:r>
          </a:p>
        </p:txBody>
      </p:sp>
      <p:sp>
        <p:nvSpPr>
          <p:cNvPr id="36" name="TextBox 35"/>
          <p:cNvSpPr txBox="1"/>
          <p:nvPr/>
        </p:nvSpPr>
        <p:spPr>
          <a:xfrm>
            <a:off x="868680" y="4617720"/>
            <a:ext cx="4663440" cy="320040"/>
          </a:xfrm>
          <a:prstGeom prst="rect">
            <a:avLst/>
          </a:prstGeom>
          <a:noFill/>
        </p:spPr>
        <p:txBody>
          <a:bodyPr wrap="square" lIns="0" rIns="0" tIns="0" bIns="0" anchor="t">
            <a:spAutoFit/>
          </a:bodyPr>
          <a:lstStyle/>
          <a:p>
            <a:pPr algn="l" marL="0" indent="0">
              <a:buNone/>
            </a:pPr>
            <a:r>
              <a:rPr lang="en-US" sz="1300" b="0" dirty="0">
                <a:solidFill>
                  <a:srgbClr val="56606B"/>
                </a:solidFill>
                <a:latin typeface="Calibri"/>
                <a:ea typeface="Calibri"/>
                <a:cs typeface="Calibri"/>
              </a:rPr>
              <a:t>Dataset A  </a:t>
            </a:r>
            <a:r>
              <a:rPr lang="en-US" sz="1400" b="1" dirty="0">
                <a:solidFill>
                  <a:srgbClr val="21295C"/>
                </a:solidFill>
                <a:latin typeface="Calibri"/>
                <a:ea typeface="Calibri"/>
                <a:cs typeface="Calibri"/>
              </a:rPr>
              <a:t>0.13138</a:t>
            </a:r>
            <a:r>
              <a:rPr lang="en-US" sz="1300" b="0" dirty="0">
                <a:solidFill>
                  <a:srgbClr val="56606B"/>
                </a:solidFill>
                <a:latin typeface="Calibri"/>
                <a:ea typeface="Calibri"/>
                <a:cs typeface="Calibri"/>
              </a:rPr>
              <a:t>      Dataset B  </a:t>
            </a:r>
            <a:r>
              <a:rPr lang="en-US" sz="1400" b="1" dirty="0">
                <a:solidFill>
                  <a:srgbClr val="21295C"/>
                </a:solidFill>
                <a:latin typeface="Calibri"/>
                <a:ea typeface="Calibri"/>
                <a:cs typeface="Calibri"/>
              </a:rPr>
              <a:t>1.16277</a:t>
            </a:r>
          </a:p>
        </p:txBody>
      </p:sp>
      <p:sp>
        <p:nvSpPr>
          <p:cNvPr id="37" name="Rounded Rectangle 36"/>
          <p:cNvSpPr/>
          <p:nvPr/>
        </p:nvSpPr>
        <p:spPr>
          <a:xfrm>
            <a:off x="4251959" y="3675887"/>
            <a:ext cx="1371600" cy="457200"/>
          </a:xfrm>
          <a:prstGeom prst="roundRect">
            <a:avLst>
              <a:gd name="adj" fmla="val 3599"/>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251959" y="3675887"/>
            <a:ext cx="1371600" cy="457200"/>
          </a:xfrm>
          <a:prstGeom prst="rect">
            <a:avLst/>
          </a:prstGeom>
          <a:noFill/>
        </p:spPr>
        <p:txBody>
          <a:bodyPr wrap="square" lIns="0" rIns="0" tIns="0" bIns="0" anchor="ctr">
            <a:spAutoFit/>
          </a:bodyPr>
          <a:lstStyle/>
          <a:p>
            <a:pPr algn="ctr" marL="0" indent="0">
              <a:buNone/>
            </a:pPr>
            <a:r>
              <a:rPr lang="en-US" sz="1250" b="1" dirty="0">
                <a:solidFill>
                  <a:srgbClr val="FFFFFF"/>
                </a:solidFill>
                <a:latin typeface="Calibri"/>
                <a:ea typeface="Calibri"/>
                <a:cs typeface="Calibri"/>
              </a:rPr>
              <a:t>8.85× gap</a:t>
            </a:r>
          </a:p>
        </p:txBody>
      </p:sp>
      <p:sp>
        <p:nvSpPr>
          <p:cNvPr id="39" name="Rounded Rectangle 38"/>
          <p:cNvSpPr/>
          <p:nvPr/>
        </p:nvSpPr>
        <p:spPr>
          <a:xfrm>
            <a:off x="6309360" y="3474720"/>
            <a:ext cx="5349240" cy="1600200"/>
          </a:xfrm>
          <a:prstGeom prst="roundRect">
            <a:avLst>
              <a:gd name="adj" fmla="val 3599"/>
            </a:avLst>
          </a:prstGeom>
          <a:solidFill>
            <a:srgbClr val="F7FAFC"/>
          </a:solidFill>
          <a:ln>
            <a:noFill/>
          </a:ln>
          <a:effectLst>
            <a:outerShdw blurRad="88900" dist="25400" dir="5400000" algn="bl" rotWithShape="0">
              <a:srgbClr val="1C1C1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629400" y="3584448"/>
            <a:ext cx="1737360" cy="685800"/>
          </a:xfrm>
          <a:prstGeom prst="rect">
            <a:avLst/>
          </a:prstGeom>
          <a:noFill/>
        </p:spPr>
        <p:txBody>
          <a:bodyPr wrap="square" lIns="0" rIns="0" tIns="0" bIns="0" anchor="ctr">
            <a:spAutoFit/>
          </a:bodyPr>
          <a:lstStyle/>
          <a:p>
            <a:pPr algn="l" marL="0" indent="0">
              <a:buNone/>
            </a:pPr>
            <a:r>
              <a:rPr lang="en-US" sz="3400" b="1" dirty="0">
                <a:solidFill>
                  <a:srgbClr val="21295C"/>
                </a:solidFill>
                <a:latin typeface="Cambria"/>
                <a:ea typeface="Cambria"/>
                <a:cs typeface="Cambria"/>
              </a:rPr>
              <a:t>h(t₀)</a:t>
            </a:r>
          </a:p>
        </p:txBody>
      </p:sp>
      <p:sp>
        <p:nvSpPr>
          <p:cNvPr id="41" name="TextBox 40"/>
          <p:cNvSpPr txBox="1"/>
          <p:nvPr/>
        </p:nvSpPr>
        <p:spPr>
          <a:xfrm>
            <a:off x="6629400" y="4315968"/>
            <a:ext cx="4663440" cy="274320"/>
          </a:xfrm>
          <a:prstGeom prst="rect">
            <a:avLst/>
          </a:prstGeom>
          <a:noFill/>
        </p:spPr>
        <p:txBody>
          <a:bodyPr wrap="square" lIns="0" rIns="0" tIns="0" bIns="0" anchor="t">
            <a:spAutoFit/>
          </a:bodyPr>
          <a:lstStyle/>
          <a:p>
            <a:pPr algn="l" marL="0" indent="0">
              <a:buNone/>
            </a:pPr>
            <a:r>
              <a:rPr lang="en-US" sz="1150" b="0" i="1" dirty="0">
                <a:solidFill>
                  <a:srgbClr val="56606B"/>
                </a:solidFill>
                <a:latin typeface="Calibri"/>
                <a:ea typeface="Calibri"/>
                <a:cs typeface="Calibri"/>
              </a:rPr>
              <a:t>GARCH conditional-variance state  (stage 3)</a:t>
            </a:r>
          </a:p>
        </p:txBody>
      </p:sp>
      <p:sp>
        <p:nvSpPr>
          <p:cNvPr id="42" name="TextBox 41"/>
          <p:cNvSpPr txBox="1"/>
          <p:nvPr/>
        </p:nvSpPr>
        <p:spPr>
          <a:xfrm>
            <a:off x="6629400" y="4617720"/>
            <a:ext cx="4663440" cy="320040"/>
          </a:xfrm>
          <a:prstGeom prst="rect">
            <a:avLst/>
          </a:prstGeom>
          <a:noFill/>
        </p:spPr>
        <p:txBody>
          <a:bodyPr wrap="square" lIns="0" rIns="0" tIns="0" bIns="0" anchor="t">
            <a:spAutoFit/>
          </a:bodyPr>
          <a:lstStyle/>
          <a:p>
            <a:pPr algn="l" marL="0" indent="0">
              <a:buNone/>
            </a:pPr>
            <a:r>
              <a:rPr lang="en-US" sz="1300" b="0" dirty="0">
                <a:solidFill>
                  <a:srgbClr val="56606B"/>
                </a:solidFill>
                <a:latin typeface="Calibri"/>
                <a:ea typeface="Calibri"/>
                <a:cs typeface="Calibri"/>
              </a:rPr>
              <a:t>Dataset A  </a:t>
            </a:r>
            <a:r>
              <a:rPr lang="en-US" sz="1400" b="1" dirty="0">
                <a:solidFill>
                  <a:srgbClr val="21295C"/>
                </a:solidFill>
                <a:latin typeface="Calibri"/>
                <a:ea typeface="Calibri"/>
                <a:cs typeface="Calibri"/>
              </a:rPr>
              <a:t>0.4137</a:t>
            </a:r>
            <a:r>
              <a:rPr lang="en-US" sz="1300" b="0" dirty="0">
                <a:solidFill>
                  <a:srgbClr val="56606B"/>
                </a:solidFill>
                <a:latin typeface="Calibri"/>
                <a:ea typeface="Calibri"/>
                <a:cs typeface="Calibri"/>
              </a:rPr>
              <a:t>      Dataset B  </a:t>
            </a:r>
            <a:r>
              <a:rPr lang="en-US" sz="1400" b="1" dirty="0">
                <a:solidFill>
                  <a:srgbClr val="21295C"/>
                </a:solidFill>
                <a:latin typeface="Calibri"/>
                <a:ea typeface="Calibri"/>
                <a:cs typeface="Calibri"/>
              </a:rPr>
              <a:t>0.7511</a:t>
            </a:r>
          </a:p>
        </p:txBody>
      </p:sp>
      <p:sp>
        <p:nvSpPr>
          <p:cNvPr id="43" name="Rounded Rectangle 42"/>
          <p:cNvSpPr/>
          <p:nvPr/>
        </p:nvSpPr>
        <p:spPr>
          <a:xfrm>
            <a:off x="10012680" y="3675887"/>
            <a:ext cx="1371600" cy="457200"/>
          </a:xfrm>
          <a:prstGeom prst="roundRect">
            <a:avLst>
              <a:gd name="adj" fmla="val 3599"/>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12680" y="3675887"/>
            <a:ext cx="1371600" cy="457200"/>
          </a:xfrm>
          <a:prstGeom prst="rect">
            <a:avLst/>
          </a:prstGeom>
          <a:noFill/>
        </p:spPr>
        <p:txBody>
          <a:bodyPr wrap="square" lIns="0" rIns="0" tIns="0" bIns="0" anchor="ctr">
            <a:spAutoFit/>
          </a:bodyPr>
          <a:lstStyle/>
          <a:p>
            <a:pPr algn="ctr" marL="0" indent="0">
              <a:buNone/>
            </a:pPr>
            <a:r>
              <a:rPr lang="en-US" sz="1250" b="1" dirty="0">
                <a:solidFill>
                  <a:srgbClr val="FFFFFF"/>
                </a:solidFill>
                <a:latin typeface="Calibri"/>
                <a:ea typeface="Calibri"/>
                <a:cs typeface="Calibri"/>
              </a:rPr>
              <a:t>1.82× gap</a:t>
            </a:r>
          </a:p>
        </p:txBody>
      </p:sp>
      <p:sp>
        <p:nvSpPr>
          <p:cNvPr id="45" name="Rounded Rectangle 44"/>
          <p:cNvSpPr/>
          <p:nvPr/>
        </p:nvSpPr>
        <p:spPr>
          <a:xfrm>
            <a:off x="548640" y="5257800"/>
            <a:ext cx="11109960" cy="1005840"/>
          </a:xfrm>
          <a:prstGeom prst="roundRect">
            <a:avLst>
              <a:gd name="adj" fmla="val 3599"/>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22960" y="5349240"/>
            <a:ext cx="10607040" cy="411480"/>
          </a:xfrm>
          <a:prstGeom prst="rect">
            <a:avLst/>
          </a:prstGeom>
          <a:noFill/>
        </p:spPr>
        <p:txBody>
          <a:bodyPr wrap="square" lIns="0" rIns="0" tIns="0" bIns="0" anchor="ctr">
            <a:spAutoFit/>
          </a:bodyPr>
          <a:lstStyle/>
          <a:p>
            <a:pPr algn="l" marL="0" indent="0">
              <a:buNone/>
            </a:pPr>
            <a:r>
              <a:rPr lang="en-US" sz="1700" b="1" dirty="0">
                <a:solidFill>
                  <a:srgbClr val="FFFFFF"/>
                </a:solidFill>
                <a:latin typeface="Cambria"/>
                <a:ea typeface="Cambria"/>
                <a:cs typeface="Cambria"/>
              </a:rPr>
              <a:t>Fair strike  K</a:t>
            </a:r>
            <a:r>
              <a:rPr lang="en-US" sz="1700" b="1" baseline="-25000" dirty="0">
                <a:solidFill>
                  <a:srgbClr val="FFFFFF"/>
                </a:solidFill>
                <a:latin typeface="Cambria"/>
                <a:ea typeface="Cambria"/>
                <a:cs typeface="Cambria"/>
              </a:rPr>
              <a:t>var</a:t>
            </a:r>
            <a:r>
              <a:rPr lang="en-US" sz="1700" b="1" dirty="0">
                <a:solidFill>
                  <a:srgbClr val="FFFFFF"/>
                </a:solidFill>
                <a:latin typeface="Cambria"/>
                <a:ea typeface="Cambria"/>
                <a:cs typeface="Cambria"/>
              </a:rPr>
              <a:t>  =  h(t₀) × C₀</a:t>
            </a:r>
            <a:r>
              <a:rPr lang="en-US" sz="1250" b="0" i="1" dirty="0">
                <a:solidFill>
                  <a:srgbClr val="CADCFC"/>
                </a:solidFill>
                <a:latin typeface="Calibri"/>
                <a:ea typeface="Calibri"/>
                <a:cs typeface="Calibri"/>
              </a:rPr>
              <a:t>     piecewise-constant h (Tol 1997), θ = 0 benchmark</a:t>
            </a:r>
          </a:p>
        </p:txBody>
      </p:sp>
      <p:sp>
        <p:nvSpPr>
          <p:cNvPr id="47" name="TextBox 46"/>
          <p:cNvSpPr txBox="1"/>
          <p:nvPr/>
        </p:nvSpPr>
        <p:spPr>
          <a:xfrm>
            <a:off x="822960" y="5779008"/>
            <a:ext cx="10607040" cy="384048"/>
          </a:xfrm>
          <a:prstGeom prst="rect">
            <a:avLst/>
          </a:prstGeom>
          <a:noFill/>
        </p:spPr>
        <p:txBody>
          <a:bodyPr wrap="square" lIns="0" rIns="0" tIns="0" bIns="0" anchor="ctr">
            <a:spAutoFit/>
          </a:bodyPr>
          <a:lstStyle/>
          <a:p>
            <a:pPr algn="l" marL="0" indent="0">
              <a:buNone/>
            </a:pPr>
            <a:r>
              <a:rPr lang="en-US" sz="1600" b="1" dirty="0">
                <a:solidFill>
                  <a:srgbClr val="E8A33D"/>
                </a:solidFill>
                <a:latin typeface="Calibri"/>
                <a:ea typeface="Calibri"/>
                <a:cs typeface="Calibri"/>
              </a:rPr>
              <a:t>0.05435 (Dataset A)</a:t>
            </a:r>
            <a:r>
              <a:rPr lang="en-US" sz="1400" b="0" dirty="0">
                <a:solidFill>
                  <a:srgbClr val="CADCFC"/>
                </a:solidFill>
                <a:latin typeface="Calibri"/>
                <a:ea typeface="Calibri"/>
                <a:cs typeface="Calibri"/>
              </a:rPr>
              <a:t>        vs        </a:t>
            </a:r>
            <a:r>
              <a:rPr lang="en-US" sz="1600" b="1" dirty="0">
                <a:solidFill>
                  <a:srgbClr val="E8A33D"/>
                </a:solidFill>
                <a:latin typeface="Calibri"/>
                <a:ea typeface="Calibri"/>
                <a:cs typeface="Calibri"/>
              </a:rPr>
              <a:t>0.87336 (Dataset B)</a:t>
            </a:r>
          </a:p>
        </p:txBody>
      </p:sp>
      <p:sp>
        <p:nvSpPr>
          <p:cNvPr id="48" name="TextBox 47"/>
          <p:cNvSpPr txBox="1"/>
          <p:nvPr/>
        </p:nvSpPr>
        <p:spPr>
          <a:xfrm>
            <a:off x="548640" y="6510528"/>
            <a:ext cx="8229600" cy="256032"/>
          </a:xfrm>
          <a:prstGeom prst="rect">
            <a:avLst/>
          </a:prstGeom>
          <a:noFill/>
        </p:spPr>
        <p:txBody>
          <a:bodyPr wrap="square" lIns="0" rIns="0" tIns="0" bIns="0" anchor="ctr">
            <a:spAutoFit/>
          </a:bodyPr>
          <a:lstStyle/>
          <a:p>
            <a:pPr algn="l" marL="0" indent="0">
              <a:buNone/>
            </a:pPr>
            <a:r>
              <a:rPr lang="en-US" sz="900" b="0" i="1" dirty="0">
                <a:solidFill>
                  <a:srgbClr val="56606B"/>
                </a:solidFill>
                <a:latin typeface="Calibri"/>
                <a:ea typeface="Calibri"/>
                <a:cs typeface="Calibri"/>
              </a:rPr>
              <a:t>Wind Speed Modelling for Derivatives Pricing — Final Defence</a:t>
            </a:r>
          </a:p>
        </p:txBody>
      </p:sp>
      <p:sp>
        <p:nvSpPr>
          <p:cNvPr id="49" name="TextBox 48"/>
          <p:cNvSpPr txBox="1"/>
          <p:nvPr/>
        </p:nvSpPr>
        <p:spPr>
          <a:xfrm>
            <a:off x="11365992" y="6510528"/>
            <a:ext cx="365760" cy="256032"/>
          </a:xfrm>
          <a:prstGeom prst="rect">
            <a:avLst/>
          </a:prstGeom>
          <a:noFill/>
        </p:spPr>
        <p:txBody>
          <a:bodyPr wrap="square" lIns="0" rIns="0" tIns="0" bIns="0" anchor="ctr">
            <a:spAutoFit/>
          </a:bodyPr>
          <a:lstStyle/>
          <a:p>
            <a:pPr algn="r" marL="0" indent="0">
              <a:buNone/>
            </a:pPr>
            <a:r>
              <a:rPr lang="en-US" sz="900" b="0" dirty="0">
                <a:solidFill>
                  <a:srgbClr val="56606B"/>
                </a:solidFill>
                <a:latin typeface="Calibri"/>
                <a:ea typeface="Calibri"/>
                <a:cs typeface="Calibri"/>
              </a:rPr>
              <a:t>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292608"/>
          </a:xfrm>
          <a:prstGeom prst="rect">
            <a:avLst/>
          </a:prstGeom>
          <a:noFill/>
        </p:spPr>
        <p:txBody>
          <a:bodyPr wrap="square" lIns="0" rIns="0" tIns="0" bIns="0" anchor="ctr">
            <a:spAutoFit/>
          </a:bodyPr>
          <a:lstStyle/>
          <a:p>
            <a:pPr algn="l" marL="0" indent="0">
              <a:buNone/>
            </a:pPr>
            <a:r>
              <a:rPr lang="en-US" sz="1250" b="1" spc="200" kern="0" dirty="0">
                <a:solidFill>
                  <a:srgbClr val="1C7293"/>
                </a:solidFill>
                <a:latin typeface="Calibri"/>
                <a:ea typeface="Calibri"/>
                <a:cs typeface="Calibri"/>
              </a:rPr>
              <a:t>CH. 3 · §3.1.6 — THE REAL VALUE OF INFORMATION</a:t>
            </a:r>
          </a:p>
        </p:txBody>
      </p:sp>
      <p:sp>
        <p:nvSpPr>
          <p:cNvPr id="3" name="TextBox 2"/>
          <p:cNvSpPr txBox="1"/>
          <p:nvPr/>
        </p:nvSpPr>
        <p:spPr>
          <a:xfrm>
            <a:off x="548640" y="658368"/>
            <a:ext cx="11109960" cy="868680"/>
          </a:xfrm>
          <a:prstGeom prst="rect">
            <a:avLst/>
          </a:prstGeom>
          <a:noFill/>
        </p:spPr>
        <p:txBody>
          <a:bodyPr wrap="square" lIns="0" rIns="0" tIns="0" bIns="0" anchor="ctr">
            <a:spAutoFit/>
          </a:bodyPr>
          <a:lstStyle/>
          <a:p>
            <a:pPr algn="l" marL="0" indent="0">
              <a:buNone/>
            </a:pPr>
            <a:r>
              <a:rPr lang="en-US" sz="2700" b="1" dirty="0">
                <a:solidFill>
                  <a:srgbClr val="21295C"/>
                </a:solidFill>
                <a:latin typeface="Cambria"/>
                <a:ea typeface="Cambria"/>
                <a:cs typeface="Cambria"/>
              </a:rPr>
              <a:t>The proxy carries no information about what it would hedge</a:t>
            </a:r>
          </a:p>
        </p:txBody>
      </p:sp>
      <p:graphicFrame>
        <p:nvGraphicFramePr>
          <p:cNvPr id="4" name="Table 3"/>
          <p:cNvGraphicFramePr>
            <a:graphicFrameLocks noGrp="1"/>
          </p:cNvGraphicFramePr>
          <p:nvPr/>
        </p:nvGraphicFramePr>
        <p:xfrm>
          <a:off x="548640" y="1783080"/>
          <a:ext cx="5715000" cy="2194560"/>
        </p:xfrm>
        <a:graphic>
          <a:graphicData uri="http://schemas.openxmlformats.org/drawingml/2006/table">
            <a:tbl>
              <a:tblPr/>
              <a:tblGrid>
                <a:gridCol w="2331720"/>
                <a:gridCol w="1691640"/>
                <a:gridCol w="1691640"/>
              </a:tblGrid>
              <a:tr h="365760">
                <a:tc>
                  <a:txBody>
                    <a:bodyPr/>
                    <a:lstStyle/>
                    <a:p>
                      <a:pPr algn="l" marL="0" indent="0">
                        <a:buNone/>
                      </a:pPr>
                      <a:r>
                        <a:rPr lang="en-US" sz="1200" b="1" dirty="0">
                          <a:solidFill>
                            <a:srgbClr val="FFFFFF"/>
                          </a:solidFill>
                          <a:latin typeface="Calibri"/>
                          <a:ea typeface="Calibri"/>
                          <a:cs typeface="Calibri"/>
                        </a:rPr>
                        <a:t>SMARD Gₜ = c·Wₜ³ + b</a:t>
                      </a:r>
                    </a:p>
                  </a:txBody>
                  <a:tcPr marL="91440" marR="91440" marT="36576" marB="36576" anchor="ctr">
                    <a:lnL w="0">
                      <a:noFill/>
                    </a:lnL>
                    <a:lnR w="0">
                      <a:noFill/>
                    </a:lnR>
                    <a:lnT w="0">
                      <a:noFill/>
                    </a:lnT>
                    <a:lnB w="0">
                      <a:noFill/>
                    </a:lnB>
                    <a:solidFill>
                      <a:srgbClr val="21295C"/>
                    </a:solidFill>
                  </a:tcPr>
                </a:tc>
                <a:tc>
                  <a:txBody>
                    <a:bodyPr/>
                    <a:lstStyle/>
                    <a:p>
                      <a:pPr algn="ctr" marL="0" indent="0">
                        <a:buNone/>
                      </a:pPr>
                      <a:r>
                        <a:rPr lang="en-US" sz="1200" b="1" dirty="0">
                          <a:solidFill>
                            <a:srgbClr val="FFFFFF"/>
                          </a:solidFill>
                          <a:latin typeface="Calibri"/>
                          <a:ea typeface="Calibri"/>
                          <a:cs typeface="Calibri"/>
                        </a:rPr>
                        <a:t>A — Bologna 10 m</a:t>
                      </a:r>
                    </a:p>
                  </a:txBody>
                  <a:tcPr marL="91440" marR="91440" marT="36576" marB="36576" anchor="ctr">
                    <a:lnL w="0">
                      <a:noFill/>
                    </a:lnL>
                    <a:lnR w="0">
                      <a:noFill/>
                    </a:lnR>
                    <a:lnT w="0">
                      <a:noFill/>
                    </a:lnT>
                    <a:lnB w="0">
                      <a:noFill/>
                    </a:lnB>
                    <a:solidFill>
                      <a:srgbClr val="21295C"/>
                    </a:solidFill>
                  </a:tcPr>
                </a:tc>
                <a:tc>
                  <a:txBody>
                    <a:bodyPr/>
                    <a:lstStyle/>
                    <a:p>
                      <a:pPr algn="ctr" marL="0" indent="0">
                        <a:buNone/>
                      </a:pPr>
                      <a:r>
                        <a:rPr lang="en-US" sz="1200" b="1" dirty="0">
                          <a:solidFill>
                            <a:srgbClr val="FFFFFF"/>
                          </a:solidFill>
                          <a:latin typeface="Calibri"/>
                          <a:ea typeface="Calibri"/>
                          <a:cs typeface="Calibri"/>
                        </a:rPr>
                        <a:t>B — Nordfr. 100 m</a:t>
                      </a:r>
                    </a:p>
                  </a:txBody>
                  <a:tcPr marL="91440" marR="91440" marT="36576" marB="36576" anchor="ctr">
                    <a:lnL w="0">
                      <a:noFill/>
                    </a:lnL>
                    <a:lnR w="0">
                      <a:noFill/>
                    </a:lnR>
                    <a:lnT w="0">
                      <a:noFill/>
                    </a:lnT>
                    <a:lnB w="0">
                      <a:noFill/>
                    </a:lnB>
                    <a:solidFill>
                      <a:srgbClr val="21295C"/>
                    </a:solidFill>
                  </a:tcPr>
                </a:tc>
              </a:tr>
              <a:tr h="365760">
                <a:tc>
                  <a:txBody>
                    <a:bodyPr/>
                    <a:lstStyle/>
                    <a:p>
                      <a:pPr algn="l" marL="0" indent="0">
                        <a:buNone/>
                      </a:pPr>
                      <a:r>
                        <a:rPr lang="en-US" sz="1200" b="1" dirty="0">
                          <a:solidFill>
                            <a:srgbClr val="21295C"/>
                          </a:solidFill>
                          <a:latin typeface="Calibri"/>
                          <a:ea typeface="Calibri"/>
                          <a:cs typeface="Calibri"/>
                        </a:rPr>
                        <a:t>Overlap window</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2015–2018</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2015–2024</a:t>
                      </a:r>
                    </a:p>
                  </a:txBody>
                  <a:tcPr marL="91440" marR="91440" marT="36576" marB="36576" anchor="ctr">
                    <a:lnL w="0">
                      <a:noFill/>
                    </a:lnL>
                    <a:lnR w="0">
                      <a:noFill/>
                    </a:lnR>
                    <a:lnT w="0">
                      <a:noFill/>
                    </a:lnT>
                    <a:lnB w="0">
                      <a:noFill/>
                    </a:lnB>
                    <a:solidFill>
                      <a:srgbClr val="FFFFFF"/>
                    </a:solidFill>
                  </a:tcPr>
                </a:tc>
              </a:tr>
              <a:tr h="365760">
                <a:tc>
                  <a:txBody>
                    <a:bodyPr/>
                    <a:lstStyle/>
                    <a:p>
                      <a:pPr algn="l" marL="0" indent="0">
                        <a:buNone/>
                      </a:pPr>
                      <a:r>
                        <a:rPr lang="en-US" sz="1200" b="1" dirty="0">
                          <a:solidFill>
                            <a:srgbClr val="21295C"/>
                          </a:solidFill>
                          <a:latin typeface="Calibri"/>
                          <a:ea typeface="Calibri"/>
                          <a:cs typeface="Calibri"/>
                        </a:rPr>
                        <a:t>Paired daily obs.</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00" b="0" dirty="0">
                          <a:solidFill>
                            <a:srgbClr val="56606B"/>
                          </a:solidFill>
                          <a:latin typeface="Calibri"/>
                          <a:ea typeface="Calibri"/>
                          <a:cs typeface="Calibri"/>
                        </a:rPr>
                        <a:t>1,461</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00" b="0" dirty="0">
                          <a:solidFill>
                            <a:srgbClr val="56606B"/>
                          </a:solidFill>
                          <a:latin typeface="Calibri"/>
                          <a:ea typeface="Calibri"/>
                          <a:cs typeface="Calibri"/>
                        </a:rPr>
                        <a:t>3,649</a:t>
                      </a:r>
                    </a:p>
                  </a:txBody>
                  <a:tcPr marL="91440" marR="91440" marT="36576" marB="36576" anchor="ctr">
                    <a:lnL w="0">
                      <a:noFill/>
                    </a:lnL>
                    <a:lnR w="0">
                      <a:noFill/>
                    </a:lnR>
                    <a:lnT w="0">
                      <a:noFill/>
                    </a:lnT>
                    <a:lnB w="0">
                      <a:noFill/>
                    </a:lnB>
                    <a:solidFill>
                      <a:srgbClr val="EEF3F7"/>
                    </a:solidFill>
                  </a:tcPr>
                </a:tc>
              </a:tr>
              <a:tr h="365760">
                <a:tc>
                  <a:txBody>
                    <a:bodyPr/>
                    <a:lstStyle/>
                    <a:p>
                      <a:pPr algn="l" marL="0" indent="0">
                        <a:buNone/>
                      </a:pPr>
                      <a:r>
                        <a:rPr lang="en-US" sz="1200" b="1" dirty="0">
                          <a:solidFill>
                            <a:srgbClr val="21295C"/>
                          </a:solidFill>
                          <a:latin typeface="Calibri"/>
                          <a:ea typeface="Calibri"/>
                          <a:cs typeface="Calibri"/>
                        </a:rPr>
                        <a:t>Slope c</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36.43</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155.12</a:t>
                      </a:r>
                    </a:p>
                  </a:txBody>
                  <a:tcPr marL="91440" marR="91440" marT="36576" marB="36576" anchor="ctr">
                    <a:lnL w="0">
                      <a:noFill/>
                    </a:lnL>
                    <a:lnR w="0">
                      <a:noFill/>
                    </a:lnR>
                    <a:lnT w="0">
                      <a:noFill/>
                    </a:lnT>
                    <a:lnB w="0">
                      <a:noFill/>
                    </a:lnB>
                    <a:solidFill>
                      <a:srgbClr val="FFFFFF"/>
                    </a:solidFill>
                  </a:tcPr>
                </a:tc>
              </a:tr>
              <a:tr h="365760">
                <a:tc>
                  <a:txBody>
                    <a:bodyPr/>
                    <a:lstStyle/>
                    <a:p>
                      <a:pPr algn="l" marL="0" indent="0">
                        <a:buNone/>
                      </a:pPr>
                      <a:r>
                        <a:rPr lang="en-US" sz="1200" b="1" dirty="0">
                          <a:solidFill>
                            <a:srgbClr val="21295C"/>
                          </a:solidFill>
                          <a:latin typeface="Calibri"/>
                          <a:ea typeface="Calibri"/>
                          <a:cs typeface="Calibri"/>
                        </a:rPr>
                        <a:t>R²</a:t>
                      </a:r>
                    </a:p>
                  </a:txBody>
                  <a:tcPr marL="91440" marR="91440" marT="36576" marB="36576" anchor="ctr">
                    <a:lnL w="0">
                      <a:noFill/>
                    </a:lnL>
                    <a:lnR w="0">
                      <a:noFill/>
                    </a:lnR>
                    <a:lnT w="0">
                      <a:noFill/>
                    </a:lnT>
                    <a:lnB w="0">
                      <a:noFill/>
                    </a:lnB>
                    <a:solidFill>
                      <a:srgbClr val="FBF1E4"/>
                    </a:solidFill>
                  </a:tcPr>
                </a:tc>
                <a:tc>
                  <a:txBody>
                    <a:bodyPr/>
                    <a:lstStyle/>
                    <a:p>
                      <a:pPr algn="ctr" marL="0" indent="0">
                        <a:buNone/>
                      </a:pPr>
                      <a:r>
                        <a:rPr lang="en-US" sz="1200" b="1" dirty="0">
                          <a:solidFill>
                            <a:srgbClr val="21295C"/>
                          </a:solidFill>
                          <a:latin typeface="Calibri"/>
                          <a:ea typeface="Calibri"/>
                          <a:cs typeface="Calibri"/>
                        </a:rPr>
                        <a:t>0.0001</a:t>
                      </a:r>
                    </a:p>
                  </a:txBody>
                  <a:tcPr marL="91440" marR="91440" marT="36576" marB="36576" anchor="ctr">
                    <a:lnL w="0">
                      <a:noFill/>
                    </a:lnL>
                    <a:lnR w="0">
                      <a:noFill/>
                    </a:lnR>
                    <a:lnT w="0">
                      <a:noFill/>
                    </a:lnT>
                    <a:lnB w="0">
                      <a:noFill/>
                    </a:lnB>
                    <a:solidFill>
                      <a:srgbClr val="FBF1E4"/>
                    </a:solidFill>
                  </a:tcPr>
                </a:tc>
                <a:tc>
                  <a:txBody>
                    <a:bodyPr/>
                    <a:lstStyle/>
                    <a:p>
                      <a:pPr algn="ctr" marL="0" indent="0">
                        <a:buNone/>
                      </a:pPr>
                      <a:r>
                        <a:rPr lang="en-US" sz="1200" b="1" dirty="0">
                          <a:solidFill>
                            <a:srgbClr val="21295C"/>
                          </a:solidFill>
                          <a:latin typeface="Calibri"/>
                          <a:ea typeface="Calibri"/>
                          <a:cs typeface="Calibri"/>
                        </a:rPr>
                        <a:t>0.5871</a:t>
                      </a:r>
                    </a:p>
                  </a:txBody>
                  <a:tcPr marL="91440" marR="91440" marT="36576" marB="36576" anchor="ctr">
                    <a:lnL w="0">
                      <a:noFill/>
                    </a:lnL>
                    <a:lnR w="0">
                      <a:noFill/>
                    </a:lnR>
                    <a:lnT w="0">
                      <a:noFill/>
                    </a:lnT>
                    <a:lnB w="0">
                      <a:noFill/>
                    </a:lnB>
                    <a:solidFill>
                      <a:srgbClr val="FBF1E4"/>
                    </a:solidFill>
                  </a:tcPr>
                </a:tc>
              </a:tr>
              <a:tr h="365760">
                <a:tc>
                  <a:txBody>
                    <a:bodyPr/>
                    <a:lstStyle/>
                    <a:p>
                      <a:pPr algn="l" marL="0" indent="0">
                        <a:buNone/>
                      </a:pPr>
                      <a:r>
                        <a:rPr lang="en-US" sz="1200" b="1" dirty="0">
                          <a:solidFill>
                            <a:srgbClr val="21295C"/>
                          </a:solidFill>
                          <a:latin typeface="Calibri"/>
                          <a:ea typeface="Calibri"/>
                          <a:cs typeface="Calibri"/>
                        </a:rPr>
                        <a:t>p-value on slope</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0.723</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&lt; 0.001</a:t>
                      </a:r>
                    </a:p>
                  </a:txBody>
                  <a:tcPr marL="91440" marR="91440" marT="36576" marB="36576" anchor="ctr">
                    <a:lnL w="0">
                      <a:noFill/>
                    </a:lnL>
                    <a:lnR w="0">
                      <a:noFill/>
                    </a:lnR>
                    <a:lnT w="0">
                      <a:noFill/>
                    </a:lnT>
                    <a:lnB w="0">
                      <a:noFill/>
                    </a:lnB>
                    <a:solidFill>
                      <a:srgbClr val="FFFFFF"/>
                    </a:solidFill>
                  </a:tcPr>
                </a:tc>
              </a:tr>
            </a:tbl>
          </a:graphicData>
        </a:graphic>
      </p:graphicFrame>
      <p:sp>
        <p:nvSpPr>
          <p:cNvPr id="5" name="Rounded Rectangle 4"/>
          <p:cNvSpPr/>
          <p:nvPr/>
        </p:nvSpPr>
        <p:spPr>
          <a:xfrm>
            <a:off x="6583680" y="1783080"/>
            <a:ext cx="5074920" cy="2194560"/>
          </a:xfrm>
          <a:prstGeom prst="roundRect">
            <a:avLst>
              <a:gd name="adj" fmla="val 3599"/>
            </a:avLst>
          </a:prstGeom>
          <a:solidFill>
            <a:srgbClr val="F7FAFC"/>
          </a:solidFill>
          <a:ln>
            <a:noFill/>
          </a:ln>
          <a:effectLst>
            <a:outerShdw blurRad="88900" dist="25400" dir="5400000" algn="bl" rotWithShape="0">
              <a:srgbClr val="1C1C1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0" y="1938528"/>
            <a:ext cx="4572000" cy="274320"/>
          </a:xfrm>
          <a:prstGeom prst="rect">
            <a:avLst/>
          </a:prstGeom>
          <a:noFill/>
        </p:spPr>
        <p:txBody>
          <a:bodyPr wrap="square" lIns="0" rIns="0" tIns="0" bIns="0" anchor="t">
            <a:spAutoFit/>
          </a:bodyPr>
          <a:lstStyle/>
          <a:p>
            <a:pPr algn="l" marL="0" indent="0">
              <a:buNone/>
            </a:pPr>
            <a:r>
              <a:rPr lang="en-US" sz="1100" b="1" spc="100" kern="0" dirty="0">
                <a:solidFill>
                  <a:srgbClr val="1C7293"/>
                </a:solidFill>
                <a:latin typeface="Calibri"/>
                <a:ea typeface="Calibri"/>
                <a:cs typeface="Calibri"/>
              </a:rPr>
              <a:t>SHARE OF DAILY GENERATION EXPLAINED</a:t>
            </a:r>
          </a:p>
        </p:txBody>
      </p:sp>
      <p:sp>
        <p:nvSpPr>
          <p:cNvPr id="7" name="TextBox 6"/>
          <p:cNvSpPr txBox="1"/>
          <p:nvPr/>
        </p:nvSpPr>
        <p:spPr>
          <a:xfrm>
            <a:off x="6858000" y="2240280"/>
            <a:ext cx="4572000" cy="914400"/>
          </a:xfrm>
          <a:prstGeom prst="rect">
            <a:avLst/>
          </a:prstGeom>
          <a:noFill/>
        </p:spPr>
        <p:txBody>
          <a:bodyPr wrap="square" lIns="0" rIns="0" tIns="0" bIns="0" anchor="ctr">
            <a:spAutoFit/>
          </a:bodyPr>
          <a:lstStyle/>
          <a:p>
            <a:pPr algn="l" marL="0" indent="0">
              <a:buNone/>
            </a:pPr>
            <a:r>
              <a:rPr lang="en-US" sz="4400" b="1" dirty="0">
                <a:solidFill>
                  <a:srgbClr val="C8791A"/>
                </a:solidFill>
                <a:latin typeface="Cambria"/>
                <a:ea typeface="Cambria"/>
                <a:cs typeface="Cambria"/>
              </a:rPr>
              <a:t>58.7%</a:t>
            </a:r>
            <a:r>
              <a:rPr lang="en-US" sz="2600" b="1" dirty="0">
                <a:solidFill>
                  <a:srgbClr val="21295C"/>
                </a:solidFill>
                <a:latin typeface="Cambria"/>
                <a:ea typeface="Cambria"/>
                <a:cs typeface="Cambria"/>
              </a:rPr>
              <a:t>  vs  0.01%</a:t>
            </a:r>
          </a:p>
        </p:txBody>
      </p:sp>
      <p:sp>
        <p:nvSpPr>
          <p:cNvPr id="8" name="TextBox 7"/>
          <p:cNvSpPr txBox="1"/>
          <p:nvPr/>
        </p:nvSpPr>
        <p:spPr>
          <a:xfrm>
            <a:off x="6858000" y="3200400"/>
            <a:ext cx="4572000" cy="685800"/>
          </a:xfrm>
          <a:prstGeom prst="rect">
            <a:avLst/>
          </a:prstGeom>
          <a:noFill/>
        </p:spPr>
        <p:txBody>
          <a:bodyPr wrap="square" lIns="0" rIns="0" tIns="0" bIns="0" anchor="t">
            <a:spAutoFit/>
          </a:bodyPr>
          <a:lstStyle/>
          <a:p>
            <a:pPr algn="l" marL="0" indent="0">
              <a:lnSpc>
                <a:spcPct val="110000"/>
              </a:lnSpc>
              <a:buNone/>
            </a:pPr>
            <a:r>
              <a:rPr lang="en-US" sz="1150" b="0" i="1" dirty="0">
                <a:solidFill>
                  <a:srgbClr val="56606B"/>
                </a:solidFill>
                <a:latin typeface="Calibri"/>
                <a:ea typeface="Calibri"/>
                <a:cs typeface="Calibri"/>
              </a:rPr>
              <a:t>Nordfriesland 100 m vs Bologna 10 m. One grid point cannot reach R² = 1 against a national fleet: compare 0.587 with 0.0001, not with 1.</a:t>
            </a:r>
          </a:p>
        </p:txBody>
      </p:sp>
      <p:pic>
        <p:nvPicPr>
          <p:cNvPr id="9" name="Picture 8" descr="phase6_A_power_curve.png"/>
          <p:cNvPicPr>
            <a:picLocks noChangeAspect="1"/>
          </p:cNvPicPr>
          <p:nvPr/>
        </p:nvPicPr>
        <p:blipFill>
          <a:blip r:embed="rId2"/>
          <a:stretch>
            <a:fillRect/>
          </a:stretch>
        </p:blipFill>
        <p:spPr>
          <a:xfrm>
            <a:off x="548640" y="4206240"/>
            <a:ext cx="5726522" cy="1783080"/>
          </a:xfrm>
          <a:prstGeom prst="rect">
            <a:avLst/>
          </a:prstGeom>
        </p:spPr>
      </p:pic>
      <p:pic>
        <p:nvPicPr>
          <p:cNvPr id="10" name="Picture 9" descr="phase6_B_power_curve.png"/>
          <p:cNvPicPr>
            <a:picLocks noChangeAspect="1"/>
          </p:cNvPicPr>
          <p:nvPr/>
        </p:nvPicPr>
        <p:blipFill>
          <a:blip r:embed="rId3"/>
          <a:stretch>
            <a:fillRect/>
          </a:stretch>
        </p:blipFill>
        <p:spPr>
          <a:xfrm>
            <a:off x="6503762" y="4206240"/>
            <a:ext cx="2621657" cy="1783080"/>
          </a:xfrm>
          <a:prstGeom prst="rect">
            <a:avLst/>
          </a:prstGeom>
        </p:spPr>
      </p:pic>
      <p:sp>
        <p:nvSpPr>
          <p:cNvPr id="11" name="TextBox 10"/>
          <p:cNvSpPr txBox="1"/>
          <p:nvPr/>
        </p:nvSpPr>
        <p:spPr>
          <a:xfrm>
            <a:off x="548640" y="6035040"/>
            <a:ext cx="5726522" cy="228600"/>
          </a:xfrm>
          <a:prstGeom prst="rect">
            <a:avLst/>
          </a:prstGeom>
          <a:noFill/>
        </p:spPr>
        <p:txBody>
          <a:bodyPr wrap="square" lIns="0" rIns="0" tIns="0" bIns="0" anchor="t">
            <a:spAutoFit/>
          </a:bodyPr>
          <a:lstStyle/>
          <a:p>
            <a:pPr algn="l" marL="0" indent="0">
              <a:buNone/>
            </a:pPr>
            <a:r>
              <a:rPr lang="en-US" sz="950" b="0" i="1" dirty="0">
                <a:solidFill>
                  <a:srgbClr val="5A6470"/>
                </a:solidFill>
                <a:latin typeface="Calibri"/>
                <a:ea typeface="Calibri"/>
                <a:cs typeface="Calibri"/>
              </a:rPr>
              <a:t>A — structureless cloud, slope indistinguishable from zero</a:t>
            </a:r>
          </a:p>
        </p:txBody>
      </p:sp>
      <p:sp>
        <p:nvSpPr>
          <p:cNvPr id="12" name="TextBox 11"/>
          <p:cNvSpPr txBox="1"/>
          <p:nvPr/>
        </p:nvSpPr>
        <p:spPr>
          <a:xfrm>
            <a:off x="6503762" y="6035040"/>
            <a:ext cx="2621657" cy="228600"/>
          </a:xfrm>
          <a:prstGeom prst="rect">
            <a:avLst/>
          </a:prstGeom>
          <a:noFill/>
        </p:spPr>
        <p:txBody>
          <a:bodyPr wrap="square" lIns="0" rIns="0" tIns="0" bIns="0" anchor="t">
            <a:spAutoFit/>
          </a:bodyPr>
          <a:lstStyle/>
          <a:p>
            <a:pPr algn="l" marL="0" indent="0">
              <a:buNone/>
            </a:pPr>
            <a:r>
              <a:rPr lang="en-US" sz="950" b="0" i="1" dirty="0">
                <a:solidFill>
                  <a:srgbClr val="5A6470"/>
                </a:solidFill>
                <a:latin typeface="Calibri"/>
                <a:ea typeface="Calibri"/>
                <a:cs typeface="Calibri"/>
              </a:rPr>
              <a:t>B — clear cubic relation</a:t>
            </a:r>
          </a:p>
        </p:txBody>
      </p:sp>
      <p:sp>
        <p:nvSpPr>
          <p:cNvPr id="13" name="Rounded Rectangle 12"/>
          <p:cNvSpPr/>
          <p:nvPr/>
        </p:nvSpPr>
        <p:spPr>
          <a:xfrm>
            <a:off x="9354019" y="4206240"/>
            <a:ext cx="2304581" cy="1783080"/>
          </a:xfrm>
          <a:prstGeom prst="roundRect">
            <a:avLst>
              <a:gd name="adj" fmla="val 3599"/>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82619" y="4297680"/>
            <a:ext cx="1847381" cy="1600200"/>
          </a:xfrm>
          <a:prstGeom prst="rect">
            <a:avLst/>
          </a:prstGeom>
          <a:noFill/>
        </p:spPr>
        <p:txBody>
          <a:bodyPr wrap="square" lIns="0" rIns="0" tIns="0" bIns="0" anchor="ctr">
            <a:spAutoFit/>
          </a:bodyPr>
          <a:lstStyle/>
          <a:p>
            <a:pPr algn="l" marL="0" indent="0">
              <a:lnSpc>
                <a:spcPct val="110000"/>
              </a:lnSpc>
              <a:buNone/>
            </a:pPr>
            <a:r>
              <a:rPr lang="en-US" sz="1250" b="0" i="1" dirty="0">
                <a:solidFill>
                  <a:srgbClr val="FFFFFF"/>
                </a:solidFill>
                <a:latin typeface="Cambria"/>
                <a:ea typeface="Cambria"/>
                <a:cs typeface="Cambria"/>
              </a:rPr>
              <a:t>A proxy that quotes a plausible number while carrying no information is more dangerous than an obviously wrong one — only the second announces itself.</a:t>
            </a:r>
          </a:p>
        </p:txBody>
      </p:sp>
      <p:sp>
        <p:nvSpPr>
          <p:cNvPr id="15" name="TextBox 14"/>
          <p:cNvSpPr txBox="1"/>
          <p:nvPr/>
        </p:nvSpPr>
        <p:spPr>
          <a:xfrm>
            <a:off x="548640" y="6510528"/>
            <a:ext cx="8229600" cy="256032"/>
          </a:xfrm>
          <a:prstGeom prst="rect">
            <a:avLst/>
          </a:prstGeom>
          <a:noFill/>
        </p:spPr>
        <p:txBody>
          <a:bodyPr wrap="square" lIns="0" rIns="0" tIns="0" bIns="0" anchor="ctr">
            <a:spAutoFit/>
          </a:bodyPr>
          <a:lstStyle/>
          <a:p>
            <a:pPr algn="l" marL="0" indent="0">
              <a:buNone/>
            </a:pPr>
            <a:r>
              <a:rPr lang="en-US" sz="900" b="0" i="1" dirty="0">
                <a:solidFill>
                  <a:srgbClr val="56606B"/>
                </a:solidFill>
                <a:latin typeface="Calibri"/>
                <a:ea typeface="Calibri"/>
                <a:cs typeface="Calibri"/>
              </a:rPr>
              <a:t>Wind Speed Modelling for Derivatives Pricing — Final Defence</a:t>
            </a:r>
          </a:p>
        </p:txBody>
      </p:sp>
      <p:sp>
        <p:nvSpPr>
          <p:cNvPr id="16" name="TextBox 15"/>
          <p:cNvSpPr txBox="1"/>
          <p:nvPr/>
        </p:nvSpPr>
        <p:spPr>
          <a:xfrm>
            <a:off x="11365992" y="6510528"/>
            <a:ext cx="365760" cy="256032"/>
          </a:xfrm>
          <a:prstGeom prst="rect">
            <a:avLst/>
          </a:prstGeom>
          <a:noFill/>
        </p:spPr>
        <p:txBody>
          <a:bodyPr wrap="square" lIns="0" rIns="0" tIns="0" bIns="0" anchor="ctr">
            <a:spAutoFit/>
          </a:bodyPr>
          <a:lstStyle/>
          <a:p>
            <a:pPr algn="r" marL="0" indent="0">
              <a:buNone/>
            </a:pPr>
            <a:r>
              <a:rPr lang="en-US" sz="900" b="0" dirty="0">
                <a:solidFill>
                  <a:srgbClr val="56606B"/>
                </a:solidFill>
                <a:latin typeface="Calibri"/>
                <a:ea typeface="Calibri"/>
                <a:cs typeface="Calibri"/>
              </a:rPr>
              <a:t>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1295C"/>
        </a:solidFill>
        <a:effectLst/>
      </p:bgPr>
    </p:bg>
    <p:spTree>
      <p:nvGrpSpPr>
        <p:cNvPr id="1" name=""/>
        <p:cNvGrpSpPr/>
        <p:nvPr/>
      </p:nvGrpSpPr>
      <p:grpSpPr/>
      <p:sp>
        <p:nvSpPr>
          <p:cNvPr id="2" name="Oval 1"/>
          <p:cNvSpPr/>
          <p:nvPr/>
        </p:nvSpPr>
        <p:spPr>
          <a:xfrm>
            <a:off x="9079992" y="-2560320"/>
            <a:ext cx="5669280" cy="5669280"/>
          </a:xfrm>
          <a:prstGeom prst="ellipse">
            <a:avLst/>
          </a:prstGeom>
          <a:solidFill>
            <a:srgbClr val="1C7293">
              <a:alpha val="4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634472" y="-640080"/>
            <a:ext cx="2743200" cy="2743200"/>
          </a:xfrm>
          <a:prstGeom prst="ellipse">
            <a:avLst/>
          </a:prstGeom>
          <a:solidFill>
            <a:srgbClr val="065A82">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1737360"/>
            <a:ext cx="9144000" cy="365760"/>
          </a:xfrm>
          <a:prstGeom prst="rect">
            <a:avLst/>
          </a:prstGeom>
          <a:noFill/>
        </p:spPr>
        <p:txBody>
          <a:bodyPr wrap="square" lIns="0" rIns="0" tIns="0" bIns="0" anchor="ctr">
            <a:spAutoFit/>
          </a:bodyPr>
          <a:lstStyle/>
          <a:p>
            <a:pPr algn="l" marL="0" indent="0">
              <a:buNone/>
            </a:pPr>
            <a:r>
              <a:rPr lang="en-US" sz="1400" b="1" spc="250" kern="0" dirty="0">
                <a:solidFill>
                  <a:srgbClr val="E8A33D"/>
                </a:solidFill>
                <a:latin typeface="Calibri"/>
                <a:ea typeface="Calibri"/>
                <a:cs typeface="Calibri"/>
              </a:rPr>
              <a:t>BACKUP</a:t>
            </a:r>
          </a:p>
        </p:txBody>
      </p:sp>
      <p:sp>
        <p:nvSpPr>
          <p:cNvPr id="5" name="TextBox 4"/>
          <p:cNvSpPr txBox="1"/>
          <p:nvPr/>
        </p:nvSpPr>
        <p:spPr>
          <a:xfrm>
            <a:off x="822960" y="2148840"/>
            <a:ext cx="9601200" cy="822960"/>
          </a:xfrm>
          <a:prstGeom prst="rect">
            <a:avLst/>
          </a:prstGeom>
          <a:noFill/>
        </p:spPr>
        <p:txBody>
          <a:bodyPr wrap="square" lIns="0" rIns="0" tIns="0" bIns="0" anchor="ctr">
            <a:spAutoFit/>
          </a:bodyPr>
          <a:lstStyle/>
          <a:p>
            <a:pPr algn="l" marL="0" indent="0">
              <a:buNone/>
            </a:pPr>
            <a:r>
              <a:rPr lang="en-US" sz="3400" b="1" dirty="0">
                <a:solidFill>
                  <a:srgbClr val="FFFFFF"/>
                </a:solidFill>
                <a:latin typeface="Cambria"/>
                <a:ea typeface="Cambria"/>
                <a:cs typeface="Cambria"/>
              </a:rPr>
              <a:t>Supporting detail, on request</a:t>
            </a:r>
          </a:p>
        </p:txBody>
      </p:sp>
      <p:sp>
        <p:nvSpPr>
          <p:cNvPr id="6" name="TextBox 5"/>
          <p:cNvSpPr txBox="1"/>
          <p:nvPr/>
        </p:nvSpPr>
        <p:spPr>
          <a:xfrm>
            <a:off x="822960" y="3291840"/>
            <a:ext cx="9601200" cy="2377440"/>
          </a:xfrm>
          <a:prstGeom prst="rect">
            <a:avLst/>
          </a:prstGeom>
          <a:noFill/>
        </p:spPr>
        <p:txBody>
          <a:bodyPr wrap="square" lIns="0" rIns="0" tIns="0" bIns="0" anchor="t">
            <a:spAutoFit/>
          </a:bodyPr>
          <a:lstStyle/>
          <a:p>
            <a:pPr algn="l" marL="0" indent="0">
              <a:spcAft>
                <a:spcPts val="1000"/>
              </a:spcAft>
              <a:buNone/>
            </a:pPr>
            <a:r>
              <a:rPr lang="en-US" sz="1500" b="1" dirty="0">
                <a:solidFill>
                  <a:srgbClr val="E8A33D"/>
                </a:solidFill>
                <a:latin typeface="Calibri"/>
                <a:ea typeface="Calibri"/>
                <a:cs typeface="Calibri"/>
              </a:rPr>
              <a:t>B1  </a:t>
            </a:r>
            <a:r>
              <a:rPr lang="en-US" sz="1500" b="0" dirty="0">
                <a:solidFill>
                  <a:srgbClr val="EEF3F7"/>
                </a:solidFill>
                <a:latin typeface="Calibri"/>
                <a:ea typeface="Calibri"/>
                <a:cs typeface="Calibri"/>
              </a:rPr>
              <a:t>Feller condition — robust for B, estimator-dependent for A</a:t>
            </a:r>
          </a:p>
          <a:p>
            <a:pPr algn="l" marL="0" indent="0">
              <a:spcAft>
                <a:spcPts val="1000"/>
              </a:spcAft>
              <a:buNone/>
            </a:pPr>
            <a:r>
              <a:rPr lang="en-US" sz="1500" b="1" dirty="0">
                <a:solidFill>
                  <a:srgbClr val="E8A33D"/>
                </a:solidFill>
                <a:latin typeface="Calibri"/>
                <a:ea typeface="Calibri"/>
                <a:cs typeface="Calibri"/>
              </a:rPr>
              <a:t>B2  </a:t>
            </a:r>
            <a:r>
              <a:rPr lang="en-US" sz="1500" b="0" dirty="0">
                <a:solidFill>
                  <a:srgbClr val="EEF3F7"/>
                </a:solidFill>
                <a:latin typeface="Calibri"/>
                <a:ea typeface="Calibri"/>
                <a:cs typeface="Calibri"/>
              </a:rPr>
              <a:t>Reconciling Track B into Track A units, factor by factor</a:t>
            </a:r>
          </a:p>
          <a:p>
            <a:pPr algn="l" marL="0" indent="0">
              <a:spcAft>
                <a:spcPts val="1000"/>
              </a:spcAft>
              <a:buNone/>
            </a:pPr>
            <a:r>
              <a:rPr lang="en-US" sz="1500" b="1" dirty="0">
                <a:solidFill>
                  <a:srgbClr val="E8A33D"/>
                </a:solidFill>
                <a:latin typeface="Calibri"/>
                <a:ea typeface="Calibri"/>
                <a:cs typeface="Calibri"/>
              </a:rPr>
              <a:t>B3  </a:t>
            </a:r>
            <a:r>
              <a:rPr lang="en-US" sz="1500" b="0" dirty="0">
                <a:solidFill>
                  <a:srgbClr val="EEF3F7"/>
                </a:solidFill>
                <a:latin typeface="Calibri"/>
                <a:ea typeface="Calibri"/>
                <a:cs typeface="Calibri"/>
              </a:rPr>
              <a:t>The Diebold–Mariano test in Chapters 2 and 3 — why the signs differ</a:t>
            </a:r>
          </a:p>
          <a:p>
            <a:pPr algn="l" marL="0" indent="0">
              <a:spcAft>
                <a:spcPts val="1000"/>
              </a:spcAft>
              <a:buNone/>
            </a:pPr>
            <a:r>
              <a:rPr lang="en-US" sz="1500" b="1" dirty="0">
                <a:solidFill>
                  <a:srgbClr val="E8A33D"/>
                </a:solidFill>
                <a:latin typeface="Calibri"/>
                <a:ea typeface="Calibri"/>
                <a:cs typeface="Calibri"/>
              </a:rPr>
              <a:t>B4  </a:t>
            </a:r>
            <a:r>
              <a:rPr lang="en-US" sz="1500" b="0" dirty="0">
                <a:solidFill>
                  <a:srgbClr val="EEF3F7"/>
                </a:solidFill>
                <a:latin typeface="Calibri"/>
                <a:ea typeface="Calibri"/>
                <a:cs typeface="Calibri"/>
              </a:rPr>
              <a:t>Height correction: sensitivity to the profile exponent α</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292608"/>
          </a:xfrm>
          <a:prstGeom prst="rect">
            <a:avLst/>
          </a:prstGeom>
          <a:noFill/>
        </p:spPr>
        <p:txBody>
          <a:bodyPr wrap="square" lIns="0" rIns="0" tIns="0" bIns="0" anchor="ctr">
            <a:spAutoFit/>
          </a:bodyPr>
          <a:lstStyle/>
          <a:p>
            <a:pPr algn="l" marL="0" indent="0">
              <a:buNone/>
            </a:pPr>
            <a:r>
              <a:rPr lang="en-US" sz="1250" b="1" spc="200" kern="0" dirty="0">
                <a:solidFill>
                  <a:srgbClr val="1C7293"/>
                </a:solidFill>
                <a:latin typeface="Calibri"/>
                <a:ea typeface="Calibri"/>
                <a:cs typeface="Calibri"/>
              </a:rPr>
              <a:t>BACKUP B2 · CH. 3 §3.1.5 — THE FOUR CONVENTIONS</a:t>
            </a:r>
          </a:p>
        </p:txBody>
      </p:sp>
      <p:sp>
        <p:nvSpPr>
          <p:cNvPr id="3" name="TextBox 2"/>
          <p:cNvSpPr txBox="1"/>
          <p:nvPr/>
        </p:nvSpPr>
        <p:spPr>
          <a:xfrm>
            <a:off x="548640" y="658368"/>
            <a:ext cx="11109960" cy="868680"/>
          </a:xfrm>
          <a:prstGeom prst="rect">
            <a:avLst/>
          </a:prstGeom>
          <a:noFill/>
        </p:spPr>
        <p:txBody>
          <a:bodyPr wrap="square" lIns="0" rIns="0" tIns="0" bIns="0" anchor="ctr">
            <a:spAutoFit/>
          </a:bodyPr>
          <a:lstStyle/>
          <a:p>
            <a:pPr algn="l" marL="0" indent="0">
              <a:buNone/>
            </a:pPr>
            <a:r>
              <a:rPr lang="en-US" sz="2700" b="1" dirty="0">
                <a:solidFill>
                  <a:srgbClr val="21295C"/>
                </a:solidFill>
                <a:latin typeface="Cambria"/>
                <a:ea typeface="Cambria"/>
                <a:cs typeface="Cambria"/>
              </a:rPr>
              <a:t>Reconciling Track B into Track A units, step by step</a:t>
            </a:r>
          </a:p>
        </p:txBody>
      </p:sp>
      <p:graphicFrame>
        <p:nvGraphicFramePr>
          <p:cNvPr id="4" name="Table 3"/>
          <p:cNvGraphicFramePr>
            <a:graphicFrameLocks noGrp="1"/>
          </p:cNvGraphicFramePr>
          <p:nvPr/>
        </p:nvGraphicFramePr>
        <p:xfrm>
          <a:off x="548640" y="1737360"/>
          <a:ext cx="11109959" cy="3456432"/>
        </p:xfrm>
        <a:graphic>
          <a:graphicData uri="http://schemas.openxmlformats.org/drawingml/2006/table">
            <a:tbl>
              <a:tblPr/>
              <a:tblGrid>
                <a:gridCol w="3977639"/>
                <a:gridCol w="3108960"/>
                <a:gridCol w="2011680"/>
                <a:gridCol w="2011680"/>
              </a:tblGrid>
              <a:tr h="384048">
                <a:tc>
                  <a:txBody>
                    <a:bodyPr/>
                    <a:lstStyle/>
                    <a:p>
                      <a:pPr algn="l" marL="0" indent="0">
                        <a:buNone/>
                      </a:pPr>
                      <a:r>
                        <a:rPr lang="en-US" sz="1200" b="1" dirty="0">
                          <a:solidFill>
                            <a:srgbClr val="FFFFFF"/>
                          </a:solidFill>
                          <a:latin typeface="Calibri"/>
                          <a:ea typeface="Calibri"/>
                          <a:cs typeface="Calibri"/>
                        </a:rPr>
                        <a:t>Factor</a:t>
                      </a:r>
                    </a:p>
                  </a:txBody>
                  <a:tcPr marL="91440" marR="91440" marT="36576" marB="36576" anchor="ctr">
                    <a:lnL w="0">
                      <a:noFill/>
                    </a:lnL>
                    <a:lnR w="0">
                      <a:noFill/>
                    </a:lnR>
                    <a:lnT w="0">
                      <a:noFill/>
                    </a:lnT>
                    <a:lnB w="0">
                      <a:noFill/>
                    </a:lnB>
                    <a:solidFill>
                      <a:srgbClr val="21295C"/>
                    </a:solidFill>
                  </a:tcPr>
                </a:tc>
                <a:tc>
                  <a:txBody>
                    <a:bodyPr/>
                    <a:lstStyle/>
                    <a:p>
                      <a:pPr algn="ctr" marL="0" indent="0">
                        <a:buNone/>
                      </a:pPr>
                      <a:r>
                        <a:rPr lang="en-US" sz="1200" b="1" dirty="0">
                          <a:solidFill>
                            <a:srgbClr val="FFFFFF"/>
                          </a:solidFill>
                          <a:latin typeface="Calibri"/>
                          <a:ea typeface="Calibri"/>
                          <a:cs typeface="Calibri"/>
                        </a:rPr>
                        <a:t>Formula</a:t>
                      </a:r>
                    </a:p>
                  </a:txBody>
                  <a:tcPr marL="91440" marR="91440" marT="36576" marB="36576" anchor="ctr">
                    <a:lnL w="0">
                      <a:noFill/>
                    </a:lnL>
                    <a:lnR w="0">
                      <a:noFill/>
                    </a:lnR>
                    <a:lnT w="0">
                      <a:noFill/>
                    </a:lnT>
                    <a:lnB w="0">
                      <a:noFill/>
                    </a:lnB>
                    <a:solidFill>
                      <a:srgbClr val="21295C"/>
                    </a:solidFill>
                  </a:tcPr>
                </a:tc>
                <a:tc>
                  <a:txBody>
                    <a:bodyPr/>
                    <a:lstStyle/>
                    <a:p>
                      <a:pPr algn="ctr" marL="0" indent="0">
                        <a:buNone/>
                      </a:pPr>
                      <a:r>
                        <a:rPr lang="en-US" sz="1200" b="1" dirty="0">
                          <a:solidFill>
                            <a:srgbClr val="FFFFFF"/>
                          </a:solidFill>
                          <a:latin typeface="Calibri"/>
                          <a:ea typeface="Calibri"/>
                          <a:cs typeface="Calibri"/>
                        </a:rPr>
                        <a:t>Dataset A</a:t>
                      </a:r>
                    </a:p>
                  </a:txBody>
                  <a:tcPr marL="91440" marR="91440" marT="36576" marB="36576" anchor="ctr">
                    <a:lnL w="0">
                      <a:noFill/>
                    </a:lnL>
                    <a:lnR w="0">
                      <a:noFill/>
                    </a:lnR>
                    <a:lnT w="0">
                      <a:noFill/>
                    </a:lnT>
                    <a:lnB w="0">
                      <a:noFill/>
                    </a:lnB>
                    <a:solidFill>
                      <a:srgbClr val="21295C"/>
                    </a:solidFill>
                  </a:tcPr>
                </a:tc>
                <a:tc>
                  <a:txBody>
                    <a:bodyPr/>
                    <a:lstStyle/>
                    <a:p>
                      <a:pPr algn="ctr" marL="0" indent="0">
                        <a:buNone/>
                      </a:pPr>
                      <a:r>
                        <a:rPr lang="en-US" sz="1200" b="1" dirty="0">
                          <a:solidFill>
                            <a:srgbClr val="FFFFFF"/>
                          </a:solidFill>
                          <a:latin typeface="Calibri"/>
                          <a:ea typeface="Calibri"/>
                          <a:cs typeface="Calibri"/>
                        </a:rPr>
                        <a:t>Dataset B</a:t>
                      </a:r>
                    </a:p>
                  </a:txBody>
                  <a:tcPr marL="91440" marR="91440" marT="36576" marB="36576" anchor="ctr">
                    <a:lnL w="0">
                      <a:noFill/>
                    </a:lnL>
                    <a:lnR w="0">
                      <a:noFill/>
                    </a:lnR>
                    <a:lnT w="0">
                      <a:noFill/>
                    </a:lnT>
                    <a:lnB w="0">
                      <a:noFill/>
                    </a:lnB>
                    <a:solidFill>
                      <a:srgbClr val="21295C"/>
                    </a:solidFill>
                  </a:tcPr>
                </a:tc>
              </a:tr>
              <a:tr h="384048">
                <a:tc>
                  <a:txBody>
                    <a:bodyPr/>
                    <a:lstStyle/>
                    <a:p>
                      <a:pPr algn="l" marL="0" indent="0">
                        <a:buNone/>
                      </a:pPr>
                      <a:r>
                        <a:rPr lang="en-US" sz="1200" b="1" dirty="0">
                          <a:solidFill>
                            <a:srgbClr val="21295C"/>
                          </a:solidFill>
                          <a:latin typeface="Calibri"/>
                          <a:ea typeface="Calibri"/>
                          <a:cs typeface="Calibri"/>
                        </a:rPr>
                        <a:t>K_var = h(t₀) × C₀ (as recorded)</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0.05435</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0.87336</a:t>
                      </a:r>
                    </a:p>
                  </a:txBody>
                  <a:tcPr marL="91440" marR="91440" marT="36576" marB="36576" anchor="ctr">
                    <a:lnL w="0">
                      <a:noFill/>
                    </a:lnL>
                    <a:lnR w="0">
                      <a:noFill/>
                    </a:lnR>
                    <a:lnT w="0">
                      <a:noFill/>
                    </a:lnT>
                    <a:lnB w="0">
                      <a:noFill/>
                    </a:lnB>
                    <a:solidFill>
                      <a:srgbClr val="FFFFFF"/>
                    </a:solidFill>
                  </a:tcPr>
                </a:tc>
              </a:tr>
              <a:tr h="384048">
                <a:tc>
                  <a:txBody>
                    <a:bodyPr/>
                    <a:lstStyle/>
                    <a:p>
                      <a:pPr algn="l" marL="0" indent="0">
                        <a:buNone/>
                      </a:pPr>
                      <a:r>
                        <a:rPr lang="en-US" sz="1200" b="1" dirty="0">
                          <a:solidFill>
                            <a:srgbClr val="21295C"/>
                          </a:solidFill>
                          <a:latin typeface="Calibri"/>
                          <a:ea typeface="Calibri"/>
                          <a:cs typeface="Calibri"/>
                        </a:rPr>
                        <a:t>× Box–Cox scale</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00" b="0" dirty="0">
                          <a:solidFill>
                            <a:srgbClr val="56606B"/>
                          </a:solidFill>
                          <a:latin typeface="Calibri"/>
                          <a:ea typeface="Calibri"/>
                          <a:cs typeface="Calibri"/>
                        </a:rPr>
                        <a:t>W̄^(2(1−λ))</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00" b="0" dirty="0">
                          <a:solidFill>
                            <a:srgbClr val="56606B"/>
                          </a:solidFill>
                          <a:latin typeface="Calibri"/>
                          <a:ea typeface="Calibri"/>
                          <a:cs typeface="Calibri"/>
                        </a:rPr>
                        <a:t>5.088</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00" b="0" dirty="0">
                          <a:solidFill>
                            <a:srgbClr val="56606B"/>
                          </a:solidFill>
                          <a:latin typeface="Calibri"/>
                          <a:ea typeface="Calibri"/>
                          <a:cs typeface="Calibri"/>
                        </a:rPr>
                        <a:t>8.068</a:t>
                      </a:r>
                    </a:p>
                  </a:txBody>
                  <a:tcPr marL="91440" marR="91440" marT="36576" marB="36576" anchor="ctr">
                    <a:lnL w="0">
                      <a:noFill/>
                    </a:lnL>
                    <a:lnR w="0">
                      <a:noFill/>
                    </a:lnR>
                    <a:lnT w="0">
                      <a:noFill/>
                    </a:lnT>
                    <a:lnB w="0">
                      <a:noFill/>
                    </a:lnB>
                    <a:solidFill>
                      <a:srgbClr val="EEF3F7"/>
                    </a:solidFill>
                  </a:tcPr>
                </a:tc>
              </a:tr>
              <a:tr h="384048">
                <a:tc>
                  <a:txBody>
                    <a:bodyPr/>
                    <a:lstStyle/>
                    <a:p>
                      <a:pPr algn="l" marL="0" indent="0">
                        <a:buNone/>
                      </a:pPr>
                      <a:r>
                        <a:rPr lang="en-US" sz="1200" b="1" dirty="0">
                          <a:solidFill>
                            <a:srgbClr val="21295C"/>
                          </a:solidFill>
                          <a:latin typeface="Calibri"/>
                          <a:ea typeface="Calibri"/>
                          <a:cs typeface="Calibri"/>
                        </a:rPr>
                        <a:t>× innovation → first difference</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(RMSE pers. / RMSE AR(4))²</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1.292</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1.339</a:t>
                      </a:r>
                    </a:p>
                  </a:txBody>
                  <a:tcPr marL="91440" marR="91440" marT="36576" marB="36576" anchor="ctr">
                    <a:lnL w="0">
                      <a:noFill/>
                    </a:lnL>
                    <a:lnR w="0">
                      <a:noFill/>
                    </a:lnR>
                    <a:lnT w="0">
                      <a:noFill/>
                    </a:lnT>
                    <a:lnB w="0">
                      <a:noFill/>
                    </a:lnB>
                    <a:solidFill>
                      <a:srgbClr val="FFFFFF"/>
                    </a:solidFill>
                  </a:tcPr>
                </a:tc>
              </a:tr>
              <a:tr h="384048">
                <a:tc>
                  <a:txBody>
                    <a:bodyPr/>
                    <a:lstStyle/>
                    <a:p>
                      <a:pPr algn="l" marL="0" indent="0">
                        <a:buNone/>
                      </a:pPr>
                      <a:r>
                        <a:rPr lang="en-US" sz="1200" b="1" dirty="0">
                          <a:solidFill>
                            <a:srgbClr val="21295C"/>
                          </a:solidFill>
                          <a:latin typeface="Calibri"/>
                          <a:ea typeface="Calibri"/>
                          <a:cs typeface="Calibri"/>
                        </a:rPr>
                        <a:t>× power curve</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00" b="0" dirty="0">
                          <a:solidFill>
                            <a:srgbClr val="56606B"/>
                          </a:solidFill>
                          <a:latin typeface="Calibri"/>
                          <a:ea typeface="Calibri"/>
                          <a:cs typeface="Calibri"/>
                        </a:rPr>
                        <a:t>9 / W̄²</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00" b="0" dirty="0">
                          <a:solidFill>
                            <a:srgbClr val="56606B"/>
                          </a:solidFill>
                          <a:latin typeface="Calibri"/>
                          <a:ea typeface="Calibri"/>
                          <a:cs typeface="Calibri"/>
                        </a:rPr>
                        <a:t>1.4764</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00" b="0" dirty="0">
                          <a:solidFill>
                            <a:srgbClr val="56606B"/>
                          </a:solidFill>
                          <a:latin typeface="Calibri"/>
                          <a:ea typeface="Calibri"/>
                          <a:cs typeface="Calibri"/>
                        </a:rPr>
                        <a:t>0.13826</a:t>
                      </a:r>
                    </a:p>
                  </a:txBody>
                  <a:tcPr marL="91440" marR="91440" marT="36576" marB="36576" anchor="ctr">
                    <a:lnL w="0">
                      <a:noFill/>
                    </a:lnL>
                    <a:lnR w="0">
                      <a:noFill/>
                    </a:lnR>
                    <a:lnT w="0">
                      <a:noFill/>
                    </a:lnT>
                    <a:lnB w="0">
                      <a:noFill/>
                    </a:lnB>
                    <a:solidFill>
                      <a:srgbClr val="EEF3F7"/>
                    </a:solidFill>
                  </a:tcPr>
                </a:tc>
              </a:tr>
              <a:tr h="384048">
                <a:tc>
                  <a:txBody>
                    <a:bodyPr/>
                    <a:lstStyle/>
                    <a:p>
                      <a:pPr algn="l" marL="0" indent="0">
                        <a:buNone/>
                      </a:pPr>
                      <a:r>
                        <a:rPr lang="en-US" sz="1200" b="1" dirty="0">
                          <a:solidFill>
                            <a:srgbClr val="21295C"/>
                          </a:solidFill>
                          <a:latin typeface="Calibri"/>
                          <a:ea typeface="Calibri"/>
                          <a:cs typeface="Calibri"/>
                        </a:rPr>
                        <a:t>× annualisation</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252</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252</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252</a:t>
                      </a:r>
                    </a:p>
                  </a:txBody>
                  <a:tcPr marL="91440" marR="91440" marT="36576" marB="36576" anchor="ctr">
                    <a:lnL w="0">
                      <a:noFill/>
                    </a:lnL>
                    <a:lnR w="0">
                      <a:noFill/>
                    </a:lnR>
                    <a:lnT w="0">
                      <a:noFill/>
                    </a:lnT>
                    <a:lnB w="0">
                      <a:noFill/>
                    </a:lnB>
                    <a:solidFill>
                      <a:srgbClr val="FFFFFF"/>
                    </a:solidFill>
                  </a:tcPr>
                </a:tc>
              </a:tr>
              <a:tr h="384048">
                <a:tc>
                  <a:txBody>
                    <a:bodyPr/>
                    <a:lstStyle/>
                    <a:p>
                      <a:pPr algn="l" marL="0" indent="0">
                        <a:buNone/>
                      </a:pPr>
                      <a:r>
                        <a:rPr lang="en-US" sz="1200" b="1" dirty="0">
                          <a:solidFill>
                            <a:srgbClr val="21295C"/>
                          </a:solidFill>
                          <a:latin typeface="Calibri"/>
                          <a:ea typeface="Calibri"/>
                          <a:cs typeface="Calibri"/>
                        </a:rPr>
                        <a:t>Reconciled model strike (Track A units)</a:t>
                      </a:r>
                    </a:p>
                  </a:txBody>
                  <a:tcPr marL="91440" marR="91440" marT="36576" marB="36576" anchor="ctr">
                    <a:lnL w="0">
                      <a:noFill/>
                    </a:lnL>
                    <a:lnR w="0">
                      <a:noFill/>
                    </a:lnR>
                    <a:lnT w="0">
                      <a:noFill/>
                    </a:lnT>
                    <a:lnB w="0">
                      <a:noFill/>
                    </a:lnB>
                    <a:solidFill>
                      <a:srgbClr val="FBF1E4"/>
                    </a:solidFill>
                  </a:tcPr>
                </a:tc>
                <a:tc>
                  <a:txBody>
                    <a:bodyPr/>
                    <a:lstStyle/>
                    <a:p>
                      <a:pPr algn="ctr" marL="0" indent="0">
                        <a:buNone/>
                      </a:pPr>
                      <a:r>
                        <a:rPr lang="en-US" sz="1200" b="1" dirty="0">
                          <a:solidFill>
                            <a:srgbClr val="21295C"/>
                          </a:solidFill>
                          <a:latin typeface="Calibri"/>
                          <a:ea typeface="Calibri"/>
                          <a:cs typeface="Calibri"/>
                        </a:rPr>
                        <a:t/>
                      </a:r>
                    </a:p>
                  </a:txBody>
                  <a:tcPr marL="91440" marR="91440" marT="36576" marB="36576" anchor="ctr">
                    <a:lnL w="0">
                      <a:noFill/>
                    </a:lnL>
                    <a:lnR w="0">
                      <a:noFill/>
                    </a:lnR>
                    <a:lnT w="0">
                      <a:noFill/>
                    </a:lnT>
                    <a:lnB w="0">
                      <a:noFill/>
                    </a:lnB>
                    <a:solidFill>
                      <a:srgbClr val="FBF1E4"/>
                    </a:solidFill>
                  </a:tcPr>
                </a:tc>
                <a:tc>
                  <a:txBody>
                    <a:bodyPr/>
                    <a:lstStyle/>
                    <a:p>
                      <a:pPr algn="ctr" marL="0" indent="0">
                        <a:buNone/>
                      </a:pPr>
                      <a:r>
                        <a:rPr lang="en-US" sz="1200" b="1" dirty="0">
                          <a:solidFill>
                            <a:srgbClr val="21295C"/>
                          </a:solidFill>
                          <a:latin typeface="Calibri"/>
                          <a:ea typeface="Calibri"/>
                          <a:cs typeface="Calibri"/>
                        </a:rPr>
                        <a:t>132.9</a:t>
                      </a:r>
                    </a:p>
                  </a:txBody>
                  <a:tcPr marL="91440" marR="91440" marT="36576" marB="36576" anchor="ctr">
                    <a:lnL w="0">
                      <a:noFill/>
                    </a:lnL>
                    <a:lnR w="0">
                      <a:noFill/>
                    </a:lnR>
                    <a:lnT w="0">
                      <a:noFill/>
                    </a:lnT>
                    <a:lnB w="0">
                      <a:noFill/>
                    </a:lnB>
                    <a:solidFill>
                      <a:srgbClr val="FBF1E4"/>
                    </a:solidFill>
                  </a:tcPr>
                </a:tc>
                <a:tc>
                  <a:txBody>
                    <a:bodyPr/>
                    <a:lstStyle/>
                    <a:p>
                      <a:pPr algn="ctr" marL="0" indent="0">
                        <a:buNone/>
                      </a:pPr>
                      <a:r>
                        <a:rPr lang="en-US" sz="1200" b="1" dirty="0">
                          <a:solidFill>
                            <a:srgbClr val="21295C"/>
                          </a:solidFill>
                          <a:latin typeface="Calibri"/>
                          <a:ea typeface="Calibri"/>
                          <a:cs typeface="Calibri"/>
                        </a:rPr>
                        <a:t>328.8</a:t>
                      </a:r>
                    </a:p>
                  </a:txBody>
                  <a:tcPr marL="91440" marR="91440" marT="36576" marB="36576" anchor="ctr">
                    <a:lnL w="0">
                      <a:noFill/>
                    </a:lnL>
                    <a:lnR w="0">
                      <a:noFill/>
                    </a:lnR>
                    <a:lnT w="0">
                      <a:noFill/>
                    </a:lnT>
                    <a:lnB w="0">
                      <a:noFill/>
                    </a:lnB>
                    <a:solidFill>
                      <a:srgbClr val="FBF1E4"/>
                    </a:solidFill>
                  </a:tcPr>
                </a:tc>
              </a:tr>
              <a:tr h="384048">
                <a:tc>
                  <a:txBody>
                    <a:bodyPr/>
                    <a:lstStyle/>
                    <a:p>
                      <a:pPr algn="l" marL="0" indent="0">
                        <a:buNone/>
                      </a:pPr>
                      <a:r>
                        <a:rPr lang="en-US" sz="1200" b="1" dirty="0">
                          <a:solidFill>
                            <a:srgbClr val="21295C"/>
                          </a:solidFill>
                          <a:latin typeface="Calibri"/>
                          <a:ea typeface="Calibri"/>
                          <a:cs typeface="Calibri"/>
                        </a:rPr>
                        <a:t>Track A strike, same sample</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113.999</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113.145</a:t>
                      </a:r>
                    </a:p>
                  </a:txBody>
                  <a:tcPr marL="91440" marR="91440" marT="36576" marB="36576" anchor="ctr">
                    <a:lnL w="0">
                      <a:noFill/>
                    </a:lnL>
                    <a:lnR w="0">
                      <a:noFill/>
                    </a:lnR>
                    <a:lnT w="0">
                      <a:noFill/>
                    </a:lnT>
                    <a:lnB w="0">
                      <a:noFill/>
                    </a:lnB>
                    <a:solidFill>
                      <a:srgbClr val="FFFFFF"/>
                    </a:solidFill>
                  </a:tcPr>
                </a:tc>
              </a:tr>
              <a:tr h="384048">
                <a:tc>
                  <a:txBody>
                    <a:bodyPr/>
                    <a:lstStyle/>
                    <a:p>
                      <a:pPr algn="l" marL="0" indent="0">
                        <a:buNone/>
                      </a:pPr>
                      <a:r>
                        <a:rPr lang="en-US" sz="1200" b="1" dirty="0">
                          <a:solidFill>
                            <a:srgbClr val="21295C"/>
                          </a:solidFill>
                          <a:latin typeface="Calibri"/>
                          <a:ea typeface="Calibri"/>
                          <a:cs typeface="Calibri"/>
                        </a:rPr>
                        <a:t>Ratio model / market  (at h = 1)</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00" b="0" dirty="0">
                          <a:solidFill>
                            <a:srgbClr val="56606B"/>
                          </a:solidFill>
                          <a:latin typeface="Calibri"/>
                          <a:ea typeface="Calibri"/>
                          <a:cs typeface="Calibri"/>
                        </a:rPr>
                        <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00" b="0" dirty="0">
                          <a:solidFill>
                            <a:srgbClr val="56606B"/>
                          </a:solidFill>
                          <a:latin typeface="Calibri"/>
                          <a:ea typeface="Calibri"/>
                          <a:cs typeface="Calibri"/>
                        </a:rPr>
                        <a:t>1.17  (2.82)</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00" b="0" dirty="0">
                          <a:solidFill>
                            <a:srgbClr val="56606B"/>
                          </a:solidFill>
                          <a:latin typeface="Calibri"/>
                          <a:ea typeface="Calibri"/>
                          <a:cs typeface="Calibri"/>
                        </a:rPr>
                        <a:t>2.91  (3.87)</a:t>
                      </a:r>
                    </a:p>
                  </a:txBody>
                  <a:tcPr marL="91440" marR="91440" marT="36576" marB="36576" anchor="ctr">
                    <a:lnL w="0">
                      <a:noFill/>
                    </a:lnL>
                    <a:lnR w="0">
                      <a:noFill/>
                    </a:lnR>
                    <a:lnT w="0">
                      <a:noFill/>
                    </a:lnT>
                    <a:lnB w="0">
                      <a:noFill/>
                    </a:lnB>
                    <a:solidFill>
                      <a:srgbClr val="EEF3F7"/>
                    </a:solidFill>
                  </a:tcPr>
                </a:tc>
              </a:tr>
            </a:tbl>
          </a:graphicData>
        </a:graphic>
      </p:graphicFrame>
      <p:sp>
        <p:nvSpPr>
          <p:cNvPr id="5" name="Rounded Rectangle 4"/>
          <p:cNvSpPr/>
          <p:nvPr/>
        </p:nvSpPr>
        <p:spPr>
          <a:xfrm>
            <a:off x="548640" y="5349240"/>
            <a:ext cx="11109960" cy="91440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5413248"/>
            <a:ext cx="10561320" cy="786384"/>
          </a:xfrm>
          <a:prstGeom prst="rect">
            <a:avLst/>
          </a:prstGeom>
          <a:noFill/>
        </p:spPr>
        <p:txBody>
          <a:bodyPr wrap="square" lIns="0" rIns="0" tIns="0" bIns="0" anchor="ctr">
            <a:spAutoFit/>
          </a:bodyPr>
          <a:lstStyle/>
          <a:p>
            <a:pPr algn="l" marL="0" indent="0">
              <a:lnSpc>
                <a:spcPct val="108000"/>
              </a:lnSpc>
              <a:buNone/>
            </a:pPr>
            <a:r>
              <a:rPr lang="en-US" sz="1200" b="1" dirty="0">
                <a:solidFill>
                  <a:srgbClr val="21295C"/>
                </a:solidFill>
                <a:latin typeface="Calibri"/>
                <a:ea typeface="Calibri"/>
                <a:cs typeface="Calibri"/>
              </a:rPr>
              <a:t>Arithmetic reconciliation, not a frozen phase output. </a:t>
            </a:r>
            <a:r>
              <a:rPr lang="en-US" sz="1200" b="0" dirty="0">
                <a:solidFill>
                  <a:srgbClr val="56606B"/>
                </a:solidFill>
                <a:latin typeface="Calibri"/>
                <a:ea typeface="Calibri"/>
                <a:cs typeface="Calibri"/>
              </a:rPr>
              <a:t>Each step is a first-order delta-method approximation at the sample mean, so the figures are order-of-magnitude statements. Both models overstate the market — the expected effect of calibrating on one grid point against a spatially averaged national fleet.</a:t>
            </a:r>
          </a:p>
        </p:txBody>
      </p:sp>
      <p:sp>
        <p:nvSpPr>
          <p:cNvPr id="7" name="TextBox 6"/>
          <p:cNvSpPr txBox="1"/>
          <p:nvPr/>
        </p:nvSpPr>
        <p:spPr>
          <a:xfrm>
            <a:off x="548640" y="6510528"/>
            <a:ext cx="8229600" cy="256032"/>
          </a:xfrm>
          <a:prstGeom prst="rect">
            <a:avLst/>
          </a:prstGeom>
          <a:noFill/>
        </p:spPr>
        <p:txBody>
          <a:bodyPr wrap="square" lIns="0" rIns="0" tIns="0" bIns="0" anchor="ctr">
            <a:spAutoFit/>
          </a:bodyPr>
          <a:lstStyle/>
          <a:p>
            <a:pPr algn="l" marL="0" indent="0">
              <a:buNone/>
            </a:pPr>
            <a:r>
              <a:rPr lang="en-US" sz="900" b="0" i="1" dirty="0">
                <a:solidFill>
                  <a:srgbClr val="56606B"/>
                </a:solidFill>
                <a:latin typeface="Calibri"/>
                <a:ea typeface="Calibri"/>
                <a:cs typeface="Calibri"/>
              </a:rPr>
              <a:t>Wind Speed Modelling for Derivatives Pricing — Final Defence</a:t>
            </a:r>
          </a:p>
        </p:txBody>
      </p:sp>
      <p:sp>
        <p:nvSpPr>
          <p:cNvPr id="8" name="TextBox 7"/>
          <p:cNvSpPr txBox="1"/>
          <p:nvPr/>
        </p:nvSpPr>
        <p:spPr>
          <a:xfrm>
            <a:off x="11365992" y="6510528"/>
            <a:ext cx="365760" cy="256032"/>
          </a:xfrm>
          <a:prstGeom prst="rect">
            <a:avLst/>
          </a:prstGeom>
          <a:noFill/>
        </p:spPr>
        <p:txBody>
          <a:bodyPr wrap="square" lIns="0" rIns="0" tIns="0" bIns="0" anchor="ctr">
            <a:spAutoFit/>
          </a:bodyPr>
          <a:lstStyle/>
          <a:p>
            <a:pPr algn="r" marL="0" indent="0">
              <a:buNone/>
            </a:pPr>
            <a:r>
              <a:rPr lang="en-US" sz="900" b="0" dirty="0">
                <a:solidFill>
                  <a:srgbClr val="56606B"/>
                </a:solidFill>
                <a:latin typeface="Calibri"/>
                <a:ea typeface="Calibri"/>
                <a:cs typeface="Calibri"/>
              </a:rPr>
              <a:t>16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292608"/>
          </a:xfrm>
          <a:prstGeom prst="rect">
            <a:avLst/>
          </a:prstGeom>
          <a:noFill/>
        </p:spPr>
        <p:txBody>
          <a:bodyPr wrap="square" lIns="0" rIns="0" tIns="0" bIns="0" anchor="ctr">
            <a:spAutoFit/>
          </a:bodyPr>
          <a:lstStyle/>
          <a:p>
            <a:pPr algn="l" marL="0" indent="0">
              <a:buNone/>
            </a:pPr>
            <a:r>
              <a:rPr lang="en-US" sz="1250" b="1" spc="200" kern="0" dirty="0">
                <a:solidFill>
                  <a:srgbClr val="1C7293"/>
                </a:solidFill>
                <a:latin typeface="Calibri"/>
                <a:ea typeface="Calibri"/>
                <a:cs typeface="Calibri"/>
              </a:rPr>
              <a:t>BACKUP B3 · CH. 2 §2.2.4 &amp; CH. 3 §3.2.1 — DIEBOLD–MARIANO</a:t>
            </a:r>
          </a:p>
        </p:txBody>
      </p:sp>
      <p:sp>
        <p:nvSpPr>
          <p:cNvPr id="3" name="TextBox 2"/>
          <p:cNvSpPr txBox="1"/>
          <p:nvPr/>
        </p:nvSpPr>
        <p:spPr>
          <a:xfrm>
            <a:off x="548640" y="658368"/>
            <a:ext cx="11109960" cy="868680"/>
          </a:xfrm>
          <a:prstGeom prst="rect">
            <a:avLst/>
          </a:prstGeom>
          <a:noFill/>
        </p:spPr>
        <p:txBody>
          <a:bodyPr wrap="square" lIns="0" rIns="0" tIns="0" bIns="0" anchor="ctr">
            <a:spAutoFit/>
          </a:bodyPr>
          <a:lstStyle/>
          <a:p>
            <a:pPr algn="l" marL="0" indent="0">
              <a:buNone/>
            </a:pPr>
            <a:r>
              <a:rPr lang="en-US" sz="2700" b="1" dirty="0">
                <a:solidFill>
                  <a:srgbClr val="21295C"/>
                </a:solidFill>
                <a:latin typeface="Cambria"/>
                <a:ea typeface="Cambria"/>
                <a:cs typeface="Cambria"/>
              </a:rPr>
              <a:t>The same test, twice — why the signs differ</a:t>
            </a:r>
          </a:p>
        </p:txBody>
      </p:sp>
      <p:graphicFrame>
        <p:nvGraphicFramePr>
          <p:cNvPr id="4" name="Table 3"/>
          <p:cNvGraphicFramePr>
            <a:graphicFrameLocks noGrp="1"/>
          </p:cNvGraphicFramePr>
          <p:nvPr/>
        </p:nvGraphicFramePr>
        <p:xfrm>
          <a:off x="548640" y="1691640"/>
          <a:ext cx="11109960" cy="2926080"/>
        </p:xfrm>
        <a:graphic>
          <a:graphicData uri="http://schemas.openxmlformats.org/drawingml/2006/table">
            <a:tbl>
              <a:tblPr/>
              <a:tblGrid>
                <a:gridCol w="3063240"/>
                <a:gridCol w="4023360"/>
                <a:gridCol w="4023360"/>
              </a:tblGrid>
              <a:tr h="365760">
                <a:tc>
                  <a:txBody>
                    <a:bodyPr/>
                    <a:lstStyle/>
                    <a:p>
                      <a:pPr algn="l" marL="0" indent="0">
                        <a:buNone/>
                      </a:pPr>
                      <a:r>
                        <a:rPr lang="en-US" sz="1200" b="1" dirty="0">
                          <a:solidFill>
                            <a:srgbClr val="FFFFFF"/>
                          </a:solidFill>
                          <a:latin typeface="Calibri"/>
                          <a:ea typeface="Calibri"/>
                          <a:cs typeface="Calibri"/>
                        </a:rPr>
                        <a:t/>
                      </a:r>
                    </a:p>
                  </a:txBody>
                  <a:tcPr marL="91440" marR="91440" marT="36576" marB="36576" anchor="ctr">
                    <a:lnL w="0">
                      <a:noFill/>
                    </a:lnL>
                    <a:lnR w="0">
                      <a:noFill/>
                    </a:lnR>
                    <a:lnT w="0">
                      <a:noFill/>
                    </a:lnT>
                    <a:lnB w="0">
                      <a:noFill/>
                    </a:lnB>
                    <a:solidFill>
                      <a:srgbClr val="21295C"/>
                    </a:solidFill>
                  </a:tcPr>
                </a:tc>
                <a:tc>
                  <a:txBody>
                    <a:bodyPr/>
                    <a:lstStyle/>
                    <a:p>
                      <a:pPr algn="ctr" marL="0" indent="0">
                        <a:buNone/>
                      </a:pPr>
                      <a:r>
                        <a:rPr lang="en-US" sz="1200" b="1" dirty="0">
                          <a:solidFill>
                            <a:srgbClr val="FFFFFF"/>
                          </a:solidFill>
                          <a:latin typeface="Calibri"/>
                          <a:ea typeface="Calibri"/>
                          <a:cs typeface="Calibri"/>
                        </a:rPr>
                        <a:t>Chapter 2, §2.2.4</a:t>
                      </a:r>
                    </a:p>
                  </a:txBody>
                  <a:tcPr marL="91440" marR="91440" marT="36576" marB="36576" anchor="ctr">
                    <a:lnL w="0">
                      <a:noFill/>
                    </a:lnL>
                    <a:lnR w="0">
                      <a:noFill/>
                    </a:lnR>
                    <a:lnT w="0">
                      <a:noFill/>
                    </a:lnT>
                    <a:lnB w="0">
                      <a:noFill/>
                    </a:lnB>
                    <a:solidFill>
                      <a:srgbClr val="21295C"/>
                    </a:solidFill>
                  </a:tcPr>
                </a:tc>
                <a:tc>
                  <a:txBody>
                    <a:bodyPr/>
                    <a:lstStyle/>
                    <a:p>
                      <a:pPr algn="ctr" marL="0" indent="0">
                        <a:buNone/>
                      </a:pPr>
                      <a:r>
                        <a:rPr lang="en-US" sz="1200" b="1" dirty="0">
                          <a:solidFill>
                            <a:srgbClr val="FFFFFF"/>
                          </a:solidFill>
                          <a:latin typeface="Calibri"/>
                          <a:ea typeface="Calibri"/>
                          <a:cs typeface="Calibri"/>
                        </a:rPr>
                        <a:t>Chapter 3, §3.2.1</a:t>
                      </a:r>
                    </a:p>
                  </a:txBody>
                  <a:tcPr marL="91440" marR="91440" marT="36576" marB="36576" anchor="ctr">
                    <a:lnL w="0">
                      <a:noFill/>
                    </a:lnL>
                    <a:lnR w="0">
                      <a:noFill/>
                    </a:lnR>
                    <a:lnT w="0">
                      <a:noFill/>
                    </a:lnT>
                    <a:lnB w="0">
                      <a:noFill/>
                    </a:lnB>
                    <a:solidFill>
                      <a:srgbClr val="21295C"/>
                    </a:solidFill>
                  </a:tcPr>
                </a:tc>
              </a:tr>
              <a:tr h="365760">
                <a:tc>
                  <a:txBody>
                    <a:bodyPr/>
                    <a:lstStyle/>
                    <a:p>
                      <a:pPr algn="l" marL="0" indent="0">
                        <a:buNone/>
                      </a:pPr>
                      <a:r>
                        <a:rPr lang="en-US" sz="1200" b="1" dirty="0">
                          <a:solidFill>
                            <a:srgbClr val="21295C"/>
                          </a:solidFill>
                          <a:latin typeface="Calibri"/>
                          <a:ea typeface="Calibri"/>
                          <a:cs typeface="Calibri"/>
                        </a:rPr>
                        <a:t>Loss differential</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dₜ = e²AR(4) − e²persistence</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dₜ = e²persistence − e²model</a:t>
                      </a:r>
                    </a:p>
                  </a:txBody>
                  <a:tcPr marL="91440" marR="91440" marT="36576" marB="36576" anchor="ctr">
                    <a:lnL w="0">
                      <a:noFill/>
                    </a:lnL>
                    <a:lnR w="0">
                      <a:noFill/>
                    </a:lnR>
                    <a:lnT w="0">
                      <a:noFill/>
                    </a:lnT>
                    <a:lnB w="0">
                      <a:noFill/>
                    </a:lnB>
                    <a:solidFill>
                      <a:srgbClr val="FFFFFF"/>
                    </a:solidFill>
                  </a:tcPr>
                </a:tc>
              </a:tr>
              <a:tr h="365760">
                <a:tc>
                  <a:txBody>
                    <a:bodyPr/>
                    <a:lstStyle/>
                    <a:p>
                      <a:pPr algn="l" marL="0" indent="0">
                        <a:buNone/>
                      </a:pPr>
                      <a:r>
                        <a:rPr lang="en-US" sz="1200" b="1" dirty="0">
                          <a:solidFill>
                            <a:srgbClr val="21295C"/>
                          </a:solidFill>
                          <a:latin typeface="Calibri"/>
                          <a:ea typeface="Calibri"/>
                          <a:cs typeface="Calibri"/>
                        </a:rPr>
                        <a:t>A winning model gives</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00" b="0" dirty="0">
                          <a:solidFill>
                            <a:srgbClr val="56606B"/>
                          </a:solidFill>
                          <a:latin typeface="Calibri"/>
                          <a:ea typeface="Calibri"/>
                          <a:cs typeface="Calibri"/>
                        </a:rPr>
                        <a:t>a negative statistic</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00" b="0" dirty="0">
                          <a:solidFill>
                            <a:srgbClr val="56606B"/>
                          </a:solidFill>
                          <a:latin typeface="Calibri"/>
                          <a:ea typeface="Calibri"/>
                          <a:cs typeface="Calibri"/>
                        </a:rPr>
                        <a:t>a positive statistic</a:t>
                      </a:r>
                    </a:p>
                  </a:txBody>
                  <a:tcPr marL="91440" marR="91440" marT="36576" marB="36576" anchor="ctr">
                    <a:lnL w="0">
                      <a:noFill/>
                    </a:lnL>
                    <a:lnR w="0">
                      <a:noFill/>
                    </a:lnR>
                    <a:lnT w="0">
                      <a:noFill/>
                    </a:lnT>
                    <a:lnB w="0">
                      <a:noFill/>
                    </a:lnB>
                    <a:solidFill>
                      <a:srgbClr val="EEF3F7"/>
                    </a:solidFill>
                  </a:tcPr>
                </a:tc>
              </a:tr>
              <a:tr h="365760">
                <a:tc>
                  <a:txBody>
                    <a:bodyPr/>
                    <a:lstStyle/>
                    <a:p>
                      <a:pPr algn="l" marL="0" indent="0">
                        <a:buNone/>
                      </a:pPr>
                      <a:r>
                        <a:rPr lang="en-US" sz="1200" b="1" dirty="0">
                          <a:solidFill>
                            <a:srgbClr val="21295C"/>
                          </a:solidFill>
                          <a:latin typeface="Calibri"/>
                          <a:ea typeface="Calibri"/>
                          <a:cs typeface="Calibri"/>
                        </a:rPr>
                        <a:t>Evaluation sample</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held-out partition (220 / 548 obs.)</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full series (1,461 / 3,652 errors)</a:t>
                      </a:r>
                    </a:p>
                  </a:txBody>
                  <a:tcPr marL="91440" marR="91440" marT="36576" marB="36576" anchor="ctr">
                    <a:lnL w="0">
                      <a:noFill/>
                    </a:lnL>
                    <a:lnR w="0">
                      <a:noFill/>
                    </a:lnR>
                    <a:lnT w="0">
                      <a:noFill/>
                    </a:lnT>
                    <a:lnB w="0">
                      <a:noFill/>
                    </a:lnB>
                    <a:solidFill>
                      <a:srgbClr val="FFFFFF"/>
                    </a:solidFill>
                  </a:tcPr>
                </a:tc>
              </a:tr>
              <a:tr h="365760">
                <a:tc>
                  <a:txBody>
                    <a:bodyPr/>
                    <a:lstStyle/>
                    <a:p>
                      <a:pPr algn="l" marL="0" indent="0">
                        <a:buNone/>
                      </a:pPr>
                      <a:r>
                        <a:rPr lang="en-US" sz="1200" b="1" dirty="0">
                          <a:solidFill>
                            <a:srgbClr val="21295C"/>
                          </a:solidFill>
                          <a:latin typeface="Calibri"/>
                          <a:ea typeface="Calibri"/>
                          <a:cs typeface="Calibri"/>
                        </a:rPr>
                        <a:t>DM statistic (A / B)</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00" b="0" dirty="0">
                          <a:solidFill>
                            <a:srgbClr val="56606B"/>
                          </a:solidFill>
                          <a:latin typeface="Calibri"/>
                          <a:ea typeface="Calibri"/>
                          <a:cs typeface="Calibri"/>
                        </a:rPr>
                        <a:t>−3.681 / −7.019</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00" b="0" dirty="0">
                          <a:solidFill>
                            <a:srgbClr val="56606B"/>
                          </a:solidFill>
                          <a:latin typeface="Calibri"/>
                          <a:ea typeface="Calibri"/>
                          <a:cs typeface="Calibri"/>
                        </a:rPr>
                        <a:t>+8.265 / +16.758</a:t>
                      </a:r>
                    </a:p>
                  </a:txBody>
                  <a:tcPr marL="91440" marR="91440" marT="36576" marB="36576" anchor="ctr">
                    <a:lnL w="0">
                      <a:noFill/>
                    </a:lnL>
                    <a:lnR w="0">
                      <a:noFill/>
                    </a:lnR>
                    <a:lnT w="0">
                      <a:noFill/>
                    </a:lnT>
                    <a:lnB w="0">
                      <a:noFill/>
                    </a:lnB>
                    <a:solidFill>
                      <a:srgbClr val="EEF3F7"/>
                    </a:solidFill>
                  </a:tcPr>
                </a:tc>
              </a:tr>
              <a:tr h="365760">
                <a:tc>
                  <a:txBody>
                    <a:bodyPr/>
                    <a:lstStyle/>
                    <a:p>
                      <a:pPr algn="l" marL="0" indent="0">
                        <a:buNone/>
                      </a:pPr>
                      <a:r>
                        <a:rPr lang="en-US" sz="1200" b="1" dirty="0">
                          <a:solidFill>
                            <a:srgbClr val="21295C"/>
                          </a:solidFill>
                          <a:latin typeface="Calibri"/>
                          <a:ea typeface="Calibri"/>
                          <a:cs typeface="Calibri"/>
                        </a:rPr>
                        <a:t>RMSE persistence (A / B)</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0.6856 / 0.9955</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0.8868 / 1.0046</a:t>
                      </a:r>
                    </a:p>
                  </a:txBody>
                  <a:tcPr marL="91440" marR="91440" marT="36576" marB="36576" anchor="ctr">
                    <a:lnL w="0">
                      <a:noFill/>
                    </a:lnL>
                    <a:lnR w="0">
                      <a:noFill/>
                    </a:lnR>
                    <a:lnT w="0">
                      <a:noFill/>
                    </a:lnT>
                    <a:lnB w="0">
                      <a:noFill/>
                    </a:lnB>
                    <a:solidFill>
                      <a:srgbClr val="FFFFFF"/>
                    </a:solidFill>
                  </a:tcPr>
                </a:tc>
              </a:tr>
              <a:tr h="365760">
                <a:tc>
                  <a:txBody>
                    <a:bodyPr/>
                    <a:lstStyle/>
                    <a:p>
                      <a:pPr algn="l" marL="0" indent="0">
                        <a:buNone/>
                      </a:pPr>
                      <a:r>
                        <a:rPr lang="en-US" sz="1200" b="1" dirty="0">
                          <a:solidFill>
                            <a:srgbClr val="21295C"/>
                          </a:solidFill>
                          <a:latin typeface="Calibri"/>
                          <a:ea typeface="Calibri"/>
                          <a:cs typeface="Calibri"/>
                        </a:rPr>
                        <a:t>RMSE AR(4) (A / B)</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00" b="0" dirty="0">
                          <a:solidFill>
                            <a:srgbClr val="56606B"/>
                          </a:solidFill>
                          <a:latin typeface="Calibri"/>
                          <a:ea typeface="Calibri"/>
                          <a:cs typeface="Calibri"/>
                        </a:rPr>
                        <a:t>0.6017 / 0.8580</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00" b="0" dirty="0">
                          <a:solidFill>
                            <a:srgbClr val="56606B"/>
                          </a:solidFill>
                          <a:latin typeface="Calibri"/>
                          <a:ea typeface="Calibri"/>
                          <a:cs typeface="Calibri"/>
                        </a:rPr>
                        <a:t>0.7802 / 0.8681</a:t>
                      </a:r>
                    </a:p>
                  </a:txBody>
                  <a:tcPr marL="91440" marR="91440" marT="36576" marB="36576" anchor="ctr">
                    <a:lnL w="0">
                      <a:noFill/>
                    </a:lnL>
                    <a:lnR w="0">
                      <a:noFill/>
                    </a:lnR>
                    <a:lnT w="0">
                      <a:noFill/>
                    </a:lnT>
                    <a:lnB w="0">
                      <a:noFill/>
                    </a:lnB>
                    <a:solidFill>
                      <a:srgbClr val="EEF3F7"/>
                    </a:solidFill>
                  </a:tcPr>
                </a:tc>
              </a:tr>
              <a:tr h="365760">
                <a:tc>
                  <a:txBody>
                    <a:bodyPr/>
                    <a:lstStyle/>
                    <a:p>
                      <a:pPr algn="l" marL="0" indent="0">
                        <a:buNone/>
                      </a:pPr>
                      <a:r>
                        <a:rPr lang="en-US" sz="1200" b="1" dirty="0">
                          <a:solidFill>
                            <a:srgbClr val="21295C"/>
                          </a:solidFill>
                          <a:latin typeface="Calibri"/>
                          <a:ea typeface="Calibri"/>
                          <a:cs typeface="Calibri"/>
                        </a:rPr>
                        <a:t>Improvement (A / B)</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12.2% / 13.8%</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00" b="0" dirty="0">
                          <a:solidFill>
                            <a:srgbClr val="56606B"/>
                          </a:solidFill>
                          <a:latin typeface="Calibri"/>
                          <a:ea typeface="Calibri"/>
                          <a:cs typeface="Calibri"/>
                        </a:rPr>
                        <a:t>12.0% / 13.6%</a:t>
                      </a:r>
                    </a:p>
                  </a:txBody>
                  <a:tcPr marL="91440" marR="91440" marT="36576" marB="36576" anchor="ctr">
                    <a:lnL w="0">
                      <a:noFill/>
                    </a:lnL>
                    <a:lnR w="0">
                      <a:noFill/>
                    </a:lnR>
                    <a:lnT w="0">
                      <a:noFill/>
                    </a:lnT>
                    <a:lnB w="0">
                      <a:noFill/>
                    </a:lnB>
                    <a:solidFill>
                      <a:srgbClr val="FFFFFF"/>
                    </a:solidFill>
                  </a:tcPr>
                </a:tc>
              </a:tr>
            </a:tbl>
          </a:graphicData>
        </a:graphic>
      </p:graphicFrame>
      <p:sp>
        <p:nvSpPr>
          <p:cNvPr id="5" name="Rounded Rectangle 4"/>
          <p:cNvSpPr/>
          <p:nvPr/>
        </p:nvSpPr>
        <p:spPr>
          <a:xfrm>
            <a:off x="548640" y="4800600"/>
            <a:ext cx="5394960" cy="146304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4892040"/>
            <a:ext cx="4937760" cy="1280160"/>
          </a:xfrm>
          <a:prstGeom prst="rect">
            <a:avLst/>
          </a:prstGeom>
          <a:noFill/>
        </p:spPr>
        <p:txBody>
          <a:bodyPr wrap="square" lIns="0" rIns="0" tIns="0" bIns="0" anchor="ctr">
            <a:spAutoFit/>
          </a:bodyPr>
          <a:lstStyle/>
          <a:p>
            <a:pPr algn="l" marL="0" indent="0">
              <a:lnSpc>
                <a:spcPct val="108000"/>
              </a:lnSpc>
              <a:buNone/>
            </a:pPr>
            <a:r>
              <a:rPr lang="en-US" sz="1200" b="1" dirty="0">
                <a:solidFill>
                  <a:srgbClr val="21295C"/>
                </a:solidFill>
                <a:latin typeface="Calibri"/>
                <a:ea typeface="Calibri"/>
                <a:cs typeface="Calibri"/>
              </a:rPr>
              <a:t>The sign is a convention, not a result. </a:t>
            </a:r>
            <a:r>
              <a:rPr lang="en-US" sz="1200" b="0" dirty="0">
                <a:solidFill>
                  <a:srgbClr val="56606B"/>
                </a:solidFill>
                <a:latin typeface="Calibri"/>
                <a:ea typeface="Calibri"/>
                <a:cs typeface="Calibri"/>
              </a:rPr>
              <a:t>Same test, same conclusion: every fitted specification rejects equal accuracy with persistence at any conventional level, on either convention and either sample. Magnitudes scale with √n.</a:t>
            </a:r>
          </a:p>
        </p:txBody>
      </p:sp>
      <p:sp>
        <p:nvSpPr>
          <p:cNvPr id="7" name="Rounded Rectangle 6"/>
          <p:cNvSpPr/>
          <p:nvPr/>
        </p:nvSpPr>
        <p:spPr>
          <a:xfrm>
            <a:off x="6263640" y="4800600"/>
            <a:ext cx="5394960" cy="146304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92240" y="4892040"/>
            <a:ext cx="4937760" cy="1280160"/>
          </a:xfrm>
          <a:prstGeom prst="rect">
            <a:avLst/>
          </a:prstGeom>
          <a:noFill/>
        </p:spPr>
        <p:txBody>
          <a:bodyPr wrap="square" lIns="0" rIns="0" tIns="0" bIns="0" anchor="ctr">
            <a:spAutoFit/>
          </a:bodyPr>
          <a:lstStyle/>
          <a:p>
            <a:pPr algn="l" marL="0" indent="0">
              <a:lnSpc>
                <a:spcPct val="108000"/>
              </a:lnSpc>
              <a:buNone/>
            </a:pPr>
            <a:r>
              <a:rPr lang="en-US" sz="1200" b="1" dirty="0">
                <a:solidFill>
                  <a:srgbClr val="21295C"/>
                </a:solidFill>
                <a:latin typeface="Calibri"/>
                <a:ea typeface="Calibri"/>
                <a:cs typeface="Calibri"/>
              </a:rPr>
              <a:t>Why A's RMSEs move by 23%, B's by under 1%. </a:t>
            </a:r>
            <a:r>
              <a:rPr lang="en-US" sz="1200" b="0" dirty="0">
                <a:solidFill>
                  <a:srgbClr val="56606B"/>
                </a:solidFill>
                <a:latin typeface="Calibri"/>
                <a:ea typeface="Calibri"/>
                <a:cs typeface="Calibri"/>
              </a:rPr>
              <a:t>A's hold-out ends in a calm spell: √(0.4137/0.608) = 0.825 vs an observed 0.773. B's h(t₀) = 0.7511 sits at its unconditional 0.7522, predicting one vs an observed 0.991.</a:t>
            </a:r>
          </a:p>
        </p:txBody>
      </p:sp>
      <p:sp>
        <p:nvSpPr>
          <p:cNvPr id="9" name="TextBox 8"/>
          <p:cNvSpPr txBox="1"/>
          <p:nvPr/>
        </p:nvSpPr>
        <p:spPr>
          <a:xfrm>
            <a:off x="548640" y="6510528"/>
            <a:ext cx="8229600" cy="256032"/>
          </a:xfrm>
          <a:prstGeom prst="rect">
            <a:avLst/>
          </a:prstGeom>
          <a:noFill/>
        </p:spPr>
        <p:txBody>
          <a:bodyPr wrap="square" lIns="0" rIns="0" tIns="0" bIns="0" anchor="ctr">
            <a:spAutoFit/>
          </a:bodyPr>
          <a:lstStyle/>
          <a:p>
            <a:pPr algn="l" marL="0" indent="0">
              <a:buNone/>
            </a:pPr>
            <a:r>
              <a:rPr lang="en-US" sz="900" b="0" i="1" dirty="0">
                <a:solidFill>
                  <a:srgbClr val="56606B"/>
                </a:solidFill>
                <a:latin typeface="Calibri"/>
                <a:ea typeface="Calibri"/>
                <a:cs typeface="Calibri"/>
              </a:rPr>
              <a:t>Wind Speed Modelling for Derivatives Pricing — Final Defence</a:t>
            </a:r>
          </a:p>
        </p:txBody>
      </p:sp>
      <p:sp>
        <p:nvSpPr>
          <p:cNvPr id="10" name="TextBox 9"/>
          <p:cNvSpPr txBox="1"/>
          <p:nvPr/>
        </p:nvSpPr>
        <p:spPr>
          <a:xfrm>
            <a:off x="11365992" y="6510528"/>
            <a:ext cx="365760" cy="256032"/>
          </a:xfrm>
          <a:prstGeom prst="rect">
            <a:avLst/>
          </a:prstGeom>
          <a:noFill/>
        </p:spPr>
        <p:txBody>
          <a:bodyPr wrap="square" lIns="0" rIns="0" tIns="0" bIns="0" anchor="ctr">
            <a:spAutoFit/>
          </a:bodyPr>
          <a:lstStyle/>
          <a:p>
            <a:pPr algn="r" marL="0" indent="0">
              <a:buNone/>
            </a:pPr>
            <a:r>
              <a:rPr lang="en-US" sz="900" b="0" dirty="0">
                <a:solidFill>
                  <a:srgbClr val="56606B"/>
                </a:solidFill>
                <a:latin typeface="Calibri"/>
                <a:ea typeface="Calibri"/>
                <a:cs typeface="Calibri"/>
              </a:rPr>
              <a:t>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292608"/>
          </a:xfrm>
          <a:prstGeom prst="rect">
            <a:avLst/>
          </a:prstGeom>
          <a:noFill/>
        </p:spPr>
        <p:txBody>
          <a:bodyPr wrap="square" lIns="0" rIns="0" tIns="0" bIns="0" anchor="ctr">
            <a:spAutoFit/>
          </a:bodyPr>
          <a:lstStyle/>
          <a:p>
            <a:pPr algn="l" marL="0" indent="0">
              <a:buNone/>
            </a:pPr>
            <a:r>
              <a:rPr lang="en-US" sz="1250" b="1" spc="200" kern="0" dirty="0">
                <a:solidFill>
                  <a:srgbClr val="1C7293"/>
                </a:solidFill>
                <a:latin typeface="Calibri"/>
                <a:ea typeface="Calibri"/>
                <a:cs typeface="Calibri"/>
              </a:rPr>
              <a:t>BACKUP B4 · CH. 3 §3.3.1 — HEIGHT CORRECTION</a:t>
            </a:r>
          </a:p>
        </p:txBody>
      </p:sp>
      <p:sp>
        <p:nvSpPr>
          <p:cNvPr id="3" name="TextBox 2"/>
          <p:cNvSpPr txBox="1"/>
          <p:nvPr/>
        </p:nvSpPr>
        <p:spPr>
          <a:xfrm>
            <a:off x="548640" y="658368"/>
            <a:ext cx="11109960" cy="868680"/>
          </a:xfrm>
          <a:prstGeom prst="rect">
            <a:avLst/>
          </a:prstGeom>
          <a:noFill/>
        </p:spPr>
        <p:txBody>
          <a:bodyPr wrap="square" lIns="0" rIns="0" tIns="0" bIns="0" anchor="ctr">
            <a:spAutoFit/>
          </a:bodyPr>
          <a:lstStyle/>
          <a:p>
            <a:pPr algn="l" marL="0" indent="0">
              <a:buNone/>
            </a:pPr>
            <a:r>
              <a:rPr lang="en-US" sz="2700" b="1" dirty="0">
                <a:solidFill>
                  <a:srgbClr val="21295C"/>
                </a:solidFill>
                <a:latin typeface="Cambria"/>
                <a:ea typeface="Cambria"/>
                <a:cs typeface="Cambria"/>
              </a:rPr>
              <a:t>No admissible profile exponent turns the gap into a height effect</a:t>
            </a:r>
          </a:p>
        </p:txBody>
      </p:sp>
      <p:graphicFrame>
        <p:nvGraphicFramePr>
          <p:cNvPr id="4" name="Table 3"/>
          <p:cNvGraphicFramePr>
            <a:graphicFrameLocks noGrp="1"/>
          </p:cNvGraphicFramePr>
          <p:nvPr/>
        </p:nvGraphicFramePr>
        <p:xfrm>
          <a:off x="548640" y="1783080"/>
          <a:ext cx="8412480" cy="2468880"/>
        </p:xfrm>
        <a:graphic>
          <a:graphicData uri="http://schemas.openxmlformats.org/drawingml/2006/table">
            <a:tbl>
              <a:tblPr/>
              <a:tblGrid>
                <a:gridCol w="3291840"/>
                <a:gridCol w="1737360"/>
                <a:gridCol w="1828800"/>
                <a:gridCol w="1554480"/>
              </a:tblGrid>
              <a:tr h="411480">
                <a:tc>
                  <a:txBody>
                    <a:bodyPr/>
                    <a:lstStyle/>
                    <a:p>
                      <a:pPr algn="l" marL="0" indent="0">
                        <a:buNone/>
                      </a:pPr>
                      <a:r>
                        <a:rPr lang="en-US" sz="1250" b="1" dirty="0">
                          <a:solidFill>
                            <a:srgbClr val="FFFFFF"/>
                          </a:solidFill>
                          <a:latin typeface="Calibri"/>
                          <a:ea typeface="Calibri"/>
                          <a:cs typeface="Calibri"/>
                        </a:rPr>
                        <a:t>Profile exponent α</a:t>
                      </a:r>
                    </a:p>
                  </a:txBody>
                  <a:tcPr marL="91440" marR="91440" marT="36576" marB="36576" anchor="ctr">
                    <a:lnL w="0">
                      <a:noFill/>
                    </a:lnL>
                    <a:lnR w="0">
                      <a:noFill/>
                    </a:lnR>
                    <a:lnT w="0">
                      <a:noFill/>
                    </a:lnT>
                    <a:lnB w="0">
                      <a:noFill/>
                    </a:lnB>
                    <a:solidFill>
                      <a:srgbClr val="21295C"/>
                    </a:solidFill>
                  </a:tcPr>
                </a:tc>
                <a:tc>
                  <a:txBody>
                    <a:bodyPr/>
                    <a:lstStyle/>
                    <a:p>
                      <a:pPr algn="ctr" marL="0" indent="0">
                        <a:buNone/>
                      </a:pPr>
                      <a:r>
                        <a:rPr lang="en-US" sz="1250" b="1" dirty="0">
                          <a:solidFill>
                            <a:srgbClr val="FFFFFF"/>
                          </a:solidFill>
                          <a:latin typeface="Calibri"/>
                          <a:ea typeface="Calibri"/>
                          <a:cs typeface="Calibri"/>
                        </a:rPr>
                        <a:t>Factor 10^(2α)</a:t>
                      </a:r>
                    </a:p>
                  </a:txBody>
                  <a:tcPr marL="91440" marR="91440" marT="36576" marB="36576" anchor="ctr">
                    <a:lnL w="0">
                      <a:noFill/>
                    </a:lnL>
                    <a:lnR w="0">
                      <a:noFill/>
                    </a:lnR>
                    <a:lnT w="0">
                      <a:noFill/>
                    </a:lnT>
                    <a:lnB w="0">
                      <a:noFill/>
                    </a:lnB>
                    <a:solidFill>
                      <a:srgbClr val="21295C"/>
                    </a:solidFill>
                  </a:tcPr>
                </a:tc>
                <a:tc>
                  <a:txBody>
                    <a:bodyPr/>
                    <a:lstStyle/>
                    <a:p>
                      <a:pPr algn="ctr" marL="0" indent="0">
                        <a:buNone/>
                      </a:pPr>
                      <a:r>
                        <a:rPr lang="en-US" sz="1250" b="1" dirty="0">
                          <a:solidFill>
                            <a:srgbClr val="FFFFFF"/>
                          </a:solidFill>
                          <a:latin typeface="Calibri"/>
                          <a:ea typeface="Calibri"/>
                          <a:cs typeface="Calibri"/>
                        </a:rPr>
                        <a:t>Corrected K, A</a:t>
                      </a:r>
                    </a:p>
                  </a:txBody>
                  <a:tcPr marL="91440" marR="91440" marT="36576" marB="36576" anchor="ctr">
                    <a:lnL w="0">
                      <a:noFill/>
                    </a:lnL>
                    <a:lnR w="0">
                      <a:noFill/>
                    </a:lnR>
                    <a:lnT w="0">
                      <a:noFill/>
                    </a:lnT>
                    <a:lnB w="0">
                      <a:noFill/>
                    </a:lnB>
                    <a:solidFill>
                      <a:srgbClr val="21295C"/>
                    </a:solidFill>
                  </a:tcPr>
                </a:tc>
                <a:tc>
                  <a:txBody>
                    <a:bodyPr/>
                    <a:lstStyle/>
                    <a:p>
                      <a:pPr algn="ctr" marL="0" indent="0">
                        <a:buNone/>
                      </a:pPr>
                      <a:r>
                        <a:rPr lang="en-US" sz="1250" b="1" dirty="0">
                          <a:solidFill>
                            <a:srgbClr val="FFFFFF"/>
                          </a:solidFill>
                          <a:latin typeface="Calibri"/>
                          <a:ea typeface="Calibri"/>
                          <a:cs typeface="Calibri"/>
                        </a:rPr>
                        <a:t>Mispricing</a:t>
                      </a:r>
                    </a:p>
                  </a:txBody>
                  <a:tcPr marL="91440" marR="91440" marT="36576" marB="36576" anchor="ctr">
                    <a:lnL w="0">
                      <a:noFill/>
                    </a:lnL>
                    <a:lnR w="0">
                      <a:noFill/>
                    </a:lnR>
                    <a:lnT w="0">
                      <a:noFill/>
                    </a:lnT>
                    <a:lnB w="0">
                      <a:noFill/>
                    </a:lnB>
                    <a:solidFill>
                      <a:srgbClr val="21295C"/>
                    </a:solidFill>
                  </a:tcPr>
                </a:tc>
              </a:tr>
              <a:tr h="411480">
                <a:tc>
                  <a:txBody>
                    <a:bodyPr/>
                    <a:lstStyle/>
                    <a:p>
                      <a:pPr algn="l" marL="0" indent="0">
                        <a:buNone/>
                      </a:pPr>
                      <a:r>
                        <a:rPr lang="en-US" sz="1250" b="1" dirty="0">
                          <a:solidFill>
                            <a:srgbClr val="21295C"/>
                          </a:solidFill>
                          <a:latin typeface="Calibri"/>
                          <a:ea typeface="Calibri"/>
                          <a:cs typeface="Calibri"/>
                        </a:rPr>
                        <a:t>1/10 (open water)</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50" b="0" dirty="0">
                          <a:solidFill>
                            <a:srgbClr val="56606B"/>
                          </a:solidFill>
                          <a:latin typeface="Calibri"/>
                          <a:ea typeface="Calibri"/>
                          <a:cs typeface="Calibri"/>
                        </a:rPr>
                        <a:t>1.585</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50" b="0" dirty="0">
                          <a:solidFill>
                            <a:srgbClr val="56606B"/>
                          </a:solidFill>
                          <a:latin typeface="Calibri"/>
                          <a:ea typeface="Calibri"/>
                          <a:cs typeface="Calibri"/>
                        </a:rPr>
                        <a:t>0.0861</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50" b="0" dirty="0">
                          <a:solidFill>
                            <a:srgbClr val="56606B"/>
                          </a:solidFill>
                          <a:latin typeface="Calibri"/>
                          <a:ea typeface="Calibri"/>
                          <a:cs typeface="Calibri"/>
                        </a:rPr>
                        <a:t>90.1%</a:t>
                      </a:r>
                    </a:p>
                  </a:txBody>
                  <a:tcPr marL="91440" marR="91440" marT="36576" marB="36576" anchor="ctr">
                    <a:lnL w="0">
                      <a:noFill/>
                    </a:lnL>
                    <a:lnR w="0">
                      <a:noFill/>
                    </a:lnR>
                    <a:lnT w="0">
                      <a:noFill/>
                    </a:lnT>
                    <a:lnB w="0">
                      <a:noFill/>
                    </a:lnB>
                    <a:solidFill>
                      <a:srgbClr val="FFFFFF"/>
                    </a:solidFill>
                  </a:tcPr>
                </a:tc>
              </a:tr>
              <a:tr h="411480">
                <a:tc>
                  <a:txBody>
                    <a:bodyPr/>
                    <a:lstStyle/>
                    <a:p>
                      <a:pPr algn="l" marL="0" indent="0">
                        <a:buNone/>
                      </a:pPr>
                      <a:r>
                        <a:rPr lang="en-US" sz="1250" b="1" dirty="0">
                          <a:solidFill>
                            <a:srgbClr val="21295C"/>
                          </a:solidFill>
                          <a:latin typeface="Calibri"/>
                          <a:ea typeface="Calibri"/>
                          <a:cs typeface="Calibri"/>
                        </a:rPr>
                        <a:t>1/7 (adopted)</a:t>
                      </a:r>
                    </a:p>
                  </a:txBody>
                  <a:tcPr marL="91440" marR="91440" marT="36576" marB="36576" anchor="ctr">
                    <a:lnL w="0">
                      <a:noFill/>
                    </a:lnL>
                    <a:lnR w="0">
                      <a:noFill/>
                    </a:lnR>
                    <a:lnT w="0">
                      <a:noFill/>
                    </a:lnT>
                    <a:lnB w="0">
                      <a:noFill/>
                    </a:lnB>
                    <a:solidFill>
                      <a:srgbClr val="FBF1E4"/>
                    </a:solidFill>
                  </a:tcPr>
                </a:tc>
                <a:tc>
                  <a:txBody>
                    <a:bodyPr/>
                    <a:lstStyle/>
                    <a:p>
                      <a:pPr algn="ctr" marL="0" indent="0">
                        <a:buNone/>
                      </a:pPr>
                      <a:r>
                        <a:rPr lang="en-US" sz="1250" b="1" dirty="0">
                          <a:solidFill>
                            <a:srgbClr val="21295C"/>
                          </a:solidFill>
                          <a:latin typeface="Calibri"/>
                          <a:ea typeface="Calibri"/>
                          <a:cs typeface="Calibri"/>
                        </a:rPr>
                        <a:t>1.931</a:t>
                      </a:r>
                    </a:p>
                  </a:txBody>
                  <a:tcPr marL="91440" marR="91440" marT="36576" marB="36576" anchor="ctr">
                    <a:lnL w="0">
                      <a:noFill/>
                    </a:lnL>
                    <a:lnR w="0">
                      <a:noFill/>
                    </a:lnR>
                    <a:lnT w="0">
                      <a:noFill/>
                    </a:lnT>
                    <a:lnB w="0">
                      <a:noFill/>
                    </a:lnB>
                    <a:solidFill>
                      <a:srgbClr val="FBF1E4"/>
                    </a:solidFill>
                  </a:tcPr>
                </a:tc>
                <a:tc>
                  <a:txBody>
                    <a:bodyPr/>
                    <a:lstStyle/>
                    <a:p>
                      <a:pPr algn="ctr" marL="0" indent="0">
                        <a:buNone/>
                      </a:pPr>
                      <a:r>
                        <a:rPr lang="en-US" sz="1250" b="1" dirty="0">
                          <a:solidFill>
                            <a:srgbClr val="21295C"/>
                          </a:solidFill>
                          <a:latin typeface="Calibri"/>
                          <a:ea typeface="Calibri"/>
                          <a:cs typeface="Calibri"/>
                        </a:rPr>
                        <a:t>0.1049</a:t>
                      </a:r>
                    </a:p>
                  </a:txBody>
                  <a:tcPr marL="91440" marR="91440" marT="36576" marB="36576" anchor="ctr">
                    <a:lnL w="0">
                      <a:noFill/>
                    </a:lnL>
                    <a:lnR w="0">
                      <a:noFill/>
                    </a:lnR>
                    <a:lnT w="0">
                      <a:noFill/>
                    </a:lnT>
                    <a:lnB w="0">
                      <a:noFill/>
                    </a:lnB>
                    <a:solidFill>
                      <a:srgbClr val="FBF1E4"/>
                    </a:solidFill>
                  </a:tcPr>
                </a:tc>
                <a:tc>
                  <a:txBody>
                    <a:bodyPr/>
                    <a:lstStyle/>
                    <a:p>
                      <a:pPr algn="ctr" marL="0" indent="0">
                        <a:buNone/>
                      </a:pPr>
                      <a:r>
                        <a:rPr lang="en-US" sz="1250" b="1" dirty="0">
                          <a:solidFill>
                            <a:srgbClr val="21295C"/>
                          </a:solidFill>
                          <a:latin typeface="Calibri"/>
                          <a:ea typeface="Calibri"/>
                          <a:cs typeface="Calibri"/>
                        </a:rPr>
                        <a:t>88.0%</a:t>
                      </a:r>
                    </a:p>
                  </a:txBody>
                  <a:tcPr marL="91440" marR="91440" marT="36576" marB="36576" anchor="ctr">
                    <a:lnL w="0">
                      <a:noFill/>
                    </a:lnL>
                    <a:lnR w="0">
                      <a:noFill/>
                    </a:lnR>
                    <a:lnT w="0">
                      <a:noFill/>
                    </a:lnT>
                    <a:lnB w="0">
                      <a:noFill/>
                    </a:lnB>
                    <a:solidFill>
                      <a:srgbClr val="FBF1E4"/>
                    </a:solidFill>
                  </a:tcPr>
                </a:tc>
              </a:tr>
              <a:tr h="411480">
                <a:tc>
                  <a:txBody>
                    <a:bodyPr/>
                    <a:lstStyle/>
                    <a:p>
                      <a:pPr algn="l" marL="0" indent="0">
                        <a:buNone/>
                      </a:pPr>
                      <a:r>
                        <a:rPr lang="en-US" sz="1250" b="1" dirty="0">
                          <a:solidFill>
                            <a:srgbClr val="21295C"/>
                          </a:solidFill>
                          <a:latin typeface="Calibri"/>
                          <a:ea typeface="Calibri"/>
                          <a:cs typeface="Calibri"/>
                        </a:rPr>
                        <a:t>0.168 (ERA5 coastal, lower bound)</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50" b="0" dirty="0">
                          <a:solidFill>
                            <a:srgbClr val="56606B"/>
                          </a:solidFill>
                          <a:latin typeface="Calibri"/>
                          <a:ea typeface="Calibri"/>
                          <a:cs typeface="Calibri"/>
                        </a:rPr>
                        <a:t>2.166</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50" b="0" dirty="0">
                          <a:solidFill>
                            <a:srgbClr val="56606B"/>
                          </a:solidFill>
                          <a:latin typeface="Calibri"/>
                          <a:ea typeface="Calibri"/>
                          <a:cs typeface="Calibri"/>
                        </a:rPr>
                        <a:t>0.1177</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50" b="0" dirty="0">
                          <a:solidFill>
                            <a:srgbClr val="56606B"/>
                          </a:solidFill>
                          <a:latin typeface="Calibri"/>
                          <a:ea typeface="Calibri"/>
                          <a:cs typeface="Calibri"/>
                        </a:rPr>
                        <a:t>86.5%</a:t>
                      </a:r>
                    </a:p>
                  </a:txBody>
                  <a:tcPr marL="91440" marR="91440" marT="36576" marB="36576" anchor="ctr">
                    <a:lnL w="0">
                      <a:noFill/>
                    </a:lnL>
                    <a:lnR w="0">
                      <a:noFill/>
                    </a:lnR>
                    <a:lnT w="0">
                      <a:noFill/>
                    </a:lnT>
                    <a:lnB w="0">
                      <a:noFill/>
                    </a:lnB>
                    <a:solidFill>
                      <a:srgbClr val="FFFFFF"/>
                    </a:solidFill>
                  </a:tcPr>
                </a:tc>
              </a:tr>
              <a:tr h="411480">
                <a:tc>
                  <a:txBody>
                    <a:bodyPr/>
                    <a:lstStyle/>
                    <a:p>
                      <a:pPr algn="l" marL="0" indent="0">
                        <a:buNone/>
                      </a:pPr>
                      <a:r>
                        <a:rPr lang="en-US" sz="1250" b="1" dirty="0">
                          <a:solidFill>
                            <a:srgbClr val="21295C"/>
                          </a:solidFill>
                          <a:latin typeface="Calibri"/>
                          <a:ea typeface="Calibri"/>
                          <a:cs typeface="Calibri"/>
                        </a:rPr>
                        <a:t>0.20 (rough inland)</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50" b="0" dirty="0">
                          <a:solidFill>
                            <a:srgbClr val="56606B"/>
                          </a:solidFill>
                          <a:latin typeface="Calibri"/>
                          <a:ea typeface="Calibri"/>
                          <a:cs typeface="Calibri"/>
                        </a:rPr>
                        <a:t>2.512</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50" b="0" dirty="0">
                          <a:solidFill>
                            <a:srgbClr val="56606B"/>
                          </a:solidFill>
                          <a:latin typeface="Calibri"/>
                          <a:ea typeface="Calibri"/>
                          <a:cs typeface="Calibri"/>
                        </a:rPr>
                        <a:t>0.1365</a:t>
                      </a:r>
                    </a:p>
                  </a:txBody>
                  <a:tcPr marL="91440" marR="91440" marT="36576" marB="36576" anchor="ctr">
                    <a:lnL w="0">
                      <a:noFill/>
                    </a:lnL>
                    <a:lnR w="0">
                      <a:noFill/>
                    </a:lnR>
                    <a:lnT w="0">
                      <a:noFill/>
                    </a:lnT>
                    <a:lnB w="0">
                      <a:noFill/>
                    </a:lnB>
                    <a:solidFill>
                      <a:srgbClr val="EEF3F7"/>
                    </a:solidFill>
                  </a:tcPr>
                </a:tc>
                <a:tc>
                  <a:txBody>
                    <a:bodyPr/>
                    <a:lstStyle/>
                    <a:p>
                      <a:pPr algn="ctr" marL="0" indent="0">
                        <a:buNone/>
                      </a:pPr>
                      <a:r>
                        <a:rPr lang="en-US" sz="1250" b="0" dirty="0">
                          <a:solidFill>
                            <a:srgbClr val="56606B"/>
                          </a:solidFill>
                          <a:latin typeface="Calibri"/>
                          <a:ea typeface="Calibri"/>
                          <a:cs typeface="Calibri"/>
                        </a:rPr>
                        <a:t>84.4%</a:t>
                      </a:r>
                    </a:p>
                  </a:txBody>
                  <a:tcPr marL="91440" marR="91440" marT="36576" marB="36576" anchor="ctr">
                    <a:lnL w="0">
                      <a:noFill/>
                    </a:lnL>
                    <a:lnR w="0">
                      <a:noFill/>
                    </a:lnR>
                    <a:lnT w="0">
                      <a:noFill/>
                    </a:lnT>
                    <a:lnB w="0">
                      <a:noFill/>
                    </a:lnB>
                    <a:solidFill>
                      <a:srgbClr val="EEF3F7"/>
                    </a:solidFill>
                  </a:tcPr>
                </a:tc>
              </a:tr>
              <a:tr h="411480">
                <a:tc>
                  <a:txBody>
                    <a:bodyPr/>
                    <a:lstStyle/>
                    <a:p>
                      <a:pPr algn="l" marL="0" indent="0">
                        <a:buNone/>
                      </a:pPr>
                      <a:r>
                        <a:rPr lang="en-US" sz="1250" b="1" dirty="0">
                          <a:solidFill>
                            <a:srgbClr val="21295C"/>
                          </a:solidFill>
                          <a:latin typeface="Calibri"/>
                          <a:ea typeface="Calibri"/>
                          <a:cs typeface="Calibri"/>
                        </a:rPr>
                        <a:t>0.25 (very rough terrain)</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50" b="0" dirty="0">
                          <a:solidFill>
                            <a:srgbClr val="56606B"/>
                          </a:solidFill>
                          <a:latin typeface="Calibri"/>
                          <a:ea typeface="Calibri"/>
                          <a:cs typeface="Calibri"/>
                        </a:rPr>
                        <a:t>3.162</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50" b="0" dirty="0">
                          <a:solidFill>
                            <a:srgbClr val="56606B"/>
                          </a:solidFill>
                          <a:latin typeface="Calibri"/>
                          <a:ea typeface="Calibri"/>
                          <a:cs typeface="Calibri"/>
                        </a:rPr>
                        <a:t>0.1719</a:t>
                      </a:r>
                    </a:p>
                  </a:txBody>
                  <a:tcPr marL="91440" marR="91440" marT="36576" marB="36576" anchor="ctr">
                    <a:lnL w="0">
                      <a:noFill/>
                    </a:lnL>
                    <a:lnR w="0">
                      <a:noFill/>
                    </a:lnR>
                    <a:lnT w="0">
                      <a:noFill/>
                    </a:lnT>
                    <a:lnB w="0">
                      <a:noFill/>
                    </a:lnB>
                    <a:solidFill>
                      <a:srgbClr val="FFFFFF"/>
                    </a:solidFill>
                  </a:tcPr>
                </a:tc>
                <a:tc>
                  <a:txBody>
                    <a:bodyPr/>
                    <a:lstStyle/>
                    <a:p>
                      <a:pPr algn="ctr" marL="0" indent="0">
                        <a:buNone/>
                      </a:pPr>
                      <a:r>
                        <a:rPr lang="en-US" sz="1250" b="0" dirty="0">
                          <a:solidFill>
                            <a:srgbClr val="56606B"/>
                          </a:solidFill>
                          <a:latin typeface="Calibri"/>
                          <a:ea typeface="Calibri"/>
                          <a:cs typeface="Calibri"/>
                        </a:rPr>
                        <a:t>80.3%</a:t>
                      </a:r>
                    </a:p>
                  </a:txBody>
                  <a:tcPr marL="91440" marR="91440" marT="36576" marB="36576" anchor="ctr">
                    <a:lnL w="0">
                      <a:noFill/>
                    </a:lnL>
                    <a:lnR w="0">
                      <a:noFill/>
                    </a:lnR>
                    <a:lnT w="0">
                      <a:noFill/>
                    </a:lnT>
                    <a:lnB w="0">
                      <a:noFill/>
                    </a:lnB>
                    <a:solidFill>
                      <a:srgbClr val="FFFFFF"/>
                    </a:solidFill>
                  </a:tcPr>
                </a:tc>
              </a:tr>
            </a:tbl>
          </a:graphicData>
        </a:graphic>
      </p:graphicFrame>
      <p:sp>
        <p:nvSpPr>
          <p:cNvPr id="5" name="Rounded Rectangle 4"/>
          <p:cNvSpPr/>
          <p:nvPr/>
        </p:nvSpPr>
        <p:spPr>
          <a:xfrm>
            <a:off x="9235440" y="1783080"/>
            <a:ext cx="2423160" cy="2468880"/>
          </a:xfrm>
          <a:prstGeom prst="roundRect">
            <a:avLst>
              <a:gd name="adj" fmla="val 3599"/>
            </a:avLst>
          </a:prstGeom>
          <a:solidFill>
            <a:srgbClr val="F7FAFC"/>
          </a:solidFill>
          <a:ln>
            <a:noFill/>
          </a:ln>
          <a:effectLst>
            <a:outerShdw blurRad="88900" dist="25400" dir="5400000" algn="bl" rotWithShape="0">
              <a:srgbClr val="1C1C1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418320" y="1920240"/>
            <a:ext cx="2103120" cy="274320"/>
          </a:xfrm>
          <a:prstGeom prst="rect">
            <a:avLst/>
          </a:prstGeom>
          <a:noFill/>
        </p:spPr>
        <p:txBody>
          <a:bodyPr wrap="square" lIns="0" rIns="0" tIns="0" bIns="0" anchor="t">
            <a:spAutoFit/>
          </a:bodyPr>
          <a:lstStyle/>
          <a:p>
            <a:pPr algn="l" marL="0" indent="0">
              <a:buNone/>
            </a:pPr>
            <a:r>
              <a:rPr lang="en-US" sz="1100" b="1" spc="100" kern="0" dirty="0">
                <a:solidFill>
                  <a:srgbClr val="1C7293"/>
                </a:solidFill>
                <a:latin typeface="Calibri"/>
                <a:ea typeface="Calibri"/>
                <a:cs typeface="Calibri"/>
              </a:rPr>
              <a:t>TO CLOSE 16.07×</a:t>
            </a:r>
          </a:p>
        </p:txBody>
      </p:sp>
      <p:sp>
        <p:nvSpPr>
          <p:cNvPr id="7" name="TextBox 6"/>
          <p:cNvSpPr txBox="1"/>
          <p:nvPr/>
        </p:nvSpPr>
        <p:spPr>
          <a:xfrm>
            <a:off x="9418320" y="2240280"/>
            <a:ext cx="2103120" cy="777240"/>
          </a:xfrm>
          <a:prstGeom prst="rect">
            <a:avLst/>
          </a:prstGeom>
          <a:noFill/>
        </p:spPr>
        <p:txBody>
          <a:bodyPr wrap="square" lIns="0" rIns="0" tIns="0" bIns="0" anchor="ctr">
            <a:spAutoFit/>
          </a:bodyPr>
          <a:lstStyle/>
          <a:p>
            <a:pPr algn="l" marL="0" indent="0">
              <a:buNone/>
            </a:pPr>
            <a:r>
              <a:rPr lang="en-US" sz="3200" b="1" dirty="0">
                <a:solidFill>
                  <a:srgbClr val="C8791A"/>
                </a:solidFill>
                <a:latin typeface="Cambria"/>
                <a:ea typeface="Cambria"/>
                <a:cs typeface="Cambria"/>
              </a:rPr>
              <a:t>α = 0.60</a:t>
            </a:r>
          </a:p>
        </p:txBody>
      </p:sp>
      <p:sp>
        <p:nvSpPr>
          <p:cNvPr id="8" name="TextBox 7"/>
          <p:cNvSpPr txBox="1"/>
          <p:nvPr/>
        </p:nvSpPr>
        <p:spPr>
          <a:xfrm>
            <a:off x="9418320" y="3063240"/>
            <a:ext cx="2103120" cy="1097280"/>
          </a:xfrm>
          <a:prstGeom prst="rect">
            <a:avLst/>
          </a:prstGeom>
          <a:noFill/>
        </p:spPr>
        <p:txBody>
          <a:bodyPr wrap="square" lIns="0" rIns="0" tIns="0" bIns="0" anchor="t">
            <a:spAutoFit/>
          </a:bodyPr>
          <a:lstStyle/>
          <a:p>
            <a:pPr algn="l" marL="0" indent="0">
              <a:lnSpc>
                <a:spcPct val="110000"/>
              </a:lnSpc>
              <a:buNone/>
            </a:pPr>
            <a:r>
              <a:rPr lang="en-US" sz="1100" b="0" i="1" dirty="0">
                <a:solidFill>
                  <a:srgbClr val="56606B"/>
                </a:solidFill>
                <a:latin typeface="Calibri"/>
                <a:ea typeface="Calibri"/>
                <a:cs typeface="Calibri"/>
              </a:rPr>
              <a:t>four times the Hellmann value, outside any surface in Peterson &amp; Hennessey (1978).</a:t>
            </a:r>
          </a:p>
        </p:txBody>
      </p:sp>
      <p:sp>
        <p:nvSpPr>
          <p:cNvPr id="9" name="Rounded Rectangle 8"/>
          <p:cNvSpPr/>
          <p:nvPr/>
        </p:nvSpPr>
        <p:spPr>
          <a:xfrm>
            <a:off x="548640" y="4526280"/>
            <a:ext cx="11109960" cy="169164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60" y="4617720"/>
            <a:ext cx="10561320" cy="1508760"/>
          </a:xfrm>
          <a:prstGeom prst="rect">
            <a:avLst/>
          </a:prstGeom>
          <a:noFill/>
        </p:spPr>
        <p:txBody>
          <a:bodyPr wrap="square" lIns="0" rIns="0" tIns="0" bIns="0" anchor="ctr">
            <a:spAutoFit/>
          </a:bodyPr>
          <a:lstStyle/>
          <a:p>
            <a:pPr algn="l" marL="0" indent="0">
              <a:lnSpc>
                <a:spcPct val="108000"/>
              </a:lnSpc>
              <a:spcAft>
                <a:spcPts val="600"/>
              </a:spcAft>
              <a:buNone/>
            </a:pPr>
            <a:r>
              <a:rPr lang="en-US" sz="1200" b="1" dirty="0">
                <a:solidFill>
                  <a:srgbClr val="21295C"/>
                </a:solidFill>
                <a:latin typeface="Calibri"/>
                <a:ea typeface="Calibri"/>
                <a:cs typeface="Calibri"/>
              </a:rPr>
              <a:t>Only the 1/7 row is a frozen phase output; </a:t>
            </a:r>
            <a:r>
              <a:rPr lang="en-US" sz="1200" b="0" dirty="0">
                <a:solidFill>
                  <a:srgbClr val="56606B"/>
                </a:solidFill>
                <a:latin typeface="Calibri"/>
                <a:ea typeface="Calibri"/>
                <a:cs typeface="Calibri"/>
              </a:rPr>
              <a:t>the other four are an arithmetic sensitivity computed for Chapter 3.</a:t>
            </a:r>
          </a:p>
          <a:p>
            <a:pPr algn="l" marL="0" indent="0">
              <a:lnSpc>
                <a:spcPct val="108000"/>
              </a:lnSpc>
              <a:spcAft>
                <a:spcPts val="600"/>
              </a:spcAft>
              <a:buNone/>
            </a:pPr>
            <a:r>
              <a:rPr lang="en-US" sz="1200" b="0" dirty="0">
                <a:solidFill>
                  <a:srgbClr val="56606B"/>
                </a:solidFill>
                <a:latin typeface="Calibri"/>
                <a:ea typeface="Calibri"/>
                <a:cs typeface="Calibri"/>
              </a:rPr>
              <a:t>0.168 is measured at Nordfriesland (ERA5 10 m vs 100 m means, 5.4825 vs 8.0682 m/s) and is a lower bound for Bologna's sheltered Po-Valley site. A larger α means a smaller residual, so 88.0% is an upper bound on the share attributable to geography — the operative result is the 80.3% floor.</a:t>
            </a:r>
          </a:p>
        </p:txBody>
      </p:sp>
      <p:sp>
        <p:nvSpPr>
          <p:cNvPr id="11" name="TextBox 10"/>
          <p:cNvSpPr txBox="1"/>
          <p:nvPr/>
        </p:nvSpPr>
        <p:spPr>
          <a:xfrm>
            <a:off x="548640" y="6510528"/>
            <a:ext cx="8229600" cy="256032"/>
          </a:xfrm>
          <a:prstGeom prst="rect">
            <a:avLst/>
          </a:prstGeom>
          <a:noFill/>
        </p:spPr>
        <p:txBody>
          <a:bodyPr wrap="square" lIns="0" rIns="0" tIns="0" bIns="0" anchor="ctr">
            <a:spAutoFit/>
          </a:bodyPr>
          <a:lstStyle/>
          <a:p>
            <a:pPr algn="l" marL="0" indent="0">
              <a:buNone/>
            </a:pPr>
            <a:r>
              <a:rPr lang="en-US" sz="900" b="0" i="1" dirty="0">
                <a:solidFill>
                  <a:srgbClr val="56606B"/>
                </a:solidFill>
                <a:latin typeface="Calibri"/>
                <a:ea typeface="Calibri"/>
                <a:cs typeface="Calibri"/>
              </a:rPr>
              <a:t>Wind Speed Modelling for Derivatives Pricing — Final Defence</a:t>
            </a:r>
          </a:p>
        </p:txBody>
      </p:sp>
      <p:sp>
        <p:nvSpPr>
          <p:cNvPr id="12" name="TextBox 11"/>
          <p:cNvSpPr txBox="1"/>
          <p:nvPr/>
        </p:nvSpPr>
        <p:spPr>
          <a:xfrm>
            <a:off x="11365992" y="6510528"/>
            <a:ext cx="365760" cy="256032"/>
          </a:xfrm>
          <a:prstGeom prst="rect">
            <a:avLst/>
          </a:prstGeom>
          <a:noFill/>
        </p:spPr>
        <p:txBody>
          <a:bodyPr wrap="square" lIns="0" rIns="0" tIns="0" bIns="0" anchor="ctr">
            <a:spAutoFit/>
          </a:bodyPr>
          <a:lstStyle/>
          <a:p>
            <a:pPr algn="r" marL="0" indent="0">
              <a:buNone/>
            </a:pPr>
            <a:r>
              <a:rPr lang="en-US" sz="900" b="0" dirty="0">
                <a:solidFill>
                  <a:srgbClr val="56606B"/>
                </a:solidFill>
                <a:latin typeface="Calibri"/>
                <a:ea typeface="Calibri"/>
                <a:cs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2026-09-24T10:39:50Z</dcterms:created>
  <dcterms:modified xsi:type="dcterms:W3CDTF">2026-09-24T10:39:50Z</dcterms:modified>
</cp:coreProperties>
</file>