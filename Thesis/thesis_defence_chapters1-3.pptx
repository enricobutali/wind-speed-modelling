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legs of exposure drive this thesis: volumetric risk, because calm days cut generation directly and that shortfall is autocorrelated and seasonally heteroskedastic rather than diversifiable; and price risk through the merit-order effect, because high wind output depresses the day-ahead price and storm passages can push it to zero or below. The natural hedge between these two is real but weak and asymmetric: correlation of generation and price is minus 0.16 over 2015 to 2024. It cuts the upside without putting a floor under the downside, which is why the residual volumetric exposure is the object of this thesis. The illustrative scale card is just to fix intuition: a 100 megawatt farm at 25.7% capacity factor generates on the order of 225,000 megawatt-hours a year, worth roughly 16.1 million euros at the full-sample mean SMARD price — gross and illustrative, not a valuation of any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datasets run through an identical pipeline. Dataset A is a low-cost proxy: Bologna, Italy, 10 metres, OpenWeatherMap, 2015 to 2018, 1,462 daily observations — used to build and validate the methodology. Dataset B is the reference: Nordfriesland, Germany, 100 metre hub height, ERA5 reanalysis, 2015 to 2024, 3,653 daily observations, geographically aligned with SMARD generation and EEX power markets — it carries every headline empirical claim in the thesis. The reason this pairing matters: because the pipeline is identical across both, any difference in the resulting price is attributable to the data, not to the specification. That is the empirical premise the Value-of-Information result in Chapter 3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questions, addressed one to one. RQ1 asks whether a CAR(4) plus GARCH(1,1) framework, calibrated on wind speed that is aligned in both geography and measurement height with the generation aggregate being hedged, can price a synthetic wind variance swap in closed form — the gap being that prior calibrations, such as Benth and Šaltytė Benth or Alexandridis and Zapranis, use New York data with neither alignment. RQ2 asks what the Value of Information is: the pricing cost of using a geographic proxy instead of an aligned reference, before and after a wind-profile height correction — this is the thesis's primary methodological contribution. RQ3 asks how a CAWS instrument — Cumulative Accumulated Wind Speed — behaves as a left-tail complement to the variance swap, since a variance swap is blind to direction and CAWS is designed to cover exactly that blind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five-stage pipeline is applied to both datasets, side by side, in Chapter 2. Stage one deseasonalises the series with a Box-Cox transform and a Fourier fit, producing the standardised series W-tilde of t. Stage two fits an AR(4) conditional mean. Stage three layers a GARCH(1,1) conditional-volatility filter on top, producing h of t. Stage four embeds the discrete AR(4) in continuous time as a CAR(4) process, via an exact algebraic Euler-discretisation map — not a second independent fit. Stage five is theoretical: it explains why a GARCH filter alone cannot price a contract, since it has no infinitesimal generator and nothing for Girsanov's theorem to act on, and sets out the CIR-type stochastic-volatility embedding needed to fix that. What Chapter 3 actually needs out of all this is just three things: h at t-zero, C-zero, and a stationary CAR(4) companion matrix — everything else in Chapter 2 is diagnostic evidence that those three numbers 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quantities carry the entire pricing result. C-zero is the annual mean of the Fourier seasonal-variance fit — 0.1314 for the proxy against 1.1628 for the reference, an 8.85-times gap. h at t-zero is the GARCH conditional-variance state on the pricing date — 0.4137 against 0.7511, a 1.82-times gap. Their product, following Tol's 1997 piecewise-constant convention, is the fair strike: 0.0544 for Dataset A against 0.8734 for Dataset B. Everything in Chapter 3's Value-of-Information result follows from decomposing that gap into these two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most uncomfortable, and most interesting, result, and it is stated rather than smoothed over. The Feller condition asks whether the CIR variance process stays strictly positive almost surely. For Dataset B it holds comfortably, at a margin of 28.1 times, on every estimator considered. For Dataset A, the full-sample estimator — the same one used for B — gives a margin of only 0.8, meaning the condition is violated; but 30-day rolling estimators give margins of 3.6 to 5.1, meaning it holds. The verdict flips depending on which estimator you trust. That sensitivity is itself the finding: xi, the volatility-of-volatility parameter, is the least identified of the four CIR parameters at daily sampling frequency. It also means an earlier project record of a 27.9-times margin is not reproducible under any estimator tested and needed correcting.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specifications are fitted across the two chapters: AR(4) alone, AR(4) with the GARCH filter, CAR(4) with Gaussian innovations, and CAR(4) with NIG innovations. All four share exactly one conditional mean by construction, so at a one-day horizon they are observationally equivalent — indistinguishable on point-forecast accuracy alone. That is precisely why Chapter 3 does not rank them by RMSE: it separates them instead on pricing and hedging criteria. What all four do establish decisively is that the mean model beats a naive persistence benchmark: the Diebold-Mariano statistic is plus 8.27 for Dataset A and plus 16.76 for Dataset B, both rejecting equal accuracy at any conventional significance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hands Chapter 3 a fair strike in wind-speed units; Chapter 3 needs to compare it against an empirical market benchmark computed from SMARD generation and EEX prices. These use two different conventions. Track A is empirical: the 252-times annualised realised variance of SMARD generation log-returns, giving a market anchor around 113 to 114. Track B is the model output, h times C-zero, left un-annualised. Compared directly the two differ by orders of magnitude, but that gap is a units convention, not a modelling failure. The reconciliation chain rescales Track B into Track A's units — through the Box-Cox scale, the ratio of persistence to AR(4) innovation variance, the power-curve conversion from wind speed to generation, and the 252 annualisation — arriving at 132.9 for the proxy and 328.8 for the reference, against the roughly 113 market anchor: ratios of 1.17 and 2.91. The reconciled model price lands in the right order of magnitude in both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thesis's primary methodological contribution. Pricing directly off the Bologna proxy misprices the fair strike by 93.8% relative to the Nordfriesland reference. Applying the standard wind-profile height correction — the 1.931-times factor from a one-seventh power law, following Peterson and Hennessey 1978, used only in this comparison — closes only a little of that gap, leaving 88.0% mispriced. The reason becomes clear once the 16.07-times strike ratio is factorised: 8.85 times comes from C-zero, the seasonal-variance level, which is climatology; only 1.82 times comes from h at t-zero, the volatility state. Geography dominates height. The proxy is not simply measured at the wrong elevation — it sits in a different climate regime altogether, and no height correction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CAWS — Cumulative Accumulated Wind Speed — is built as a left-tail complement to the variance swap, since a variance swap is symmetric and blind to direction while a producer's real fear is a directional shortfall. It is evaluated on non-overlapping annual observations — four years for the proxy, ten for the reference — specifically to avoid the overlapping-window bias that daily or rolling windows would introduce over such a short span. The strike is 2.46 metres per second for the proxy and 8.05 for the reference; the five-percent CVaR is close to 5% and 6% of the strike respectively. All tail statistics are reported as descriptive rather than inferential, given how few annual observations are available. The calm-year translation on this slide — roughly 2.3 million euros for a 4.99% wind shortfall in 2021 — is illustrative only, not a realised profit-and-loss figure, since 2021 was itself an unusually calm year that partly offset that year's energy-crisis price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RQ1, feasibility — yes. CAR(4) plus GARCH prices a synthetic wind variance swap in closed form, though it prices a variance swap and not an option on variance; that would require the Heston characteristic function to actually be evaluated rather than merely written down. RQ2, Value of Information — quantified at 88 to 94%, and traced specifically to geography rather than height. RQ3, CAWS — constructed and stress-tested as a directional complement, with its limited sample size stated plainly rather than hidden behind confidence intervals it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limitations are hidden gaps — they are scope constraints the thesis states and works within. Theta equals zero is a benchmark adopted for want of EEX option-implied data, not a claim that the market price of risk is actually zero. Stochastic-volatility identification at daily frequency is limited, as the Feller sensitivity on slide seven already demonstrated directly. Dataset A remains a 10-metre proxy. And SMARD generation is a national aggregate compared against one grid point. Each limitation points to a specific next step: option-implied theta from EEX once liquid data exist; hourly ECMWF or ERA5 data, which would give roughly two orders of magnitude more observations per e-folding time and let xi be separately identified from kappa-v; and NIG or Lévy-driven pricing as a documented extension beyond the Gaussian primary track used throughout this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sp>
      <p:sp>
        <p:nvSpPr>
          <p:cNvPr id="3" name="Shape 1"/>
          <p:cNvSpPr/>
          <p:nvPr/>
        </p:nvSpPr>
        <p:spPr>
          <a:xfrm>
            <a:off x="10634472" y="-640080"/>
            <a:ext cx="2743200" cy="2743200"/>
          </a:xfrm>
          <a:prstGeom prst="ellipse">
            <a:avLst/>
          </a:prstGeom>
          <a:solidFill>
            <a:srgbClr val="065A82">
              <a:alpha val="70000"/>
            </a:srgbClr>
          </a:solidFill>
          <a:ln/>
        </p:spPr>
      </p:sp>
      <p:sp>
        <p:nvSpPr>
          <p:cNvPr id="4" name="Text 2"/>
          <p:cNvSpPr/>
          <p:nvPr/>
        </p:nvSpPr>
        <p:spPr>
          <a:xfrm>
            <a:off x="822960" y="1965960"/>
            <a:ext cx="9144000" cy="365760"/>
          </a:xfrm>
          <a:prstGeom prst="rect">
            <a:avLst/>
          </a:prstGeom>
          <a:noFill/>
          <a:ln/>
        </p:spPr>
        <p:txBody>
          <a:bodyPr wrap="square" lIns="0" tIns="0" rIns="0" bIns="0" rtlCol="0" anchor="ctr"/>
          <a:lstStyle/>
          <a:p>
            <a:pPr algn="l" indent="0" marL="0">
              <a:buNone/>
            </a:pPr>
            <a:r>
              <a:rPr lang="en-US" sz="1400" b="1" spc="250" kern="0" dirty="0">
                <a:solidFill>
                  <a:srgbClr val="E8A33D"/>
                </a:solidFill>
                <a:latin typeface="Calibri" pitchFamily="34" charset="0"/>
                <a:ea typeface="Calibri" pitchFamily="34" charset="-122"/>
                <a:cs typeface="Calibri" pitchFamily="34" charset="-120"/>
              </a:rPr>
              <a:t>MASTER'S THESIS · FINAL EXAMINATION</a:t>
            </a:r>
            <a:endParaRPr lang="en-US" sz="1400" dirty="0"/>
          </a:p>
        </p:txBody>
      </p:sp>
      <p:sp>
        <p:nvSpPr>
          <p:cNvPr id="5" name="Text 3"/>
          <p:cNvSpPr/>
          <p:nvPr/>
        </p:nvSpPr>
        <p:spPr>
          <a:xfrm>
            <a:off x="822960" y="2423160"/>
            <a:ext cx="10241280" cy="1737360"/>
          </a:xfrm>
          <a:prstGeom prst="rect">
            <a:avLst/>
          </a:prstGeom>
          <a:noFill/>
          <a:ln/>
        </p:spPr>
        <p:txBody>
          <a:bodyPr wrap="square" lIns="0" tIns="0" rIns="0" bIns="0" rtlCol="0" anchor="ctr"/>
          <a:lstStyle/>
          <a:p>
            <a:pPr algn="l" indent="0" marL="0">
              <a:lnSpc>
                <a:spcPct val="110000"/>
              </a:lnSpc>
              <a:buNone/>
            </a:pPr>
            <a:r>
              <a:rPr lang="en-US" sz="3400" b="1" dirty="0">
                <a:solidFill>
                  <a:srgbClr val="FFFFFF"/>
                </a:solidFill>
                <a:latin typeface="Cambria" pitchFamily="34" charset="0"/>
                <a:ea typeface="Cambria" pitchFamily="34" charset="-122"/>
                <a:cs typeface="Cambria" pitchFamily="34" charset="-120"/>
              </a:rPr>
              <a:t>Continuous-Time Modelling of Wind Speed</a:t>
            </a:r>
            <a:endParaRPr lang="en-US" sz="3400" dirty="0"/>
          </a:p>
          <a:p>
            <a:pPr algn="l" indent="0" marL="0">
              <a:lnSpc>
                <a:spcPct val="110000"/>
              </a:lnSpc>
              <a:buNone/>
            </a:pPr>
            <a:r>
              <a:rPr lang="en-US" sz="3400" b="1" dirty="0">
                <a:solidFill>
                  <a:srgbClr val="FFFFFF"/>
                </a:solidFill>
                <a:latin typeface="Cambria" pitchFamily="34" charset="0"/>
                <a:ea typeface="Cambria" pitchFamily="34" charset="-122"/>
                <a:cs typeface="Cambria" pitchFamily="34" charset="-120"/>
              </a:rPr>
              <a:t>for Derivatives Pricing and Risk Management</a:t>
            </a:r>
            <a:endParaRPr lang="en-US" sz="3400" dirty="0"/>
          </a:p>
        </p:txBody>
      </p:sp>
      <p:sp>
        <p:nvSpPr>
          <p:cNvPr id="6" name="Text 4"/>
          <p:cNvSpPr/>
          <p:nvPr/>
        </p:nvSpPr>
        <p:spPr>
          <a:xfrm>
            <a:off x="822960" y="4343400"/>
            <a:ext cx="7315200" cy="365760"/>
          </a:xfrm>
          <a:prstGeom prst="rect">
            <a:avLst/>
          </a:prstGeom>
          <a:noFill/>
          <a:ln/>
        </p:spPr>
        <p:txBody>
          <a:bodyPr wrap="square" lIns="0" tIns="0" rIns="0" bIns="0" rtlCol="0" anchor="ctr"/>
          <a:lstStyle/>
          <a:p>
            <a:pPr algn="l" indent="0" marL="0">
              <a:buNone/>
            </a:pPr>
            <a:r>
              <a:rPr lang="en-US" sz="1600" i="1" dirty="0">
                <a:solidFill>
                  <a:srgbClr val="EEF3F7"/>
                </a:solidFill>
                <a:latin typeface="Calibri" pitchFamily="34" charset="0"/>
                <a:ea typeface="Calibri" pitchFamily="34" charset="-122"/>
                <a:cs typeface="Calibri" pitchFamily="34" charset="-120"/>
              </a:rPr>
              <a:t>Candidate: Enrico Butali</a:t>
            </a:r>
            <a:endParaRPr lang="en-US" sz="1600" dirty="0"/>
          </a:p>
        </p:txBody>
      </p:sp>
      <p:sp>
        <p:nvSpPr>
          <p:cNvPr id="7" name="Text 5"/>
          <p:cNvSpPr/>
          <p:nvPr/>
        </p:nvSpPr>
        <p:spPr>
          <a:xfrm>
            <a:off x="822960" y="4800600"/>
            <a:ext cx="9144000" cy="640080"/>
          </a:xfrm>
          <a:prstGeom prst="rect">
            <a:avLst/>
          </a:prstGeom>
          <a:noFill/>
          <a:ln/>
        </p:spPr>
        <p:txBody>
          <a:bodyPr wrap="square" lIns="0" tIns="0" rIns="0" bIns="0" rtlCol="0" anchor="ctr"/>
          <a:lstStyle/>
          <a:p>
            <a:pPr algn="l" indent="0" marL="0">
              <a:lnSpc>
                <a:spcPct val="120000"/>
              </a:lnSpc>
              <a:buNone/>
            </a:pPr>
            <a:r>
              <a:rPr lang="en-US" sz="1250" dirty="0">
                <a:solidFill>
                  <a:srgbClr val="EEF3F7"/>
                </a:solidFill>
                <a:latin typeface="Calibri" pitchFamily="34" charset="0"/>
                <a:ea typeface="Calibri" pitchFamily="34" charset="-122"/>
                <a:cs typeface="Calibri" pitchFamily="34" charset="-120"/>
              </a:rPr>
              <a:t>Second Cycle Degree in Greening Energy Market and Finance (LM-16 R)</a:t>
            </a:r>
            <a:endParaRPr lang="en-US" sz="1250" dirty="0"/>
          </a:p>
          <a:p>
            <a:pPr algn="l" indent="0" marL="0">
              <a:lnSpc>
                <a:spcPct val="120000"/>
              </a:lnSpc>
              <a:buNone/>
            </a:pPr>
            <a:r>
              <a:rPr lang="en-US" sz="1250" dirty="0">
                <a:solidFill>
                  <a:srgbClr val="EEF3F7"/>
                </a:solidFill>
                <a:latin typeface="Calibri" pitchFamily="34" charset="0"/>
                <a:ea typeface="Calibri" pitchFamily="34" charset="-122"/>
                <a:cs typeface="Calibri" pitchFamily="34" charset="-120"/>
              </a:rPr>
              <a:t>Department of Statistical Sciences “Paolo Fortunati” · University of Bologna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1 · MOTIVATION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Wind is free to generate — and impossible to store</a:t>
            </a:r>
            <a:endParaRPr lang="en-US" sz="2700" dirty="0"/>
          </a:p>
        </p:txBody>
      </p:sp>
      <p:sp>
        <p:nvSpPr>
          <p:cNvPr id="4" name="Shape 2"/>
          <p:cNvSpPr/>
          <p:nvPr/>
        </p:nvSpPr>
        <p:spPr>
          <a:xfrm>
            <a:off x="548640" y="1783080"/>
            <a:ext cx="6675120" cy="4297680"/>
          </a:xfrm>
          <a:prstGeom prst="roundRect">
            <a:avLst>
              <a:gd name="adj" fmla="val 1915"/>
            </a:avLst>
          </a:prstGeom>
          <a:solidFill>
            <a:srgbClr val="F7FAFC"/>
          </a:solidFill>
          <a:ln/>
          <a:effectLst>
            <a:outerShdw sx="100000" sy="100000" kx="0" ky="0" algn="bl" rotWithShape="0" blurRad="88900" dist="25400" dir="5400000">
              <a:srgbClr val="1C1C1C">
                <a:alpha val="16000"/>
              </a:srgbClr>
            </a:outerShdw>
          </a:effectLst>
        </p:spPr>
      </p:sp>
      <p:sp>
        <p:nvSpPr>
          <p:cNvPr id="5" name="Text 3"/>
          <p:cNvSpPr/>
          <p:nvPr/>
        </p:nvSpPr>
        <p:spPr>
          <a:xfrm>
            <a:off x="868680" y="2011680"/>
            <a:ext cx="6080760" cy="3840480"/>
          </a:xfrm>
          <a:prstGeom prst="rect">
            <a:avLst/>
          </a:prstGeom>
          <a:noFill/>
          <a:ln/>
        </p:spPr>
        <p:txBody>
          <a:bodyPr wrap="square" lIns="0" tIns="0" rIns="0" bIns="0" rtlCol="0" anchor="ctr"/>
          <a:lstStyle/>
          <a:p>
            <a:pPr algn="l" indent="0" marL="0">
              <a:lnSpc>
                <a:spcPct val="118000"/>
              </a:lnSpc>
              <a:buNone/>
            </a:pPr>
            <a:r>
              <a:rPr lang="en-US" sz="1500" b="1" dirty="0">
                <a:solidFill>
                  <a:srgbClr val="21295C"/>
                </a:solidFill>
                <a:latin typeface="Calibri" pitchFamily="34" charset="0"/>
                <a:ea typeface="Calibri" pitchFamily="34" charset="-122"/>
                <a:cs typeface="Calibri" pitchFamily="34" charset="-120"/>
              </a:rPr>
              <a:t>Two legs of exposure for a wind producer
</a:t>
            </a:r>
            <a:endParaRPr lang="en-US" sz="1500" dirty="0"/>
          </a:p>
          <a:p>
            <a:pPr algn="l" indent="0" marL="0">
              <a:lnSpc>
                <a:spcPct val="118000"/>
              </a:lnSpc>
              <a:buNone/>
            </a:pPr>
            <a:r>
              <a:rPr lang="en-US" sz="1300" dirty="0">
                <a:solidFill>
                  <a:srgbClr val="56606B"/>
                </a:solidFill>
                <a:latin typeface="Calibri" pitchFamily="34" charset="0"/>
                <a:ea typeface="Calibri" pitchFamily="34" charset="-122"/>
                <a:cs typeface="Calibri" pitchFamily="34" charset="-120"/>
              </a:rPr>
              <a:t>Volumetric — calm days cut generation directly; the shortfall is autocorrelated and seasonally heteroskedastic, not diversified away.
</a:t>
            </a:r>
            <a:endParaRPr lang="en-US" sz="1500" dirty="0"/>
          </a:p>
          <a:p>
            <a:pPr algn="l" indent="0" marL="0">
              <a:lnSpc>
                <a:spcPct val="118000"/>
              </a:lnSpc>
              <a:buNone/>
            </a:pPr>
            <a:r>
              <a:rPr lang="en-US" sz="1300" dirty="0">
                <a:solidFill>
                  <a:srgbClr val="56606B"/>
                </a:solidFill>
                <a:latin typeface="Calibri" pitchFamily="34" charset="0"/>
                <a:ea typeface="Calibri" pitchFamily="34" charset="-122"/>
                <a:cs typeface="Calibri" pitchFamily="34" charset="-120"/>
              </a:rPr>
              <a:t>Price (merit order) — high wind output depresses the day-ahead clearing price; storm passages can push it to zero or below.
</a:t>
            </a:r>
            <a:endParaRPr lang="en-US" sz="1500" dirty="0"/>
          </a:p>
          <a:p>
            <a:pPr algn="l" indent="0" marL="0">
              <a:lnSpc>
                <a:spcPct val="118000"/>
              </a:lnSpc>
              <a:buNone/>
            </a:pPr>
            <a:r>
              <a:rPr lang="en-US" sz="1500" b="1" dirty="0">
                <a:solidFill>
                  <a:srgbClr val="21295C"/>
                </a:solidFill>
                <a:latin typeface="Calibri" pitchFamily="34" charset="0"/>
                <a:ea typeface="Calibri" pitchFamily="34" charset="-122"/>
                <a:cs typeface="Calibri" pitchFamily="34" charset="-120"/>
              </a:rPr>
              <a:t>A weak, asymmetric natural hedge
</a:t>
            </a:r>
            <a:endParaRPr lang="en-US" sz="1500" dirty="0"/>
          </a:p>
          <a:p>
            <a:pPr algn="l" indent="0" marL="0">
              <a:lnSpc>
                <a:spcPct val="118000"/>
              </a:lnSpc>
              <a:buNone/>
            </a:pPr>
            <a:r>
              <a:rPr lang="en-US" sz="1300" dirty="0">
                <a:solidFill>
                  <a:srgbClr val="56606B"/>
                </a:solidFill>
                <a:latin typeface="Calibri" pitchFamily="34" charset="0"/>
                <a:ea typeface="Calibri" pitchFamily="34" charset="-122"/>
                <a:cs typeface="Calibri" pitchFamily="34" charset="-120"/>
              </a:rPr>
              <a:t>ρ(generation, price) = −0.16 over 2015–2024 — real, but too weak and one-sided to substitute for a dedicated instrument. It cuts the upside without a floor under the downside.</a:t>
            </a:r>
            <a:endParaRPr lang="en-US" sz="1500" dirty="0"/>
          </a:p>
        </p:txBody>
      </p:sp>
      <p:sp>
        <p:nvSpPr>
          <p:cNvPr id="6" name="Shape 4"/>
          <p:cNvSpPr/>
          <p:nvPr/>
        </p:nvSpPr>
        <p:spPr>
          <a:xfrm>
            <a:off x="7452360" y="1783080"/>
            <a:ext cx="4206240" cy="4297680"/>
          </a:xfrm>
          <a:prstGeom prst="roundRect">
            <a:avLst>
              <a:gd name="adj" fmla="val 1957"/>
            </a:avLst>
          </a:prstGeom>
          <a:solidFill>
            <a:srgbClr val="21295C"/>
          </a:solidFill>
          <a:ln/>
          <a:effectLst>
            <a:outerShdw sx="100000" sy="100000" kx="0" ky="0" algn="bl" rotWithShape="0" blurRad="88900" dist="25400" dir="5400000">
              <a:srgbClr val="1C1C1C">
                <a:alpha val="16000"/>
              </a:srgbClr>
            </a:outerShdw>
          </a:effectLst>
        </p:spPr>
      </p:sp>
      <p:sp>
        <p:nvSpPr>
          <p:cNvPr id="7" name="Text 5"/>
          <p:cNvSpPr/>
          <p:nvPr/>
        </p:nvSpPr>
        <p:spPr>
          <a:xfrm>
            <a:off x="7726680" y="2011680"/>
            <a:ext cx="36576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ILLUSTRATIVE SCALE</a:t>
            </a:r>
            <a:endParaRPr lang="en-US" sz="1100" dirty="0"/>
          </a:p>
        </p:txBody>
      </p:sp>
      <p:sp>
        <p:nvSpPr>
          <p:cNvPr id="8" name="Text 6"/>
          <p:cNvSpPr/>
          <p:nvPr/>
        </p:nvSpPr>
        <p:spPr>
          <a:xfrm>
            <a:off x="7726680" y="2331720"/>
            <a:ext cx="3657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100 MW</a:t>
            </a:r>
            <a:endParaRPr lang="en-US" sz="4000" dirty="0"/>
          </a:p>
        </p:txBody>
      </p:sp>
      <p:sp>
        <p:nvSpPr>
          <p:cNvPr id="9" name="Text 7"/>
          <p:cNvSpPr/>
          <p:nvPr/>
        </p:nvSpPr>
        <p:spPr>
          <a:xfrm>
            <a:off x="7726680" y="3063240"/>
            <a:ext cx="3566160" cy="548640"/>
          </a:xfrm>
          <a:prstGeom prst="rect">
            <a:avLst/>
          </a:prstGeom>
          <a:noFill/>
          <a:ln/>
        </p:spPr>
        <p:txBody>
          <a:bodyPr wrap="square" lIns="0" tIns="0" rIns="0" bIns="0" rtlCol="0" anchor="ctr"/>
          <a:lstStyle/>
          <a:p>
            <a:pPr indent="0" marL="0">
              <a:lnSpc>
                <a:spcPct val="115000"/>
              </a:lnSpc>
              <a:buNone/>
            </a:pPr>
            <a:r>
              <a:rPr lang="en-US" sz="1200" dirty="0">
                <a:solidFill>
                  <a:srgbClr val="EEF3F7"/>
                </a:solidFill>
                <a:latin typeface="Calibri" pitchFamily="34" charset="0"/>
                <a:ea typeface="Calibri" pitchFamily="34" charset="-122"/>
                <a:cs typeface="Calibri" pitchFamily="34" charset="-120"/>
              </a:rPr>
              <a:t>farm, 25.7% capacity factor → ≈225,000 MWh / yr</a:t>
            </a:r>
            <a:endParaRPr lang="en-US" sz="1200" dirty="0"/>
          </a:p>
        </p:txBody>
      </p:sp>
      <p:sp>
        <p:nvSpPr>
          <p:cNvPr id="10" name="Text 8"/>
          <p:cNvSpPr/>
          <p:nvPr/>
        </p:nvSpPr>
        <p:spPr>
          <a:xfrm>
            <a:off x="7726680" y="3794760"/>
            <a:ext cx="3657600" cy="548640"/>
          </a:xfrm>
          <a:prstGeom prst="rect">
            <a:avLst/>
          </a:prstGeom>
          <a:noFill/>
          <a:ln/>
        </p:spPr>
        <p:txBody>
          <a:bodyPr wrap="square" lIns="0" tIns="0" rIns="0" bIns="0" rtlCol="0" anchor="ctr"/>
          <a:lstStyle/>
          <a:p>
            <a:pPr indent="0" marL="0">
              <a:buNone/>
            </a:pPr>
            <a:r>
              <a:rPr lang="en-US" sz="3000" b="1" dirty="0">
                <a:solidFill>
                  <a:srgbClr val="E8A33D"/>
                </a:solidFill>
                <a:latin typeface="Cambria" pitchFamily="34" charset="0"/>
                <a:ea typeface="Cambria" pitchFamily="34" charset="-122"/>
                <a:cs typeface="Cambria" pitchFamily="34" charset="-120"/>
              </a:rPr>
              <a:t>≈ €16.1m</a:t>
            </a:r>
            <a:endParaRPr lang="en-US" sz="3000" dirty="0"/>
          </a:p>
        </p:txBody>
      </p:sp>
      <p:sp>
        <p:nvSpPr>
          <p:cNvPr id="11" name="Text 9"/>
          <p:cNvSpPr/>
          <p:nvPr/>
        </p:nvSpPr>
        <p:spPr>
          <a:xfrm>
            <a:off x="7726680" y="4343400"/>
            <a:ext cx="3566160" cy="1463040"/>
          </a:xfrm>
          <a:prstGeom prst="rect">
            <a:avLst/>
          </a:prstGeom>
          <a:noFill/>
          <a:ln/>
        </p:spPr>
        <p:txBody>
          <a:bodyPr wrap="square" lIns="0" tIns="0" rIns="0" bIns="0" rtlCol="0" anchor="ctr"/>
          <a:lstStyle/>
          <a:p>
            <a:pPr indent="0" marL="0">
              <a:lnSpc>
                <a:spcPct val="118000"/>
              </a:lnSpc>
              <a:buNone/>
            </a:pPr>
            <a:r>
              <a:rPr lang="en-US" sz="1150" dirty="0">
                <a:solidFill>
                  <a:srgbClr val="EEF3F7"/>
                </a:solidFill>
                <a:latin typeface="Calibri" pitchFamily="34" charset="0"/>
                <a:ea typeface="Calibri" pitchFamily="34" charset="-122"/>
                <a:cs typeface="Calibri" pitchFamily="34" charset="-120"/>
              </a:rPr>
              <a:t>annual revenue at the 2015–2024 mean SMARD price (€71.38/MWh) — gross, illustrative, not a project valuation.</a:t>
            </a:r>
            <a:endParaRPr lang="en-US" sz="115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1 · DATA</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Two datasets, one identical pipeline</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914400"/>
        </p:xfrm>
        <a:graphic>
          <a:graphicData uri="http://schemas.openxmlformats.org/drawingml/2006/table">
            <a:tbl>
              <a:tblPr/>
              <a:tblGrid>
                <a:gridCol w="2011680"/>
                <a:gridCol w="4572000"/>
                <a:gridCol w="4526280"/>
              </a:tblGrid>
              <a:tr h="402336">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Dataset A — Proxy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Dataset B — Reference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Location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Bologna, Italy (44.29°N, 11.20°E)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Nordfriesland, Germany (54.77°N, 8.85°E)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Height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10 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100 m (hub height)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OpenWeatherMap API</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Open-Meteo · ERA5 reanalysis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Period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2015–2018 (4 yr)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2015–2024 (10 yr)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Observations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1,462 daily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3,653 daily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Mean wind speed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2.47 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8.07 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02336">
                <a:tc>
                  <a:txBody>
                    <a:bodyPr/>
                    <a:lstStyle/>
                    <a:p>
                      <a:pPr algn="l" indent="0" marL="0">
                        <a:buNone/>
                      </a:pPr>
                      <a:r>
                        <a:rPr lang="en-US" sz="1300" b="1" dirty="0">
                          <a:solidFill>
                            <a:srgbClr val="56606B"/>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Build &amp; validate the methodology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6606B"/>
                          </a:solidFill>
                          <a:latin typeface="Calibri" pitchFamily="34" charset="0"/>
                          <a:ea typeface="Calibri" pitchFamily="34" charset="-122"/>
                          <a:cs typeface="Calibri" pitchFamily="34" charset="-120"/>
                        </a:rPr>
                        <a:t>Carries all headline empirical claims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48640" y="5257800"/>
            <a:ext cx="11109960" cy="868680"/>
          </a:xfrm>
          <a:prstGeom prst="roundRect">
            <a:avLst>
              <a:gd name="adj" fmla="val 9474"/>
            </a:avLst>
          </a:prstGeom>
          <a:solidFill>
            <a:srgbClr val="EEF3F7"/>
          </a:solidFill>
          <a:ln/>
        </p:spPr>
      </p:sp>
      <p:sp>
        <p:nvSpPr>
          <p:cNvPr id="6" name="Text 3"/>
          <p:cNvSpPr/>
          <p:nvPr/>
        </p:nvSpPr>
        <p:spPr>
          <a:xfrm>
            <a:off x="822960" y="5394960"/>
            <a:ext cx="10515600" cy="640080"/>
          </a:xfrm>
          <a:prstGeom prst="rect">
            <a:avLst/>
          </a:prstGeom>
          <a:noFill/>
          <a:ln/>
        </p:spPr>
        <p:txBody>
          <a:bodyPr wrap="square" lIns="0" tIns="0" rIns="0" bIns="0" rtlCol="0" anchor="ctr"/>
          <a:lstStyle/>
          <a:p>
            <a:pPr algn="l" indent="0" marL="0">
              <a:lnSpc>
                <a:spcPct val="115000"/>
              </a:lnSpc>
              <a:buNone/>
            </a:pPr>
            <a:r>
              <a:rPr lang="en-US" sz="1250" b="1" dirty="0">
                <a:solidFill>
                  <a:srgbClr val="21295C"/>
                </a:solidFill>
                <a:latin typeface="Calibri" pitchFamily="34" charset="0"/>
                <a:ea typeface="Calibri" pitchFamily="34" charset="-122"/>
                <a:cs typeface="Calibri" pitchFamily="34" charset="-120"/>
              </a:rPr>
              <a:t>Why this pairing: </a:t>
            </a:r>
            <a:pPr algn="l" indent="0" marL="0">
              <a:lnSpc>
                <a:spcPct val="115000"/>
              </a:lnSpc>
              <a:buNone/>
            </a:pPr>
            <a:r>
              <a:rPr lang="en-US" sz="1250" dirty="0">
                <a:solidFill>
                  <a:srgbClr val="56606B"/>
                </a:solidFill>
                <a:latin typeface="Calibri" pitchFamily="34" charset="0"/>
                <a:ea typeface="Calibri" pitchFamily="34" charset="-122"/>
                <a:cs typeface="Calibri" pitchFamily="34" charset="-120"/>
              </a:rPr>
              <a:t>the identical five-stage pipeline is applied to both sites, so any difference in the resulting price is attributable to the data — not to the specification. That is the empirical premise the Value-of-Information result (Ch. 3) rests on.</a:t>
            </a:r>
            <a:endParaRPr lang="en-US" sz="1250" dirty="0"/>
          </a:p>
        </p:txBody>
      </p:sp>
      <p:sp>
        <p:nvSpPr>
          <p:cNvPr id="7" name="Text 4"/>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8" name="Text 5"/>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1 · RESEARCH QUESTIONS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Three questions, one pipeline</a:t>
            </a:r>
            <a:endParaRPr lang="en-US" sz="2700" dirty="0"/>
          </a:p>
        </p:txBody>
      </p:sp>
      <p:sp>
        <p:nvSpPr>
          <p:cNvPr id="4" name="Shape 2"/>
          <p:cNvSpPr/>
          <p:nvPr/>
        </p:nvSpPr>
        <p:spPr>
          <a:xfrm>
            <a:off x="548640"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sp>
      <p:sp>
        <p:nvSpPr>
          <p:cNvPr id="5" name="Shape 3"/>
          <p:cNvSpPr/>
          <p:nvPr/>
        </p:nvSpPr>
        <p:spPr>
          <a:xfrm>
            <a:off x="841248" y="2148840"/>
            <a:ext cx="566928" cy="566928"/>
          </a:xfrm>
          <a:prstGeom prst="ellipse">
            <a:avLst/>
          </a:prstGeom>
          <a:solidFill>
            <a:srgbClr val="1C7293"/>
          </a:solidFill>
          <a:ln/>
        </p:spPr>
      </p:sp>
      <p:sp>
        <p:nvSpPr>
          <p:cNvPr id="6" name="Text 4"/>
          <p:cNvSpPr/>
          <p:nvPr/>
        </p:nvSpPr>
        <p:spPr>
          <a:xfrm>
            <a:off x="841248"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841248" y="2880360"/>
            <a:ext cx="3044952"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FEASIBILITY</a:t>
            </a:r>
            <a:endParaRPr lang="en-US" sz="1200" dirty="0"/>
          </a:p>
        </p:txBody>
      </p:sp>
      <p:sp>
        <p:nvSpPr>
          <p:cNvPr id="8" name="Text 6"/>
          <p:cNvSpPr/>
          <p:nvPr/>
        </p:nvSpPr>
        <p:spPr>
          <a:xfrm>
            <a:off x="841248" y="3246120"/>
            <a:ext cx="3044952" cy="246888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Can CAR(4)+GARCH(1,1), calibrated on wind speed aligned in geography and height with the generation being hedged, price a synthetic wind variance swap in closed form?</a:t>
            </a:r>
            <a:endParaRPr lang="en-US" sz="1300" dirty="0"/>
          </a:p>
        </p:txBody>
      </p:sp>
      <p:sp>
        <p:nvSpPr>
          <p:cNvPr id="9" name="Shape 7"/>
          <p:cNvSpPr/>
          <p:nvPr/>
        </p:nvSpPr>
        <p:spPr>
          <a:xfrm>
            <a:off x="4306824"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sp>
      <p:sp>
        <p:nvSpPr>
          <p:cNvPr id="10" name="Shape 8"/>
          <p:cNvSpPr/>
          <p:nvPr/>
        </p:nvSpPr>
        <p:spPr>
          <a:xfrm>
            <a:off x="4599432" y="2148840"/>
            <a:ext cx="566928" cy="566928"/>
          </a:xfrm>
          <a:prstGeom prst="ellipse">
            <a:avLst/>
          </a:prstGeom>
          <a:solidFill>
            <a:srgbClr val="1C7293"/>
          </a:solidFill>
          <a:ln/>
        </p:spPr>
      </p:sp>
      <p:sp>
        <p:nvSpPr>
          <p:cNvPr id="11" name="Text 9"/>
          <p:cNvSpPr/>
          <p:nvPr/>
        </p:nvSpPr>
        <p:spPr>
          <a:xfrm>
            <a:off x="4599432"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599432" y="2880360"/>
            <a:ext cx="3044952"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VALUE OF INFORMATION</a:t>
            </a:r>
            <a:endParaRPr lang="en-US" sz="1200" dirty="0"/>
          </a:p>
        </p:txBody>
      </p:sp>
      <p:sp>
        <p:nvSpPr>
          <p:cNvPr id="13" name="Text 11"/>
          <p:cNvSpPr/>
          <p:nvPr/>
        </p:nvSpPr>
        <p:spPr>
          <a:xfrm>
            <a:off x="4599432" y="3246120"/>
            <a:ext cx="3044952" cy="246888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What is the pricing cost — the Value of Information — of using a geographic proxy instead of an aligned reference, before and after a wind-profile height correction?</a:t>
            </a:r>
            <a:endParaRPr lang="en-US" sz="1300" dirty="0"/>
          </a:p>
        </p:txBody>
      </p:sp>
      <p:sp>
        <p:nvSpPr>
          <p:cNvPr id="14" name="Shape 12"/>
          <p:cNvSpPr/>
          <p:nvPr/>
        </p:nvSpPr>
        <p:spPr>
          <a:xfrm>
            <a:off x="8065008"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sp>
      <p:sp>
        <p:nvSpPr>
          <p:cNvPr id="15" name="Shape 13"/>
          <p:cNvSpPr/>
          <p:nvPr/>
        </p:nvSpPr>
        <p:spPr>
          <a:xfrm>
            <a:off x="8357616" y="2148840"/>
            <a:ext cx="566928" cy="566928"/>
          </a:xfrm>
          <a:prstGeom prst="ellipse">
            <a:avLst/>
          </a:prstGeom>
          <a:solidFill>
            <a:srgbClr val="1C7293"/>
          </a:solidFill>
          <a:ln/>
        </p:spPr>
      </p:sp>
      <p:sp>
        <p:nvSpPr>
          <p:cNvPr id="16" name="Text 14"/>
          <p:cNvSpPr/>
          <p:nvPr/>
        </p:nvSpPr>
        <p:spPr>
          <a:xfrm>
            <a:off x="8357616"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357616" y="2880360"/>
            <a:ext cx="3044952"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RISK MANAGEMENT</a:t>
            </a:r>
            <a:endParaRPr lang="en-US" sz="1200" dirty="0"/>
          </a:p>
        </p:txBody>
      </p:sp>
      <p:sp>
        <p:nvSpPr>
          <p:cNvPr id="18" name="Text 16"/>
          <p:cNvSpPr/>
          <p:nvPr/>
        </p:nvSpPr>
        <p:spPr>
          <a:xfrm>
            <a:off x="8357616" y="3246120"/>
            <a:ext cx="3044952" cy="246888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How does a Cumulative Accumulated Wind Speed (CAWS) instrument behave as a left-tail complement to the variance swap?</a:t>
            </a:r>
            <a:endParaRPr lang="en-US" sz="1300" dirty="0"/>
          </a:p>
        </p:txBody>
      </p:sp>
      <p:sp>
        <p:nvSpPr>
          <p:cNvPr id="19" name="Text 17"/>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20" name="Text 18"/>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2 · METHODOLOGY</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One pipeline, five stages, both datasets side by side</a:t>
            </a:r>
            <a:endParaRPr lang="en-US" sz="2700" dirty="0"/>
          </a:p>
        </p:txBody>
      </p:sp>
      <p:sp>
        <p:nvSpPr>
          <p:cNvPr id="4" name="Shape 2"/>
          <p:cNvSpPr/>
          <p:nvPr/>
        </p:nvSpPr>
        <p:spPr>
          <a:xfrm>
            <a:off x="1755648" y="2628900"/>
            <a:ext cx="237744" cy="0"/>
          </a:xfrm>
          <a:prstGeom prst="line">
            <a:avLst/>
          </a:prstGeom>
          <a:noFill/>
          <a:ln w="25400">
            <a:solidFill>
              <a:srgbClr val="1C7293"/>
            </a:solidFill>
            <a:prstDash val="solid"/>
            <a:tailEnd type="triangle"/>
          </a:ln>
        </p:spPr>
      </p:sp>
      <p:sp>
        <p:nvSpPr>
          <p:cNvPr id="5" name="Shape 3"/>
          <p:cNvSpPr/>
          <p:nvPr/>
        </p:nvSpPr>
        <p:spPr>
          <a:xfrm>
            <a:off x="777240" y="2148840"/>
            <a:ext cx="960120" cy="960120"/>
          </a:xfrm>
          <a:prstGeom prst="ellipse">
            <a:avLst/>
          </a:prstGeom>
          <a:solidFill>
            <a:srgbClr val="1C7293"/>
          </a:solidFill>
          <a:ln/>
        </p:spPr>
      </p:sp>
      <p:sp>
        <p:nvSpPr>
          <p:cNvPr id="6" name="Text 4"/>
          <p:cNvSpPr/>
          <p:nvPr/>
        </p:nvSpPr>
        <p:spPr>
          <a:xfrm>
            <a:off x="777240" y="2148840"/>
            <a:ext cx="960120"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457200" y="3246120"/>
            <a:ext cx="2606040" cy="36576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Deseasonalise</a:t>
            </a:r>
            <a:endParaRPr lang="en-US" sz="1450" dirty="0"/>
          </a:p>
        </p:txBody>
      </p:sp>
      <p:sp>
        <p:nvSpPr>
          <p:cNvPr id="8" name="Text 6"/>
          <p:cNvSpPr/>
          <p:nvPr/>
        </p:nvSpPr>
        <p:spPr>
          <a:xfrm>
            <a:off x="457200" y="3611880"/>
            <a:ext cx="2606040" cy="548640"/>
          </a:xfrm>
          <a:prstGeom prst="rect">
            <a:avLst/>
          </a:prstGeom>
          <a:noFill/>
          <a:ln/>
        </p:spPr>
        <p:txBody>
          <a:bodyPr wrap="square" lIns="0" tIns="0" rIns="0" bIns="0" rtlCol="0" anchor="ctr"/>
          <a:lstStyle/>
          <a:p>
            <a:pPr algn="ctr" indent="0" marL="0">
              <a:lnSpc>
                <a:spcPct val="110000"/>
              </a:lnSpc>
              <a:buNone/>
            </a:pPr>
            <a:r>
              <a:rPr lang="en-US" sz="1100" dirty="0">
                <a:solidFill>
                  <a:srgbClr val="56606B"/>
                </a:solidFill>
                <a:latin typeface="Calibri" pitchFamily="34" charset="0"/>
                <a:ea typeface="Calibri" pitchFamily="34" charset="-122"/>
                <a:cs typeface="Calibri" pitchFamily="34" charset="-120"/>
              </a:rPr>
              <a:t>Box–Cox + Fourier → W̃(t)</a:t>
            </a:r>
            <a:endParaRPr lang="en-US" sz="1100" dirty="0"/>
          </a:p>
        </p:txBody>
      </p:sp>
      <p:sp>
        <p:nvSpPr>
          <p:cNvPr id="9" name="Shape 7"/>
          <p:cNvSpPr/>
          <p:nvPr/>
        </p:nvSpPr>
        <p:spPr>
          <a:xfrm>
            <a:off x="3995928" y="2628900"/>
            <a:ext cx="237744" cy="0"/>
          </a:xfrm>
          <a:prstGeom prst="line">
            <a:avLst/>
          </a:prstGeom>
          <a:noFill/>
          <a:ln w="25400">
            <a:solidFill>
              <a:srgbClr val="1C7293"/>
            </a:solidFill>
            <a:prstDash val="solid"/>
            <a:tailEnd type="triangle"/>
          </a:ln>
        </p:spPr>
      </p:sp>
      <p:sp>
        <p:nvSpPr>
          <p:cNvPr id="10" name="Shape 8"/>
          <p:cNvSpPr/>
          <p:nvPr/>
        </p:nvSpPr>
        <p:spPr>
          <a:xfrm>
            <a:off x="3017520" y="2148840"/>
            <a:ext cx="960120" cy="960120"/>
          </a:xfrm>
          <a:prstGeom prst="ellipse">
            <a:avLst/>
          </a:prstGeom>
          <a:solidFill>
            <a:srgbClr val="1C7293"/>
          </a:solidFill>
          <a:ln/>
        </p:spPr>
      </p:sp>
      <p:sp>
        <p:nvSpPr>
          <p:cNvPr id="11" name="Text 9"/>
          <p:cNvSpPr/>
          <p:nvPr/>
        </p:nvSpPr>
        <p:spPr>
          <a:xfrm>
            <a:off x="3017520" y="2148840"/>
            <a:ext cx="960120"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2697480" y="3246120"/>
            <a:ext cx="2606040" cy="36576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AR(4) mean</a:t>
            </a:r>
            <a:endParaRPr lang="en-US" sz="1450" dirty="0"/>
          </a:p>
        </p:txBody>
      </p:sp>
      <p:sp>
        <p:nvSpPr>
          <p:cNvPr id="13" name="Text 11"/>
          <p:cNvSpPr/>
          <p:nvPr/>
        </p:nvSpPr>
        <p:spPr>
          <a:xfrm>
            <a:off x="2697480" y="3611880"/>
            <a:ext cx="2606040" cy="548640"/>
          </a:xfrm>
          <a:prstGeom prst="rect">
            <a:avLst/>
          </a:prstGeom>
          <a:noFill/>
          <a:ln/>
        </p:spPr>
        <p:txBody>
          <a:bodyPr wrap="square" lIns="0" tIns="0" rIns="0" bIns="0" rtlCol="0" anchor="ctr"/>
          <a:lstStyle/>
          <a:p>
            <a:pPr algn="ctr" indent="0" marL="0">
              <a:lnSpc>
                <a:spcPct val="110000"/>
              </a:lnSpc>
              <a:buNone/>
            </a:pPr>
            <a:r>
              <a:rPr lang="en-US" sz="1100" dirty="0">
                <a:solidFill>
                  <a:srgbClr val="56606B"/>
                </a:solidFill>
                <a:latin typeface="Calibri" pitchFamily="34" charset="0"/>
                <a:ea typeface="Calibri" pitchFamily="34" charset="-122"/>
                <a:cs typeface="Calibri" pitchFamily="34" charset="-120"/>
              </a:rPr>
              <a:t>conditional mean</a:t>
            </a:r>
            <a:endParaRPr lang="en-US" sz="1100" dirty="0"/>
          </a:p>
        </p:txBody>
      </p:sp>
      <p:sp>
        <p:nvSpPr>
          <p:cNvPr id="14" name="Shape 12"/>
          <p:cNvSpPr/>
          <p:nvPr/>
        </p:nvSpPr>
        <p:spPr>
          <a:xfrm>
            <a:off x="6236208" y="2628900"/>
            <a:ext cx="237744" cy="0"/>
          </a:xfrm>
          <a:prstGeom prst="line">
            <a:avLst/>
          </a:prstGeom>
          <a:noFill/>
          <a:ln w="25400">
            <a:solidFill>
              <a:srgbClr val="1C7293"/>
            </a:solidFill>
            <a:prstDash val="solid"/>
            <a:tailEnd type="triangle"/>
          </a:ln>
        </p:spPr>
      </p:sp>
      <p:sp>
        <p:nvSpPr>
          <p:cNvPr id="15" name="Shape 13"/>
          <p:cNvSpPr/>
          <p:nvPr/>
        </p:nvSpPr>
        <p:spPr>
          <a:xfrm>
            <a:off x="5257800" y="2148840"/>
            <a:ext cx="960120" cy="960120"/>
          </a:xfrm>
          <a:prstGeom prst="ellipse">
            <a:avLst/>
          </a:prstGeom>
          <a:solidFill>
            <a:srgbClr val="1C7293"/>
          </a:solidFill>
          <a:ln/>
        </p:spPr>
      </p:sp>
      <p:sp>
        <p:nvSpPr>
          <p:cNvPr id="16" name="Text 14"/>
          <p:cNvSpPr/>
          <p:nvPr/>
        </p:nvSpPr>
        <p:spPr>
          <a:xfrm>
            <a:off x="5257800" y="2148840"/>
            <a:ext cx="960120"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4937760" y="3246120"/>
            <a:ext cx="2606040" cy="36576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GARCH(1,1)</a:t>
            </a:r>
            <a:endParaRPr lang="en-US" sz="1450" dirty="0"/>
          </a:p>
        </p:txBody>
      </p:sp>
      <p:sp>
        <p:nvSpPr>
          <p:cNvPr id="18" name="Text 16"/>
          <p:cNvSpPr/>
          <p:nvPr/>
        </p:nvSpPr>
        <p:spPr>
          <a:xfrm>
            <a:off x="4937760" y="3611880"/>
            <a:ext cx="2606040" cy="548640"/>
          </a:xfrm>
          <a:prstGeom prst="rect">
            <a:avLst/>
          </a:prstGeom>
          <a:noFill/>
          <a:ln/>
        </p:spPr>
        <p:txBody>
          <a:bodyPr wrap="square" lIns="0" tIns="0" rIns="0" bIns="0" rtlCol="0" anchor="ctr"/>
          <a:lstStyle/>
          <a:p>
            <a:pPr algn="ctr" indent="0" marL="0">
              <a:lnSpc>
                <a:spcPct val="110000"/>
              </a:lnSpc>
              <a:buNone/>
            </a:pPr>
            <a:r>
              <a:rPr lang="en-US" sz="1100" dirty="0">
                <a:solidFill>
                  <a:srgbClr val="56606B"/>
                </a:solidFill>
                <a:latin typeface="Calibri" pitchFamily="34" charset="0"/>
                <a:ea typeface="Calibri" pitchFamily="34" charset="-122"/>
                <a:cs typeface="Calibri" pitchFamily="34" charset="-120"/>
              </a:rPr>
              <a:t>conditional volatility h(t)</a:t>
            </a:r>
            <a:endParaRPr lang="en-US" sz="1100" dirty="0"/>
          </a:p>
        </p:txBody>
      </p:sp>
      <p:sp>
        <p:nvSpPr>
          <p:cNvPr id="19" name="Shape 17"/>
          <p:cNvSpPr/>
          <p:nvPr/>
        </p:nvSpPr>
        <p:spPr>
          <a:xfrm>
            <a:off x="8476488" y="2628900"/>
            <a:ext cx="237744" cy="0"/>
          </a:xfrm>
          <a:prstGeom prst="line">
            <a:avLst/>
          </a:prstGeom>
          <a:noFill/>
          <a:ln w="25400">
            <a:solidFill>
              <a:srgbClr val="1C7293"/>
            </a:solidFill>
            <a:prstDash val="solid"/>
            <a:tailEnd type="triangle"/>
          </a:ln>
        </p:spPr>
      </p:sp>
      <p:sp>
        <p:nvSpPr>
          <p:cNvPr id="20" name="Shape 18"/>
          <p:cNvSpPr/>
          <p:nvPr/>
        </p:nvSpPr>
        <p:spPr>
          <a:xfrm>
            <a:off x="7498080" y="2148840"/>
            <a:ext cx="960120" cy="960120"/>
          </a:xfrm>
          <a:prstGeom prst="ellipse">
            <a:avLst/>
          </a:prstGeom>
          <a:solidFill>
            <a:srgbClr val="C8791A"/>
          </a:solidFill>
          <a:ln/>
        </p:spPr>
      </p:sp>
      <p:sp>
        <p:nvSpPr>
          <p:cNvPr id="21" name="Text 19"/>
          <p:cNvSpPr/>
          <p:nvPr/>
        </p:nvSpPr>
        <p:spPr>
          <a:xfrm>
            <a:off x="7498080" y="2148840"/>
            <a:ext cx="960120"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7178040" y="3246120"/>
            <a:ext cx="2606040" cy="36576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CAR(4)</a:t>
            </a:r>
            <a:endParaRPr lang="en-US" sz="1450" dirty="0"/>
          </a:p>
        </p:txBody>
      </p:sp>
      <p:sp>
        <p:nvSpPr>
          <p:cNvPr id="23" name="Text 21"/>
          <p:cNvSpPr/>
          <p:nvPr/>
        </p:nvSpPr>
        <p:spPr>
          <a:xfrm>
            <a:off x="7178040" y="3611880"/>
            <a:ext cx="2606040" cy="548640"/>
          </a:xfrm>
          <a:prstGeom prst="rect">
            <a:avLst/>
          </a:prstGeom>
          <a:noFill/>
          <a:ln/>
        </p:spPr>
        <p:txBody>
          <a:bodyPr wrap="square" lIns="0" tIns="0" rIns="0" bIns="0" rtlCol="0" anchor="ctr"/>
          <a:lstStyle/>
          <a:p>
            <a:pPr algn="ctr" indent="0" marL="0">
              <a:lnSpc>
                <a:spcPct val="110000"/>
              </a:lnSpc>
              <a:buNone/>
            </a:pPr>
            <a:r>
              <a:rPr lang="en-US" sz="1100" dirty="0">
                <a:solidFill>
                  <a:srgbClr val="56606B"/>
                </a:solidFill>
                <a:latin typeface="Calibri" pitchFamily="34" charset="0"/>
                <a:ea typeface="Calibri" pitchFamily="34" charset="-122"/>
                <a:cs typeface="Calibri" pitchFamily="34" charset="-120"/>
              </a:rPr>
              <a:t>continuous-time embedding</a:t>
            </a:r>
            <a:endParaRPr lang="en-US" sz="1100" dirty="0"/>
          </a:p>
        </p:txBody>
      </p:sp>
      <p:sp>
        <p:nvSpPr>
          <p:cNvPr id="24" name="Shape 22"/>
          <p:cNvSpPr/>
          <p:nvPr/>
        </p:nvSpPr>
        <p:spPr>
          <a:xfrm>
            <a:off x="9738360" y="2148840"/>
            <a:ext cx="960120" cy="960120"/>
          </a:xfrm>
          <a:prstGeom prst="ellipse">
            <a:avLst/>
          </a:prstGeom>
          <a:solidFill>
            <a:srgbClr val="1C7293"/>
          </a:solidFill>
          <a:ln/>
        </p:spPr>
      </p:sp>
      <p:sp>
        <p:nvSpPr>
          <p:cNvPr id="25" name="Text 23"/>
          <p:cNvSpPr/>
          <p:nvPr/>
        </p:nvSpPr>
        <p:spPr>
          <a:xfrm>
            <a:off x="9738360" y="2148840"/>
            <a:ext cx="960120"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6" name="Text 24"/>
          <p:cNvSpPr/>
          <p:nvPr/>
        </p:nvSpPr>
        <p:spPr>
          <a:xfrm>
            <a:off x="9418320" y="3246120"/>
            <a:ext cx="2606040" cy="36576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SV theory</a:t>
            </a:r>
            <a:endParaRPr lang="en-US" sz="1450" dirty="0"/>
          </a:p>
        </p:txBody>
      </p:sp>
      <p:sp>
        <p:nvSpPr>
          <p:cNvPr id="27" name="Text 25"/>
          <p:cNvSpPr/>
          <p:nvPr/>
        </p:nvSpPr>
        <p:spPr>
          <a:xfrm>
            <a:off x="9418320" y="3611880"/>
            <a:ext cx="2606040" cy="548640"/>
          </a:xfrm>
          <a:prstGeom prst="rect">
            <a:avLst/>
          </a:prstGeom>
          <a:noFill/>
          <a:ln/>
        </p:spPr>
        <p:txBody>
          <a:bodyPr wrap="square" lIns="0" tIns="0" rIns="0" bIns="0" rtlCol="0" anchor="ctr"/>
          <a:lstStyle/>
          <a:p>
            <a:pPr algn="ctr" indent="0" marL="0">
              <a:lnSpc>
                <a:spcPct val="110000"/>
              </a:lnSpc>
              <a:buNone/>
            </a:pPr>
            <a:r>
              <a:rPr lang="en-US" sz="1100" dirty="0">
                <a:solidFill>
                  <a:srgbClr val="56606B"/>
                </a:solidFill>
                <a:latin typeface="Calibri" pitchFamily="34" charset="0"/>
                <a:ea typeface="Calibri" pitchFamily="34" charset="-122"/>
                <a:cs typeface="Calibri" pitchFamily="34" charset="-120"/>
              </a:rPr>
              <a:t>Heston / CIR template</a:t>
            </a:r>
            <a:endParaRPr lang="en-US" sz="1100" dirty="0"/>
          </a:p>
        </p:txBody>
      </p:sp>
      <p:sp>
        <p:nvSpPr>
          <p:cNvPr id="28" name="Shape 26"/>
          <p:cNvSpPr/>
          <p:nvPr/>
        </p:nvSpPr>
        <p:spPr>
          <a:xfrm>
            <a:off x="548640" y="4206240"/>
            <a:ext cx="11109960" cy="1828800"/>
          </a:xfrm>
          <a:prstGeom prst="roundRect">
            <a:avLst>
              <a:gd name="adj" fmla="val 4500"/>
            </a:avLst>
          </a:prstGeom>
          <a:solidFill>
            <a:srgbClr val="EEF3F7"/>
          </a:solidFill>
          <a:ln/>
        </p:spPr>
      </p:sp>
      <p:sp>
        <p:nvSpPr>
          <p:cNvPr id="29" name="Text 27"/>
          <p:cNvSpPr/>
          <p:nvPr/>
        </p:nvSpPr>
        <p:spPr>
          <a:xfrm>
            <a:off x="822960" y="4389120"/>
            <a:ext cx="10515600" cy="1554480"/>
          </a:xfrm>
          <a:prstGeom prst="rect">
            <a:avLst/>
          </a:prstGeom>
          <a:noFill/>
          <a:ln/>
        </p:spPr>
        <p:txBody>
          <a:bodyPr wrap="square" lIns="0" tIns="0" rIns="0" bIns="0" rtlCol="0" anchor="ctr"/>
          <a:lstStyle/>
          <a:p>
            <a:pPr algn="l" indent="0" marL="0">
              <a:lnSpc>
                <a:spcPct val="120000"/>
              </a:lnSpc>
              <a:buNone/>
            </a:pPr>
            <a:r>
              <a:rPr lang="en-US" sz="1300" b="1" dirty="0">
                <a:solidFill>
                  <a:srgbClr val="21295C"/>
                </a:solidFill>
                <a:latin typeface="Calibri" pitchFamily="34" charset="0"/>
                <a:ea typeface="Calibri" pitchFamily="34" charset="-122"/>
                <a:cs typeface="Calibri" pitchFamily="34" charset="-120"/>
              </a:rPr>
              <a:t>What Chapter 3 actually needs from this pipeline: </a:t>
            </a:r>
            <a:endParaRPr lang="en-US" sz="1300" dirty="0"/>
          </a:p>
          <a:p>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h(t₀) and C₀, the two numbers that multiply into the fair strike, plus a stationary CAR(4) companion matrix. Everything else — AR/GARCH coefficients, eigenvalues, NIG tails — is diagnostic evidence that those three are trustworthy. Precedents: Tol (1997) for the seasonal-variance × GARCH decomposition; Benth &amp; Šaltytė Benth (2009) for the AR(4)↔CAR(4) Euler-discretisation template.</a:t>
            </a:r>
            <a:endParaRPr lang="en-US" sz="1300" dirty="0"/>
          </a:p>
        </p:txBody>
      </p:sp>
      <p:sp>
        <p:nvSpPr>
          <p:cNvPr id="30" name="Text 28"/>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31" name="Text 29"/>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2 · PRICING INPUTS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Two numbers carry the entire pricing result</a:t>
            </a:r>
            <a:endParaRPr lang="en-US" sz="2700" dirty="0"/>
          </a:p>
        </p:txBody>
      </p:sp>
      <p:sp>
        <p:nvSpPr>
          <p:cNvPr id="4" name="Shape 2"/>
          <p:cNvSpPr/>
          <p:nvPr/>
        </p:nvSpPr>
        <p:spPr>
          <a:xfrm>
            <a:off x="548640" y="1783080"/>
            <a:ext cx="5349240" cy="2788920"/>
          </a:xfrm>
          <a:prstGeom prst="roundRect">
            <a:avLst>
              <a:gd name="adj" fmla="val 2951"/>
            </a:avLst>
          </a:prstGeom>
          <a:solidFill>
            <a:srgbClr val="F7FAFC"/>
          </a:solidFill>
          <a:ln/>
          <a:effectLst>
            <a:outerShdw sx="100000" sy="100000" kx="0" ky="0" algn="bl" rotWithShape="0" blurRad="88900" dist="25400" dir="5400000">
              <a:srgbClr val="1C1C1C">
                <a:alpha val="16000"/>
              </a:srgbClr>
            </a:outerShdw>
          </a:effectLst>
        </p:spPr>
      </p:sp>
      <p:sp>
        <p:nvSpPr>
          <p:cNvPr id="5" name="Text 3"/>
          <p:cNvSpPr/>
          <p:nvPr/>
        </p:nvSpPr>
        <p:spPr>
          <a:xfrm>
            <a:off x="914400" y="2011680"/>
            <a:ext cx="2011680" cy="822960"/>
          </a:xfrm>
          <a:prstGeom prst="rect">
            <a:avLst/>
          </a:prstGeom>
          <a:noFill/>
          <a:ln/>
        </p:spPr>
        <p:txBody>
          <a:bodyPr wrap="square" lIns="0" tIns="0" rIns="0" bIns="0" rtlCol="0" anchor="ctr"/>
          <a:lstStyle/>
          <a:p>
            <a:pPr indent="0" marL="0">
              <a:buNone/>
            </a:pPr>
            <a:r>
              <a:rPr lang="en-US" sz="4000" b="1" dirty="0">
                <a:solidFill>
                  <a:srgbClr val="21295C"/>
                </a:solidFill>
                <a:latin typeface="Cambria" pitchFamily="34" charset="0"/>
                <a:ea typeface="Cambria" pitchFamily="34" charset="-122"/>
                <a:cs typeface="Cambria" pitchFamily="34" charset="-120"/>
              </a:rPr>
              <a:t>C₀</a:t>
            </a:r>
            <a:endParaRPr lang="en-US" sz="4000" dirty="0"/>
          </a:p>
        </p:txBody>
      </p:sp>
      <p:sp>
        <p:nvSpPr>
          <p:cNvPr id="6" name="Text 4"/>
          <p:cNvSpPr/>
          <p:nvPr/>
        </p:nvSpPr>
        <p:spPr>
          <a:xfrm>
            <a:off x="914400" y="2743200"/>
            <a:ext cx="4617720" cy="457200"/>
          </a:xfrm>
          <a:prstGeom prst="rect">
            <a:avLst/>
          </a:prstGeom>
          <a:noFill/>
          <a:ln/>
        </p:spPr>
        <p:txBody>
          <a:bodyPr wrap="square" lIns="0" tIns="0" rIns="0" bIns="0" rtlCol="0" anchor="ctr"/>
          <a:lstStyle/>
          <a:p>
            <a:pPr indent="0" marL="0">
              <a:buNone/>
            </a:pPr>
            <a:r>
              <a:rPr lang="en-US" sz="1200" i="1" dirty="0">
                <a:solidFill>
                  <a:srgbClr val="56606B"/>
                </a:solidFill>
                <a:latin typeface="Calibri" pitchFamily="34" charset="0"/>
                <a:ea typeface="Calibri" pitchFamily="34" charset="-122"/>
                <a:cs typeface="Calibri" pitchFamily="34" charset="-120"/>
              </a:rPr>
              <a:t>Fourier seasonal-variance mean</a:t>
            </a:r>
            <a:endParaRPr lang="en-US" sz="1200" dirty="0"/>
          </a:p>
        </p:txBody>
      </p:sp>
      <p:sp>
        <p:nvSpPr>
          <p:cNvPr id="7" name="Text 5"/>
          <p:cNvSpPr/>
          <p:nvPr/>
        </p:nvSpPr>
        <p:spPr>
          <a:xfrm>
            <a:off x="914400" y="3337560"/>
            <a:ext cx="4617720" cy="320040"/>
          </a:xfrm>
          <a:prstGeom prst="rect">
            <a:avLst/>
          </a:prstGeom>
          <a:noFill/>
          <a:ln/>
        </p:spPr>
        <p:txBody>
          <a:bodyPr wrap="square" lIns="0" tIns="0" rIns="0" bIns="0" rtlCol="0" anchor="ctr"/>
          <a:lstStyle/>
          <a:p>
            <a:pPr indent="0" marL="0">
              <a:buNone/>
            </a:pPr>
            <a:r>
              <a:rPr lang="en-US" sz="1300" dirty="0">
                <a:solidFill>
                  <a:srgbClr val="56606B"/>
                </a:solidFill>
                <a:latin typeface="Calibri" pitchFamily="34" charset="0"/>
                <a:ea typeface="Calibri" pitchFamily="34" charset="-122"/>
                <a:cs typeface="Calibri" pitchFamily="34" charset="-120"/>
              </a:rPr>
              <a:t>Dataset A   </a:t>
            </a:r>
            <a:pPr indent="0" marL="0">
              <a:buNone/>
            </a:pPr>
            <a:r>
              <a:rPr lang="en-US" sz="1500" b="1" dirty="0">
                <a:solidFill>
                  <a:srgbClr val="21295C"/>
                </a:solidFill>
                <a:latin typeface="Calibri" pitchFamily="34" charset="0"/>
                <a:ea typeface="Calibri" pitchFamily="34" charset="-122"/>
                <a:cs typeface="Calibri" pitchFamily="34" charset="-120"/>
              </a:rPr>
              <a:t>0.1314</a:t>
            </a:r>
            <a:endParaRPr lang="en-US" sz="1300" dirty="0"/>
          </a:p>
        </p:txBody>
      </p:sp>
      <p:sp>
        <p:nvSpPr>
          <p:cNvPr id="8" name="Text 6"/>
          <p:cNvSpPr/>
          <p:nvPr/>
        </p:nvSpPr>
        <p:spPr>
          <a:xfrm>
            <a:off x="914400" y="3703320"/>
            <a:ext cx="4617720" cy="320040"/>
          </a:xfrm>
          <a:prstGeom prst="rect">
            <a:avLst/>
          </a:prstGeom>
          <a:noFill/>
          <a:ln/>
        </p:spPr>
        <p:txBody>
          <a:bodyPr wrap="square" lIns="0" tIns="0" rIns="0" bIns="0" rtlCol="0" anchor="ctr"/>
          <a:lstStyle/>
          <a:p>
            <a:pPr indent="0" marL="0">
              <a:buNone/>
            </a:pPr>
            <a:r>
              <a:rPr lang="en-US" sz="1300" dirty="0">
                <a:solidFill>
                  <a:srgbClr val="56606B"/>
                </a:solidFill>
                <a:latin typeface="Calibri" pitchFamily="34" charset="0"/>
                <a:ea typeface="Calibri" pitchFamily="34" charset="-122"/>
                <a:cs typeface="Calibri" pitchFamily="34" charset="-120"/>
              </a:rPr>
              <a:t>Dataset B   </a:t>
            </a:r>
            <a:pPr indent="0" marL="0">
              <a:buNone/>
            </a:pPr>
            <a:r>
              <a:rPr lang="en-US" sz="1500" b="1" dirty="0">
                <a:solidFill>
                  <a:srgbClr val="21295C"/>
                </a:solidFill>
                <a:latin typeface="Calibri" pitchFamily="34" charset="0"/>
                <a:ea typeface="Calibri" pitchFamily="34" charset="-122"/>
                <a:cs typeface="Calibri" pitchFamily="34" charset="-120"/>
              </a:rPr>
              <a:t>1.1628</a:t>
            </a:r>
            <a:endParaRPr lang="en-US" sz="1300" dirty="0"/>
          </a:p>
        </p:txBody>
      </p:sp>
      <p:sp>
        <p:nvSpPr>
          <p:cNvPr id="9" name="Shape 7"/>
          <p:cNvSpPr/>
          <p:nvPr/>
        </p:nvSpPr>
        <p:spPr>
          <a:xfrm>
            <a:off x="4160520" y="2103120"/>
            <a:ext cx="1371600" cy="502920"/>
          </a:xfrm>
          <a:prstGeom prst="roundRect">
            <a:avLst>
              <a:gd name="adj" fmla="val 50909"/>
            </a:avLst>
          </a:prstGeom>
          <a:solidFill>
            <a:srgbClr val="C8791A"/>
          </a:solidFill>
          <a:ln/>
        </p:spPr>
      </p:sp>
      <p:sp>
        <p:nvSpPr>
          <p:cNvPr id="10" name="Text 8"/>
          <p:cNvSpPr/>
          <p:nvPr/>
        </p:nvSpPr>
        <p:spPr>
          <a:xfrm>
            <a:off x="4160520" y="2103120"/>
            <a:ext cx="13716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8.85× gap</a:t>
            </a:r>
            <a:endParaRPr lang="en-US" sz="1300" dirty="0"/>
          </a:p>
        </p:txBody>
      </p:sp>
      <p:sp>
        <p:nvSpPr>
          <p:cNvPr id="11" name="Shape 9"/>
          <p:cNvSpPr/>
          <p:nvPr/>
        </p:nvSpPr>
        <p:spPr>
          <a:xfrm>
            <a:off x="6309360" y="1783080"/>
            <a:ext cx="5349240" cy="2788920"/>
          </a:xfrm>
          <a:prstGeom prst="roundRect">
            <a:avLst>
              <a:gd name="adj" fmla="val 2951"/>
            </a:avLst>
          </a:prstGeom>
          <a:solidFill>
            <a:srgbClr val="F7FAFC"/>
          </a:solidFill>
          <a:ln/>
          <a:effectLst>
            <a:outerShdw sx="100000" sy="100000" kx="0" ky="0" algn="bl" rotWithShape="0" blurRad="88900" dist="25400" dir="5400000">
              <a:srgbClr val="1C1C1C">
                <a:alpha val="16000"/>
              </a:srgbClr>
            </a:outerShdw>
          </a:effectLst>
        </p:spPr>
      </p:sp>
      <p:sp>
        <p:nvSpPr>
          <p:cNvPr id="12" name="Text 10"/>
          <p:cNvSpPr/>
          <p:nvPr/>
        </p:nvSpPr>
        <p:spPr>
          <a:xfrm>
            <a:off x="6675120" y="2011680"/>
            <a:ext cx="2011680" cy="822960"/>
          </a:xfrm>
          <a:prstGeom prst="rect">
            <a:avLst/>
          </a:prstGeom>
          <a:noFill/>
          <a:ln/>
        </p:spPr>
        <p:txBody>
          <a:bodyPr wrap="square" lIns="0" tIns="0" rIns="0" bIns="0" rtlCol="0" anchor="ctr"/>
          <a:lstStyle/>
          <a:p>
            <a:pPr indent="0" marL="0">
              <a:buNone/>
            </a:pPr>
            <a:r>
              <a:rPr lang="en-US" sz="4000" b="1" dirty="0">
                <a:solidFill>
                  <a:srgbClr val="21295C"/>
                </a:solidFill>
                <a:latin typeface="Cambria" pitchFamily="34" charset="0"/>
                <a:ea typeface="Cambria" pitchFamily="34" charset="-122"/>
                <a:cs typeface="Cambria" pitchFamily="34" charset="-120"/>
              </a:rPr>
              <a:t>h(t₀)</a:t>
            </a:r>
            <a:endParaRPr lang="en-US" sz="4000" dirty="0"/>
          </a:p>
        </p:txBody>
      </p:sp>
      <p:sp>
        <p:nvSpPr>
          <p:cNvPr id="13" name="Text 11"/>
          <p:cNvSpPr/>
          <p:nvPr/>
        </p:nvSpPr>
        <p:spPr>
          <a:xfrm>
            <a:off x="6675120" y="2743200"/>
            <a:ext cx="4617720" cy="457200"/>
          </a:xfrm>
          <a:prstGeom prst="rect">
            <a:avLst/>
          </a:prstGeom>
          <a:noFill/>
          <a:ln/>
        </p:spPr>
        <p:txBody>
          <a:bodyPr wrap="square" lIns="0" tIns="0" rIns="0" bIns="0" rtlCol="0" anchor="ctr"/>
          <a:lstStyle/>
          <a:p>
            <a:pPr indent="0" marL="0">
              <a:buNone/>
            </a:pPr>
            <a:r>
              <a:rPr lang="en-US" sz="1200" i="1" dirty="0">
                <a:solidFill>
                  <a:srgbClr val="56606B"/>
                </a:solidFill>
                <a:latin typeface="Calibri" pitchFamily="34" charset="0"/>
                <a:ea typeface="Calibri" pitchFamily="34" charset="-122"/>
                <a:cs typeface="Calibri" pitchFamily="34" charset="-120"/>
              </a:rPr>
              <a:t>GARCH conditional-variance state</a:t>
            </a:r>
            <a:endParaRPr lang="en-US" sz="1200" dirty="0"/>
          </a:p>
        </p:txBody>
      </p:sp>
      <p:sp>
        <p:nvSpPr>
          <p:cNvPr id="14" name="Text 12"/>
          <p:cNvSpPr/>
          <p:nvPr/>
        </p:nvSpPr>
        <p:spPr>
          <a:xfrm>
            <a:off x="6675120" y="3337560"/>
            <a:ext cx="4617720" cy="320040"/>
          </a:xfrm>
          <a:prstGeom prst="rect">
            <a:avLst/>
          </a:prstGeom>
          <a:noFill/>
          <a:ln/>
        </p:spPr>
        <p:txBody>
          <a:bodyPr wrap="square" lIns="0" tIns="0" rIns="0" bIns="0" rtlCol="0" anchor="ctr"/>
          <a:lstStyle/>
          <a:p>
            <a:pPr indent="0" marL="0">
              <a:buNone/>
            </a:pPr>
            <a:r>
              <a:rPr lang="en-US" sz="1300" dirty="0">
                <a:solidFill>
                  <a:srgbClr val="56606B"/>
                </a:solidFill>
                <a:latin typeface="Calibri" pitchFamily="34" charset="0"/>
                <a:ea typeface="Calibri" pitchFamily="34" charset="-122"/>
                <a:cs typeface="Calibri" pitchFamily="34" charset="-120"/>
              </a:rPr>
              <a:t>Dataset A   </a:t>
            </a:r>
            <a:pPr indent="0" marL="0">
              <a:buNone/>
            </a:pPr>
            <a:r>
              <a:rPr lang="en-US" sz="1500" b="1" dirty="0">
                <a:solidFill>
                  <a:srgbClr val="21295C"/>
                </a:solidFill>
                <a:latin typeface="Calibri" pitchFamily="34" charset="0"/>
                <a:ea typeface="Calibri" pitchFamily="34" charset="-122"/>
                <a:cs typeface="Calibri" pitchFamily="34" charset="-120"/>
              </a:rPr>
              <a:t>0.4137</a:t>
            </a:r>
            <a:endParaRPr lang="en-US" sz="1300" dirty="0"/>
          </a:p>
        </p:txBody>
      </p:sp>
      <p:sp>
        <p:nvSpPr>
          <p:cNvPr id="15" name="Text 13"/>
          <p:cNvSpPr/>
          <p:nvPr/>
        </p:nvSpPr>
        <p:spPr>
          <a:xfrm>
            <a:off x="6675120" y="3703320"/>
            <a:ext cx="4617720" cy="320040"/>
          </a:xfrm>
          <a:prstGeom prst="rect">
            <a:avLst/>
          </a:prstGeom>
          <a:noFill/>
          <a:ln/>
        </p:spPr>
        <p:txBody>
          <a:bodyPr wrap="square" lIns="0" tIns="0" rIns="0" bIns="0" rtlCol="0" anchor="ctr"/>
          <a:lstStyle/>
          <a:p>
            <a:pPr indent="0" marL="0">
              <a:buNone/>
            </a:pPr>
            <a:r>
              <a:rPr lang="en-US" sz="1300" dirty="0">
                <a:solidFill>
                  <a:srgbClr val="56606B"/>
                </a:solidFill>
                <a:latin typeface="Calibri" pitchFamily="34" charset="0"/>
                <a:ea typeface="Calibri" pitchFamily="34" charset="-122"/>
                <a:cs typeface="Calibri" pitchFamily="34" charset="-120"/>
              </a:rPr>
              <a:t>Dataset B   </a:t>
            </a:r>
            <a:pPr indent="0" marL="0">
              <a:buNone/>
            </a:pPr>
            <a:r>
              <a:rPr lang="en-US" sz="1500" b="1" dirty="0">
                <a:solidFill>
                  <a:srgbClr val="21295C"/>
                </a:solidFill>
                <a:latin typeface="Calibri" pitchFamily="34" charset="0"/>
                <a:ea typeface="Calibri" pitchFamily="34" charset="-122"/>
                <a:cs typeface="Calibri" pitchFamily="34" charset="-120"/>
              </a:rPr>
              <a:t>0.7511</a:t>
            </a:r>
            <a:endParaRPr lang="en-US" sz="1300" dirty="0"/>
          </a:p>
        </p:txBody>
      </p:sp>
      <p:sp>
        <p:nvSpPr>
          <p:cNvPr id="16" name="Shape 14"/>
          <p:cNvSpPr/>
          <p:nvPr/>
        </p:nvSpPr>
        <p:spPr>
          <a:xfrm>
            <a:off x="9921240" y="2103120"/>
            <a:ext cx="1371600" cy="502920"/>
          </a:xfrm>
          <a:prstGeom prst="roundRect">
            <a:avLst>
              <a:gd name="adj" fmla="val 50909"/>
            </a:avLst>
          </a:prstGeom>
          <a:solidFill>
            <a:srgbClr val="C8791A"/>
          </a:solidFill>
          <a:ln/>
        </p:spPr>
      </p:sp>
      <p:sp>
        <p:nvSpPr>
          <p:cNvPr id="17" name="Text 15"/>
          <p:cNvSpPr/>
          <p:nvPr/>
        </p:nvSpPr>
        <p:spPr>
          <a:xfrm>
            <a:off x="9921240" y="2103120"/>
            <a:ext cx="13716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1.82× gap</a:t>
            </a:r>
            <a:endParaRPr lang="en-US" sz="1300" dirty="0"/>
          </a:p>
        </p:txBody>
      </p:sp>
      <p:sp>
        <p:nvSpPr>
          <p:cNvPr id="18" name="Shape 16"/>
          <p:cNvSpPr/>
          <p:nvPr/>
        </p:nvSpPr>
        <p:spPr>
          <a:xfrm>
            <a:off x="548640" y="4846320"/>
            <a:ext cx="11109960" cy="1280160"/>
          </a:xfrm>
          <a:prstGeom prst="roundRect">
            <a:avLst>
              <a:gd name="adj" fmla="val 6429"/>
            </a:avLst>
          </a:prstGeom>
          <a:solidFill>
            <a:srgbClr val="21295C"/>
          </a:solidFill>
          <a:ln/>
          <a:effectLst>
            <a:outerShdw sx="100000" sy="100000" kx="0" ky="0" algn="bl" rotWithShape="0" blurRad="88900" dist="25400" dir="5400000">
              <a:srgbClr val="1C1C1C">
                <a:alpha val="16000"/>
              </a:srgbClr>
            </a:outerShdw>
          </a:effectLst>
        </p:spPr>
      </p:sp>
      <p:sp>
        <p:nvSpPr>
          <p:cNvPr id="19" name="Text 17"/>
          <p:cNvSpPr/>
          <p:nvPr/>
        </p:nvSpPr>
        <p:spPr>
          <a:xfrm>
            <a:off x="822960" y="4983480"/>
            <a:ext cx="105156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Fair strike  =  h(t₀) × C₀   (Tol 1997 piecewise-constant convention)</a:t>
            </a:r>
            <a:endParaRPr lang="en-US" sz="1700" dirty="0"/>
          </a:p>
        </p:txBody>
      </p:sp>
      <p:sp>
        <p:nvSpPr>
          <p:cNvPr id="20" name="Text 18"/>
          <p:cNvSpPr/>
          <p:nvPr/>
        </p:nvSpPr>
        <p:spPr>
          <a:xfrm>
            <a:off x="822960" y="5440680"/>
            <a:ext cx="10515600" cy="54864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0.0544 (Dataset A)          vs          0.8734 (Dataset B)</a:t>
            </a:r>
            <a:endParaRPr lang="en-US" sz="1600" dirty="0"/>
          </a:p>
        </p:txBody>
      </p:sp>
      <p:sp>
        <p:nvSpPr>
          <p:cNvPr id="21" name="Text 19"/>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22" name="Text 20"/>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2 · A NEGATIVE RESULT, STATED NOT HIDDEN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The Feller condition depends on which estimator you trust</a:t>
            </a:r>
            <a:endParaRPr lang="en-US" sz="2700" dirty="0"/>
          </a:p>
        </p:txBody>
      </p:sp>
      <p:sp>
        <p:nvSpPr>
          <p:cNvPr id="4" name="Shape 2"/>
          <p:cNvSpPr/>
          <p:nvPr/>
        </p:nvSpPr>
        <p:spPr>
          <a:xfrm>
            <a:off x="548640" y="1828800"/>
            <a:ext cx="5394960" cy="4206240"/>
          </a:xfrm>
          <a:prstGeom prst="roundRect">
            <a:avLst>
              <a:gd name="adj" fmla="val 1957"/>
            </a:avLst>
          </a:prstGeom>
          <a:solidFill>
            <a:srgbClr val="F7FAFC"/>
          </a:solidFill>
          <a:ln/>
          <a:effectLst>
            <a:outerShdw sx="100000" sy="100000" kx="0" ky="0" algn="bl" rotWithShape="0" blurRad="88900" dist="25400" dir="5400000">
              <a:srgbClr val="1C1C1C">
                <a:alpha val="16000"/>
              </a:srgbClr>
            </a:outerShdw>
          </a:effectLst>
        </p:spPr>
      </p:sp>
      <p:sp>
        <p:nvSpPr>
          <p:cNvPr id="5" name="Text 3"/>
          <p:cNvSpPr/>
          <p:nvPr/>
        </p:nvSpPr>
        <p:spPr>
          <a:xfrm>
            <a:off x="868680" y="2057400"/>
            <a:ext cx="4846320" cy="320040"/>
          </a:xfrm>
          <a:prstGeom prst="rect">
            <a:avLst/>
          </a:prstGeom>
          <a:noFill/>
          <a:ln/>
        </p:spPr>
        <p:txBody>
          <a:bodyPr wrap="square" lIns="0" tIns="0" rIns="0" bIns="0"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DATASET B — REFERENCE</a:t>
            </a:r>
            <a:endParaRPr lang="en-US" sz="1200" dirty="0"/>
          </a:p>
        </p:txBody>
      </p:sp>
      <p:sp>
        <p:nvSpPr>
          <p:cNvPr id="6" name="Text 4"/>
          <p:cNvSpPr/>
          <p:nvPr/>
        </p:nvSpPr>
        <p:spPr>
          <a:xfrm>
            <a:off x="868680" y="2395728"/>
            <a:ext cx="4846320" cy="50292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Holds, robustly</a:t>
            </a:r>
            <a:endParaRPr lang="en-US" sz="2400" dirty="0"/>
          </a:p>
        </p:txBody>
      </p:sp>
      <p:sp>
        <p:nvSpPr>
          <p:cNvPr id="7" name="Text 5"/>
          <p:cNvSpPr/>
          <p:nvPr/>
        </p:nvSpPr>
        <p:spPr>
          <a:xfrm>
            <a:off x="868680" y="2971800"/>
            <a:ext cx="4846320" cy="82296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2κᵥv̄ = 0.0270 vs ξ² = 0.000959 → margin 28.1×, on every estimator considered.</a:t>
            </a:r>
            <a:endParaRPr lang="en-US" sz="1300" dirty="0"/>
          </a:p>
        </p:txBody>
      </p:sp>
      <p:sp>
        <p:nvSpPr>
          <p:cNvPr id="8" name="Shape 6"/>
          <p:cNvSpPr/>
          <p:nvPr/>
        </p:nvSpPr>
        <p:spPr>
          <a:xfrm>
            <a:off x="6263640" y="1828800"/>
            <a:ext cx="5394960" cy="4206240"/>
          </a:xfrm>
          <a:prstGeom prst="roundRect">
            <a:avLst>
              <a:gd name="adj" fmla="val 1957"/>
            </a:avLst>
          </a:prstGeom>
          <a:solidFill>
            <a:srgbClr val="EEF3F7"/>
          </a:solidFill>
          <a:ln/>
        </p:spPr>
      </p:sp>
      <p:sp>
        <p:nvSpPr>
          <p:cNvPr id="9" name="Text 7"/>
          <p:cNvSpPr/>
          <p:nvPr/>
        </p:nvSpPr>
        <p:spPr>
          <a:xfrm>
            <a:off x="6583680" y="2057400"/>
            <a:ext cx="4846320" cy="320040"/>
          </a:xfrm>
          <a:prstGeom prst="rect">
            <a:avLst/>
          </a:prstGeom>
          <a:noFill/>
          <a:ln/>
        </p:spPr>
        <p:txBody>
          <a:bodyPr wrap="square" lIns="0" tIns="0" rIns="0" bIns="0" rtlCol="0" anchor="ctr"/>
          <a:lstStyle/>
          <a:p>
            <a:pPr indent="0" marL="0">
              <a:buNone/>
            </a:pPr>
            <a:r>
              <a:rPr lang="en-US" sz="1200" b="1" spc="100" kern="0" dirty="0">
                <a:solidFill>
                  <a:srgbClr val="C8791A"/>
                </a:solidFill>
                <a:latin typeface="Calibri" pitchFamily="34" charset="0"/>
                <a:ea typeface="Calibri" pitchFamily="34" charset="-122"/>
                <a:cs typeface="Calibri" pitchFamily="34" charset="-120"/>
              </a:rPr>
              <a:t>DATASET A — PROXY</a:t>
            </a:r>
            <a:endParaRPr lang="en-US" sz="1200" dirty="0"/>
          </a:p>
        </p:txBody>
      </p:sp>
      <p:sp>
        <p:nvSpPr>
          <p:cNvPr id="10" name="Text 8"/>
          <p:cNvSpPr/>
          <p:nvPr/>
        </p:nvSpPr>
        <p:spPr>
          <a:xfrm>
            <a:off x="6583680" y="2395728"/>
            <a:ext cx="4846320" cy="50292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Estimator-dependent</a:t>
            </a:r>
            <a:endParaRPr lang="en-US" sz="2400" dirty="0"/>
          </a:p>
        </p:txBody>
      </p:sp>
      <p:sp>
        <p:nvSpPr>
          <p:cNvPr id="11" name="Text 9"/>
          <p:cNvSpPr/>
          <p:nvPr/>
        </p:nvSpPr>
        <p:spPr>
          <a:xfrm>
            <a:off x="6583680" y="2971800"/>
            <a:ext cx="4846320" cy="146304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Full-sample estimator (same one used for B): margin </a:t>
            </a:r>
            <a:pPr indent="0" marL="0">
              <a:lnSpc>
                <a:spcPct val="120000"/>
              </a:lnSpc>
              <a:buNone/>
            </a:pPr>
            <a:r>
              <a:rPr lang="en-US" sz="1300" b="1" dirty="0">
                <a:solidFill>
                  <a:srgbClr val="C8791A"/>
                </a:solidFill>
                <a:latin typeface="Calibri" pitchFamily="34" charset="0"/>
                <a:ea typeface="Calibri" pitchFamily="34" charset="-122"/>
                <a:cs typeface="Calibri" pitchFamily="34" charset="-120"/>
              </a:rPr>
              <a:t>0.8× — violated.</a:t>
            </a:r>
            <a:pPr indent="0" marL="0">
              <a:lnSpc>
                <a:spcPct val="120000"/>
              </a:lnSpc>
              <a:buNone/>
            </a:pPr>
            <a:endParaRPr lang="en-US" sz="1300" dirty="0"/>
          </a:p>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30-day rolling estimators: margins ≈5.1× and 3.6× — holds, but on a different estimator than B's.</a:t>
            </a:r>
            <a:endParaRPr lang="en-US" sz="1300" dirty="0"/>
          </a:p>
        </p:txBody>
      </p:sp>
      <p:sp>
        <p:nvSpPr>
          <p:cNvPr id="12" name="Shape 10"/>
          <p:cNvSpPr/>
          <p:nvPr/>
        </p:nvSpPr>
        <p:spPr>
          <a:xfrm>
            <a:off x="548640" y="5166360"/>
            <a:ext cx="11109960" cy="914400"/>
          </a:xfrm>
          <a:prstGeom prst="roundRect">
            <a:avLst>
              <a:gd name="adj" fmla="val 9000"/>
            </a:avLst>
          </a:prstGeom>
          <a:solidFill>
            <a:srgbClr val="21295C"/>
          </a:solidFill>
          <a:ln/>
          <a:effectLst>
            <a:outerShdw sx="100000" sy="100000" kx="0" ky="0" algn="bl" rotWithShape="0" blurRad="88900" dist="25400" dir="5400000">
              <a:srgbClr val="1C1C1C">
                <a:alpha val="16000"/>
              </a:srgbClr>
            </a:outerShdw>
          </a:effectLst>
        </p:spPr>
      </p:sp>
      <p:sp>
        <p:nvSpPr>
          <p:cNvPr id="13" name="Text 11"/>
          <p:cNvSpPr/>
          <p:nvPr/>
        </p:nvSpPr>
        <p:spPr>
          <a:xfrm>
            <a:off x="822960" y="5321808"/>
            <a:ext cx="10515600" cy="640080"/>
          </a:xfrm>
          <a:prstGeom prst="rect">
            <a:avLst/>
          </a:prstGeom>
          <a:noFill/>
          <a:ln/>
        </p:spPr>
        <p:txBody>
          <a:bodyPr wrap="square" lIns="0" tIns="0" rIns="0" bIns="0" rtlCol="0" anchor="ctr"/>
          <a:lstStyle/>
          <a:p>
            <a:pPr algn="l" indent="0" marL="0">
              <a:lnSpc>
                <a:spcPct val="118000"/>
              </a:lnSpc>
              <a:buNone/>
            </a:pPr>
            <a:r>
              <a:rPr lang="en-US" sz="1250" b="1" dirty="0">
                <a:solidFill>
                  <a:srgbClr val="E8A33D"/>
                </a:solidFill>
                <a:latin typeface="Calibri" pitchFamily="34" charset="0"/>
                <a:ea typeface="Calibri" pitchFamily="34" charset="-122"/>
                <a:cs typeface="Calibri" pitchFamily="34" charset="-120"/>
              </a:rPr>
              <a:t>The finding is the sensitivity itself: </a:t>
            </a:r>
            <a:pPr algn="l" indent="0" marL="0">
              <a:lnSpc>
                <a:spcPct val="118000"/>
              </a:lnSpc>
              <a:buNone/>
            </a:pPr>
            <a:r>
              <a:rPr lang="en-US" sz="1250" dirty="0">
                <a:solidFill>
                  <a:srgbClr val="EEF3F7"/>
                </a:solidFill>
                <a:latin typeface="Calibri" pitchFamily="34" charset="0"/>
                <a:ea typeface="Calibri" pitchFamily="34" charset="-122"/>
                <a:cs typeface="Calibri" pitchFamily="34" charset="-120"/>
              </a:rPr>
              <a:t>ξ (vol-of-vol) is the least identified of the four CIR parameters at daily frequency — it also reverses an earlier project anchor of 27.9×, which is not reproducible under any estimator tested.</a:t>
            </a:r>
            <a:endParaRPr lang="en-US" sz="1250" dirty="0"/>
          </a:p>
        </p:txBody>
      </p:sp>
      <p:sp>
        <p:nvSpPr>
          <p:cNvPr id="14" name="Text 12"/>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15" name="Text 13"/>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2 · MODEL VALIDATION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Four specifications, one conditional mean</a:t>
            </a:r>
            <a:endParaRPr lang="en-US" sz="2700" dirty="0"/>
          </a:p>
        </p:txBody>
      </p:sp>
      <p:sp>
        <p:nvSpPr>
          <p:cNvPr id="4" name="Shape 2"/>
          <p:cNvSpPr/>
          <p:nvPr/>
        </p:nvSpPr>
        <p:spPr>
          <a:xfrm>
            <a:off x="548640" y="1783080"/>
            <a:ext cx="11109960" cy="1554480"/>
          </a:xfrm>
          <a:prstGeom prst="roundRect">
            <a:avLst>
              <a:gd name="adj" fmla="val 5294"/>
            </a:avLst>
          </a:prstGeom>
          <a:solidFill>
            <a:srgbClr val="EEF3F7"/>
          </a:solidFill>
          <a:ln/>
        </p:spPr>
      </p:sp>
      <p:sp>
        <p:nvSpPr>
          <p:cNvPr id="5" name="Text 3"/>
          <p:cNvSpPr/>
          <p:nvPr/>
        </p:nvSpPr>
        <p:spPr>
          <a:xfrm>
            <a:off x="868680" y="1965960"/>
            <a:ext cx="10424160" cy="41148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AR(4)  •  AR(4)+GARCH  •  CAR(4)+Gaussian  •  CAR(4)+NIG</a:t>
            </a:r>
            <a:endParaRPr lang="en-US" sz="1800" dirty="0"/>
          </a:p>
        </p:txBody>
      </p:sp>
      <p:sp>
        <p:nvSpPr>
          <p:cNvPr id="6" name="Text 4"/>
          <p:cNvSpPr/>
          <p:nvPr/>
        </p:nvSpPr>
        <p:spPr>
          <a:xfrm>
            <a:off x="868680" y="2423160"/>
            <a:ext cx="10424160" cy="822960"/>
          </a:xfrm>
          <a:prstGeom prst="rect">
            <a:avLst/>
          </a:prstGeom>
          <a:noFill/>
          <a:ln/>
        </p:spPr>
        <p:txBody>
          <a:bodyPr wrap="square" lIns="0" tIns="0" rIns="0" bIns="0" rtlCol="0" anchor="ctr"/>
          <a:lstStyle/>
          <a:p>
            <a:pPr indent="0" marL="0">
              <a:lnSpc>
                <a:spcPct val="120000"/>
              </a:lnSpc>
              <a:buNone/>
            </a:pPr>
            <a:r>
              <a:rPr lang="en-US" sz="1350" dirty="0">
                <a:solidFill>
                  <a:srgbClr val="56606B"/>
                </a:solidFill>
                <a:latin typeface="Calibri" pitchFamily="34" charset="0"/>
                <a:ea typeface="Calibri" pitchFamily="34" charset="-122"/>
                <a:cs typeface="Calibri" pitchFamily="34" charset="-120"/>
              </a:rPr>
              <a:t>share one conditional mean by construction → indistinguishable on one-day-ahead forecast accuracy. They separate only on pricing and hedging criteria — which is why Chapter 3 does not rank them by RMSE alone.</a:t>
            </a:r>
            <a:endParaRPr lang="en-US" sz="1350" dirty="0"/>
          </a:p>
        </p:txBody>
      </p:sp>
      <p:sp>
        <p:nvSpPr>
          <p:cNvPr id="7" name="Text 5"/>
          <p:cNvSpPr/>
          <p:nvPr/>
        </p:nvSpPr>
        <p:spPr>
          <a:xfrm>
            <a:off x="548640" y="3611880"/>
            <a:ext cx="11109960" cy="320040"/>
          </a:xfrm>
          <a:prstGeom prst="rect">
            <a:avLst/>
          </a:prstGeom>
          <a:noFill/>
          <a:ln/>
        </p:spPr>
        <p:txBody>
          <a:bodyPr wrap="square" lIns="0" tIns="0" rIns="0" bIns="0" rtlCol="0" anchor="ctr"/>
          <a:lstStyle/>
          <a:p>
            <a:pPr indent="0" marL="0">
              <a:buNone/>
            </a:pPr>
            <a:r>
              <a:rPr lang="en-US" sz="1250" b="1" spc="150" kern="0" dirty="0">
                <a:solidFill>
                  <a:srgbClr val="1C7293"/>
                </a:solidFill>
                <a:latin typeface="Calibri" pitchFamily="34" charset="0"/>
                <a:ea typeface="Calibri" pitchFamily="34" charset="-122"/>
                <a:cs typeface="Calibri" pitchFamily="34" charset="-120"/>
              </a:rPr>
              <a:t>ALL FOUR STILL REJECT PERSISTENCE, DECISIVELY</a:t>
            </a:r>
            <a:endParaRPr lang="en-US" sz="1250" dirty="0"/>
          </a:p>
        </p:txBody>
      </p:sp>
      <p:sp>
        <p:nvSpPr>
          <p:cNvPr id="8" name="Shape 6"/>
          <p:cNvSpPr/>
          <p:nvPr/>
        </p:nvSpPr>
        <p:spPr>
          <a:xfrm>
            <a:off x="548640" y="4023360"/>
            <a:ext cx="5349240" cy="2057400"/>
          </a:xfrm>
          <a:prstGeom prst="roundRect">
            <a:avLst>
              <a:gd name="adj" fmla="val 4000"/>
            </a:avLst>
          </a:prstGeom>
          <a:solidFill>
            <a:srgbClr val="F7FAFC"/>
          </a:solidFill>
          <a:ln/>
          <a:effectLst>
            <a:outerShdw sx="100000" sy="100000" kx="0" ky="0" algn="bl" rotWithShape="0" blurRad="88900" dist="25400" dir="5400000">
              <a:srgbClr val="1C1C1C">
                <a:alpha val="16000"/>
              </a:srgbClr>
            </a:outerShdw>
          </a:effectLst>
        </p:spPr>
      </p:sp>
      <p:sp>
        <p:nvSpPr>
          <p:cNvPr id="9" name="Text 7"/>
          <p:cNvSpPr/>
          <p:nvPr/>
        </p:nvSpPr>
        <p:spPr>
          <a:xfrm>
            <a:off x="914400" y="4297680"/>
            <a:ext cx="4617720" cy="365760"/>
          </a:xfrm>
          <a:prstGeom prst="rect">
            <a:avLst/>
          </a:prstGeom>
          <a:noFill/>
          <a:ln/>
        </p:spPr>
        <p:txBody>
          <a:bodyPr wrap="square" lIns="0" tIns="0" rIns="0" bIns="0" rtlCol="0" anchor="ctr"/>
          <a:lstStyle/>
          <a:p>
            <a:pPr indent="0" marL="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0" name="Text 8"/>
          <p:cNvSpPr/>
          <p:nvPr/>
        </p:nvSpPr>
        <p:spPr>
          <a:xfrm>
            <a:off x="914400" y="4617720"/>
            <a:ext cx="4617720" cy="914400"/>
          </a:xfrm>
          <a:prstGeom prst="rect">
            <a:avLst/>
          </a:prstGeom>
          <a:noFill/>
          <a:ln/>
        </p:spPr>
        <p:txBody>
          <a:bodyPr wrap="square" lIns="0" tIns="0" rIns="0" bIns="0" rtlCol="0" anchor="ctr"/>
          <a:lstStyle/>
          <a:p>
            <a:pPr indent="0" marL="0">
              <a:buNone/>
            </a:pPr>
            <a:r>
              <a:rPr lang="en-US" sz="4600" b="1" dirty="0">
                <a:solidFill>
                  <a:srgbClr val="C8791A"/>
                </a:solidFill>
                <a:latin typeface="Cambria" pitchFamily="34" charset="0"/>
                <a:ea typeface="Cambria" pitchFamily="34" charset="-122"/>
                <a:cs typeface="Cambria" pitchFamily="34" charset="-120"/>
              </a:rPr>
              <a:t>+8.27</a:t>
            </a:r>
            <a:endParaRPr lang="en-US" sz="4600" dirty="0"/>
          </a:p>
        </p:txBody>
      </p:sp>
      <p:sp>
        <p:nvSpPr>
          <p:cNvPr id="11" name="Text 9"/>
          <p:cNvSpPr/>
          <p:nvPr/>
        </p:nvSpPr>
        <p:spPr>
          <a:xfrm>
            <a:off x="914400" y="5532120"/>
            <a:ext cx="4617720" cy="45720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Dataset A — rejects equal accuracy at any conventional level</a:t>
            </a:r>
            <a:endParaRPr lang="en-US" sz="1250" dirty="0"/>
          </a:p>
        </p:txBody>
      </p:sp>
      <p:sp>
        <p:nvSpPr>
          <p:cNvPr id="12" name="Shape 10"/>
          <p:cNvSpPr/>
          <p:nvPr/>
        </p:nvSpPr>
        <p:spPr>
          <a:xfrm>
            <a:off x="6309360" y="4023360"/>
            <a:ext cx="5349240" cy="2057400"/>
          </a:xfrm>
          <a:prstGeom prst="roundRect">
            <a:avLst>
              <a:gd name="adj" fmla="val 4000"/>
            </a:avLst>
          </a:prstGeom>
          <a:solidFill>
            <a:srgbClr val="F7FAFC"/>
          </a:solidFill>
          <a:ln/>
          <a:effectLst>
            <a:outerShdw sx="100000" sy="100000" kx="0" ky="0" algn="bl" rotWithShape="0" blurRad="88900" dist="25400" dir="5400000">
              <a:srgbClr val="1C1C1C">
                <a:alpha val="16000"/>
              </a:srgbClr>
            </a:outerShdw>
          </a:effectLst>
        </p:spPr>
      </p:sp>
      <p:sp>
        <p:nvSpPr>
          <p:cNvPr id="13" name="Text 11"/>
          <p:cNvSpPr/>
          <p:nvPr/>
        </p:nvSpPr>
        <p:spPr>
          <a:xfrm>
            <a:off x="6675120" y="4297680"/>
            <a:ext cx="4617720" cy="365760"/>
          </a:xfrm>
          <a:prstGeom prst="rect">
            <a:avLst/>
          </a:prstGeom>
          <a:noFill/>
          <a:ln/>
        </p:spPr>
        <p:txBody>
          <a:bodyPr wrap="square" lIns="0" tIns="0" rIns="0" bIns="0" rtlCol="0" anchor="ctr"/>
          <a:lstStyle/>
          <a:p>
            <a:pPr indent="0" marL="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4" name="Text 12"/>
          <p:cNvSpPr/>
          <p:nvPr/>
        </p:nvSpPr>
        <p:spPr>
          <a:xfrm>
            <a:off x="6675120" y="4617720"/>
            <a:ext cx="4617720" cy="914400"/>
          </a:xfrm>
          <a:prstGeom prst="rect">
            <a:avLst/>
          </a:prstGeom>
          <a:noFill/>
          <a:ln/>
        </p:spPr>
        <p:txBody>
          <a:bodyPr wrap="square" lIns="0" tIns="0" rIns="0" bIns="0" rtlCol="0" anchor="ctr"/>
          <a:lstStyle/>
          <a:p>
            <a:pPr indent="0" marL="0">
              <a:buNone/>
            </a:pPr>
            <a:r>
              <a:rPr lang="en-US" sz="4600" b="1" dirty="0">
                <a:solidFill>
                  <a:srgbClr val="C8791A"/>
                </a:solidFill>
                <a:latin typeface="Cambria" pitchFamily="34" charset="0"/>
                <a:ea typeface="Cambria" pitchFamily="34" charset="-122"/>
                <a:cs typeface="Cambria" pitchFamily="34" charset="-120"/>
              </a:rPr>
              <a:t>+16.76</a:t>
            </a:r>
            <a:endParaRPr lang="en-US" sz="4600" dirty="0"/>
          </a:p>
        </p:txBody>
      </p:sp>
      <p:sp>
        <p:nvSpPr>
          <p:cNvPr id="15" name="Text 13"/>
          <p:cNvSpPr/>
          <p:nvPr/>
        </p:nvSpPr>
        <p:spPr>
          <a:xfrm>
            <a:off x="6675120" y="5532120"/>
            <a:ext cx="4617720" cy="45720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Dataset B — rejects equal accuracy at any conventional level</a:t>
            </a:r>
            <a:endParaRPr lang="en-US" sz="1250" dirty="0"/>
          </a:p>
        </p:txBody>
      </p:sp>
      <p:sp>
        <p:nvSpPr>
          <p:cNvPr id="16" name="Text 14"/>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17" name="Text 15"/>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2 → CH. 3 · THE BRIDGE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Two conventions, one instrument</a:t>
            </a:r>
            <a:endParaRPr lang="en-US" sz="2700" dirty="0"/>
          </a:p>
        </p:txBody>
      </p:sp>
      <p:sp>
        <p:nvSpPr>
          <p:cNvPr id="4" name="Shape 2"/>
          <p:cNvSpPr/>
          <p:nvPr/>
        </p:nvSpPr>
        <p:spPr>
          <a:xfrm>
            <a:off x="548640" y="1828800"/>
            <a:ext cx="5394960" cy="1920240"/>
          </a:xfrm>
          <a:prstGeom prst="roundRect">
            <a:avLst>
              <a:gd name="adj" fmla="val 4286"/>
            </a:avLst>
          </a:prstGeom>
          <a:solidFill>
            <a:srgbClr val="F7FAFC"/>
          </a:solidFill>
          <a:ln/>
          <a:effectLst>
            <a:outerShdw sx="100000" sy="100000" kx="0" ky="0" algn="bl" rotWithShape="0" blurRad="88900" dist="25400" dir="5400000">
              <a:srgbClr val="1C1C1C">
                <a:alpha val="16000"/>
              </a:srgbClr>
            </a:outerShdw>
          </a:effectLst>
        </p:spPr>
      </p:sp>
      <p:sp>
        <p:nvSpPr>
          <p:cNvPr id="5" name="Text 3"/>
          <p:cNvSpPr/>
          <p:nvPr/>
        </p:nvSpPr>
        <p:spPr>
          <a:xfrm>
            <a:off x="868680" y="2011680"/>
            <a:ext cx="4846320" cy="292608"/>
          </a:xfrm>
          <a:prstGeom prst="rect">
            <a:avLst/>
          </a:prstGeom>
          <a:noFill/>
          <a:ln/>
        </p:spPr>
        <p:txBody>
          <a:bodyPr wrap="square" lIns="0" tIns="0" rIns="0" bIns="0" rtlCol="0" anchor="ctr"/>
          <a:lstStyle/>
          <a:p>
            <a:pPr indent="0" marL="0">
              <a:buNone/>
            </a:pPr>
            <a:r>
              <a:rPr lang="en-US" sz="1150" b="1" spc="100" kern="0" dirty="0">
                <a:solidFill>
                  <a:srgbClr val="1C7293"/>
                </a:solidFill>
                <a:latin typeface="Calibri" pitchFamily="34" charset="0"/>
                <a:ea typeface="Calibri" pitchFamily="34" charset="-122"/>
                <a:cs typeface="Calibri" pitchFamily="34" charset="-120"/>
              </a:rPr>
              <a:t>TRACK A — EMPIRICAL</a:t>
            </a:r>
            <a:endParaRPr lang="en-US" sz="1150" dirty="0"/>
          </a:p>
        </p:txBody>
      </p:sp>
      <p:sp>
        <p:nvSpPr>
          <p:cNvPr id="6" name="Text 4"/>
          <p:cNvSpPr/>
          <p:nvPr/>
        </p:nvSpPr>
        <p:spPr>
          <a:xfrm>
            <a:off x="868680" y="2359152"/>
            <a:ext cx="4846320" cy="128016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252×-annualised realised variance of SMARD generation log-returns — the market benchmark, ≈113–114.</a:t>
            </a:r>
            <a:endParaRPr lang="en-US" sz="1300" dirty="0"/>
          </a:p>
        </p:txBody>
      </p:sp>
      <p:sp>
        <p:nvSpPr>
          <p:cNvPr id="7" name="Shape 5"/>
          <p:cNvSpPr/>
          <p:nvPr/>
        </p:nvSpPr>
        <p:spPr>
          <a:xfrm>
            <a:off x="6263640" y="1828800"/>
            <a:ext cx="5394960" cy="1920240"/>
          </a:xfrm>
          <a:prstGeom prst="roundRect">
            <a:avLst>
              <a:gd name="adj" fmla="val 4286"/>
            </a:avLst>
          </a:prstGeom>
          <a:solidFill>
            <a:srgbClr val="F7FAFC"/>
          </a:solidFill>
          <a:ln/>
          <a:effectLst>
            <a:outerShdw sx="100000" sy="100000" kx="0" ky="0" algn="bl" rotWithShape="0" blurRad="88900" dist="25400" dir="5400000">
              <a:srgbClr val="1C1C1C">
                <a:alpha val="16000"/>
              </a:srgbClr>
            </a:outerShdw>
          </a:effectLst>
        </p:spPr>
      </p:sp>
      <p:sp>
        <p:nvSpPr>
          <p:cNvPr id="8" name="Text 6"/>
          <p:cNvSpPr/>
          <p:nvPr/>
        </p:nvSpPr>
        <p:spPr>
          <a:xfrm>
            <a:off x="6583680" y="2011680"/>
            <a:ext cx="4846320" cy="292608"/>
          </a:xfrm>
          <a:prstGeom prst="rect">
            <a:avLst/>
          </a:prstGeom>
          <a:noFill/>
          <a:ln/>
        </p:spPr>
        <p:txBody>
          <a:bodyPr wrap="square" lIns="0" tIns="0" rIns="0" bIns="0" rtlCol="0" anchor="ctr"/>
          <a:lstStyle/>
          <a:p>
            <a:pPr indent="0" marL="0">
              <a:buNone/>
            </a:pPr>
            <a:r>
              <a:rPr lang="en-US" sz="1150" b="1" spc="100" kern="0" dirty="0">
                <a:solidFill>
                  <a:srgbClr val="1C7293"/>
                </a:solidFill>
                <a:latin typeface="Calibri" pitchFamily="34" charset="0"/>
                <a:ea typeface="Calibri" pitchFamily="34" charset="-122"/>
                <a:cs typeface="Calibri" pitchFamily="34" charset="-120"/>
              </a:rPr>
              <a:t>TRACK B — MODEL</a:t>
            </a:r>
            <a:endParaRPr lang="en-US" sz="1150" dirty="0"/>
          </a:p>
        </p:txBody>
      </p:sp>
      <p:sp>
        <p:nvSpPr>
          <p:cNvPr id="9" name="Text 7"/>
          <p:cNvSpPr/>
          <p:nvPr/>
        </p:nvSpPr>
        <p:spPr>
          <a:xfrm>
            <a:off x="6583680" y="2359152"/>
            <a:ext cx="4846320" cy="1280160"/>
          </a:xfrm>
          <a:prstGeom prst="rect">
            <a:avLst/>
          </a:prstGeom>
          <a:noFill/>
          <a:ln/>
        </p:spPr>
        <p:txBody>
          <a:bodyPr wrap="square" lIns="0" tIns="0" rIns="0" bIns="0" rtlCol="0" anchor="ctr"/>
          <a:lstStyle/>
          <a:p>
            <a:pPr indent="0" marL="0">
              <a:lnSpc>
                <a:spcPct val="120000"/>
              </a:lnSpc>
              <a:buNone/>
            </a:pPr>
            <a:r>
              <a:rPr lang="en-US" sz="1300" dirty="0">
                <a:solidFill>
                  <a:srgbClr val="56606B"/>
                </a:solidFill>
                <a:latin typeface="Calibri" pitchFamily="34" charset="0"/>
                <a:ea typeface="Calibri" pitchFamily="34" charset="-122"/>
                <a:cs typeface="Calibri" pitchFamily="34" charset="-120"/>
              </a:rPr>
              <a:t>h(t₀) × C₀, left un-annualised. The two use different conventions — their raw numeric gap is a units artefact, not model error.</a:t>
            </a:r>
            <a:endParaRPr lang="en-US" sz="1300" dirty="0"/>
          </a:p>
        </p:txBody>
      </p:sp>
      <p:sp>
        <p:nvSpPr>
          <p:cNvPr id="10" name="Text 8"/>
          <p:cNvSpPr/>
          <p:nvPr/>
        </p:nvSpPr>
        <p:spPr>
          <a:xfrm>
            <a:off x="548640" y="3977640"/>
            <a:ext cx="11109960" cy="292608"/>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RECONCILIATION CHAIN — TRACK B INTO TRACK A UNITS</a:t>
            </a:r>
            <a:endParaRPr lang="en-US" sz="1150" dirty="0"/>
          </a:p>
        </p:txBody>
      </p:sp>
      <p:sp>
        <p:nvSpPr>
          <p:cNvPr id="11" name="Shape 9"/>
          <p:cNvSpPr/>
          <p:nvPr/>
        </p:nvSpPr>
        <p:spPr>
          <a:xfrm>
            <a:off x="548640" y="4389120"/>
            <a:ext cx="1691640" cy="777240"/>
          </a:xfrm>
          <a:prstGeom prst="roundRect">
            <a:avLst>
              <a:gd name="adj" fmla="val 9412"/>
            </a:avLst>
          </a:prstGeom>
          <a:solidFill>
            <a:srgbClr val="065A82"/>
          </a:solidFill>
          <a:ln/>
        </p:spPr>
      </p:sp>
      <p:sp>
        <p:nvSpPr>
          <p:cNvPr id="12" name="Text 10"/>
          <p:cNvSpPr/>
          <p:nvPr/>
        </p:nvSpPr>
        <p:spPr>
          <a:xfrm>
            <a:off x="594360"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h(t₀)×C₀</a:t>
            </a:r>
            <a:endParaRPr lang="en-US" sz="1100" dirty="0"/>
          </a:p>
        </p:txBody>
      </p:sp>
      <p:sp>
        <p:nvSpPr>
          <p:cNvPr id="13" name="Shape 11"/>
          <p:cNvSpPr/>
          <p:nvPr/>
        </p:nvSpPr>
        <p:spPr>
          <a:xfrm>
            <a:off x="2240280" y="4777740"/>
            <a:ext cx="164592" cy="0"/>
          </a:xfrm>
          <a:prstGeom prst="line">
            <a:avLst/>
          </a:prstGeom>
          <a:noFill/>
          <a:ln w="19050">
            <a:solidFill>
              <a:srgbClr val="56606B"/>
            </a:solidFill>
            <a:prstDash val="solid"/>
            <a:tailEnd type="triangle"/>
          </a:ln>
        </p:spPr>
      </p:sp>
      <p:sp>
        <p:nvSpPr>
          <p:cNvPr id="14" name="Shape 12"/>
          <p:cNvSpPr/>
          <p:nvPr/>
        </p:nvSpPr>
        <p:spPr>
          <a:xfrm>
            <a:off x="2404872" y="4389120"/>
            <a:ext cx="1691640" cy="777240"/>
          </a:xfrm>
          <a:prstGeom prst="roundRect">
            <a:avLst>
              <a:gd name="adj" fmla="val 9412"/>
            </a:avLst>
          </a:prstGeom>
          <a:solidFill>
            <a:srgbClr val="065A82"/>
          </a:solidFill>
          <a:ln/>
        </p:spPr>
      </p:sp>
      <p:sp>
        <p:nvSpPr>
          <p:cNvPr id="15" name="Text 13"/>
          <p:cNvSpPr/>
          <p:nvPr/>
        </p:nvSpPr>
        <p:spPr>
          <a:xfrm>
            <a:off x="2450592"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Box–Cox scale</a:t>
            </a:r>
            <a:endParaRPr lang="en-US" sz="1100" dirty="0"/>
          </a:p>
        </p:txBody>
      </p:sp>
      <p:sp>
        <p:nvSpPr>
          <p:cNvPr id="16" name="Shape 14"/>
          <p:cNvSpPr/>
          <p:nvPr/>
        </p:nvSpPr>
        <p:spPr>
          <a:xfrm>
            <a:off x="4096512" y="4777740"/>
            <a:ext cx="164592" cy="0"/>
          </a:xfrm>
          <a:prstGeom prst="line">
            <a:avLst/>
          </a:prstGeom>
          <a:noFill/>
          <a:ln w="19050">
            <a:solidFill>
              <a:srgbClr val="56606B"/>
            </a:solidFill>
            <a:prstDash val="solid"/>
            <a:tailEnd type="triangle"/>
          </a:ln>
        </p:spPr>
      </p:sp>
      <p:sp>
        <p:nvSpPr>
          <p:cNvPr id="17" name="Shape 15"/>
          <p:cNvSpPr/>
          <p:nvPr/>
        </p:nvSpPr>
        <p:spPr>
          <a:xfrm>
            <a:off x="4261104" y="4389120"/>
            <a:ext cx="1691640" cy="777240"/>
          </a:xfrm>
          <a:prstGeom prst="roundRect">
            <a:avLst>
              <a:gd name="adj" fmla="val 9412"/>
            </a:avLst>
          </a:prstGeom>
          <a:solidFill>
            <a:srgbClr val="065A82"/>
          </a:solidFill>
          <a:ln/>
        </p:spPr>
      </p:sp>
      <p:sp>
        <p:nvSpPr>
          <p:cNvPr id="18" name="Text 16"/>
          <p:cNvSpPr/>
          <p:nvPr/>
        </p:nvSpPr>
        <p:spPr>
          <a:xfrm>
            <a:off x="4306824"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innovation ratio²</a:t>
            </a:r>
            <a:endParaRPr lang="en-US" sz="1100" dirty="0"/>
          </a:p>
        </p:txBody>
      </p:sp>
      <p:sp>
        <p:nvSpPr>
          <p:cNvPr id="19" name="Shape 17"/>
          <p:cNvSpPr/>
          <p:nvPr/>
        </p:nvSpPr>
        <p:spPr>
          <a:xfrm>
            <a:off x="5952744" y="4777740"/>
            <a:ext cx="164592" cy="0"/>
          </a:xfrm>
          <a:prstGeom prst="line">
            <a:avLst/>
          </a:prstGeom>
          <a:noFill/>
          <a:ln w="19050">
            <a:solidFill>
              <a:srgbClr val="56606B"/>
            </a:solidFill>
            <a:prstDash val="solid"/>
            <a:tailEnd type="triangle"/>
          </a:ln>
        </p:spPr>
      </p:sp>
      <p:sp>
        <p:nvSpPr>
          <p:cNvPr id="20" name="Shape 18"/>
          <p:cNvSpPr/>
          <p:nvPr/>
        </p:nvSpPr>
        <p:spPr>
          <a:xfrm>
            <a:off x="6117336" y="4389120"/>
            <a:ext cx="1691640" cy="777240"/>
          </a:xfrm>
          <a:prstGeom prst="roundRect">
            <a:avLst>
              <a:gd name="adj" fmla="val 9412"/>
            </a:avLst>
          </a:prstGeom>
          <a:solidFill>
            <a:srgbClr val="065A82"/>
          </a:solidFill>
          <a:ln/>
        </p:spPr>
      </p:sp>
      <p:sp>
        <p:nvSpPr>
          <p:cNvPr id="21" name="Text 19"/>
          <p:cNvSpPr/>
          <p:nvPr/>
        </p:nvSpPr>
        <p:spPr>
          <a:xfrm>
            <a:off x="6163056"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power curve</a:t>
            </a:r>
            <a:endParaRPr lang="en-US" sz="1100" dirty="0"/>
          </a:p>
        </p:txBody>
      </p:sp>
      <p:sp>
        <p:nvSpPr>
          <p:cNvPr id="22" name="Shape 20"/>
          <p:cNvSpPr/>
          <p:nvPr/>
        </p:nvSpPr>
        <p:spPr>
          <a:xfrm>
            <a:off x="7808976" y="4777740"/>
            <a:ext cx="164592" cy="0"/>
          </a:xfrm>
          <a:prstGeom prst="line">
            <a:avLst/>
          </a:prstGeom>
          <a:noFill/>
          <a:ln w="19050">
            <a:solidFill>
              <a:srgbClr val="56606B"/>
            </a:solidFill>
            <a:prstDash val="solid"/>
            <a:tailEnd type="triangle"/>
          </a:ln>
        </p:spPr>
      </p:sp>
      <p:sp>
        <p:nvSpPr>
          <p:cNvPr id="23" name="Shape 21"/>
          <p:cNvSpPr/>
          <p:nvPr/>
        </p:nvSpPr>
        <p:spPr>
          <a:xfrm>
            <a:off x="7973568" y="4389120"/>
            <a:ext cx="1691640" cy="777240"/>
          </a:xfrm>
          <a:prstGeom prst="roundRect">
            <a:avLst>
              <a:gd name="adj" fmla="val 9412"/>
            </a:avLst>
          </a:prstGeom>
          <a:solidFill>
            <a:srgbClr val="065A82"/>
          </a:solidFill>
          <a:ln/>
        </p:spPr>
      </p:sp>
      <p:sp>
        <p:nvSpPr>
          <p:cNvPr id="24" name="Text 22"/>
          <p:cNvSpPr/>
          <p:nvPr/>
        </p:nvSpPr>
        <p:spPr>
          <a:xfrm>
            <a:off x="8019288"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252 annualise</a:t>
            </a:r>
            <a:endParaRPr lang="en-US" sz="1100" dirty="0"/>
          </a:p>
        </p:txBody>
      </p:sp>
      <p:sp>
        <p:nvSpPr>
          <p:cNvPr id="25" name="Shape 23"/>
          <p:cNvSpPr/>
          <p:nvPr/>
        </p:nvSpPr>
        <p:spPr>
          <a:xfrm>
            <a:off x="9665208" y="4777740"/>
            <a:ext cx="164592" cy="0"/>
          </a:xfrm>
          <a:prstGeom prst="line">
            <a:avLst/>
          </a:prstGeom>
          <a:noFill/>
          <a:ln w="19050">
            <a:solidFill>
              <a:srgbClr val="56606B"/>
            </a:solidFill>
            <a:prstDash val="solid"/>
            <a:tailEnd type="triangle"/>
          </a:ln>
        </p:spPr>
      </p:sp>
      <p:sp>
        <p:nvSpPr>
          <p:cNvPr id="26" name="Shape 24"/>
          <p:cNvSpPr/>
          <p:nvPr/>
        </p:nvSpPr>
        <p:spPr>
          <a:xfrm>
            <a:off x="9829800" y="4389120"/>
            <a:ext cx="1691640" cy="777240"/>
          </a:xfrm>
          <a:prstGeom prst="roundRect">
            <a:avLst>
              <a:gd name="adj" fmla="val 9412"/>
            </a:avLst>
          </a:prstGeom>
          <a:solidFill>
            <a:srgbClr val="C8791A"/>
          </a:solidFill>
          <a:ln/>
        </p:spPr>
      </p:sp>
      <p:sp>
        <p:nvSpPr>
          <p:cNvPr id="27" name="Text 25"/>
          <p:cNvSpPr/>
          <p:nvPr/>
        </p:nvSpPr>
        <p:spPr>
          <a:xfrm>
            <a:off x="9875520" y="4389120"/>
            <a:ext cx="160020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reconciled</a:t>
            </a:r>
            <a:endParaRPr lang="en-US" sz="1100" dirty="0"/>
          </a:p>
        </p:txBody>
      </p:sp>
      <p:sp>
        <p:nvSpPr>
          <p:cNvPr id="28" name="Shape 26"/>
          <p:cNvSpPr/>
          <p:nvPr/>
        </p:nvSpPr>
        <p:spPr>
          <a:xfrm>
            <a:off x="548640" y="5440680"/>
            <a:ext cx="11109960" cy="1005840"/>
          </a:xfrm>
          <a:prstGeom prst="roundRect">
            <a:avLst>
              <a:gd name="adj" fmla="val 8182"/>
            </a:avLst>
          </a:prstGeom>
          <a:solidFill>
            <a:srgbClr val="EEF3F7"/>
          </a:solidFill>
          <a:ln/>
        </p:spPr>
      </p:sp>
      <p:sp>
        <p:nvSpPr>
          <p:cNvPr id="29" name="Text 27"/>
          <p:cNvSpPr/>
          <p:nvPr/>
        </p:nvSpPr>
        <p:spPr>
          <a:xfrm>
            <a:off x="822960" y="5623560"/>
            <a:ext cx="10515600" cy="640080"/>
          </a:xfrm>
          <a:prstGeom prst="rect">
            <a:avLst/>
          </a:prstGeom>
          <a:noFill/>
          <a:ln/>
        </p:spPr>
        <p:txBody>
          <a:bodyPr wrap="square" lIns="0" tIns="0" rIns="0" bIns="0" rtlCol="0" anchor="ctr"/>
          <a:lstStyle/>
          <a:p>
            <a:pPr algn="l" indent="0" marL="0">
              <a:lnSpc>
                <a:spcPct val="115000"/>
              </a:lnSpc>
              <a:buNone/>
            </a:pPr>
            <a:r>
              <a:rPr lang="en-US" sz="1800" b="1" dirty="0">
                <a:solidFill>
                  <a:srgbClr val="21295C"/>
                </a:solidFill>
                <a:latin typeface="Calibri" pitchFamily="34" charset="0"/>
                <a:ea typeface="Calibri" pitchFamily="34" charset="-122"/>
                <a:cs typeface="Calibri" pitchFamily="34" charset="-120"/>
              </a:rPr>
              <a:t>132.9 </a:t>
            </a:r>
            <a:pPr algn="l" indent="0" marL="0">
              <a:lnSpc>
                <a:spcPct val="115000"/>
              </a:lnSpc>
              <a:buNone/>
            </a:pPr>
            <a:r>
              <a:rPr lang="en-US" sz="1300" dirty="0">
                <a:solidFill>
                  <a:srgbClr val="56606B"/>
                </a:solidFill>
                <a:latin typeface="Calibri" pitchFamily="34" charset="0"/>
                <a:ea typeface="Calibri" pitchFamily="34" charset="-122"/>
                <a:cs typeface="Calibri" pitchFamily="34" charset="-120"/>
              </a:rPr>
              <a:t>(A, 1.17× market)          </a:t>
            </a:r>
            <a:pPr algn="l" indent="0" marL="0">
              <a:lnSpc>
                <a:spcPct val="115000"/>
              </a:lnSpc>
              <a:buNone/>
            </a:pPr>
            <a:r>
              <a:rPr lang="en-US" sz="1800" b="1" dirty="0">
                <a:solidFill>
                  <a:srgbClr val="21295C"/>
                </a:solidFill>
                <a:latin typeface="Calibri" pitchFamily="34" charset="0"/>
                <a:ea typeface="Calibri" pitchFamily="34" charset="-122"/>
                <a:cs typeface="Calibri" pitchFamily="34" charset="-120"/>
              </a:rPr>
              <a:t>328.8 </a:t>
            </a:r>
            <a:pPr algn="l" indent="0" marL="0">
              <a:lnSpc>
                <a:spcPct val="115000"/>
              </a:lnSpc>
              <a:buNone/>
            </a:pPr>
            <a:r>
              <a:rPr lang="en-US" sz="1300" dirty="0">
                <a:solidFill>
                  <a:srgbClr val="56606B"/>
                </a:solidFill>
                <a:latin typeface="Calibri" pitchFamily="34" charset="0"/>
                <a:ea typeface="Calibri" pitchFamily="34" charset="-122"/>
                <a:cs typeface="Calibri" pitchFamily="34" charset="-120"/>
              </a:rPr>
              <a:t>(B, 2.91× market) — reconciled, and the same order of magnitude as the market anchor.</a:t>
            </a:r>
            <a:endParaRPr lang="en-US" sz="1800" dirty="0"/>
          </a:p>
        </p:txBody>
      </p:sp>
      <p:sp>
        <p:nvSpPr>
          <p:cNvPr id="30" name="Text 28"/>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31" name="Text 29"/>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3 · VALUE OF INFORMATION</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The primary methodological contribution</a:t>
            </a:r>
            <a:endParaRPr lang="en-US" sz="2700" dirty="0"/>
          </a:p>
        </p:txBody>
      </p:sp>
      <p:sp>
        <p:nvSpPr>
          <p:cNvPr id="4" name="Shape 2"/>
          <p:cNvSpPr/>
          <p:nvPr/>
        </p:nvSpPr>
        <p:spPr>
          <a:xfrm>
            <a:off x="548640" y="1874520"/>
            <a:ext cx="3520440" cy="2286000"/>
          </a:xfrm>
          <a:prstGeom prst="roundRect">
            <a:avLst>
              <a:gd name="adj" fmla="val 3600"/>
            </a:avLst>
          </a:prstGeom>
          <a:solidFill>
            <a:srgbClr val="F7FAFC"/>
          </a:solidFill>
          <a:ln/>
          <a:effectLst>
            <a:outerShdw sx="100000" sy="100000" kx="0" ky="0" algn="bl" rotWithShape="0" blurRad="88900" dist="25400" dir="5400000">
              <a:srgbClr val="1C1C1C">
                <a:alpha val="16000"/>
              </a:srgbClr>
            </a:outerShdw>
          </a:effectLst>
        </p:spPr>
      </p:sp>
      <p:sp>
        <p:nvSpPr>
          <p:cNvPr id="5" name="Text 3"/>
          <p:cNvSpPr/>
          <p:nvPr/>
        </p:nvSpPr>
        <p:spPr>
          <a:xfrm>
            <a:off x="822960" y="2057400"/>
            <a:ext cx="301752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RAW MISPRICING</a:t>
            </a:r>
            <a:endParaRPr lang="en-US" sz="1100" dirty="0"/>
          </a:p>
        </p:txBody>
      </p:sp>
      <p:sp>
        <p:nvSpPr>
          <p:cNvPr id="6" name="Text 4"/>
          <p:cNvSpPr/>
          <p:nvPr/>
        </p:nvSpPr>
        <p:spPr>
          <a:xfrm>
            <a:off x="822960" y="2377440"/>
            <a:ext cx="3017520" cy="914400"/>
          </a:xfrm>
          <a:prstGeom prst="rect">
            <a:avLst/>
          </a:prstGeom>
          <a:noFill/>
          <a:ln/>
        </p:spPr>
        <p:txBody>
          <a:bodyPr wrap="square" lIns="0" tIns="0" rIns="0" bIns="0" rtlCol="0" anchor="ctr"/>
          <a:lstStyle/>
          <a:p>
            <a:pPr indent="0" marL="0">
              <a:buNone/>
            </a:pPr>
            <a:r>
              <a:rPr lang="en-US" sz="4400" b="1" dirty="0">
                <a:solidFill>
                  <a:srgbClr val="C8791A"/>
                </a:solidFill>
                <a:latin typeface="Cambria" pitchFamily="34" charset="0"/>
                <a:ea typeface="Cambria" pitchFamily="34" charset="-122"/>
                <a:cs typeface="Cambria" pitchFamily="34" charset="-120"/>
              </a:rPr>
              <a:t>93.8%</a:t>
            </a:r>
            <a:endParaRPr lang="en-US" sz="4400" dirty="0"/>
          </a:p>
        </p:txBody>
      </p:sp>
      <p:sp>
        <p:nvSpPr>
          <p:cNvPr id="7" name="Text 5"/>
          <p:cNvSpPr/>
          <p:nvPr/>
        </p:nvSpPr>
        <p:spPr>
          <a:xfrm>
            <a:off x="822960" y="3383280"/>
            <a:ext cx="3017520" cy="640080"/>
          </a:xfrm>
          <a:prstGeom prst="rect">
            <a:avLst/>
          </a:prstGeom>
          <a:noFill/>
          <a:ln/>
        </p:spPr>
        <p:txBody>
          <a:bodyPr wrap="square" lIns="0" tIns="0" rIns="0" bIns="0" rtlCol="0" anchor="ctr"/>
          <a:lstStyle/>
          <a:p>
            <a:pPr indent="0" marL="0">
              <a:lnSpc>
                <a:spcPct val="115000"/>
              </a:lnSpc>
              <a:buNone/>
            </a:pPr>
            <a:r>
              <a:rPr lang="en-US" sz="1150" i="1" dirty="0">
                <a:solidFill>
                  <a:srgbClr val="56606B"/>
                </a:solidFill>
                <a:latin typeface="Calibri" pitchFamily="34" charset="0"/>
                <a:ea typeface="Calibri" pitchFamily="34" charset="-122"/>
                <a:cs typeface="Calibri" pitchFamily="34" charset="-120"/>
              </a:rPr>
              <a:t>pricing on the Bologna proxy as-is</a:t>
            </a:r>
            <a:endParaRPr lang="en-US" sz="1150" dirty="0"/>
          </a:p>
        </p:txBody>
      </p:sp>
      <p:sp>
        <p:nvSpPr>
          <p:cNvPr id="8" name="Shape 6"/>
          <p:cNvSpPr/>
          <p:nvPr/>
        </p:nvSpPr>
        <p:spPr>
          <a:xfrm>
            <a:off x="4251960" y="1874520"/>
            <a:ext cx="3520440" cy="2286000"/>
          </a:xfrm>
          <a:prstGeom prst="roundRect">
            <a:avLst>
              <a:gd name="adj" fmla="val 3600"/>
            </a:avLst>
          </a:prstGeom>
          <a:solidFill>
            <a:srgbClr val="F7FAFC"/>
          </a:solidFill>
          <a:ln/>
          <a:effectLst>
            <a:outerShdw sx="100000" sy="100000" kx="0" ky="0" algn="bl" rotWithShape="0" blurRad="88900" dist="25400" dir="5400000">
              <a:srgbClr val="1C1C1C">
                <a:alpha val="16000"/>
              </a:srgbClr>
            </a:outerShdw>
          </a:effectLst>
        </p:spPr>
      </p:sp>
      <p:sp>
        <p:nvSpPr>
          <p:cNvPr id="9" name="Text 7"/>
          <p:cNvSpPr/>
          <p:nvPr/>
        </p:nvSpPr>
        <p:spPr>
          <a:xfrm>
            <a:off x="4526280" y="2057400"/>
            <a:ext cx="3017520" cy="365760"/>
          </a:xfrm>
          <a:prstGeom prst="rect">
            <a:avLst/>
          </a:prstGeom>
          <a:noFill/>
          <a:ln/>
        </p:spPr>
        <p:txBody>
          <a:bodyPr wrap="square" lIns="0" tIns="0" rIns="0" bIns="0" rtlCol="0" anchor="ctr"/>
          <a:lstStyle/>
          <a:p>
            <a:pPr indent="0" marL="0">
              <a:buNone/>
            </a:pPr>
            <a:r>
              <a:rPr lang="en-US" sz="1050" b="1" spc="80" kern="0" dirty="0">
                <a:solidFill>
                  <a:srgbClr val="1C7293"/>
                </a:solidFill>
                <a:latin typeface="Calibri" pitchFamily="34" charset="0"/>
                <a:ea typeface="Calibri" pitchFamily="34" charset="-122"/>
                <a:cs typeface="Calibri" pitchFamily="34" charset="-120"/>
              </a:rPr>
              <a:t>AFTER 1.931× HEIGHT CORRECTION</a:t>
            </a:r>
            <a:endParaRPr lang="en-US" sz="1050" dirty="0"/>
          </a:p>
        </p:txBody>
      </p:sp>
      <p:sp>
        <p:nvSpPr>
          <p:cNvPr id="10" name="Text 8"/>
          <p:cNvSpPr/>
          <p:nvPr/>
        </p:nvSpPr>
        <p:spPr>
          <a:xfrm>
            <a:off x="4526280" y="2377440"/>
            <a:ext cx="3017520" cy="914400"/>
          </a:xfrm>
          <a:prstGeom prst="rect">
            <a:avLst/>
          </a:prstGeom>
          <a:noFill/>
          <a:ln/>
        </p:spPr>
        <p:txBody>
          <a:bodyPr wrap="square" lIns="0" tIns="0" rIns="0" bIns="0" rtlCol="0" anchor="ctr"/>
          <a:lstStyle/>
          <a:p>
            <a:pPr indent="0" marL="0">
              <a:buNone/>
            </a:pPr>
            <a:r>
              <a:rPr lang="en-US" sz="4400" b="1" dirty="0">
                <a:solidFill>
                  <a:srgbClr val="C8791A"/>
                </a:solidFill>
                <a:latin typeface="Cambria" pitchFamily="34" charset="0"/>
                <a:ea typeface="Cambria" pitchFamily="34" charset="-122"/>
                <a:cs typeface="Cambria" pitchFamily="34" charset="-120"/>
              </a:rPr>
              <a:t>88.0%</a:t>
            </a:r>
            <a:endParaRPr lang="en-US" sz="4400" dirty="0"/>
          </a:p>
        </p:txBody>
      </p:sp>
      <p:sp>
        <p:nvSpPr>
          <p:cNvPr id="11" name="Text 9"/>
          <p:cNvSpPr/>
          <p:nvPr/>
        </p:nvSpPr>
        <p:spPr>
          <a:xfrm>
            <a:off x="4526280" y="3383280"/>
            <a:ext cx="3017520" cy="640080"/>
          </a:xfrm>
          <a:prstGeom prst="rect">
            <a:avLst/>
          </a:prstGeom>
          <a:noFill/>
          <a:ln/>
        </p:spPr>
        <p:txBody>
          <a:bodyPr wrap="square" lIns="0" tIns="0" rIns="0" bIns="0" rtlCol="0" anchor="ctr"/>
          <a:lstStyle/>
          <a:p>
            <a:pPr indent="0" marL="0">
              <a:lnSpc>
                <a:spcPct val="115000"/>
              </a:lnSpc>
              <a:buNone/>
            </a:pPr>
            <a:r>
              <a:rPr lang="en-US" sz="1100" i="1" dirty="0">
                <a:solidFill>
                  <a:srgbClr val="56606B"/>
                </a:solidFill>
                <a:latin typeface="Calibri" pitchFamily="34" charset="0"/>
                <a:ea typeface="Calibri" pitchFamily="34" charset="-122"/>
                <a:cs typeface="Calibri" pitchFamily="34" charset="-120"/>
              </a:rPr>
              <a:t>(100/10)^(2/7), Peterson &amp; Hennessey 1978 — applied only here</a:t>
            </a:r>
            <a:endParaRPr lang="en-US" sz="1100" dirty="0"/>
          </a:p>
        </p:txBody>
      </p:sp>
      <p:sp>
        <p:nvSpPr>
          <p:cNvPr id="12" name="Shape 10"/>
          <p:cNvSpPr/>
          <p:nvPr/>
        </p:nvSpPr>
        <p:spPr>
          <a:xfrm>
            <a:off x="7955280" y="1874520"/>
            <a:ext cx="3520440" cy="2286000"/>
          </a:xfrm>
          <a:prstGeom prst="roundRect">
            <a:avLst>
              <a:gd name="adj" fmla="val 3600"/>
            </a:avLst>
          </a:prstGeom>
          <a:solidFill>
            <a:srgbClr val="21295C"/>
          </a:solidFill>
          <a:ln/>
          <a:effectLst>
            <a:outerShdw sx="100000" sy="100000" kx="0" ky="0" algn="bl" rotWithShape="0" blurRad="88900" dist="25400" dir="5400000">
              <a:srgbClr val="1C1C1C">
                <a:alpha val="16000"/>
              </a:srgbClr>
            </a:outerShdw>
          </a:effectLst>
        </p:spPr>
      </p:sp>
      <p:sp>
        <p:nvSpPr>
          <p:cNvPr id="13" name="Text 11"/>
          <p:cNvSpPr/>
          <p:nvPr/>
        </p:nvSpPr>
        <p:spPr>
          <a:xfrm>
            <a:off x="8229600" y="2057400"/>
            <a:ext cx="301752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STRIKE RATIO B / A</a:t>
            </a:r>
            <a:endParaRPr lang="en-US" sz="1100" dirty="0"/>
          </a:p>
        </p:txBody>
      </p:sp>
      <p:sp>
        <p:nvSpPr>
          <p:cNvPr id="14" name="Text 12"/>
          <p:cNvSpPr/>
          <p:nvPr/>
        </p:nvSpPr>
        <p:spPr>
          <a:xfrm>
            <a:off x="8229600" y="2377440"/>
            <a:ext cx="301752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16.07×</a:t>
            </a:r>
            <a:endParaRPr lang="en-US" sz="4400" dirty="0"/>
          </a:p>
        </p:txBody>
      </p:sp>
      <p:sp>
        <p:nvSpPr>
          <p:cNvPr id="15" name="Text 13"/>
          <p:cNvSpPr/>
          <p:nvPr/>
        </p:nvSpPr>
        <p:spPr>
          <a:xfrm>
            <a:off x="8229600" y="3383280"/>
            <a:ext cx="3017520" cy="640080"/>
          </a:xfrm>
          <a:prstGeom prst="rect">
            <a:avLst/>
          </a:prstGeom>
          <a:noFill/>
          <a:ln/>
        </p:spPr>
        <p:txBody>
          <a:bodyPr wrap="square" lIns="0" tIns="0" rIns="0" bIns="0" rtlCol="0" anchor="ctr"/>
          <a:lstStyle/>
          <a:p>
            <a:pPr indent="0" marL="0">
              <a:lnSpc>
                <a:spcPct val="115000"/>
              </a:lnSpc>
              <a:buNone/>
            </a:pPr>
            <a:r>
              <a:rPr lang="en-US" sz="1150" dirty="0">
                <a:solidFill>
                  <a:srgbClr val="EEF3F7"/>
                </a:solidFill>
                <a:latin typeface="Calibri" pitchFamily="34" charset="0"/>
                <a:ea typeface="Calibri" pitchFamily="34" charset="-122"/>
                <a:cs typeface="Calibri" pitchFamily="34" charset="-120"/>
              </a:rPr>
              <a:t>8.85× from C₀  ×  1.82× from h(t₀)</a:t>
            </a:r>
            <a:endParaRPr lang="en-US" sz="1150" dirty="0"/>
          </a:p>
        </p:txBody>
      </p:sp>
      <p:sp>
        <p:nvSpPr>
          <p:cNvPr id="16" name="Shape 14"/>
          <p:cNvSpPr/>
          <p:nvPr/>
        </p:nvSpPr>
        <p:spPr>
          <a:xfrm>
            <a:off x="548640" y="4434840"/>
            <a:ext cx="11109960" cy="1828800"/>
          </a:xfrm>
          <a:prstGeom prst="roundRect">
            <a:avLst>
              <a:gd name="adj" fmla="val 4500"/>
            </a:avLst>
          </a:prstGeom>
          <a:solidFill>
            <a:srgbClr val="EEF3F7"/>
          </a:solidFill>
          <a:ln/>
        </p:spPr>
      </p:sp>
      <p:sp>
        <p:nvSpPr>
          <p:cNvPr id="17" name="Text 15"/>
          <p:cNvSpPr/>
          <p:nvPr/>
        </p:nvSpPr>
        <p:spPr>
          <a:xfrm>
            <a:off x="822960" y="4617720"/>
            <a:ext cx="10515600" cy="1508760"/>
          </a:xfrm>
          <a:prstGeom prst="rect">
            <a:avLst/>
          </a:prstGeom>
          <a:noFill/>
          <a:ln/>
        </p:spPr>
        <p:txBody>
          <a:bodyPr wrap="square" lIns="0" tIns="0" rIns="0" bIns="0" rtlCol="0" anchor="ctr"/>
          <a:lstStyle/>
          <a:p>
            <a:pPr algn="l" indent="0" marL="0">
              <a:lnSpc>
                <a:spcPct val="120000"/>
              </a:lnSpc>
              <a:buNone/>
            </a:pPr>
            <a:r>
              <a:rPr lang="en-US" sz="1500" b="1" dirty="0">
                <a:solidFill>
                  <a:srgbClr val="21295C"/>
                </a:solidFill>
                <a:latin typeface="Calibri" pitchFamily="34" charset="0"/>
                <a:ea typeface="Calibri" pitchFamily="34" charset="-122"/>
                <a:cs typeface="Calibri" pitchFamily="34" charset="-120"/>
              </a:rPr>
              <a:t>Geography dominates height. </a:t>
            </a:r>
            <a:endParaRPr lang="en-US" sz="1500" dirty="0"/>
          </a:p>
          <a:p>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Of the 16.07× gap between the proxy and the reference fair strike, 8.85× comes from C₀ — the seasonal-variance level, i.e. climatology — and only 1.82× from h(t₀), the volatility state. A wind-profile height correction closes only a small part of the error: the proxy is not just at the wrong height, it is in a different climate regime.</a:t>
            </a:r>
            <a:endParaRPr lang="en-US" sz="1500" dirty="0"/>
          </a:p>
        </p:txBody>
      </p:sp>
      <p:sp>
        <p:nvSpPr>
          <p:cNvPr id="18" name="Text 16"/>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19" name="Text 17"/>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CH. 3 · RISK MANAGEMENT</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CAWS — a left-tail complement to the variance swap</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914400"/>
        </p:xfrm>
        <a:graphic>
          <a:graphicData uri="http://schemas.openxmlformats.org/drawingml/2006/table">
            <a:tbl>
              <a:tblPr/>
              <a:tblGrid>
                <a:gridCol w="3108960"/>
                <a:gridCol w="4023360"/>
                <a:gridCol w="3977640"/>
              </a:tblGrid>
              <a:tr h="457200">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Dataset A (n=4 yr)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Dataset B (n=10 yr)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r>
              <a:tr h="457200">
                <a:tc>
                  <a:txBody>
                    <a:bodyPr/>
                    <a:lstStyle/>
                    <a:p>
                      <a:pPr algn="l" indent="0" marL="0">
                        <a:buNone/>
                      </a:pPr>
                      <a:r>
                        <a:rPr lang="en-US" sz="1400" b="1" dirty="0">
                          <a:solidFill>
                            <a:srgbClr val="56606B"/>
                          </a:solidFill>
                          <a:latin typeface="Calibri" pitchFamily="34" charset="0"/>
                          <a:ea typeface="Calibri" pitchFamily="34" charset="-122"/>
                          <a:cs typeface="Calibri" pitchFamily="34" charset="-120"/>
                        </a:rPr>
                        <a:t>Strike K</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2.4644 m/s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8.0531 m/s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400" b="1" dirty="0">
                          <a:solidFill>
                            <a:srgbClr val="56606B"/>
                          </a:solidFill>
                          <a:latin typeface="Calibri" pitchFamily="34" charset="0"/>
                          <a:ea typeface="Calibri" pitchFamily="34" charset="-122"/>
                          <a:cs typeface="Calibri" pitchFamily="34" charset="-120"/>
                        </a:rPr>
                        <a:t>CVaR₅% (of strike)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−4.91%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−6.33%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57200">
                <a:tc>
                  <a:txBody>
                    <a:bodyPr/>
                    <a:lstStyle/>
                    <a:p>
                      <a:pPr algn="l" indent="0" marL="0">
                        <a:buNone/>
                      </a:pPr>
                      <a:r>
                        <a:rPr lang="en-US" sz="1400" b="1" dirty="0">
                          <a:solidFill>
                            <a:srgbClr val="56606B"/>
                          </a:solidFill>
                          <a:latin typeface="Calibri" pitchFamily="34" charset="0"/>
                          <a:ea typeface="Calibri" pitchFamily="34" charset="-122"/>
                          <a:cs typeface="Calibri" pitchFamily="34" charset="-120"/>
                        </a:rPr>
                        <a:t>Largest positive payoff</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+6.70% (2017)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56606B"/>
                          </a:solidFill>
                          <a:latin typeface="Calibri" pitchFamily="34" charset="0"/>
                          <a:ea typeface="Calibri" pitchFamily="34" charset="-122"/>
                          <a:cs typeface="Calibri" pitchFamily="34" charset="-120"/>
                        </a:rPr>
                        <a:t>+4.99% (2021)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48640" y="3886200"/>
            <a:ext cx="11109960" cy="2286000"/>
          </a:xfrm>
          <a:prstGeom prst="roundRect">
            <a:avLst>
              <a:gd name="adj" fmla="val 3600"/>
            </a:avLst>
          </a:prstGeom>
          <a:solidFill>
            <a:srgbClr val="EEF3F7"/>
          </a:solidFill>
          <a:ln/>
        </p:spPr>
      </p:sp>
      <p:sp>
        <p:nvSpPr>
          <p:cNvPr id="6" name="Text 3"/>
          <p:cNvSpPr/>
          <p:nvPr/>
        </p:nvSpPr>
        <p:spPr>
          <a:xfrm>
            <a:off x="822960" y="4069080"/>
            <a:ext cx="10515600" cy="2011680"/>
          </a:xfrm>
          <a:prstGeom prst="rect">
            <a:avLst/>
          </a:prstGeom>
          <a:noFill/>
          <a:ln/>
        </p:spPr>
        <p:txBody>
          <a:bodyPr wrap="square" lIns="0" tIns="0" rIns="0" bIns="0" rtlCol="0" anchor="ctr"/>
          <a:lstStyle/>
          <a:p>
            <a:pPr algn="l" indent="0" marL="0">
              <a:lnSpc>
                <a:spcPct val="120000"/>
              </a:lnSpc>
              <a:buNone/>
            </a:pPr>
            <a:r>
              <a:rPr lang="en-US" sz="1300" b="1" dirty="0">
                <a:solidFill>
                  <a:srgbClr val="21295C"/>
                </a:solidFill>
                <a:latin typeface="Calibri" pitchFamily="34" charset="0"/>
                <a:ea typeface="Calibri" pitchFamily="34" charset="-122"/>
                <a:cs typeface="Calibri" pitchFamily="34" charset="-120"/>
              </a:rPr>
              <a:t>Non-overlapping annual observations </a:t>
            </a:r>
            <a:endParaRPr lang="en-US" sz="1300" dirty="0"/>
          </a:p>
          <a:p>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avoid the overlapping-window bias that would otherwise inflate significance from a single decade of data; tail statistics are reported as descriptive, not inferential.
</a:t>
            </a:r>
            <a:pPr algn="l" indent="0" marL="0">
              <a:lnSpc>
                <a:spcPct val="120000"/>
              </a:lnSpc>
              <a:buNone/>
            </a:pPr>
            <a:r>
              <a:rPr lang="en-US" sz="1300" b="1" dirty="0">
                <a:solidFill>
                  <a:srgbClr val="21295C"/>
                </a:solidFill>
                <a:latin typeface="Calibri" pitchFamily="34" charset="0"/>
                <a:ea typeface="Calibri" pitchFamily="34" charset="-122"/>
                <a:cs typeface="Calibri" pitchFamily="34" charset="-120"/>
              </a:rPr>
              <a:t>Calm-year translation (2021, illustrative only): </a:t>
            </a:r>
            <a:endParaRPr lang="en-US" sz="1300" dirty="0"/>
          </a:p>
          <a:p>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a 4.99% wind shortfall ≈ 14% generation shortfall ≈ 32,000 MWh ≈ €2.3m at the full-sample price — not a realised 2021 P&amp;L figure, since 2021 was itself a calm year that partly offset the energy-crisis price spike.</a:t>
            </a:r>
            <a:endParaRPr lang="en-US" sz="1300" dirty="0"/>
          </a:p>
        </p:txBody>
      </p:sp>
      <p:sp>
        <p:nvSpPr>
          <p:cNvPr id="7" name="Text 4"/>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8" name="Text 5"/>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SUMMARY</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Three research questions, answered</a:t>
            </a:r>
            <a:endParaRPr lang="en-US" sz="2700" dirty="0"/>
          </a:p>
        </p:txBody>
      </p:sp>
      <p:sp>
        <p:nvSpPr>
          <p:cNvPr id="4" name="Shape 2"/>
          <p:cNvSpPr/>
          <p:nvPr/>
        </p:nvSpPr>
        <p:spPr>
          <a:xfrm>
            <a:off x="548640"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sp>
      <p:sp>
        <p:nvSpPr>
          <p:cNvPr id="5" name="Shape 3"/>
          <p:cNvSpPr/>
          <p:nvPr/>
        </p:nvSpPr>
        <p:spPr>
          <a:xfrm>
            <a:off x="841248" y="2148840"/>
            <a:ext cx="566928" cy="566928"/>
          </a:xfrm>
          <a:prstGeom prst="ellipse">
            <a:avLst/>
          </a:prstGeom>
          <a:solidFill>
            <a:srgbClr val="C8791A"/>
          </a:solidFill>
          <a:ln/>
        </p:spPr>
      </p:sp>
      <p:sp>
        <p:nvSpPr>
          <p:cNvPr id="6" name="Text 4"/>
          <p:cNvSpPr/>
          <p:nvPr/>
        </p:nvSpPr>
        <p:spPr>
          <a:xfrm>
            <a:off x="841248"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841248" y="2880360"/>
            <a:ext cx="3044952" cy="502920"/>
          </a:xfrm>
          <a:prstGeom prst="rect">
            <a:avLst/>
          </a:prstGeom>
          <a:noFill/>
          <a:ln/>
        </p:spPr>
        <p:txBody>
          <a:bodyPr wrap="square" lIns="0" tIns="0" rIns="0" bIns="0" rtlCol="0" anchor="ctr"/>
          <a:lstStyle/>
          <a:p>
            <a:pPr indent="0" marL="0">
              <a:lnSpc>
                <a:spcPct val="110000"/>
              </a:lnSpc>
              <a:buNone/>
            </a:pPr>
            <a:r>
              <a:rPr lang="en-US" sz="1450" b="1" dirty="0">
                <a:solidFill>
                  <a:srgbClr val="21295C"/>
                </a:solidFill>
                <a:latin typeface="Cambria" pitchFamily="34" charset="0"/>
                <a:ea typeface="Cambria" pitchFamily="34" charset="-122"/>
                <a:cs typeface="Cambria" pitchFamily="34" charset="-120"/>
              </a:rPr>
              <a:t>FEASIBILITY — YES</a:t>
            </a:r>
            <a:endParaRPr lang="en-US" sz="1450" dirty="0"/>
          </a:p>
        </p:txBody>
      </p:sp>
      <p:sp>
        <p:nvSpPr>
          <p:cNvPr id="8" name="Text 6"/>
          <p:cNvSpPr/>
          <p:nvPr/>
        </p:nvSpPr>
        <p:spPr>
          <a:xfrm>
            <a:off x="841248" y="3429000"/>
            <a:ext cx="3044952" cy="2286000"/>
          </a:xfrm>
          <a:prstGeom prst="rect">
            <a:avLst/>
          </a:prstGeom>
          <a:noFill/>
          <a:ln/>
        </p:spPr>
        <p:txBody>
          <a:bodyPr wrap="square" lIns="0" tIns="0" rIns="0" bIns="0" rtlCol="0" anchor="ctr"/>
          <a:lstStyle/>
          <a:p>
            <a:pPr indent="0" marL="0">
              <a:lnSpc>
                <a:spcPct val="120000"/>
              </a:lnSpc>
              <a:buNone/>
            </a:pPr>
            <a:r>
              <a:rPr lang="en-US" sz="1250" dirty="0">
                <a:solidFill>
                  <a:srgbClr val="56606B"/>
                </a:solidFill>
                <a:latin typeface="Calibri" pitchFamily="34" charset="0"/>
                <a:ea typeface="Calibri" pitchFamily="34" charset="-122"/>
                <a:cs typeface="Calibri" pitchFamily="34" charset="-120"/>
              </a:rPr>
              <a:t>CAR(4)+GARCH prices a synthetic wind variance swap in closed form. It prices a variance swap, not an option on variance — that would need the Heston characteristic function evaluated, not merely written down.</a:t>
            </a:r>
            <a:endParaRPr lang="en-US" sz="1250" dirty="0"/>
          </a:p>
        </p:txBody>
      </p:sp>
      <p:sp>
        <p:nvSpPr>
          <p:cNvPr id="9" name="Shape 7"/>
          <p:cNvSpPr/>
          <p:nvPr/>
        </p:nvSpPr>
        <p:spPr>
          <a:xfrm>
            <a:off x="4306824"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sp>
      <p:sp>
        <p:nvSpPr>
          <p:cNvPr id="10" name="Shape 8"/>
          <p:cNvSpPr/>
          <p:nvPr/>
        </p:nvSpPr>
        <p:spPr>
          <a:xfrm>
            <a:off x="4599432" y="2148840"/>
            <a:ext cx="566928" cy="566928"/>
          </a:xfrm>
          <a:prstGeom prst="ellipse">
            <a:avLst/>
          </a:prstGeom>
          <a:solidFill>
            <a:srgbClr val="C8791A"/>
          </a:solidFill>
          <a:ln/>
        </p:spPr>
      </p:sp>
      <p:sp>
        <p:nvSpPr>
          <p:cNvPr id="11" name="Text 9"/>
          <p:cNvSpPr/>
          <p:nvPr/>
        </p:nvSpPr>
        <p:spPr>
          <a:xfrm>
            <a:off x="4599432"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599432" y="2880360"/>
            <a:ext cx="3044952" cy="502920"/>
          </a:xfrm>
          <a:prstGeom prst="rect">
            <a:avLst/>
          </a:prstGeom>
          <a:noFill/>
          <a:ln/>
        </p:spPr>
        <p:txBody>
          <a:bodyPr wrap="square" lIns="0" tIns="0" rIns="0" bIns="0" rtlCol="0" anchor="ctr"/>
          <a:lstStyle/>
          <a:p>
            <a:pPr indent="0" marL="0">
              <a:lnSpc>
                <a:spcPct val="110000"/>
              </a:lnSpc>
              <a:buNone/>
            </a:pPr>
            <a:r>
              <a:rPr lang="en-US" sz="1450" b="1" dirty="0">
                <a:solidFill>
                  <a:srgbClr val="21295C"/>
                </a:solidFill>
                <a:latin typeface="Cambria" pitchFamily="34" charset="0"/>
                <a:ea typeface="Cambria" pitchFamily="34" charset="-122"/>
                <a:cs typeface="Cambria" pitchFamily="34" charset="-120"/>
              </a:rPr>
              <a:t>VOI — QUANTIFIED</a:t>
            </a:r>
            <a:endParaRPr lang="en-US" sz="1450" dirty="0"/>
          </a:p>
        </p:txBody>
      </p:sp>
      <p:sp>
        <p:nvSpPr>
          <p:cNvPr id="13" name="Text 11"/>
          <p:cNvSpPr/>
          <p:nvPr/>
        </p:nvSpPr>
        <p:spPr>
          <a:xfrm>
            <a:off x="4599432" y="3429000"/>
            <a:ext cx="3044952" cy="2286000"/>
          </a:xfrm>
          <a:prstGeom prst="rect">
            <a:avLst/>
          </a:prstGeom>
          <a:noFill/>
          <a:ln/>
        </p:spPr>
        <p:txBody>
          <a:bodyPr wrap="square" lIns="0" tIns="0" rIns="0" bIns="0" rtlCol="0" anchor="ctr"/>
          <a:lstStyle/>
          <a:p>
            <a:pPr indent="0" marL="0">
              <a:lnSpc>
                <a:spcPct val="120000"/>
              </a:lnSpc>
              <a:buNone/>
            </a:pPr>
            <a:r>
              <a:rPr lang="en-US" sz="1250" dirty="0">
                <a:solidFill>
                  <a:srgbClr val="56606B"/>
                </a:solidFill>
                <a:latin typeface="Calibri" pitchFamily="34" charset="0"/>
                <a:ea typeface="Calibri" pitchFamily="34" charset="-122"/>
                <a:cs typeface="Calibri" pitchFamily="34" charset="-120"/>
              </a:rPr>
              <a:t>Proxy misalignment costs 88–94% of the fair strike. Geography (climatology, via C₀) dominates height as the driver of the error.</a:t>
            </a:r>
            <a:endParaRPr lang="en-US" sz="1250" dirty="0"/>
          </a:p>
        </p:txBody>
      </p:sp>
      <p:sp>
        <p:nvSpPr>
          <p:cNvPr id="14" name="Shape 12"/>
          <p:cNvSpPr/>
          <p:nvPr/>
        </p:nvSpPr>
        <p:spPr>
          <a:xfrm>
            <a:off x="8065008" y="1828800"/>
            <a:ext cx="3593592" cy="4206240"/>
          </a:xfrm>
          <a:prstGeom prst="roundRect">
            <a:avLst>
              <a:gd name="adj" fmla="val 2290"/>
            </a:avLst>
          </a:prstGeom>
          <a:solidFill>
            <a:srgbClr val="F7FAFC"/>
          </a:solidFill>
          <a:ln/>
          <a:effectLst>
            <a:outerShdw sx="100000" sy="100000" kx="0" ky="0" algn="bl" rotWithShape="0" blurRad="88900" dist="25400" dir="5400000">
              <a:srgbClr val="1C1C1C">
                <a:alpha val="16000"/>
              </a:srgbClr>
            </a:outerShdw>
          </a:effectLst>
        </p:spPr>
      </p:sp>
      <p:sp>
        <p:nvSpPr>
          <p:cNvPr id="15" name="Shape 13"/>
          <p:cNvSpPr/>
          <p:nvPr/>
        </p:nvSpPr>
        <p:spPr>
          <a:xfrm>
            <a:off x="8357616" y="2148840"/>
            <a:ext cx="566928" cy="566928"/>
          </a:xfrm>
          <a:prstGeom prst="ellipse">
            <a:avLst/>
          </a:prstGeom>
          <a:solidFill>
            <a:srgbClr val="C8791A"/>
          </a:solidFill>
          <a:ln/>
        </p:spPr>
      </p:sp>
      <p:sp>
        <p:nvSpPr>
          <p:cNvPr id="16" name="Text 14"/>
          <p:cNvSpPr/>
          <p:nvPr/>
        </p:nvSpPr>
        <p:spPr>
          <a:xfrm>
            <a:off x="8357616" y="21488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357616" y="2880360"/>
            <a:ext cx="3044952" cy="502920"/>
          </a:xfrm>
          <a:prstGeom prst="rect">
            <a:avLst/>
          </a:prstGeom>
          <a:noFill/>
          <a:ln/>
        </p:spPr>
        <p:txBody>
          <a:bodyPr wrap="square" lIns="0" tIns="0" rIns="0" bIns="0" rtlCol="0" anchor="ctr"/>
          <a:lstStyle/>
          <a:p>
            <a:pPr indent="0" marL="0">
              <a:lnSpc>
                <a:spcPct val="110000"/>
              </a:lnSpc>
              <a:buNone/>
            </a:pPr>
            <a:r>
              <a:rPr lang="en-US" sz="1450" b="1" dirty="0">
                <a:solidFill>
                  <a:srgbClr val="21295C"/>
                </a:solidFill>
                <a:latin typeface="Cambria" pitchFamily="34" charset="0"/>
                <a:ea typeface="Cambria" pitchFamily="34" charset="-122"/>
                <a:cs typeface="Cambria" pitchFamily="34" charset="-120"/>
              </a:rPr>
              <a:t>CAWS — BUILT &amp; STRESS-TESTED</a:t>
            </a:r>
            <a:endParaRPr lang="en-US" sz="1450" dirty="0"/>
          </a:p>
        </p:txBody>
      </p:sp>
      <p:sp>
        <p:nvSpPr>
          <p:cNvPr id="18" name="Text 16"/>
          <p:cNvSpPr/>
          <p:nvPr/>
        </p:nvSpPr>
        <p:spPr>
          <a:xfrm>
            <a:off x="8357616" y="3429000"/>
            <a:ext cx="3044952" cy="2286000"/>
          </a:xfrm>
          <a:prstGeom prst="rect">
            <a:avLst/>
          </a:prstGeom>
          <a:noFill/>
          <a:ln/>
        </p:spPr>
        <p:txBody>
          <a:bodyPr wrap="square" lIns="0" tIns="0" rIns="0" bIns="0" rtlCol="0" anchor="ctr"/>
          <a:lstStyle/>
          <a:p>
            <a:pPr indent="0" marL="0">
              <a:lnSpc>
                <a:spcPct val="120000"/>
              </a:lnSpc>
              <a:buNone/>
            </a:pPr>
            <a:r>
              <a:rPr lang="en-US" sz="1250" dirty="0">
                <a:solidFill>
                  <a:srgbClr val="56606B"/>
                </a:solidFill>
                <a:latin typeface="Calibri" pitchFamily="34" charset="0"/>
                <a:ea typeface="Calibri" pitchFamily="34" charset="-122"/>
                <a:cs typeface="Calibri" pitchFamily="34" charset="-120"/>
              </a:rPr>
              <a:t>Constructed as a left-tail complement to the variance swap; tail statistics reported as descriptive, not inferential, given the small annual samples.</a:t>
            </a:r>
            <a:endParaRPr lang="en-US" sz="1250" dirty="0"/>
          </a:p>
        </p:txBody>
      </p:sp>
      <p:sp>
        <p:nvSpPr>
          <p:cNvPr id="19" name="Text 17"/>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20" name="Text 18"/>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algn="l" indent="0" marL="0">
              <a:buNone/>
            </a:pPr>
            <a:r>
              <a:rPr lang="en-US" sz="1250" b="1" spc="200" kern="0" dirty="0">
                <a:solidFill>
                  <a:srgbClr val="1C7293"/>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algn="l" indent="0" marL="0">
              <a:lnSpc>
                <a:spcPct val="104000"/>
              </a:lnSpc>
              <a:buNone/>
            </a:pPr>
            <a:r>
              <a:rPr lang="en-US" sz="2700" b="1" dirty="0">
                <a:solidFill>
                  <a:srgbClr val="21295C"/>
                </a:solidFill>
                <a:latin typeface="Cambria" pitchFamily="34" charset="0"/>
                <a:ea typeface="Cambria" pitchFamily="34" charset="-122"/>
                <a:cs typeface="Cambria" pitchFamily="34" charset="-120"/>
              </a:rPr>
              <a:t>Limitations, stated — and the work they motivate</a:t>
            </a:r>
            <a:endParaRPr lang="en-US" sz="2700" dirty="0"/>
          </a:p>
        </p:txBody>
      </p:sp>
      <p:sp>
        <p:nvSpPr>
          <p:cNvPr id="4" name="Shape 2"/>
          <p:cNvSpPr/>
          <p:nvPr/>
        </p:nvSpPr>
        <p:spPr>
          <a:xfrm>
            <a:off x="548640" y="1828800"/>
            <a:ext cx="5394960" cy="4160520"/>
          </a:xfrm>
          <a:prstGeom prst="roundRect">
            <a:avLst>
              <a:gd name="adj" fmla="val 1978"/>
            </a:avLst>
          </a:prstGeom>
          <a:solidFill>
            <a:srgbClr val="F7FAFC"/>
          </a:solidFill>
          <a:ln/>
          <a:effectLst>
            <a:outerShdw sx="100000" sy="100000" kx="0" ky="0" algn="bl" rotWithShape="0" blurRad="88900" dist="25400" dir="5400000">
              <a:srgbClr val="1C1C1C">
                <a:alpha val="16000"/>
              </a:srgbClr>
            </a:outerShdw>
          </a:effectLst>
        </p:spPr>
      </p:sp>
      <p:sp>
        <p:nvSpPr>
          <p:cNvPr id="5" name="Text 3"/>
          <p:cNvSpPr/>
          <p:nvPr/>
        </p:nvSpPr>
        <p:spPr>
          <a:xfrm>
            <a:off x="868680" y="2057400"/>
            <a:ext cx="4754880" cy="320040"/>
          </a:xfrm>
          <a:prstGeom prst="rect">
            <a:avLst/>
          </a:prstGeom>
          <a:noFill/>
          <a:ln/>
        </p:spPr>
        <p:txBody>
          <a:bodyPr wrap="square" lIns="0" tIns="0" rIns="0" bIns="0"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LIMITATIONS</a:t>
            </a:r>
            <a:endParaRPr lang="en-US" sz="1250" dirty="0"/>
          </a:p>
        </p:txBody>
      </p:sp>
      <p:sp>
        <p:nvSpPr>
          <p:cNvPr id="6" name="Text 4"/>
          <p:cNvSpPr/>
          <p:nvPr/>
        </p:nvSpPr>
        <p:spPr>
          <a:xfrm>
            <a:off x="868680" y="2450592"/>
            <a:ext cx="4754880" cy="3383280"/>
          </a:xfrm>
          <a:prstGeom prst="rect">
            <a:avLst/>
          </a:prstGeom>
          <a:noFill/>
          <a:ln/>
        </p:spPr>
        <p:txBody>
          <a:bodyPr wrap="square" lIns="0" tIns="0" rIns="0" bIns="0" rtlCol="0" anchor="ctr"/>
          <a:lstStyle/>
          <a:p>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θ = 0 is a benchmark assumption in the absence of EEX option-implied data — not a claim the risk premium is zero.
</a:t>
            </a:r>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Stochastic-volatility parameters are near-unidentified at daily frequency (the Feller sensitivity, slide 7).
</a:t>
            </a:r>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Dataset A remains a 10 m proxy, one profile-correction step removed from hub height.
</a:t>
            </a:r>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SMARD aggregates generation nationally; Nordfriesland is one grid point.</a:t>
            </a:r>
            <a:endParaRPr lang="en-US" sz="1300" dirty="0"/>
          </a:p>
        </p:txBody>
      </p:sp>
      <p:sp>
        <p:nvSpPr>
          <p:cNvPr id="7" name="Shape 5"/>
          <p:cNvSpPr/>
          <p:nvPr/>
        </p:nvSpPr>
        <p:spPr>
          <a:xfrm>
            <a:off x="6263640" y="1828800"/>
            <a:ext cx="5394960" cy="4160520"/>
          </a:xfrm>
          <a:prstGeom prst="roundRect">
            <a:avLst>
              <a:gd name="adj" fmla="val 1978"/>
            </a:avLst>
          </a:prstGeom>
          <a:solidFill>
            <a:srgbClr val="EEF3F7"/>
          </a:solidFill>
          <a:ln/>
        </p:spPr>
      </p:sp>
      <p:sp>
        <p:nvSpPr>
          <p:cNvPr id="8" name="Text 6"/>
          <p:cNvSpPr/>
          <p:nvPr/>
        </p:nvSpPr>
        <p:spPr>
          <a:xfrm>
            <a:off x="6583680" y="2057400"/>
            <a:ext cx="4754880" cy="320040"/>
          </a:xfrm>
          <a:prstGeom prst="rect">
            <a:avLst/>
          </a:prstGeom>
          <a:noFill/>
          <a:ln/>
        </p:spPr>
        <p:txBody>
          <a:bodyPr wrap="square" lIns="0" tIns="0" rIns="0" bIns="0"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FUTURE WORK</a:t>
            </a:r>
            <a:endParaRPr lang="en-US" sz="1250" dirty="0"/>
          </a:p>
        </p:txBody>
      </p:sp>
      <p:sp>
        <p:nvSpPr>
          <p:cNvPr id="9" name="Text 7"/>
          <p:cNvSpPr/>
          <p:nvPr/>
        </p:nvSpPr>
        <p:spPr>
          <a:xfrm>
            <a:off x="6583680" y="2450592"/>
            <a:ext cx="4754880" cy="3383280"/>
          </a:xfrm>
          <a:prstGeom prst="rect">
            <a:avLst/>
          </a:prstGeom>
          <a:noFill/>
          <a:ln/>
        </p:spPr>
        <p:txBody>
          <a:bodyPr wrap="square" lIns="0" tIns="0" rIns="0" bIns="0" rtlCol="0" anchor="ctr"/>
          <a:lstStyle/>
          <a:p>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EEX option-implied θ and a full Carr–Lee-style replication, once liquid data exist.
</a:t>
            </a:r>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Hourly ECMWF / ERA5 data to separately identify ξ from κᵥ (≈100× more observations per e-folding time).
</a:t>
            </a:r>
            <a:pPr algn="l" indent="0" marL="0">
              <a:lnSpc>
                <a:spcPct val="120000"/>
              </a:lnSpc>
              <a:buNone/>
            </a:pPr>
            <a:r>
              <a:rPr lang="en-US" sz="1300" dirty="0">
                <a:solidFill>
                  <a:srgbClr val="56606B"/>
                </a:solidFill>
                <a:latin typeface="Calibri" pitchFamily="34" charset="0"/>
                <a:ea typeface="Calibri" pitchFamily="34" charset="-122"/>
                <a:cs typeface="Calibri" pitchFamily="34" charset="-120"/>
              </a:rPr>
              <a:t>• NIG / Lévy-driven pricing as a documented robustness extension beyond the Gaussian primary track.</a:t>
            </a:r>
            <a:endParaRPr lang="en-US" sz="1300" dirty="0"/>
          </a:p>
        </p:txBody>
      </p:sp>
      <p:sp>
        <p:nvSpPr>
          <p:cNvPr id="10" name="Text 8"/>
          <p:cNvSpPr/>
          <p:nvPr/>
        </p:nvSpPr>
        <p:spPr>
          <a:xfrm>
            <a:off x="548640" y="6510528"/>
            <a:ext cx="8229600" cy="256032"/>
          </a:xfrm>
          <a:prstGeom prst="rect">
            <a:avLst/>
          </a:prstGeom>
          <a:noFill/>
          <a:ln/>
        </p:spPr>
        <p:txBody>
          <a:bodyPr wrap="square" lIns="0" tIns="0" rIns="0" bIns="0" rtlCol="0" anchor="ctr"/>
          <a:lstStyle/>
          <a:p>
            <a:pPr algn="l" indent="0" marL="0">
              <a:buNone/>
            </a:pPr>
            <a:r>
              <a:rPr lang="en-US" sz="900" i="1" dirty="0">
                <a:solidFill>
                  <a:srgbClr val="56606B"/>
                </a:solidFill>
                <a:latin typeface="Calibri" pitchFamily="34" charset="0"/>
                <a:ea typeface="Calibri" pitchFamily="34" charset="-122"/>
                <a:cs typeface="Calibri" pitchFamily="34" charset="-120"/>
              </a:rPr>
              <a:t>Continuous-Time Wind-Speed Modelling — Final Defence</a:t>
            </a:r>
            <a:endParaRPr lang="en-US" sz="900" dirty="0"/>
          </a:p>
        </p:txBody>
      </p:sp>
      <p:sp>
        <p:nvSpPr>
          <p:cNvPr id="11" name="Text 9"/>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5660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sp>
      <p:sp>
        <p:nvSpPr>
          <p:cNvPr id="3" name="Shape 1"/>
          <p:cNvSpPr/>
          <p:nvPr/>
        </p:nvSpPr>
        <p:spPr>
          <a:xfrm>
            <a:off x="10634472" y="-640080"/>
            <a:ext cx="2743200" cy="2743200"/>
          </a:xfrm>
          <a:prstGeom prst="ellipse">
            <a:avLst/>
          </a:prstGeom>
          <a:solidFill>
            <a:srgbClr val="065A82">
              <a:alpha val="70000"/>
            </a:srgbClr>
          </a:solidFill>
          <a:ln/>
        </p:spPr>
      </p:sp>
      <p:sp>
        <p:nvSpPr>
          <p:cNvPr id="4" name="Text 2"/>
          <p:cNvSpPr/>
          <p:nvPr/>
        </p:nvSpPr>
        <p:spPr>
          <a:xfrm>
            <a:off x="822960" y="2651760"/>
            <a:ext cx="9144000" cy="640080"/>
          </a:xfrm>
          <a:prstGeom prst="rect">
            <a:avLst/>
          </a:prstGeom>
          <a:noFill/>
          <a:ln/>
        </p:spPr>
        <p:txBody>
          <a:bodyPr wrap="square" lIns="0" tIns="0" rIns="0" bIns="0" rtlCol="0" anchor="ctr"/>
          <a:lstStyle/>
          <a:p>
            <a:pPr indent="0" marL="0">
              <a:buNone/>
            </a:pPr>
            <a:r>
              <a:rPr lang="en-US" sz="1600" b="1" spc="300" kern="0" dirty="0">
                <a:solidFill>
                  <a:srgbClr val="E8A33D"/>
                </a:solidFill>
                <a:latin typeface="Calibri" pitchFamily="34" charset="0"/>
                <a:ea typeface="Calibri" pitchFamily="34" charset="-122"/>
                <a:cs typeface="Calibri" pitchFamily="34" charset="-120"/>
              </a:rPr>
              <a:t>THANK YOU</a:t>
            </a:r>
            <a:endParaRPr lang="en-US" sz="1600" dirty="0"/>
          </a:p>
        </p:txBody>
      </p:sp>
      <p:sp>
        <p:nvSpPr>
          <p:cNvPr id="5" name="Text 3"/>
          <p:cNvSpPr/>
          <p:nvPr/>
        </p:nvSpPr>
        <p:spPr>
          <a:xfrm>
            <a:off x="822960" y="3154680"/>
            <a:ext cx="96012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Questions and discussion</a:t>
            </a:r>
            <a:endParaRPr lang="en-US" sz="3600" dirty="0"/>
          </a:p>
        </p:txBody>
      </p:sp>
      <p:sp>
        <p:nvSpPr>
          <p:cNvPr id="6" name="Text 4"/>
          <p:cNvSpPr/>
          <p:nvPr/>
        </p:nvSpPr>
        <p:spPr>
          <a:xfrm>
            <a:off x="822960" y="4160520"/>
            <a:ext cx="9601200" cy="457200"/>
          </a:xfrm>
          <a:prstGeom prst="rect">
            <a:avLst/>
          </a:prstGeom>
          <a:noFill/>
          <a:ln/>
        </p:spPr>
        <p:txBody>
          <a:bodyPr wrap="square" lIns="0" tIns="0" rIns="0" bIns="0" rtlCol="0" anchor="ctr"/>
          <a:lstStyle/>
          <a:p>
            <a:pPr indent="0" marL="0">
              <a:buNone/>
            </a:pPr>
            <a:r>
              <a:rPr lang="en-US" sz="1300" i="1" dirty="0">
                <a:solidFill>
                  <a:srgbClr val="EEF3F7"/>
                </a:solidFill>
                <a:latin typeface="Calibri" pitchFamily="34" charset="0"/>
                <a:ea typeface="Calibri" pitchFamily="34" charset="-122"/>
                <a:cs typeface="Calibri" pitchFamily="34" charset="-120"/>
              </a:rPr>
              <a:t>Enrico Butali · Continuous-Time Modelling of Wind Speed for Derivatives Pricing and Risk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2026-09-24T10:39:50Z</dcterms:created>
  <dcterms:modified xsi:type="dcterms:W3CDTF">2026-09-24T10:39:50Z</dcterms:modified>
</cp:coreProperties>
</file>