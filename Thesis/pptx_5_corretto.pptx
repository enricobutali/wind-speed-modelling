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6" r:id="rId4"/>
    <p:sldId id="286" r:id="rId5"/>
    <p:sldId id="270" r:id="rId6"/>
    <p:sldId id="278" r:id="rId7"/>
    <p:sldId id="279" r:id="rId8"/>
    <p:sldId id="280" r:id="rId9"/>
    <p:sldId id="282" r:id="rId10"/>
    <p:sldId id="283" r:id="rId11"/>
    <p:sldId id="268" r:id="rId12"/>
    <p:sldId id="269" r:id="rId13"/>
    <p:sldId id="272" r:id="rId14"/>
    <p:sldId id="262" r:id="rId15"/>
    <p:sldId id="273" r:id="rId16"/>
    <p:sldId id="263" r:id="rId17"/>
    <p:sldId id="274" r:id="rId18"/>
    <p:sldId id="275" r:id="rId19"/>
    <p:sldId id="284" r:id="rId20"/>
    <p:sldId id="281" r:id="rId21"/>
    <p:sldId id="285"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senza titolo" id="{D353D032-D7F5-414C-878B-B0179CE92F68}">
          <p14:sldIdLst>
            <p14:sldId id="256"/>
            <p14:sldId id="257"/>
            <p14:sldId id="276"/>
            <p14:sldId id="286"/>
            <p14:sldId id="270"/>
            <p14:sldId id="278"/>
            <p14:sldId id="279"/>
            <p14:sldId id="280"/>
            <p14:sldId id="282"/>
            <p14:sldId id="283"/>
            <p14:sldId id="268"/>
            <p14:sldId id="269"/>
            <p14:sldId id="272"/>
            <p14:sldId id="262"/>
            <p14:sldId id="273"/>
            <p14:sldId id="263"/>
            <p14:sldId id="274"/>
            <p14:sldId id="275"/>
            <p14:sldId id="284"/>
            <p14:sldId id="281"/>
            <p14:sldId id="285"/>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5954" autoAdjust="0"/>
  </p:normalViewPr>
  <p:slideViewPr>
    <p:cSldViewPr snapToGrid="0" snapToObjects="1">
      <p:cViewPr varScale="1">
        <p:scale>
          <a:sx n="50" d="100"/>
          <a:sy n="50" d="100"/>
        </p:scale>
        <p:origin x="126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Strike</c:v>
                </c:pt>
              </c:strCache>
            </c:strRef>
          </c:tx>
          <c:spPr>
            <a:solidFill>
              <a:srgbClr val="21295C"/>
            </a:solidFill>
          </c:spPr>
          <c:invertIfNegative val="0"/>
          <c:dPt>
            <c:idx val="0"/>
            <c:invertIfNegative val="0"/>
            <c:bubble3D val="0"/>
            <c:spPr>
              <a:solidFill>
                <a:srgbClr val="C8791A"/>
              </a:solidFill>
            </c:spPr>
            <c:extLst>
              <c:ext xmlns:c16="http://schemas.microsoft.com/office/drawing/2014/chart" uri="{C3380CC4-5D6E-409C-BE32-E72D297353CC}">
                <c16:uniqueId val="{00000001-C526-4FBD-89FC-DBDD1FB02254}"/>
              </c:ext>
            </c:extLst>
          </c:dPt>
          <c:dPt>
            <c:idx val="1"/>
            <c:invertIfNegative val="0"/>
            <c:bubble3D val="0"/>
            <c:spPr>
              <a:solidFill>
                <a:srgbClr val="56606B"/>
              </a:solidFill>
            </c:spPr>
            <c:extLst>
              <c:ext xmlns:c16="http://schemas.microsoft.com/office/drawing/2014/chart" uri="{C3380CC4-5D6E-409C-BE32-E72D297353CC}">
                <c16:uniqueId val="{00000003-C526-4FBD-89FC-DBDD1FB02254}"/>
              </c:ext>
            </c:extLst>
          </c:dPt>
          <c:dLbls>
            <c:dLbl>
              <c:idx val="0"/>
              <c:tx>
                <c:rich>
                  <a:bodyPr/>
                  <a:lstStyle/>
                  <a:p>
                    <a:r>
                      <a:rPr lang="en-US" sz="1200" b="1">
                        <a:solidFill>
                          <a:srgbClr val="21295C"/>
                        </a:solidFill>
                      </a:rPr>
                      <a:t>328.8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526-4FBD-89FC-DBDD1FB02254}"/>
                </c:ext>
              </c:extLst>
            </c:dLbl>
            <c:dLbl>
              <c:idx val="1"/>
              <c:tx>
                <c:rich>
                  <a:bodyPr/>
                  <a:lstStyle/>
                  <a:p>
                    <a:r>
                      <a:rPr lang="en-US" sz="1200" b="1">
                        <a:solidFill>
                          <a:srgbClr val="21295C"/>
                        </a:solidFill>
                      </a:rPr>
                      <a:t>113.1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526-4FBD-89FC-DBDD1FB0225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Model (in market units)</c:v>
                </c:pt>
                <c:pt idx="1">
                  <c:v>Market benchmark</c:v>
                </c:pt>
              </c:strCache>
            </c:strRef>
          </c:cat>
          <c:val>
            <c:numRef>
              <c:f>Sheet1!$B$2:$B$3</c:f>
              <c:numCache>
                <c:formatCode>General</c:formatCode>
                <c:ptCount val="2"/>
                <c:pt idx="0">
                  <c:v>328.72812088535682</c:v>
                </c:pt>
                <c:pt idx="1">
                  <c:v>113.145</c:v>
                </c:pt>
              </c:numCache>
            </c:numRef>
          </c:val>
          <c:extLst>
            <c:ext xmlns:c16="http://schemas.microsoft.com/office/drawing/2014/chart" uri="{C3380CC4-5D6E-409C-BE32-E72D297353CC}">
              <c16:uniqueId val="{0000000C-A364-4728-BF1B-BD37C6E4C4A3}"/>
            </c:ext>
          </c:extLst>
        </c:ser>
        <c:dLbls>
          <c:dLblPos val="outEnd"/>
          <c:showLegendKey val="0"/>
          <c:showVal val="1"/>
          <c:showCatName val="0"/>
          <c:showSerName val="0"/>
          <c:showPercent val="0"/>
          <c:showBubbleSize val="0"/>
        </c:dLbls>
        <c:gapWidth val="11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200"/>
            </a:pPr>
            <a:endParaRPr lang="it-IT"/>
          </a:p>
        </c:txPr>
        <c:crossAx val="-2113994440"/>
        <c:crosses val="autoZero"/>
        <c:auto val="1"/>
        <c:lblAlgn val="ctr"/>
        <c:lblOffset val="100"/>
        <c:noMultiLvlLbl val="0"/>
      </c:catAx>
      <c:valAx>
        <c:axId val="-2113994440"/>
        <c:scaling>
          <c:orientation val="minMax"/>
          <c:max val="400"/>
          <c:min val="0"/>
        </c:scaling>
        <c:delete val="0"/>
        <c:axPos val="l"/>
        <c:majorGridlines>
          <c:spPr>
            <a:ln w="9525">
              <a:solidFill>
                <a:srgbClr val="E1E8EE"/>
              </a:solidFill>
            </a:ln>
          </c:spPr>
        </c:majorGridlines>
        <c:numFmt formatCode="0" sourceLinked="0"/>
        <c:majorTickMark val="none"/>
        <c:minorTickMark val="none"/>
        <c:tickLblPos val="nextTo"/>
        <c:spPr>
          <a:ln>
            <a:noFill/>
          </a:ln>
        </c:spPr>
        <c:txPr>
          <a:bodyPr/>
          <a:lstStyle/>
          <a:p>
            <a:pPr>
              <a:defRPr sz="1000"/>
            </a:pPr>
            <a:endParaRPr lang="it-IT"/>
          </a:p>
        </c:txPr>
        <c:crossAx val="-2068027336"/>
        <c:crosses val="autoZero"/>
        <c:crossBetween val="between"/>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Sheet1!$C$1</c:f>
              <c:strCache>
                <c:ptCount val="1"/>
                <c:pt idx="0">
                  <c:v>Dataset B — Nordfriesland 100 m (n = 10)</c:v>
                </c:pt>
              </c:strCache>
            </c:strRef>
          </c:tx>
          <c:spPr>
            <a:solidFill>
              <a:srgbClr val="1C7293"/>
            </a:solidFill>
          </c:spPr>
          <c:invertIfNegative val="0"/>
          <c:dPt>
            <c:idx val="6"/>
            <c:invertIfNegative val="0"/>
            <c:bubble3D val="0"/>
            <c:spPr>
              <a:solidFill>
                <a:srgbClr val="C8791A"/>
              </a:solidFill>
            </c:spPr>
            <c:extLst>
              <c:ext xmlns:c16="http://schemas.microsoft.com/office/drawing/2014/chart" uri="{C3380CC4-5D6E-409C-BE32-E72D297353CC}">
                <c16:uniqueId val="{00000001-3931-4B30-8920-DE5B8DD76826}"/>
              </c:ext>
            </c:extLst>
          </c:dPt>
          <c:dLbls>
            <c:dLbl>
              <c:idx val="6"/>
              <c:tx>
                <c:rich>
                  <a:bodyPr/>
                  <a:lstStyle/>
                  <a:p>
                    <a:r>
                      <a:rPr lang="en-US" sz="1200" b="1">
                        <a:solidFill>
                          <a:srgbClr val="C8791A"/>
                        </a:solidFill>
                      </a:rPr>
                      <a:t>Calmest year</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931-4B30-8920-DE5B8DD76826}"/>
                </c:ext>
              </c:extLst>
            </c:dLbl>
            <c:numFmt formatCode="\+0.0;\−0.0" sourceLinked="0"/>
            <c:spPr>
              <a:noFill/>
              <a:ln>
                <a:noFill/>
              </a:ln>
              <a:effectLst/>
            </c:spPr>
            <c:txPr>
              <a:bodyPr/>
              <a:lstStyle/>
              <a:p>
                <a:pPr>
                  <a:defRPr sz="1050" b="1">
                    <a:solidFill>
                      <a:srgbClr val="21295C"/>
                    </a:solidFill>
                  </a:defRPr>
                </a:pPr>
                <a:endParaRPr lang="it-IT"/>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Sheet1!$C$2:$C$11</c:f>
              <c:numCache>
                <c:formatCode>General</c:formatCode>
                <c:ptCount val="10"/>
                <c:pt idx="0">
                  <c:v>-6.3267561560144534</c:v>
                </c:pt>
                <c:pt idx="1">
                  <c:v>4.1834821373135807</c:v>
                </c:pt>
                <c:pt idx="2">
                  <c:v>-0.43088996783847211</c:v>
                </c:pt>
                <c:pt idx="3">
                  <c:v>2.6511529721473712</c:v>
                </c:pt>
                <c:pt idx="4">
                  <c:v>-2.477306875613118</c:v>
                </c:pt>
                <c:pt idx="5">
                  <c:v>-2.8548012566589258</c:v>
                </c:pt>
                <c:pt idx="6">
                  <c:v>4.9893829705330859</c:v>
                </c:pt>
                <c:pt idx="7">
                  <c:v>-0.66061516683016464</c:v>
                </c:pt>
                <c:pt idx="8">
                  <c:v>-1.098955681662962</c:v>
                </c:pt>
                <c:pt idx="9">
                  <c:v>0.15025269771889085</c:v>
                </c:pt>
              </c:numCache>
            </c:numRef>
          </c:val>
          <c:extLst>
            <c:ext xmlns:c16="http://schemas.microsoft.com/office/drawing/2014/chart" uri="{C3380CC4-5D6E-409C-BE32-E72D297353CC}">
              <c16:uniqueId val="{00000001-E9D7-4013-BEAE-EBA84B2ED656}"/>
            </c:ext>
          </c:extLst>
        </c:ser>
        <c:dLbls>
          <c:dLblPos val="outEnd"/>
          <c:showLegendKey val="0"/>
          <c:showVal val="1"/>
          <c:showCatName val="0"/>
          <c:showSerName val="0"/>
          <c:showPercent val="0"/>
          <c:showBubbleSize val="0"/>
        </c:dLbls>
        <c:gapWidth val="45"/>
        <c:overlap val="-5"/>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B8C4CF"/>
            </a:solidFill>
          </a:ln>
        </c:spPr>
        <c:txPr>
          <a:bodyPr/>
          <a:lstStyle/>
          <a:p>
            <a:pPr>
              <a:defRPr sz="1050"/>
            </a:pPr>
            <a:endParaRPr lang="it-IT"/>
          </a:p>
        </c:txPr>
        <c:crossAx val="-2113994440"/>
        <c:crosses val="autoZero"/>
        <c:auto val="1"/>
        <c:lblAlgn val="ctr"/>
        <c:lblOffset val="100"/>
        <c:noMultiLvlLbl val="0"/>
      </c:catAx>
      <c:valAx>
        <c:axId val="-2113994440"/>
        <c:scaling>
          <c:orientation val="minMax"/>
          <c:max val="8"/>
          <c:min val="-8"/>
        </c:scaling>
        <c:delete val="0"/>
        <c:axPos val="l"/>
        <c:majorGridlines>
          <c:spPr>
            <a:ln w="9525">
              <a:solidFill>
                <a:srgbClr val="E1E8EE"/>
              </a:solidFill>
            </a:ln>
          </c:spPr>
        </c:majorGridlines>
        <c:numFmt formatCode="\+0&quot;%&quot;;\−0&quot;%&quot;;0&quot;%&quot;" sourceLinked="0"/>
        <c:majorTickMark val="none"/>
        <c:minorTickMark val="none"/>
        <c:tickLblPos val="nextTo"/>
        <c:spPr>
          <a:ln>
            <a:noFill/>
          </a:ln>
        </c:spPr>
        <c:txPr>
          <a:bodyPr/>
          <a:lstStyle/>
          <a:p>
            <a:pPr>
              <a:defRPr sz="950"/>
            </a:pPr>
            <a:endParaRPr lang="it-IT"/>
          </a:p>
        </c:txPr>
        <c:crossAx val="-2068027336"/>
        <c:crosses val="autoZero"/>
        <c:crossBetween val="between"/>
        <c:majorUnit val="2"/>
      </c:valAx>
    </c:plotArea>
    <c:plotVisOnly val="1"/>
    <c:dispBlanksAs val="gap"/>
    <c:showDLblsOverMax val="1"/>
  </c:chart>
  <c:spPr>
    <a:noFill/>
    <a:ln>
      <a:noFill/>
    </a:ln>
  </c:spPr>
  <c:txPr>
    <a:bodyPr/>
    <a:lstStyle/>
    <a:p>
      <a:pPr>
        <a:defRPr sz="1050">
          <a:solidFill>
            <a:srgbClr val="56606B"/>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K</c:v>
                </c:pt>
              </c:strCache>
            </c:strRef>
          </c:tx>
          <c:spPr>
            <a:solidFill>
              <a:srgbClr val="21295C"/>
            </a:solidFill>
          </c:spPr>
          <c:invertIfNegative val="0"/>
          <c:dPt>
            <c:idx val="0"/>
            <c:invertIfNegative val="1"/>
            <c:bubble3D val="0"/>
            <c:spPr>
              <a:solidFill>
                <a:srgbClr val="C8791A"/>
              </a:solidFill>
            </c:spPr>
            <c:extLst>
              <c:ext xmlns:c16="http://schemas.microsoft.com/office/drawing/2014/chart" uri="{C3380CC4-5D6E-409C-BE32-E72D297353CC}">
                <c16:uniqueId val="{00000001-53EE-4DA2-BFEF-7C229CBA4940}"/>
              </c:ext>
            </c:extLst>
          </c:dPt>
          <c:dPt>
            <c:idx val="1"/>
            <c:invertIfNegative val="1"/>
            <c:bubble3D val="0"/>
            <c:spPr>
              <a:solidFill>
                <a:srgbClr val="E8A33D"/>
              </a:solidFill>
            </c:spPr>
            <c:extLst>
              <c:ext xmlns:c16="http://schemas.microsoft.com/office/drawing/2014/chart" uri="{C3380CC4-5D6E-409C-BE32-E72D297353CC}">
                <c16:uniqueId val="{00000003-53EE-4DA2-BFEF-7C229CBA4940}"/>
              </c:ext>
            </c:extLst>
          </c:dPt>
          <c:dPt>
            <c:idx val="2"/>
            <c:invertIfNegative val="1"/>
            <c:bubble3D val="0"/>
            <c:spPr>
              <a:solidFill>
                <a:srgbClr val="1C7293"/>
              </a:solidFill>
            </c:spPr>
            <c:extLst>
              <c:ext xmlns:c16="http://schemas.microsoft.com/office/drawing/2014/chart" uri="{C3380CC4-5D6E-409C-BE32-E72D297353CC}">
                <c16:uniqueId val="{00000005-53EE-4DA2-BFEF-7C229CBA4940}"/>
              </c:ext>
            </c:extLst>
          </c:dPt>
          <c:dLbls>
            <c:dLbl>
              <c:idx val="0"/>
              <c:tx>
                <c:rich>
                  <a:bodyPr/>
                  <a:lstStyle/>
                  <a:p>
                    <a:r>
                      <a:rPr lang="en-US" sz="1200" b="1">
                        <a:solidFill>
                          <a:srgbClr val="21295C"/>
                        </a:solidFill>
                      </a:rPr>
                      <a:t>−94%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3EE-4DA2-BFEF-7C229CBA4940}"/>
                </c:ext>
              </c:extLst>
            </c:dLbl>
            <c:dLbl>
              <c:idx val="1"/>
              <c:tx>
                <c:rich>
                  <a:bodyPr/>
                  <a:lstStyle/>
                  <a:p>
                    <a:r>
                      <a:rPr lang="en-US" sz="1200" b="1">
                        <a:solidFill>
                          <a:srgbClr val="21295C"/>
                        </a:solidFill>
                      </a:rPr>
                      <a:t>−88%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3EE-4DA2-BFEF-7C229CBA4940}"/>
                </c:ext>
              </c:extLst>
            </c:dLbl>
            <c:dLbl>
              <c:idx val="2"/>
              <c:tx>
                <c:rich>
                  <a:bodyPr/>
                  <a:lstStyle/>
                  <a:p>
                    <a:r>
                      <a:rPr lang="en-US" sz="1200" b="1">
                        <a:solidFill>
                          <a:srgbClr val="21295C"/>
                        </a:solidFill>
                      </a:rPr>
                      <a:t>reference</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3EE-4DA2-BFEF-7C229CBA494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Bologna 10 m</c:v>
                </c:pt>
                <c:pt idx="1">
                  <c:v>Bologna, height-corrected</c:v>
                </c:pt>
                <c:pt idx="2">
                  <c:v>German site 100 m</c:v>
                </c:pt>
              </c:strCache>
            </c:strRef>
          </c:cat>
          <c:val>
            <c:numRef>
              <c:f>Sheet1!$B$2:$B$4</c:f>
              <c:numCache>
                <c:formatCode>General</c:formatCode>
                <c:ptCount val="3"/>
                <c:pt idx="0">
                  <c:v>5.4351905999999998E-2</c:v>
                </c:pt>
                <c:pt idx="1">
                  <c:v>0.104937101</c:v>
                </c:pt>
                <c:pt idx="2">
                  <c:v>0.87336000000000003</c:v>
                </c:pt>
              </c:numCache>
            </c:numRef>
          </c:val>
          <c:extLst>
            <c:ext xmlns:c16="http://schemas.microsoft.com/office/drawing/2014/chart" uri="{C3380CC4-5D6E-409C-BE32-E72D297353CC}">
              <c16:uniqueId val="{00000006-53EE-4DA2-BFEF-7C229CBA494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200"/>
            </a:pPr>
            <a:endParaRPr lang="it-IT"/>
          </a:p>
        </c:txPr>
        <c:crossAx val="-2113994440"/>
        <c:crosses val="autoZero"/>
        <c:auto val="1"/>
        <c:lblAlgn val="ctr"/>
        <c:lblOffset val="100"/>
        <c:noMultiLvlLbl val="0"/>
      </c:catAx>
      <c:valAx>
        <c:axId val="-2113994440"/>
        <c:scaling>
          <c:orientation val="minMax"/>
          <c:max val="1"/>
          <c:min val="0"/>
        </c:scaling>
        <c:delete val="0"/>
        <c:axPos val="l"/>
        <c:majorGridlines>
          <c:spPr>
            <a:ln w="9525">
              <a:solidFill>
                <a:srgbClr val="E1E8EE"/>
              </a:solidFill>
            </a:ln>
          </c:spPr>
        </c:majorGridlines>
        <c:numFmt formatCode="0.00" sourceLinked="0"/>
        <c:majorTickMark val="none"/>
        <c:minorTickMark val="none"/>
        <c:tickLblPos val="nextTo"/>
        <c:spPr>
          <a:ln>
            <a:noFill/>
          </a:ln>
        </c:spPr>
        <c:txPr>
          <a:bodyPr/>
          <a:lstStyle/>
          <a:p>
            <a:pPr>
              <a:defRPr sz="1000"/>
            </a:pPr>
            <a:endParaRPr lang="it-IT"/>
          </a:p>
        </c:txPr>
        <c:crossAx val="-2068027336"/>
        <c:crosses val="autoZero"/>
        <c:crossBetween val="between"/>
        <c:majorUnit val="0.25"/>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Ratio</c:v>
                </c:pt>
              </c:strCache>
            </c:strRef>
          </c:tx>
          <c:spPr>
            <a:solidFill>
              <a:srgbClr val="21295C"/>
            </a:solidFill>
          </c:spPr>
          <c:invertIfNegative val="0"/>
          <c:dPt>
            <c:idx val="0"/>
            <c:invertIfNegative val="1"/>
            <c:bubble3D val="0"/>
            <c:extLst>
              <c:ext xmlns:c16="http://schemas.microsoft.com/office/drawing/2014/chart" uri="{C3380CC4-5D6E-409C-BE32-E72D297353CC}">
                <c16:uniqueId val="{00000001-3181-4806-B473-94BB078BDC9B}"/>
              </c:ext>
            </c:extLst>
          </c:dPt>
          <c:dPt>
            <c:idx val="1"/>
            <c:invertIfNegative val="1"/>
            <c:bubble3D val="0"/>
            <c:spPr>
              <a:solidFill>
                <a:srgbClr val="1C7293"/>
              </a:solidFill>
            </c:spPr>
            <c:extLst>
              <c:ext xmlns:c16="http://schemas.microsoft.com/office/drawing/2014/chart" uri="{C3380CC4-5D6E-409C-BE32-E72D297353CC}">
                <c16:uniqueId val="{00000003-3181-4806-B473-94BB078BDC9B}"/>
              </c:ext>
            </c:extLst>
          </c:dPt>
          <c:dPt>
            <c:idx val="2"/>
            <c:invertIfNegative val="1"/>
            <c:bubble3D val="0"/>
            <c:spPr>
              <a:solidFill>
                <a:srgbClr val="1C7293"/>
              </a:solidFill>
            </c:spPr>
            <c:extLst>
              <c:ext xmlns:c16="http://schemas.microsoft.com/office/drawing/2014/chart" uri="{C3380CC4-5D6E-409C-BE32-E72D297353CC}">
                <c16:uniqueId val="{00000005-3181-4806-B473-94BB078BDC9B}"/>
              </c:ext>
            </c:extLst>
          </c:dPt>
          <c:dLbls>
            <c:dLbl>
              <c:idx val="0"/>
              <c:tx>
                <c:rich>
                  <a:bodyPr/>
                  <a:lstStyle/>
                  <a:p>
                    <a:r>
                      <a:rPr lang="en-US" sz="1100" b="1">
                        <a:solidFill>
                          <a:srgbClr val="21295C"/>
                        </a:solidFill>
                      </a:rPr>
                      <a:t>16.07×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181-4806-B473-94BB078BDC9B}"/>
                </c:ext>
              </c:extLst>
            </c:dLbl>
            <c:dLbl>
              <c:idx val="1"/>
              <c:tx>
                <c:rich>
                  <a:bodyPr/>
                  <a:lstStyle/>
                  <a:p>
                    <a:r>
                      <a:rPr lang="en-US" sz="1100" b="1">
                        <a:solidFill>
                          <a:srgbClr val="21295C"/>
                        </a:solidFill>
                      </a:rPr>
                      <a:t>≈ 2.5×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181-4806-B473-94BB078BDC9B}"/>
                </c:ext>
              </c:extLst>
            </c:dLbl>
            <c:dLbl>
              <c:idx val="2"/>
              <c:tx>
                <c:rich>
                  <a:bodyPr/>
                  <a:lstStyle/>
                  <a:p>
                    <a:r>
                      <a:rPr lang="en-US" sz="1100" b="1">
                        <a:solidFill>
                          <a:srgbClr val="21295C"/>
                        </a:solidFill>
                      </a:rPr>
                      <a:t>≈ 1.36×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181-4806-B473-94BB078BDC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Raw strikes</c:v>
                </c:pt>
                <c:pt idx="1">
                  <c:v>Common scale</c:v>
                </c:pt>
                <c:pt idx="2">
                  <c:v>Climatology only (h = 1)</c:v>
                </c:pt>
              </c:strCache>
            </c:strRef>
          </c:cat>
          <c:val>
            <c:numRef>
              <c:f>Sheet1!$B$2:$B$4</c:f>
              <c:numCache>
                <c:formatCode>General</c:formatCode>
                <c:ptCount val="3"/>
                <c:pt idx="0">
                  <c:v>16.07</c:v>
                </c:pt>
                <c:pt idx="1">
                  <c:v>2.4740406320541761</c:v>
                </c:pt>
                <c:pt idx="2">
                  <c:v>1.3622782446311856</c:v>
                </c:pt>
              </c:numCache>
            </c:numRef>
          </c:val>
          <c:extLst>
            <c:ext xmlns:c16="http://schemas.microsoft.com/office/drawing/2014/chart" uri="{C3380CC4-5D6E-409C-BE32-E72D297353CC}">
              <c16:uniqueId val="{00000006-3181-4806-B473-94BB078BDC9B}"/>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20"/>
          <c:min val="0"/>
        </c:scaling>
        <c:delete val="0"/>
        <c:axPos val="l"/>
        <c:majorGridlines>
          <c:spPr>
            <a:ln w="9525">
              <a:solidFill>
                <a:srgbClr val="E1E8EE"/>
              </a:solidFill>
            </a:ln>
          </c:spPr>
        </c:majorGridlines>
        <c:numFmt formatCode="0&quot;×&quot;" sourceLinked="0"/>
        <c:majorTickMark val="none"/>
        <c:minorTickMark val="none"/>
        <c:tickLblPos val="nextTo"/>
        <c:spPr>
          <a:ln>
            <a:noFill/>
          </a:ln>
        </c:spPr>
        <c:txPr>
          <a:bodyPr/>
          <a:lstStyle/>
          <a:p>
            <a:pPr>
              <a:defRPr sz="1000"/>
            </a:pPr>
            <a:endParaRPr lang="it-IT"/>
          </a:p>
        </c:txPr>
        <c:crossAx val="-2068027336"/>
        <c:crosses val="autoZero"/>
        <c:crossBetween val="between"/>
        <c:majorUnit val="5"/>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at h(t₀)</c:v>
                </c:pt>
              </c:strCache>
            </c:strRef>
          </c:tx>
          <c:spPr>
            <a:solidFill>
              <a:srgbClr val="21295C"/>
            </a:solidFill>
          </c:spPr>
          <c:invertIfNegative val="0"/>
          <c:dLbls>
            <c:numFmt formatCode="0.00&quot;×&quot;"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Dataset A · proxy</c:v>
                </c:pt>
                <c:pt idx="1">
                  <c:v>Dataset B · reference</c:v>
                </c:pt>
              </c:strCache>
            </c:strRef>
          </c:cat>
          <c:val>
            <c:numRef>
              <c:f>Sheet1!$B$2:$B$3</c:f>
              <c:numCache>
                <c:formatCode>General</c:formatCode>
                <c:ptCount val="2"/>
                <c:pt idx="0">
                  <c:v>1.17</c:v>
                </c:pt>
                <c:pt idx="1">
                  <c:v>2.91</c:v>
                </c:pt>
              </c:numCache>
            </c:numRef>
          </c:val>
          <c:extLst>
            <c:ext xmlns:c16="http://schemas.microsoft.com/office/drawing/2014/chart" uri="{C3380CC4-5D6E-409C-BE32-E72D297353CC}">
              <c16:uniqueId val="{00000000-740C-4883-9B68-247D0E570539}"/>
            </c:ext>
          </c:extLst>
        </c:ser>
        <c:ser>
          <c:idx val="1"/>
          <c:order val="1"/>
          <c:tx>
            <c:strRef>
              <c:f>Sheet1!$C$1</c:f>
              <c:strCache>
                <c:ptCount val="1"/>
                <c:pt idx="0">
                  <c:v>at h = 1</c:v>
                </c:pt>
              </c:strCache>
            </c:strRef>
          </c:tx>
          <c:spPr>
            <a:solidFill>
              <a:srgbClr val="9DB0C2"/>
            </a:solidFill>
          </c:spPr>
          <c:invertIfNegative val="0"/>
          <c:dLbls>
            <c:numFmt formatCode="0.00&quot;×&quot;"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Dataset A · proxy</c:v>
                </c:pt>
                <c:pt idx="1">
                  <c:v>Dataset B · reference</c:v>
                </c:pt>
              </c:strCache>
            </c:strRef>
          </c:cat>
          <c:val>
            <c:numRef>
              <c:f>Sheet1!$C$2:$C$3</c:f>
              <c:numCache>
                <c:formatCode>General</c:formatCode>
                <c:ptCount val="2"/>
                <c:pt idx="0">
                  <c:v>2.82</c:v>
                </c:pt>
                <c:pt idx="1">
                  <c:v>3.87</c:v>
                </c:pt>
              </c:numCache>
            </c:numRef>
          </c:val>
          <c:extLst>
            <c:ext xmlns:c16="http://schemas.microsoft.com/office/drawing/2014/chart" uri="{C3380CC4-5D6E-409C-BE32-E72D297353CC}">
              <c16:uniqueId val="{00000001-740C-4883-9B68-247D0E570539}"/>
            </c:ext>
          </c:extLst>
        </c:ser>
        <c:dLbls>
          <c:dLblPos val="outEnd"/>
          <c:showLegendKey val="0"/>
          <c:showVal val="1"/>
          <c:showCatName val="0"/>
          <c:showSerName val="0"/>
          <c:showPercent val="0"/>
          <c:showBubbleSize val="0"/>
        </c:dLbls>
        <c:gapWidth val="80"/>
        <c:overlap val="-1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5"/>
          <c:min val="0"/>
        </c:scaling>
        <c:delete val="0"/>
        <c:axPos val="l"/>
        <c:majorGridlines>
          <c:spPr>
            <a:ln w="9525">
              <a:solidFill>
                <a:srgbClr val="E1E8EE"/>
              </a:solidFill>
            </a:ln>
          </c:spPr>
        </c:majorGridlines>
        <c:numFmt formatCode="0&quot;×&quot;" sourceLinked="0"/>
        <c:majorTickMark val="none"/>
        <c:minorTickMark val="none"/>
        <c:tickLblPos val="nextTo"/>
        <c:spPr>
          <a:ln>
            <a:noFill/>
          </a:ln>
        </c:spPr>
        <c:txPr>
          <a:bodyPr/>
          <a:lstStyle/>
          <a:p>
            <a:pPr>
              <a:defRPr sz="1000"/>
            </a:pPr>
            <a:endParaRPr lang="it-IT"/>
          </a:p>
        </c:txPr>
        <c:crossAx val="-2068027336"/>
        <c:crosses val="autoZero"/>
        <c:crossBetween val="between"/>
        <c:majorUnit val="1"/>
      </c:valAx>
    </c:plotArea>
    <c:legend>
      <c:legendPos val="b"/>
      <c:overlay val="0"/>
      <c:txPr>
        <a:bodyPr/>
        <a:lstStyle/>
        <a:p>
          <a:pPr>
            <a:defRPr sz="1100"/>
          </a:pPr>
          <a:endParaRPr lang="it-IT"/>
        </a:p>
      </c:txPr>
    </c:legend>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Payoff</c:v>
                </c:pt>
              </c:strCache>
            </c:strRef>
          </c:tx>
          <c:spPr>
            <a:solidFill>
              <a:srgbClr val="21295C"/>
            </a:solidFill>
          </c:spPr>
          <c:invertIfNegative val="0"/>
          <c:dPt>
            <c:idx val="0"/>
            <c:invertIfNegative val="1"/>
            <c:bubble3D val="0"/>
            <c:extLst>
              <c:ext xmlns:c16="http://schemas.microsoft.com/office/drawing/2014/chart" uri="{C3380CC4-5D6E-409C-BE32-E72D297353CC}">
                <c16:uniqueId val="{00000001-1C7B-4633-90B1-A338B997B004}"/>
              </c:ext>
            </c:extLst>
          </c:dPt>
          <c:dPt>
            <c:idx val="1"/>
            <c:invertIfNegative val="1"/>
            <c:bubble3D val="0"/>
            <c:extLst>
              <c:ext xmlns:c16="http://schemas.microsoft.com/office/drawing/2014/chart" uri="{C3380CC4-5D6E-409C-BE32-E72D297353CC}">
                <c16:uniqueId val="{00000003-1C7B-4633-90B1-A338B997B004}"/>
              </c:ext>
            </c:extLst>
          </c:dPt>
          <c:dPt>
            <c:idx val="2"/>
            <c:invertIfNegative val="1"/>
            <c:bubble3D val="0"/>
            <c:extLst>
              <c:ext xmlns:c16="http://schemas.microsoft.com/office/drawing/2014/chart" uri="{C3380CC4-5D6E-409C-BE32-E72D297353CC}">
                <c16:uniqueId val="{00000005-1C7B-4633-90B1-A338B997B004}"/>
              </c:ext>
            </c:extLst>
          </c:dPt>
          <c:dPt>
            <c:idx val="3"/>
            <c:invertIfNegative val="1"/>
            <c:bubble3D val="0"/>
            <c:spPr>
              <a:solidFill>
                <a:srgbClr val="9DB0C2"/>
              </a:solidFill>
            </c:spPr>
            <c:extLst>
              <c:ext xmlns:c16="http://schemas.microsoft.com/office/drawing/2014/chart" uri="{C3380CC4-5D6E-409C-BE32-E72D297353CC}">
                <c16:uniqueId val="{00000007-1C7B-4633-90B1-A338B997B004}"/>
              </c:ext>
            </c:extLst>
          </c:dPt>
          <c:dPt>
            <c:idx val="4"/>
            <c:invertIfNegative val="1"/>
            <c:bubble3D val="0"/>
            <c:spPr>
              <a:solidFill>
                <a:srgbClr val="9DB0C2"/>
              </a:solidFill>
            </c:spPr>
            <c:extLst>
              <c:ext xmlns:c16="http://schemas.microsoft.com/office/drawing/2014/chart" uri="{C3380CC4-5D6E-409C-BE32-E72D297353CC}">
                <c16:uniqueId val="{00000009-1C7B-4633-90B1-A338B997B004}"/>
              </c:ext>
            </c:extLst>
          </c:dPt>
          <c:dPt>
            <c:idx val="5"/>
            <c:invertIfNegative val="1"/>
            <c:bubble3D val="0"/>
            <c:extLst>
              <c:ext xmlns:c16="http://schemas.microsoft.com/office/drawing/2014/chart" uri="{C3380CC4-5D6E-409C-BE32-E72D297353CC}">
                <c16:uniqueId val="{0000000B-1C7B-4633-90B1-A338B997B004}"/>
              </c:ext>
            </c:extLst>
          </c:dPt>
          <c:dPt>
            <c:idx val="6"/>
            <c:invertIfNegative val="1"/>
            <c:bubble3D val="0"/>
            <c:extLst>
              <c:ext xmlns:c16="http://schemas.microsoft.com/office/drawing/2014/chart" uri="{C3380CC4-5D6E-409C-BE32-E72D297353CC}">
                <c16:uniqueId val="{0000000D-1C7B-4633-90B1-A338B997B004}"/>
              </c:ext>
            </c:extLst>
          </c:dPt>
          <c:dPt>
            <c:idx val="7"/>
            <c:invertIfNegative val="1"/>
            <c:bubble3D val="0"/>
            <c:spPr>
              <a:solidFill>
                <a:srgbClr val="9DB0C2"/>
              </a:solidFill>
            </c:spPr>
            <c:extLst>
              <c:ext xmlns:c16="http://schemas.microsoft.com/office/drawing/2014/chart" uri="{C3380CC4-5D6E-409C-BE32-E72D297353CC}">
                <c16:uniqueId val="{0000000F-1C7B-4633-90B1-A338B997B004}"/>
              </c:ext>
            </c:extLst>
          </c:dPt>
          <c:dPt>
            <c:idx val="8"/>
            <c:invertIfNegative val="1"/>
            <c:bubble3D val="0"/>
            <c:extLst>
              <c:ext xmlns:c16="http://schemas.microsoft.com/office/drawing/2014/chart" uri="{C3380CC4-5D6E-409C-BE32-E72D297353CC}">
                <c16:uniqueId val="{00000011-1C7B-4633-90B1-A338B997B004}"/>
              </c:ext>
            </c:extLst>
          </c:dPt>
          <c:dPt>
            <c:idx val="9"/>
            <c:invertIfNegative val="1"/>
            <c:bubble3D val="0"/>
            <c:extLst>
              <c:ext xmlns:c16="http://schemas.microsoft.com/office/drawing/2014/chart" uri="{C3380CC4-5D6E-409C-BE32-E72D297353CC}">
                <c16:uniqueId val="{00000013-1C7B-4633-90B1-A338B997B004}"/>
              </c:ext>
            </c:extLst>
          </c:dPt>
          <c:dLbls>
            <c:numFmt formatCode="\+0.0;\−0.0"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Sheet1!$B$2:$B$11</c:f>
              <c:numCache>
                <c:formatCode>General</c:formatCode>
                <c:ptCount val="10"/>
                <c:pt idx="0">
                  <c:v>8.48</c:v>
                </c:pt>
                <c:pt idx="1">
                  <c:v>0.09</c:v>
                </c:pt>
                <c:pt idx="2">
                  <c:v>16.03</c:v>
                </c:pt>
                <c:pt idx="3">
                  <c:v>-6.98</c:v>
                </c:pt>
                <c:pt idx="4">
                  <c:v>-17.66</c:v>
                </c:pt>
                <c:pt idx="5">
                  <c:v>3.6</c:v>
                </c:pt>
                <c:pt idx="6">
                  <c:v>5.82</c:v>
                </c:pt>
                <c:pt idx="7">
                  <c:v>-11.35</c:v>
                </c:pt>
                <c:pt idx="8">
                  <c:v>6.56</c:v>
                </c:pt>
                <c:pt idx="9">
                  <c:v>18.850000000000001</c:v>
                </c:pt>
              </c:numCache>
            </c:numRef>
          </c:val>
          <c:extLst>
            <c:ext xmlns:c16="http://schemas.microsoft.com/office/drawing/2014/chart" uri="{C3380CC4-5D6E-409C-BE32-E72D297353CC}">
              <c16:uniqueId val="{00000014-1C7B-4633-90B1-A338B997B004}"/>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30"/>
          <c:min val="-20"/>
        </c:scaling>
        <c:delete val="0"/>
        <c:axPos val="l"/>
        <c:majorGridlines>
          <c:spPr>
            <a:ln w="9525">
              <a:solidFill>
                <a:srgbClr val="E1E8EE"/>
              </a:solidFill>
            </a:ln>
          </c:spPr>
        </c:majorGridlines>
        <c:numFmt formatCode="\+0;\−0;0" sourceLinked="0"/>
        <c:majorTickMark val="none"/>
        <c:minorTickMark val="none"/>
        <c:tickLblPos val="nextTo"/>
        <c:spPr>
          <a:ln>
            <a:noFill/>
          </a:ln>
        </c:spPr>
        <c:txPr>
          <a:bodyPr/>
          <a:lstStyle/>
          <a:p>
            <a:pPr>
              <a:defRPr sz="1000"/>
            </a:pPr>
            <a:endParaRPr lang="it-IT"/>
          </a:p>
        </c:txPr>
        <c:crossAx val="-2068027336"/>
        <c:crosses val="autoZero"/>
        <c:crossBetween val="between"/>
        <c:majorUnit val="10"/>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755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Good </a:t>
            </a:r>
            <a:r>
              <a:rPr lang="it-IT" dirty="0" err="1"/>
              <a:t>morning</a:t>
            </a:r>
            <a:r>
              <a:rPr lang="it-IT" dirty="0"/>
              <a:t> </a:t>
            </a:r>
            <a:r>
              <a:rPr lang="it-IT" dirty="0" err="1"/>
              <a:t>members</a:t>
            </a:r>
            <a:r>
              <a:rPr lang="it-IT" dirty="0"/>
              <a:t> of the Committee. The </a:t>
            </a:r>
            <a:r>
              <a:rPr lang="it-IT" dirty="0" err="1"/>
              <a:t>thesis</a:t>
            </a:r>
            <a:r>
              <a:rPr lang="it-IT" dirty="0"/>
              <a:t> I </a:t>
            </a:r>
            <a:r>
              <a:rPr lang="it-IT" dirty="0" err="1"/>
              <a:t>present</a:t>
            </a:r>
            <a:r>
              <a:rPr lang="it-IT" dirty="0"/>
              <a:t> </a:t>
            </a:r>
            <a:r>
              <a:rPr lang="it-IT" dirty="0" err="1"/>
              <a:t>today</a:t>
            </a:r>
            <a:r>
              <a:rPr lang="it-IT" dirty="0"/>
              <a:t>, </a:t>
            </a:r>
            <a:r>
              <a:rPr lang="it-IT" dirty="0" err="1"/>
              <a:t>entitled</a:t>
            </a:r>
            <a:r>
              <a:rPr lang="it-IT" dirty="0"/>
              <a:t> </a:t>
            </a:r>
            <a:r>
              <a:rPr lang="it-IT" i="1" dirty="0"/>
              <a:t>Wind Speed </a:t>
            </a:r>
            <a:r>
              <a:rPr lang="it-IT" i="1" dirty="0" err="1"/>
              <a:t>Modelling</a:t>
            </a:r>
            <a:r>
              <a:rPr lang="it-IT" i="1" dirty="0"/>
              <a:t> for </a:t>
            </a:r>
            <a:r>
              <a:rPr lang="it-IT" i="1" dirty="0" err="1"/>
              <a:t>Derivatives</a:t>
            </a:r>
            <a:r>
              <a:rPr lang="it-IT" i="1" dirty="0"/>
              <a:t> Pricing</a:t>
            </a:r>
            <a:r>
              <a:rPr lang="it-IT" dirty="0"/>
              <a:t>, </a:t>
            </a:r>
            <a:r>
              <a:rPr lang="it-IT" dirty="0" err="1"/>
              <a:t>belongs</a:t>
            </a:r>
            <a:r>
              <a:rPr lang="it-IT" dirty="0"/>
              <a:t> to the </a:t>
            </a:r>
            <a:r>
              <a:rPr lang="it-IT" dirty="0" err="1"/>
              <a:t>context</a:t>
            </a:r>
            <a:r>
              <a:rPr lang="it-IT" dirty="0"/>
              <a:t> of the energy </a:t>
            </a:r>
            <a:r>
              <a:rPr lang="it-IT" dirty="0" err="1"/>
              <a:t>transition</a:t>
            </a:r>
            <a:r>
              <a:rPr lang="it-IT" dirty="0"/>
              <a:t>. </a:t>
            </a:r>
            <a:r>
              <a:rPr lang="it-IT" dirty="0" err="1"/>
              <a:t>It</a:t>
            </a:r>
            <a:r>
              <a:rPr lang="it-IT" dirty="0"/>
              <a:t> </a:t>
            </a:r>
            <a:r>
              <a:rPr lang="it-IT" dirty="0" err="1"/>
              <a:t>addresses</a:t>
            </a:r>
            <a:r>
              <a:rPr lang="it-IT" dirty="0"/>
              <a:t> a </a:t>
            </a:r>
            <a:r>
              <a:rPr lang="it-IT" dirty="0" err="1"/>
              <a:t>central</a:t>
            </a:r>
            <a:r>
              <a:rPr lang="it-IT" dirty="0"/>
              <a:t> </a:t>
            </a:r>
            <a:r>
              <a:rPr lang="it-IT" dirty="0" err="1"/>
              <a:t>problem</a:t>
            </a:r>
            <a:r>
              <a:rPr lang="it-IT" dirty="0"/>
              <a:t> in the risk management of </a:t>
            </a:r>
            <a:r>
              <a:rPr lang="it-IT" dirty="0" err="1"/>
              <a:t>renewable</a:t>
            </a:r>
            <a:r>
              <a:rPr lang="it-IT" dirty="0"/>
              <a:t> producers: </a:t>
            </a:r>
            <a:r>
              <a:rPr lang="it-IT" dirty="0" err="1"/>
              <a:t>how</a:t>
            </a:r>
            <a:r>
              <a:rPr lang="it-IT" dirty="0"/>
              <a:t> to price hedging </a:t>
            </a:r>
            <a:r>
              <a:rPr lang="it-IT" dirty="0" err="1"/>
              <a:t>instruments</a:t>
            </a:r>
            <a:r>
              <a:rPr lang="it-IT" dirty="0"/>
              <a:t> </a:t>
            </a:r>
            <a:r>
              <a:rPr lang="it-IT" dirty="0" err="1"/>
              <a:t>written</a:t>
            </a:r>
            <a:r>
              <a:rPr lang="it-IT" dirty="0"/>
              <a:t> on an </a:t>
            </a:r>
            <a:r>
              <a:rPr lang="it-IT" dirty="0" err="1"/>
              <a:t>underlying</a:t>
            </a:r>
            <a:r>
              <a:rPr lang="it-IT" dirty="0"/>
              <a:t> </a:t>
            </a:r>
            <a:r>
              <a:rPr lang="it-IT" dirty="0" err="1"/>
              <a:t>that</a:t>
            </a:r>
            <a:r>
              <a:rPr lang="it-IT" dirty="0"/>
              <a:t> </a:t>
            </a:r>
            <a:r>
              <a:rPr lang="it-IT" dirty="0" err="1"/>
              <a:t>cannot</a:t>
            </a:r>
            <a:r>
              <a:rPr lang="it-IT" dirty="0"/>
              <a:t> be </a:t>
            </a:r>
            <a:r>
              <a:rPr lang="it-IT" dirty="0" err="1"/>
              <a:t>traded</a:t>
            </a:r>
            <a:r>
              <a:rPr lang="it-IT" dirty="0"/>
              <a:t>, </a:t>
            </a:r>
            <a:r>
              <a:rPr lang="it-IT" dirty="0" err="1"/>
              <a:t>namely</a:t>
            </a:r>
            <a:r>
              <a:rPr lang="it-IT" dirty="0"/>
              <a:t> the wind.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start with the producer.</a:t>
            </a:r>
          </a:p>
          <a:p/>
          <a:p>
            <a:r>
              <a:t>A wind farm is exposed on two legs. The first is volumetric: prolonged calms cut generation directly, and because wind is autocorrelated, they are not diversified away. The second is price: through the merit-order effect, strong wind depresses the day-ahead price exactly when the producer generates most. </a:t>
            </a:r>
          </a:p>
          <a:p>
            <a:r>
              <a:t>This negative correlation dampens revenue variance, but it is weak, minus 0.16 over 2015 to 2024, and asymmetric: it cuts the upside without a floor under a prolonged calm. As an order of magnitude, a 100-megawatt farm at a 25.7 per cent capacity factor generates about 225,000 megawatt-hours a year, roughly 16 million euros of gross revenue at the mean price.</a:t>
            </a:r>
          </a:p>
          <a:p/>
          <a:p>
            <a:r>
              <a:t>So the producer needs a contract written on the wind itself. That is what this thesis builds and prices.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thesis answers three research questions:</a:t>
            </a:r>
          </a:p>
          <a:p/>
          <a:p>
            <a:r>
              <a:t>One: price. Can a continuous-time wind model deliver a closed-form fair strike for a synthetic variance swap?</a:t>
            </a:r>
          </a:p>
          <a:p/>
          <a:p>
            <a:r>
              <a:t>Two: hedge. How can we cover the left tail, the prolonged calms to which a variance swap is blind, with a CAWS contract?</a:t>
            </a:r>
          </a:p>
          <a:p/>
          <a:p>
            <a:r>
              <a:t>Three: data. What is the value of information, that is, the pricing cost of calibrating the same model on an imperfect proxy rather than on data aligned in height and geography?</a:t>
            </a:r>
          </a:p>
          <a:p/>
          <a:p>
            <a:r>
              <a:t>One assumption holds throughout. θ = 0 is adopted as a benchmark assumption, in the absence of EEX option-implied data. There is no option market to estimate a risk premium from, so every price I show is an expected value.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study rests on two datasets processed by one identical pipeline. </a:t>
            </a:r>
          </a:p>
          <a:p/>
          <a:p>
            <a:r>
              <a:t>Dataset A is a proxy: wind speed for Bologna, four years of daily observations measured at 10 metres. It is where the methodology was built and validated.</a:t>
            </a:r>
          </a:p>
          <a:p/>
          <a:p>
            <a:r>
              <a:t>Dataset B is the reference: wind in northern Germany, ten years of daily observations measured at 100 metres, the height of a turbine. I chose Nordfriesland because it is Germany's densest onshore wind corridor.</a:t>
            </a:r>
          </a:p>
          <a:p/>
          <a:p>
            <a:r>
              <a:t>Because the functional form is identical, any difference in the resulting price is attributable to the data.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modelling proceeds in five stages. </a:t>
            </a:r>
          </a:p>
          <a:p>
            <a:r>
              <a:t>First, a Box–Cox transformation and a Fourier decomposition remove seasonality in the mean and the variance. This stage delivers the standardised series and the seasonal variance level C₀. </a:t>
            </a:r>
          </a:p>
          <a:p/>
          <a:p>
            <a:r>
              <a:t>Second an AR(4) models the conditional mean and improves on persistence, capturing memory: a windy day tends to follow a windy day.</a:t>
            </a:r>
          </a:p>
          <a:p/>
          <a:p>
            <a:r>
              <a:t>Third, a GARCH(1,1) models the conditional variance and delivers the volatility state at the pricing date, h(t₀). </a:t>
            </a:r>
          </a:p>
          <a:p/>
          <a:p>
            <a:r>
              <a:t>Fourth, the CAR(4) embedding moves the model to continuous time, so that a contract can be priced at any maturity. </a:t>
            </a:r>
          </a:p>
          <a:p/>
          <a:p>
            <a:r>
              <a:t>Fifth, Heston–CIR stochastic volatility is purely theoretical: daily data cannot identify its parameters, so it does not enter the price. </a:t>
            </a:r>
          </a:p>
          <a:p/>
          <a:p>
            <a:r>
              <a:t>The whole pricing structure therefore reduces to two numbers. Under a piecewise-constant h, following Tol (1997), and the θ = 0 benchmark, the fair strike is h(t₀) times C₀, because the Fourier harmonics integrate to zero over a year: 0.054 for Bologna, 0.873 for Nordfriesland.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one: price.</a:t>
            </a:r>
          </a:p>
          <a:p>
            <a:endParaRPr dirty="0"/>
          </a:p>
          <a:p>
            <a:r>
              <a:rPr dirty="0"/>
              <a:t>The contract is a variance swap on German wind generation. It pays the </a:t>
            </a:r>
            <a:r>
              <a:rPr dirty="0" err="1"/>
              <a:t>realised</a:t>
            </a:r>
            <a:r>
              <a:rPr dirty="0"/>
              <a:t> variability of wind output, minus a fixed strike. The producer sells it: it receives a fixed amount, and pays when output is unstable.</a:t>
            </a:r>
          </a:p>
          <a:p>
            <a:endParaRPr dirty="0"/>
          </a:p>
          <a:p>
            <a:r>
              <a:rPr dirty="0"/>
              <a:t>The market benchmark is simple: the </a:t>
            </a:r>
            <a:r>
              <a:rPr dirty="0" err="1"/>
              <a:t>realised</a:t>
            </a:r>
            <a:r>
              <a:rPr dirty="0"/>
              <a:t> variance of German wind generation over ten years</a:t>
            </a:r>
            <a:r>
              <a:rPr lang="it-IT" dirty="0"/>
              <a:t> </a:t>
            </a:r>
            <a:r>
              <a:rPr lang="it-IT" dirty="0" err="1"/>
              <a:t>it’s</a:t>
            </a:r>
            <a:r>
              <a:rPr lang="it-IT" dirty="0"/>
              <a:t> </a:t>
            </a:r>
            <a:r>
              <a:rPr dirty="0"/>
              <a:t>113</a:t>
            </a:r>
            <a:r>
              <a:rPr lang="it-IT" dirty="0"/>
              <a:t>.1.</a:t>
            </a:r>
            <a:endParaRPr dirty="0"/>
          </a:p>
          <a:p>
            <a:endParaRPr dirty="0"/>
          </a:p>
          <a:p>
            <a:r>
              <a:rPr dirty="0"/>
              <a:t>The model gives </a:t>
            </a:r>
            <a:r>
              <a:rPr lang="it-IT" dirty="0"/>
              <a:t>328.8,</a:t>
            </a:r>
            <a:r>
              <a:rPr dirty="0"/>
              <a:t> once its number is converted into the same units. So the two are in the same range. The model is higher, and we expect that: I model one location, while German output comes from thousands of turbines across the country. Averaging over many places makes output smoother.</a:t>
            </a:r>
          </a:p>
          <a:p>
            <a:endParaRPr dirty="0"/>
          </a:p>
          <a:p>
            <a:r>
              <a:rPr dirty="0"/>
              <a:t>So the answer to question one is yes: the model gives a closed-form price, and it lands in the right range.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two: hedge.</a:t>
            </a:r>
          </a:p>
          <a:p/>
          <a:p>
            <a:r>
              <a:t>A variance swap has a blind spot. It measures how much the wind changes, not whether there is enough of it. A long calm period looks stable, so the swap does not pay.</a:t>
            </a:r>
          </a:p>
          <a:p>
            <a:r>
              <a:t>We therefore introduce CAWS, in normalised rolling-annual-mean form, struck at the full-sample mean. The payoff is the strike minus the realised index, so it is positive in calm years.</a:t>
            </a:r>
          </a:p>
          <a:p/>
          <a:p>
            <a:r>
              <a:t>The chart shows ten years at the German site. Look at 2021, in orange: the calmest year, with wind about 5 per cent below normal. Power grows with the cube of wind speed, so a small drop in wind is a large drop in output. For a 100-megawatt farm, that deficit means roughly 14 per cent less generation: about 32,000 megawatt-hours, or some 2.3 million euros of gross revenue on the illustrative farm. This is the revenue at risk, not the contract payout.</a:t>
            </a:r>
          </a:p>
          <a:p/>
          <a:p>
            <a:r>
              <a:t>So the answer to question two is yes: CAWS pays in exactly the years the producer needs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three: </a:t>
            </a:r>
            <a:r>
              <a:rPr lang="it-IT" dirty="0" err="1"/>
              <a:t>value</a:t>
            </a:r>
            <a:r>
              <a:rPr lang="it-IT" dirty="0"/>
              <a:t> of information</a:t>
            </a:r>
            <a:r>
              <a:rPr dirty="0"/>
              <a:t>. </a:t>
            </a:r>
            <a:endParaRPr lang="it-IT" dirty="0"/>
          </a:p>
          <a:p>
            <a:endParaRPr dirty="0"/>
          </a:p>
          <a:p>
            <a:r>
              <a:rPr dirty="0"/>
              <a:t>I run the same model on the Bologna data instead of the German data. The price comes out 94 per cent too low. Same model, same assumptions; only the data changed.</a:t>
            </a:r>
          </a:p>
          <a:p>
            <a:endParaRPr dirty="0"/>
          </a:p>
          <a:p>
            <a:r>
              <a:rPr dirty="0"/>
              <a:t>The obvious objection is height. Bologna is measured at 10 </a:t>
            </a:r>
            <a:r>
              <a:rPr dirty="0" err="1"/>
              <a:t>metres</a:t>
            </a:r>
            <a:r>
              <a:rPr dirty="0"/>
              <a:t>, where wind is weaker. So I correct it to 100 </a:t>
            </a:r>
            <a:r>
              <a:rPr dirty="0" err="1"/>
              <a:t>metres</a:t>
            </a:r>
            <a:r>
              <a:rPr dirty="0"/>
              <a:t> with the standard formula. The gap barely moves: the price is still 88 per cent too low. And this holds for any realistic type of terrain.</a:t>
            </a:r>
          </a:p>
          <a:p>
            <a:endParaRPr dirty="0"/>
          </a:p>
          <a:p>
            <a:r>
              <a:rPr dirty="0"/>
              <a:t>So height is not the reason. What 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answer is this test. I compare each wind series with actual German wind generation, day by day.</a:t>
            </a:r>
          </a:p>
          <a:p/>
          <a:p>
            <a:r>
              <a:t>On the right, the German site: its wind explains almost 60 per cent of German generation. On the left, Bologna: it explains practically nothing. The line is flat.</a:t>
            </a:r>
          </a:p>
          <a:p/>
          <a:p>
            <a:r>
              <a:t>So the Bologna data is not just a little wrong. It has no link with the cash flow we want to hedge.</a:t>
            </a:r>
          </a:p>
          <a:p/>
          <a:p>
            <a:r>
              <a:t>And here is the danger. Converted into market units, the Bologna price looks reasonable. A quick check on the level would accept it. A wrong number that looks plausible is worse than one that is obviously wrong.</a:t>
            </a:r>
          </a:p>
          <a:p/>
          <a:p>
            <a:r>
              <a:t>The good news: this test takes one regression, and it should be done before any pricing.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 up, the three answers.</a:t>
            </a:r>
          </a:p>
          <a:p>
            <a:endParaRPr/>
          </a:p>
          <a:p>
            <a:r>
              <a:t>Price: yes. A wind model gives a closed-form price, in the market's range.</a:t>
            </a:r>
          </a:p>
          <a:p>
            <a:endParaRPr/>
          </a:p>
          <a:p>
            <a:r>
              <a:t>Hedge: yes. CAWS covers the calm years that a variance swap cannot see.</a:t>
            </a:r>
          </a:p>
          <a:p>
            <a:endParaRPr/>
          </a:p>
          <a:p>
            <a:r>
              <a:t>Data: this is the key message. With the wrong data, the price is 94 per cent too low, and the model gives no warning. A simple test catches it.</a:t>
            </a:r>
          </a:p>
          <a:p>
            <a:endParaRPr/>
          </a:p>
          <a:p>
            <a:r>
              <a:t>In one sentence: data alignment is not a detail to fix at the end. It is a precondition for the model to mean anything.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Finally, the main limits, and what they suggest.</a:t>
            </a:r>
          </a:p>
          <a:p/>
          <a:p>
            <a:r>
              <a:t>First, θ = 0 is a benchmark assumption. With EEX option data, the next step is to estimate the risk premium.</a:t>
            </a:r>
          </a:p>
          <a:p/>
          <a:p>
            <a:r>
              <a:t>Second, the two datasets sit on different Box–Cox scales and pricing dates, so the cross-site comparison is not scale-free.</a:t>
            </a:r>
          </a:p>
          <a:p/>
          <a:p>
            <a:r>
              <a:t>Third, one location stands in for a whole country. Fleet-wide, hourly wind data would improve the fit.</a:t>
            </a:r>
          </a:p>
          <a:p/>
          <a:p>
            <a:r>
              <a:t>Fourth, the samples are short, so some results are descriptive.</a:t>
            </a:r>
          </a:p>
          <a:p/>
          <a:p>
            <a:r>
              <a:t>And one practical rule: test the wind data against generation before pricing anything.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Thank you for your attention. I am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most uncomfortable, and most interesting, result, and it is stated rather than smoothed over. The Feller condition asks whether the CIR variance process stays strictly positive almost surely. For Dataset B it holds comfortably, at a margin of 28.1 times, on every estimator considered. For Dataset A, the full-sample estimator — the same one used for B — gives a margin of only 0.8, meaning the condition is violated; but 30-day rolling estimators give margins of 3.6 to 5.1, meaning it holds. The verdict flips depending on which estimator you trust. That sensitivity is itself the finding: xi, the volatility-of-volatility parameter, is the least identified of the four CIR parameters at daily sampling frequency. It also means an earlier project record of a 27.9-times margin is not reproducible under any estimator tested and needed correcting.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All four fitted specifications share the AR(4) conditional mean, so they are identical on one-step RMSE by construction and separable only on pricing and hedging criteria (or a proper scoring rule such as CRPS). All beat persistence decisively.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AR(4) kept over the AIC-preferred AR(3) (gaps 0.59 and 1.8 units, inside the 2-point band) because the CAR(4) embedding needs a 4-dimensional companion matrix. All eigenvalues in the open left half-plane: stationary. The complex pair makes the kernel peak at about 3.6 days in both datasets, breaking the monotone Samuelson effect (Benth &amp; Saltyte Benth 2009). NIG buys little: KS p 0.079 to 0.120 for A, none for B (alpha about 2,650). Dataset B's GARCH leaves short-lag structure (z^2 lag 5 p = 0.0167, ARCH-LM p = 0.0185): a GARCH(2,1) or two-component model would be the remedy; pricing uses only h(t0) and the unconditional level.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t>Decomposing</a:t>
            </a:r>
            <a:r>
              <a:rPr lang="it-IT" dirty="0"/>
              <a:t> the ratio of 16.07, </a:t>
            </a:r>
            <a:r>
              <a:rPr lang="it-IT" dirty="0" err="1"/>
              <a:t>we</a:t>
            </a:r>
            <a:r>
              <a:rPr lang="it-IT" dirty="0"/>
              <a:t> </a:t>
            </a:r>
            <a:r>
              <a:rPr lang="it-IT" dirty="0" err="1"/>
              <a:t>find</a:t>
            </a:r>
            <a:r>
              <a:rPr lang="it-IT" dirty="0"/>
              <a:t> 8.85 from the </a:t>
            </a:r>
            <a:r>
              <a:rPr lang="it-IT" dirty="0" err="1"/>
              <a:t>seasonal</a:t>
            </a:r>
            <a:r>
              <a:rPr lang="it-IT" dirty="0"/>
              <a:t> </a:t>
            </a:r>
            <a:r>
              <a:rPr lang="it-IT" dirty="0" err="1"/>
              <a:t>variance</a:t>
            </a:r>
            <a:r>
              <a:rPr lang="it-IT" dirty="0"/>
              <a:t> </a:t>
            </a:r>
            <a:r>
              <a:rPr lang="it-IT" dirty="0" err="1"/>
              <a:t>level</a:t>
            </a:r>
            <a:r>
              <a:rPr lang="it-IT" dirty="0"/>
              <a:t> C₀ and 1.82 from the GARCH state h(t₀): </a:t>
            </a:r>
            <a:r>
              <a:rPr lang="it-IT" dirty="0" err="1"/>
              <a:t>about</a:t>
            </a:r>
            <a:r>
              <a:rPr lang="it-IT" dirty="0"/>
              <a:t> </a:t>
            </a:r>
            <a:r>
              <a:rPr lang="it-IT" dirty="0" err="1"/>
              <a:t>four-fifths</a:t>
            </a:r>
            <a:r>
              <a:rPr lang="it-IT" dirty="0"/>
              <a:t> of the gap, on a </a:t>
            </a:r>
            <a:r>
              <a:rPr lang="it-IT" dirty="0" err="1"/>
              <a:t>logarithmic</a:t>
            </a:r>
            <a:r>
              <a:rPr lang="it-IT" dirty="0"/>
              <a:t> scale, </a:t>
            </a:r>
            <a:r>
              <a:rPr lang="it-IT" dirty="0" err="1"/>
              <a:t>sits</a:t>
            </a:r>
            <a:r>
              <a:rPr lang="it-IT" dirty="0"/>
              <a:t> in C₀. Two </a:t>
            </a:r>
            <a:r>
              <a:rPr lang="it-IT" dirty="0" err="1"/>
              <a:t>qualifications</a:t>
            </a:r>
            <a:r>
              <a:rPr lang="it-IT" dirty="0"/>
              <a:t> are </a:t>
            </a:r>
            <a:r>
              <a:rPr lang="it-IT" dirty="0" err="1"/>
              <a:t>needed</a:t>
            </a:r>
            <a:r>
              <a:rPr lang="it-IT" dirty="0"/>
              <a:t>. First, C₀ </a:t>
            </a:r>
            <a:r>
              <a:rPr lang="it-IT" dirty="0" err="1"/>
              <a:t>is</a:t>
            </a:r>
            <a:r>
              <a:rPr lang="it-IT" dirty="0"/>
              <a:t> a </a:t>
            </a:r>
            <a:r>
              <a:rPr lang="it-IT" dirty="0" err="1"/>
              <a:t>variance</a:t>
            </a:r>
            <a:r>
              <a:rPr lang="it-IT" dirty="0"/>
              <a:t> in Box–Cox </a:t>
            </a:r>
            <a:r>
              <a:rPr lang="it-IT" dirty="0" err="1"/>
              <a:t>units</a:t>
            </a:r>
            <a:r>
              <a:rPr lang="it-IT" dirty="0"/>
              <a:t>, with lambda 0.1 for Bologna and 0.5 for </a:t>
            </a:r>
            <a:r>
              <a:rPr lang="it-IT" dirty="0" err="1"/>
              <a:t>Nordfriesland</a:t>
            </a:r>
            <a:r>
              <a:rPr lang="it-IT" dirty="0"/>
              <a:t>, so the </a:t>
            </a:r>
            <a:r>
              <a:rPr lang="it-IT" dirty="0" err="1"/>
              <a:t>two</a:t>
            </a:r>
            <a:r>
              <a:rPr lang="it-IT" dirty="0"/>
              <a:t> strikes are </a:t>
            </a:r>
            <a:r>
              <a:rPr lang="it-IT" dirty="0" err="1"/>
              <a:t>not</a:t>
            </a:r>
            <a:r>
              <a:rPr lang="it-IT" dirty="0"/>
              <a:t> </a:t>
            </a:r>
            <a:r>
              <a:rPr lang="it-IT" dirty="0" err="1"/>
              <a:t>strictly</a:t>
            </a:r>
            <a:r>
              <a:rPr lang="it-IT" dirty="0"/>
              <a:t> the </a:t>
            </a:r>
            <a:r>
              <a:rPr lang="it-IT" dirty="0" err="1"/>
              <a:t>same</a:t>
            </a:r>
            <a:r>
              <a:rPr lang="it-IT" dirty="0"/>
              <a:t> </a:t>
            </a:r>
            <a:r>
              <a:rPr lang="it-IT" dirty="0" err="1"/>
              <a:t>kind</a:t>
            </a:r>
            <a:r>
              <a:rPr lang="it-IT" dirty="0"/>
              <a:t> of </a:t>
            </a:r>
            <a:r>
              <a:rPr lang="it-IT" dirty="0" err="1"/>
              <a:t>quantity</a:t>
            </a:r>
            <a:r>
              <a:rPr lang="it-IT" dirty="0"/>
              <a:t>. Second, the 1.82 </a:t>
            </a:r>
            <a:r>
              <a:rPr lang="it-IT" dirty="0" err="1"/>
              <a:t>compares</a:t>
            </a:r>
            <a:r>
              <a:rPr lang="it-IT" dirty="0"/>
              <a:t> </a:t>
            </a:r>
            <a:r>
              <a:rPr lang="it-IT" dirty="0" err="1"/>
              <a:t>two</a:t>
            </a:r>
            <a:r>
              <a:rPr lang="it-IT" dirty="0"/>
              <a:t> pricing </a:t>
            </a:r>
            <a:r>
              <a:rPr lang="it-IT" dirty="0" err="1"/>
              <a:t>dates</a:t>
            </a:r>
            <a:r>
              <a:rPr lang="it-IT" dirty="0"/>
              <a:t>, December 2018 and December 2024, </a:t>
            </a:r>
            <a:r>
              <a:rPr lang="it-IT" dirty="0" err="1"/>
              <a:t>rather</a:t>
            </a:r>
            <a:r>
              <a:rPr lang="it-IT" dirty="0"/>
              <a:t> </a:t>
            </a:r>
            <a:r>
              <a:rPr lang="it-IT" dirty="0" err="1"/>
              <a:t>than</a:t>
            </a:r>
            <a:r>
              <a:rPr lang="it-IT" dirty="0"/>
              <a:t> </a:t>
            </a:r>
            <a:r>
              <a:rPr lang="it-IT" dirty="0" err="1"/>
              <a:t>two</a:t>
            </a:r>
            <a:r>
              <a:rPr lang="it-IT" dirty="0"/>
              <a:t> </a:t>
            </a:r>
            <a:r>
              <a:rPr lang="it-IT" dirty="0" err="1"/>
              <a:t>sites</a:t>
            </a:r>
            <a:r>
              <a:rPr lang="it-IT" dirty="0"/>
              <a:t>. </a:t>
            </a:r>
            <a:r>
              <a:rPr lang="it-IT" dirty="0" err="1"/>
              <a:t>Mapped</a:t>
            </a:r>
            <a:r>
              <a:rPr lang="it-IT" dirty="0"/>
              <a:t> </a:t>
            </a:r>
            <a:r>
              <a:rPr lang="it-IT" dirty="0" err="1"/>
              <a:t>onto</a:t>
            </a:r>
            <a:r>
              <a:rPr lang="it-IT" dirty="0"/>
              <a:t> a common scale, the </a:t>
            </a:r>
            <a:r>
              <a:rPr lang="it-IT" dirty="0" err="1"/>
              <a:t>variance</a:t>
            </a:r>
            <a:r>
              <a:rPr lang="it-IT" dirty="0"/>
              <a:t> of generation log-</a:t>
            </a:r>
            <a:r>
              <a:rPr lang="it-IT" dirty="0" err="1"/>
              <a:t>returns</a:t>
            </a:r>
            <a:r>
              <a:rPr lang="it-IT" dirty="0"/>
              <a:t>, the ratio </a:t>
            </a:r>
            <a:r>
              <a:rPr lang="it-IT" dirty="0" err="1"/>
              <a:t>falls</a:t>
            </a:r>
            <a:r>
              <a:rPr lang="it-IT" dirty="0"/>
              <a:t> from 16 to </a:t>
            </a:r>
            <a:r>
              <a:rPr lang="it-IT" dirty="0" err="1"/>
              <a:t>about</a:t>
            </a:r>
            <a:r>
              <a:rPr lang="it-IT" dirty="0"/>
              <a:t> 2.5, and </a:t>
            </a:r>
            <a:r>
              <a:rPr lang="it-IT" dirty="0" err="1"/>
              <a:t>its</a:t>
            </a:r>
            <a:r>
              <a:rPr lang="it-IT" dirty="0"/>
              <a:t> </a:t>
            </a:r>
            <a:r>
              <a:rPr lang="it-IT" dirty="0" err="1"/>
              <a:t>climatological</a:t>
            </a:r>
            <a:r>
              <a:rPr lang="it-IT" dirty="0"/>
              <a:t> part to </a:t>
            </a:r>
            <a:r>
              <a:rPr lang="it-IT" dirty="0" err="1"/>
              <a:t>about</a:t>
            </a:r>
            <a:r>
              <a:rPr lang="it-IT" dirty="0"/>
              <a:t> 1.36. </a:t>
            </a:r>
            <a:r>
              <a:rPr lang="it-IT" dirty="0" err="1"/>
              <a:t>Consistently</a:t>
            </a:r>
            <a:r>
              <a:rPr lang="it-IT" dirty="0"/>
              <a:t>, the </a:t>
            </a:r>
            <a:r>
              <a:rPr lang="it-IT" dirty="0" err="1"/>
              <a:t>two</a:t>
            </a:r>
            <a:r>
              <a:rPr lang="it-IT" dirty="0"/>
              <a:t> </a:t>
            </a:r>
            <a:r>
              <a:rPr lang="it-IT" dirty="0" err="1"/>
              <a:t>sites</a:t>
            </a:r>
            <a:r>
              <a:rPr lang="it-IT" dirty="0"/>
              <a:t> </a:t>
            </a:r>
            <a:r>
              <a:rPr lang="it-IT" dirty="0" err="1"/>
              <a:t>have</a:t>
            </a:r>
            <a:r>
              <a:rPr lang="it-IT" dirty="0"/>
              <a:t> </a:t>
            </a:r>
            <a:r>
              <a:rPr lang="it-IT" dirty="0" err="1"/>
              <a:t>almost</a:t>
            </a:r>
            <a:r>
              <a:rPr lang="it-IT" dirty="0"/>
              <a:t> </a:t>
            </a:r>
            <a:r>
              <a:rPr lang="it-IT" dirty="0" err="1"/>
              <a:t>identical</a:t>
            </a:r>
            <a:r>
              <a:rPr lang="it-IT" dirty="0"/>
              <a:t> </a:t>
            </a:r>
            <a:r>
              <a:rPr lang="it-IT" dirty="0" err="1"/>
              <a:t>coefficients</a:t>
            </a:r>
            <a:r>
              <a:rPr lang="it-IT" dirty="0"/>
              <a:t> of </a:t>
            </a:r>
            <a:r>
              <a:rPr lang="it-IT" dirty="0" err="1"/>
              <a:t>variation</a:t>
            </a:r>
            <a:r>
              <a:rPr lang="it-IT" dirty="0"/>
              <a:t>: 0.384 for Bologna and 0.401 for </a:t>
            </a:r>
            <a:r>
              <a:rPr lang="it-IT" dirty="0" err="1"/>
              <a:t>Nordfriesland</a:t>
            </a:r>
            <a:r>
              <a:rPr lang="it-IT" dirty="0"/>
              <a:t>. </a:t>
            </a:r>
            <a:r>
              <a:rPr lang="it-IT" dirty="0" err="1"/>
              <a:t>Bologna’s</a:t>
            </a:r>
            <a:r>
              <a:rPr lang="it-IT" dirty="0"/>
              <a:t> </a:t>
            </a:r>
            <a:r>
              <a:rPr lang="it-IT" dirty="0" err="1"/>
              <a:t>problem</a:t>
            </a:r>
            <a:r>
              <a:rPr lang="it-IT" dirty="0"/>
              <a:t> </a:t>
            </a:r>
            <a:r>
              <a:rPr lang="it-IT" dirty="0" err="1"/>
              <a:t>is</a:t>
            </a:r>
            <a:r>
              <a:rPr lang="it-IT" dirty="0"/>
              <a:t> </a:t>
            </a:r>
            <a:r>
              <a:rPr lang="it-IT" dirty="0" err="1"/>
              <a:t>therefore</a:t>
            </a:r>
            <a:r>
              <a:rPr lang="it-IT" dirty="0"/>
              <a:t> </a:t>
            </a:r>
            <a:r>
              <a:rPr lang="it-IT" dirty="0" err="1"/>
              <a:t>not</a:t>
            </a:r>
            <a:r>
              <a:rPr lang="it-IT" dirty="0"/>
              <a:t> </a:t>
            </a:r>
            <a:r>
              <a:rPr lang="it-IT" dirty="0" err="1"/>
              <a:t>how</a:t>
            </a:r>
            <a:r>
              <a:rPr lang="it-IT" dirty="0"/>
              <a:t> </a:t>
            </a:r>
            <a:r>
              <a:rPr lang="it-IT" dirty="0" err="1"/>
              <a:t>variable</a:t>
            </a:r>
            <a:r>
              <a:rPr lang="it-IT" dirty="0"/>
              <a:t> </a:t>
            </a:r>
            <a:r>
              <a:rPr lang="it-IT" dirty="0" err="1"/>
              <a:t>its</a:t>
            </a:r>
            <a:r>
              <a:rPr lang="it-IT" dirty="0"/>
              <a:t> wind </a:t>
            </a:r>
            <a:r>
              <a:rPr lang="it-IT" dirty="0" err="1"/>
              <a:t>is</a:t>
            </a:r>
            <a:r>
              <a:rPr lang="it-IT" dirty="0"/>
              <a:t>, in relative </a:t>
            </a:r>
            <a:r>
              <a:rPr lang="it-IT" dirty="0" err="1"/>
              <a:t>terms</a:t>
            </a:r>
            <a:r>
              <a:rPr lang="it-IT" dirty="0"/>
              <a:t>. The headline </a:t>
            </a:r>
            <a:r>
              <a:rPr lang="it-IT" dirty="0" err="1"/>
              <a:t>figures</a:t>
            </a:r>
            <a:r>
              <a:rPr lang="it-IT" dirty="0"/>
              <a:t> </a:t>
            </a:r>
            <a:r>
              <a:rPr lang="it-IT" dirty="0" err="1"/>
              <a:t>describe</a:t>
            </a:r>
            <a:r>
              <a:rPr lang="it-IT" dirty="0"/>
              <a:t> </a:t>
            </a:r>
            <a:r>
              <a:rPr lang="it-IT" dirty="0" err="1"/>
              <a:t>what</a:t>
            </a:r>
            <a:r>
              <a:rPr lang="it-IT" dirty="0"/>
              <a:t> the </a:t>
            </a:r>
            <a:r>
              <a:rPr lang="it-IT" dirty="0" err="1"/>
              <a:t>two</a:t>
            </a:r>
            <a:r>
              <a:rPr lang="it-IT" dirty="0"/>
              <a:t> pipelines quote; </a:t>
            </a:r>
            <a:r>
              <a:rPr lang="it-IT" dirty="0" err="1"/>
              <a:t>they</a:t>
            </a:r>
            <a:r>
              <a:rPr lang="it-IT" dirty="0"/>
              <a:t> are </a:t>
            </a:r>
            <a:r>
              <a:rPr lang="it-IT" dirty="0" err="1"/>
              <a:t>not</a:t>
            </a:r>
            <a:r>
              <a:rPr lang="it-IT" dirty="0"/>
              <a:t> scale-free, and the </a:t>
            </a:r>
            <a:r>
              <a:rPr lang="it-IT" dirty="0" err="1"/>
              <a:t>evidence</a:t>
            </a:r>
            <a:r>
              <a:rPr lang="it-IT" dirty="0"/>
              <a:t> for </a:t>
            </a:r>
            <a:r>
              <a:rPr lang="it-IT" dirty="0" err="1"/>
              <a:t>alignment</a:t>
            </a:r>
            <a:r>
              <a:rPr lang="it-IT" dirty="0"/>
              <a:t> </a:t>
            </a:r>
            <a:r>
              <a:rPr lang="it-IT" dirty="0" err="1"/>
              <a:t>lies</a:t>
            </a:r>
            <a:r>
              <a:rPr lang="it-IT" dirty="0"/>
              <a:t> </a:t>
            </a:r>
            <a:r>
              <a:rPr lang="it-IT" dirty="0" err="1"/>
              <a:t>elsewhere</a:t>
            </a:r>
            <a:r>
              <a:rPr lang="it-IT"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Year-by-year payoff of a long swap struck at the Track A strike, 113.1. Mean payoff +2.34: the strike was close to fair. 5th-percentile year −14.8, about 13% of the strike. Annual realised variance ranged from 95.5 (2019) to 132.0 (2024).</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hart" Target="../charts/chart4.xml"/><Relationship Id="rId4" Type="http://schemas.openxmlformats.org/officeDocument/2006/relationships/chart" Target="../charts/char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lstStyle/>
          <a:p>
            <a:endParaRPr/>
          </a:p>
        </p:txBody>
      </p:sp>
      <p:sp>
        <p:nvSpPr>
          <p:cNvPr id="3" name="Shape 1"/>
          <p:cNvSpPr/>
          <p:nvPr/>
        </p:nvSpPr>
        <p:spPr>
          <a:xfrm>
            <a:off x="10634472" y="-640080"/>
            <a:ext cx="2743200" cy="2743200"/>
          </a:xfrm>
          <a:prstGeom prst="ellipse">
            <a:avLst/>
          </a:prstGeom>
          <a:solidFill>
            <a:srgbClr val="065A82">
              <a:alpha val="70000"/>
            </a:srgbClr>
          </a:solidFill>
          <a:ln/>
        </p:spPr>
        <p:txBody>
          <a:bodyPr/>
          <a:lstStyle/>
          <a:p>
            <a:endParaRPr/>
          </a:p>
        </p:txBody>
      </p:sp>
      <p:sp>
        <p:nvSpPr>
          <p:cNvPr id="4" name="Text 2"/>
          <p:cNvSpPr/>
          <p:nvPr/>
        </p:nvSpPr>
        <p:spPr>
          <a:xfrm>
            <a:off x="822960" y="1965960"/>
            <a:ext cx="9144000" cy="365760"/>
          </a:xfrm>
          <a:prstGeom prst="rect">
            <a:avLst/>
          </a:prstGeom>
          <a:noFill/>
          <a:ln/>
        </p:spPr>
        <p:txBody>
          <a:bodyPr wrap="square" lIns="0" tIns="0" rIns="0" bIns="0" rtlCol="0" anchor="ctr"/>
          <a:lstStyle/>
          <a:p>
            <a:pPr marL="0" indent="0" algn="l">
              <a:buNone/>
            </a:pPr>
            <a:r>
              <a:rPr lang="en-US" sz="1400" b="1" kern="0" spc="250" dirty="0">
                <a:solidFill>
                  <a:srgbClr val="E8A33D"/>
                </a:solidFill>
                <a:latin typeface="Calibri" pitchFamily="34" charset="0"/>
                <a:ea typeface="Calibri" pitchFamily="34" charset="-122"/>
                <a:cs typeface="Calibri" pitchFamily="34" charset="-120"/>
              </a:rPr>
              <a:t>MASTER'S THESIS · FINAL EXAMINATION</a:t>
            </a:r>
            <a:endParaRPr lang="en-US" sz="1400" dirty="0"/>
          </a:p>
        </p:txBody>
      </p:sp>
      <p:sp>
        <p:nvSpPr>
          <p:cNvPr id="5" name="Text 3"/>
          <p:cNvSpPr/>
          <p:nvPr/>
        </p:nvSpPr>
        <p:spPr>
          <a:xfrm>
            <a:off x="822960" y="2423160"/>
            <a:ext cx="10241280" cy="173736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a:ea typeface="Cambria"/>
                <a:cs typeface="Cambria"/>
              </a:rPr>
              <a:t>Wind Speed Modelling</a:t>
            </a:r>
          </a:p>
          <a:p>
            <a:pPr marL="0" indent="0" algn="l">
              <a:buNone/>
            </a:pPr>
            <a:r>
              <a:rPr lang="en-US" sz="3400" b="1" dirty="0">
                <a:solidFill>
                  <a:srgbClr val="FFFFFF"/>
                </a:solidFill>
                <a:latin typeface="Cambria"/>
                <a:ea typeface="Cambria"/>
                <a:cs typeface="Cambria"/>
              </a:rPr>
              <a:t>for Derivatives Pricing</a:t>
            </a:r>
          </a:p>
        </p:txBody>
      </p:sp>
      <p:sp>
        <p:nvSpPr>
          <p:cNvPr id="6" name="Text 4"/>
          <p:cNvSpPr/>
          <p:nvPr/>
        </p:nvSpPr>
        <p:spPr>
          <a:xfrm>
            <a:off x="822960" y="4343400"/>
            <a:ext cx="10058400" cy="365760"/>
          </a:xfrm>
          <a:prstGeom prst="rect">
            <a:avLst/>
          </a:prstGeom>
          <a:noFill/>
          <a:ln/>
        </p:spPr>
        <p:txBody>
          <a:bodyPr wrap="square" lIns="0" tIns="0" rIns="0" bIns="0" rtlCol="0" anchor="ctr"/>
          <a:lstStyle/>
          <a:p>
            <a:pPr marL="0" indent="0" algn="l">
              <a:buNone/>
            </a:pPr>
            <a:r>
              <a:rPr lang="en-US" sz="1500" b="0" i="1" dirty="0">
                <a:solidFill>
                  <a:srgbClr val="FFFFFF"/>
                </a:solidFill>
                <a:latin typeface="Calibri"/>
                <a:ea typeface="Calibri"/>
                <a:cs typeface="Calibri"/>
              </a:rPr>
              <a:t>Candidate: Enrico Butali</a:t>
            </a:r>
            <a:r>
              <a:rPr lang="en-US" sz="1500" b="0" i="1" dirty="0">
                <a:solidFill>
                  <a:srgbClr val="CADCFC"/>
                </a:solidFill>
                <a:latin typeface="Calibri"/>
                <a:ea typeface="Calibri"/>
                <a:cs typeface="Calibri"/>
              </a:rPr>
              <a:t>      Supervisor: Prof.ssa Silvia Romagnoli</a:t>
            </a:r>
          </a:p>
        </p:txBody>
      </p:sp>
      <p:sp>
        <p:nvSpPr>
          <p:cNvPr id="7" name="Text 5"/>
          <p:cNvSpPr/>
          <p:nvPr/>
        </p:nvSpPr>
        <p:spPr>
          <a:xfrm>
            <a:off x="822960" y="4800600"/>
            <a:ext cx="9144000" cy="640080"/>
          </a:xfrm>
          <a:prstGeom prst="rect">
            <a:avLst/>
          </a:prstGeom>
          <a:noFill/>
          <a:ln/>
        </p:spPr>
        <p:txBody>
          <a:bodyPr wrap="square" lIns="0" tIns="0" rIns="0" bIns="0" rtlCol="0" anchor="ctr"/>
          <a:lstStyle/>
          <a:p>
            <a:pPr marL="0" indent="0" algn="l">
              <a:lnSpc>
                <a:spcPct val="120000"/>
              </a:lnSpc>
              <a:buNone/>
            </a:pPr>
            <a:r>
              <a:rPr lang="en-US" sz="1250" dirty="0">
                <a:solidFill>
                  <a:srgbClr val="EEF3F7"/>
                </a:solidFill>
                <a:latin typeface="Calibri" pitchFamily="34" charset="0"/>
                <a:ea typeface="Calibri" pitchFamily="34" charset="-122"/>
                <a:cs typeface="Calibri" pitchFamily="34" charset="-120"/>
              </a:rPr>
              <a:t>Second Cycle Degree in Greening Energy Market and Finance (LM-16 R)</a:t>
            </a:r>
            <a:endParaRPr lang="en-US" sz="1250" dirty="0"/>
          </a:p>
          <a:p>
            <a:pPr marL="0" indent="0" algn="l">
              <a:lnSpc>
                <a:spcPct val="120000"/>
              </a:lnSpc>
              <a:buNone/>
            </a:pPr>
            <a:r>
              <a:rPr lang="en-US" sz="1250" dirty="0">
                <a:solidFill>
                  <a:srgbClr val="EEF3F7"/>
                </a:solidFill>
                <a:latin typeface="Calibri" pitchFamily="34" charset="0"/>
                <a:ea typeface="Calibri" pitchFamily="34" charset="-122"/>
                <a:cs typeface="Calibri" pitchFamily="34" charset="-120"/>
              </a:rPr>
              <a:t>Department of Statistical Sciences “Paolo Fortunati” · University of Bologna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Wind is free to generate — and impossible to store</a:t>
            </a:r>
            <a:endParaRPr lang="en-US" sz="3200" dirty="0"/>
          </a:p>
        </p:txBody>
      </p:sp>
      <p:sp>
        <p:nvSpPr>
          <p:cNvPr id="4" name="Shape 2"/>
          <p:cNvSpPr/>
          <p:nvPr/>
        </p:nvSpPr>
        <p:spPr>
          <a:xfrm>
            <a:off x="548640" y="1783080"/>
            <a:ext cx="6675120" cy="4297680"/>
          </a:xfrm>
          <a:prstGeom prst="roundRect">
            <a:avLst>
              <a:gd name="adj" fmla="val 1915"/>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11680"/>
            <a:ext cx="6080760" cy="3840480"/>
          </a:xfrm>
          <a:prstGeom prst="rect">
            <a:avLst/>
          </a:prstGeom>
          <a:noFill/>
          <a:ln/>
        </p:spPr>
        <p:txBody>
          <a:bodyPr wrap="square" lIns="0" tIns="0" rIns="0" bIns="0" rtlCol="0" anchor="ctr"/>
          <a:lstStyle/>
          <a:p>
            <a:pPr marL="0" indent="0" algn="l">
              <a:lnSpc>
                <a:spcPct val="118000"/>
              </a:lnSpc>
              <a:spcAft>
                <a:spcPts val="720"/>
              </a:spcAft>
              <a:buNone/>
            </a:pPr>
            <a:r>
              <a:rPr lang="en-US" sz="2000" b="1" dirty="0">
                <a:solidFill>
                  <a:srgbClr val="21295C"/>
                </a:solidFill>
                <a:ea typeface="Calibri" pitchFamily="34" charset="-122"/>
                <a:cs typeface="Calibri" pitchFamily="34" charset="-120"/>
              </a:rPr>
              <a:t>Two legs of exposure for a wind producer</a:t>
            </a:r>
            <a:endParaRPr lang="en-US" sz="2000" dirty="0"/>
          </a:p>
          <a:p>
            <a:pPr marL="0" indent="0" algn="l">
              <a:lnSpc>
                <a:spcPct val="118000"/>
              </a:lnSpc>
              <a:spcAft>
                <a:spcPts val="720"/>
              </a:spcAft>
              <a:buNone/>
            </a:pPr>
            <a:r>
              <a:rPr lang="en-US" dirty="0">
                <a:solidFill>
                  <a:srgbClr val="56606B"/>
                </a:solidFill>
                <a:ea typeface="Calibri" pitchFamily="34" charset="-122"/>
                <a:cs typeface="Calibri" pitchFamily="34" charset="-120"/>
              </a:rPr>
              <a:t>Volumetric — when the wind is weak, the farm produces less.</a:t>
            </a:r>
            <a:endParaRPr lang="en-US" dirty="0"/>
          </a:p>
          <a:p>
            <a:pPr marL="0" indent="0" algn="l">
              <a:lnSpc>
                <a:spcPct val="118000"/>
              </a:lnSpc>
              <a:spcAft>
                <a:spcPts val="720"/>
              </a:spcAft>
              <a:buNone/>
            </a:pPr>
            <a:r>
              <a:rPr lang="en-US" dirty="0">
                <a:solidFill>
                  <a:srgbClr val="56606B"/>
                </a:solidFill>
                <a:ea typeface="Calibri" pitchFamily="34" charset="-122"/>
                <a:cs typeface="Calibri" pitchFamily="34" charset="-120"/>
              </a:rPr>
              <a:t>Price — when it is very windy, all farms produce together and the price falls (merit order effect).</a:t>
            </a:r>
            <a:endParaRPr lang="en-US" dirty="0"/>
          </a:p>
          <a:p>
            <a:pPr marL="0" indent="0" algn="l">
              <a:lnSpc>
                <a:spcPct val="118000"/>
              </a:lnSpc>
              <a:spcAft>
                <a:spcPts val="720"/>
              </a:spcAft>
              <a:buNone/>
            </a:pPr>
            <a:r>
              <a:rPr lang="en-US" sz="2000" b="1" dirty="0">
                <a:solidFill>
                  <a:srgbClr val="21295C"/>
                </a:solidFill>
                <a:ea typeface="Calibri" pitchFamily="34" charset="-122"/>
                <a:cs typeface="Calibri" pitchFamily="34" charset="-120"/>
              </a:rPr>
              <a:t>The natural hedge is weak</a:t>
            </a:r>
            <a:endParaRPr lang="en-US" sz="2000" dirty="0"/>
          </a:p>
          <a:p>
            <a:pPr marL="0" indent="0" algn="l">
              <a:lnSpc>
                <a:spcPct val="118000"/>
              </a:lnSpc>
              <a:spcAft>
                <a:spcPts val="720"/>
              </a:spcAft>
              <a:buNone/>
            </a:pPr>
            <a:r>
              <a:rPr lang="en-US" dirty="0">
                <a:solidFill>
                  <a:srgbClr val="56606B"/>
                </a:solidFill>
                <a:latin typeface="Calibri" pitchFamily="34" charset="0"/>
                <a:ea typeface="Calibri" pitchFamily="34" charset="-122"/>
                <a:cs typeface="Calibri" pitchFamily="34" charset="-120"/>
              </a:rPr>
              <a:t>Output and price move against each other, but only slightly (correlation −0.16). In a calm year the producer simply loses revenue.</a:t>
            </a:r>
            <a:endParaRPr lang="en-US" dirty="0"/>
          </a:p>
        </p:txBody>
      </p:sp>
      <p:sp>
        <p:nvSpPr>
          <p:cNvPr id="6" name="Shape 4"/>
          <p:cNvSpPr/>
          <p:nvPr/>
        </p:nvSpPr>
        <p:spPr>
          <a:xfrm>
            <a:off x="7452360" y="1783080"/>
            <a:ext cx="4206240" cy="4297680"/>
          </a:xfrm>
          <a:prstGeom prst="roundRect">
            <a:avLst>
              <a:gd name="adj" fmla="val 1957"/>
            </a:avLst>
          </a:prstGeom>
          <a:solidFill>
            <a:srgbClr val="21295C"/>
          </a:solidFill>
          <a:ln/>
          <a:effectLst>
            <a:outerShdw blurRad="88900" dist="25400" dir="5400000" algn="bl" rotWithShape="0">
              <a:srgbClr val="1C1C1C">
                <a:alpha val="16000"/>
              </a:srgbClr>
            </a:outerShdw>
          </a:effectLst>
        </p:spPr>
        <p:txBody>
          <a:bodyPr/>
          <a:lstStyle/>
          <a:p>
            <a:endParaRPr/>
          </a:p>
        </p:txBody>
      </p:sp>
      <p:sp>
        <p:nvSpPr>
          <p:cNvPr id="7" name="Text 5"/>
          <p:cNvSpPr/>
          <p:nvPr/>
        </p:nvSpPr>
        <p:spPr>
          <a:xfrm>
            <a:off x="7726680" y="2011680"/>
            <a:ext cx="3657600" cy="27432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ILLUSTRATIVE SCALE</a:t>
            </a:r>
            <a:endParaRPr lang="en-US" sz="1100" dirty="0"/>
          </a:p>
        </p:txBody>
      </p:sp>
      <p:sp>
        <p:nvSpPr>
          <p:cNvPr id="8" name="Text 6"/>
          <p:cNvSpPr/>
          <p:nvPr/>
        </p:nvSpPr>
        <p:spPr>
          <a:xfrm>
            <a:off x="7726680" y="2331720"/>
            <a:ext cx="36576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100 MW</a:t>
            </a:r>
            <a:endParaRPr lang="en-US" sz="4000" dirty="0"/>
          </a:p>
        </p:txBody>
      </p:sp>
      <p:sp>
        <p:nvSpPr>
          <p:cNvPr id="9" name="Text 7"/>
          <p:cNvSpPr/>
          <p:nvPr/>
        </p:nvSpPr>
        <p:spPr>
          <a:xfrm>
            <a:off x="7726680" y="3063240"/>
            <a:ext cx="3566160" cy="548640"/>
          </a:xfrm>
          <a:prstGeom prst="rect">
            <a:avLst/>
          </a:prstGeom>
          <a:noFill/>
          <a:ln/>
        </p:spPr>
        <p:txBody>
          <a:bodyPr wrap="square" lIns="0" tIns="0" rIns="0" bIns="0" rtlCol="0" anchor="ctr"/>
          <a:lstStyle/>
          <a:p>
            <a:r>
              <a:rPr lang="en-US" sz="1600" dirty="0">
                <a:solidFill>
                  <a:srgbClr val="EEF3F7"/>
                </a:solidFill>
                <a:ea typeface="Calibri"/>
                <a:cs typeface="Calibri"/>
              </a:rPr>
              <a:t>farm, 25.7% capacity factor → ≈225,100 MWh / yr</a:t>
            </a:r>
          </a:p>
        </p:txBody>
      </p:sp>
      <p:sp>
        <p:nvSpPr>
          <p:cNvPr id="10" name="Text 8"/>
          <p:cNvSpPr/>
          <p:nvPr/>
        </p:nvSpPr>
        <p:spPr>
          <a:xfrm>
            <a:off x="7726680" y="3794760"/>
            <a:ext cx="3657600" cy="548640"/>
          </a:xfrm>
          <a:prstGeom prst="rect">
            <a:avLst/>
          </a:prstGeom>
          <a:noFill/>
          <a:ln/>
        </p:spPr>
        <p:txBody>
          <a:bodyPr wrap="square" lIns="0" tIns="0" rIns="0" bIns="0"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 €16.1m</a:t>
            </a:r>
            <a:endParaRPr lang="en-US" sz="3000" dirty="0"/>
          </a:p>
        </p:txBody>
      </p:sp>
      <p:sp>
        <p:nvSpPr>
          <p:cNvPr id="11" name="Text 9"/>
          <p:cNvSpPr/>
          <p:nvPr/>
        </p:nvSpPr>
        <p:spPr>
          <a:xfrm>
            <a:off x="7726680" y="4343400"/>
            <a:ext cx="3566160" cy="1463040"/>
          </a:xfrm>
          <a:prstGeom prst="rect">
            <a:avLst/>
          </a:prstGeom>
          <a:noFill/>
          <a:ln/>
        </p:spPr>
        <p:txBody>
          <a:bodyPr wrap="square" lIns="0" tIns="0" rIns="0" bIns="0" rtlCol="0" anchor="ctr"/>
          <a:lstStyle/>
          <a:p>
            <a:pPr marL="0" indent="0">
              <a:lnSpc>
                <a:spcPct val="118000"/>
              </a:lnSpc>
              <a:buNone/>
            </a:pPr>
            <a:endParaRPr lang="en-US" sz="115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What the thesis sets out to do</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3</a:t>
            </a:r>
            <a:endParaRPr lang="en-US" sz="900" dirty="0"/>
          </a:p>
        </p:txBody>
      </p:sp>
      <p:sp>
        <p:nvSpPr>
          <p:cNvPr id="14" name="Rounded Rectangle 13"/>
          <p:cNvSpPr/>
          <p:nvPr/>
        </p:nvSpPr>
        <p:spPr>
          <a:xfrm>
            <a:off x="548640" y="1783080"/>
            <a:ext cx="11109960" cy="1371600"/>
          </a:xfrm>
          <a:prstGeom prst="roundRect">
            <a:avLst>
              <a:gd name="adj" fmla="val 6000"/>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892807"/>
            <a:ext cx="5486400" cy="274320"/>
          </a:xfrm>
          <a:prstGeom prst="rect">
            <a:avLst/>
          </a:prstGeom>
          <a:noFill/>
        </p:spPr>
        <p:txBody>
          <a:bodyPr wrap="square" lIns="0" tIns="0" rIns="0" bIns="0" anchor="ctr">
            <a:spAutoFit/>
          </a:bodyPr>
          <a:lstStyle/>
          <a:p>
            <a:pPr algn="l"/>
            <a:r>
              <a:rPr sz="1200" b="1" i="0" spc="100">
                <a:solidFill>
                  <a:srgbClr val="E8A33D"/>
                </a:solidFill>
                <a:latin typeface="Calibri"/>
              </a:rPr>
              <a:t>THE QUESTION</a:t>
            </a:r>
          </a:p>
        </p:txBody>
      </p:sp>
      <p:sp>
        <p:nvSpPr>
          <p:cNvPr id="16" name="TextBox 15"/>
          <p:cNvSpPr txBox="1"/>
          <p:nvPr/>
        </p:nvSpPr>
        <p:spPr>
          <a:xfrm>
            <a:off x="868680" y="2254598"/>
            <a:ext cx="10469880" cy="748603"/>
          </a:xfrm>
          <a:prstGeom prst="rect">
            <a:avLst/>
          </a:prstGeom>
          <a:noFill/>
        </p:spPr>
        <p:txBody>
          <a:bodyPr wrap="square" lIns="0" tIns="0" rIns="0" bIns="0" anchor="ctr">
            <a:spAutoFit/>
          </a:bodyPr>
          <a:lstStyle/>
          <a:p>
            <a:pPr algn="l">
              <a:lnSpc>
                <a:spcPct val="105000"/>
              </a:lnSpc>
            </a:pPr>
            <a:r>
              <a:rPr sz="2400" b="1" i="0" dirty="0">
                <a:solidFill>
                  <a:srgbClr val="FFFFFF"/>
                </a:solidFill>
                <a:latin typeface="Cambria"/>
              </a:rPr>
              <a:t>Can a wind-speed model price a wind producer’s volume risk — and does the price depend on which wind data we use?</a:t>
            </a:r>
          </a:p>
        </p:txBody>
      </p:sp>
      <p:sp>
        <p:nvSpPr>
          <p:cNvPr id="19" name="TextBox 18"/>
          <p:cNvSpPr txBox="1"/>
          <p:nvPr/>
        </p:nvSpPr>
        <p:spPr>
          <a:xfrm>
            <a:off x="548640" y="6035040"/>
            <a:ext cx="11109960" cy="320040"/>
          </a:xfrm>
          <a:prstGeom prst="rect">
            <a:avLst/>
          </a:prstGeom>
          <a:noFill/>
        </p:spPr>
        <p:txBody>
          <a:bodyPr wrap="square" lIns="0" tIns="0" rIns="0" bIns="0" anchor="t">
            <a:spAutoFit/>
          </a:bodyPr>
          <a:lstStyle/>
          <a:p>
            <a:pPr algn="l">
              <a:lnSpc>
                <a:spcPct val="110000"/>
              </a:lnSpc>
              <a:spcAft>
                <a:spcPts val="1080"/>
              </a:spcAft>
            </a:pPr>
            <a:r>
              <a:rPr sz="1200" b="0" i="1">
                <a:solidFill>
                  <a:srgbClr val="21295C"/>
                </a:solidFill>
                <a:latin typeface="Calibri"/>
              </a:rPr>
              <a:t>θ = 0 is adopted as a benchmark assumption in the absence of EEX option-implied data.</a:t>
            </a:r>
          </a:p>
        </p:txBody>
      </p:sp>
      <p:sp>
        <p:nvSpPr>
          <p:cNvPr id="20" name="Rounded Rectangle 19"/>
          <p:cNvSpPr/>
          <p:nvPr/>
        </p:nvSpPr>
        <p:spPr>
          <a:xfrm>
            <a:off x="548640" y="3474720"/>
            <a:ext cx="3611880" cy="242316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1" name="Oval 20"/>
          <p:cNvSpPr/>
          <p:nvPr/>
        </p:nvSpPr>
        <p:spPr>
          <a:xfrm>
            <a:off x="777240" y="3703320"/>
            <a:ext cx="502920" cy="502920"/>
          </a:xfrm>
          <a:prstGeom prst="ellipse">
            <a:avLst/>
          </a:prstGeom>
          <a:solidFill>
            <a:srgbClr val="1C7293"/>
          </a:solidFill>
          <a:ln>
            <a:noFill/>
          </a:ln>
        </p:spPr>
        <p:txBody>
          <a:bodyPr rtlCol="0" anchor="ctr"/>
          <a:lstStyle/>
          <a:p>
            <a:pPr algn="ctr"/>
            <a:endParaRPr/>
          </a:p>
        </p:txBody>
      </p:sp>
      <p:sp>
        <p:nvSpPr>
          <p:cNvPr id="22" name="TextBox 21"/>
          <p:cNvSpPr txBox="1"/>
          <p:nvPr/>
        </p:nvSpPr>
        <p:spPr>
          <a:xfrm>
            <a:off x="777240" y="3703320"/>
            <a:ext cx="502920" cy="502920"/>
          </a:xfrm>
          <a:prstGeom prst="rect">
            <a:avLst/>
          </a:prstGeom>
          <a:noFill/>
        </p:spPr>
        <p:txBody>
          <a:bodyPr wrap="square" lIns="0" tIns="0" rIns="0" bIns="0" anchor="ctr">
            <a:spAutoFit/>
          </a:bodyPr>
          <a:lstStyle/>
          <a:p>
            <a:pPr algn="ctr"/>
            <a:r>
              <a:rPr sz="1500" b="1" i="0">
                <a:solidFill>
                  <a:srgbClr val="FFFFFF"/>
                </a:solidFill>
                <a:latin typeface="Calibri"/>
              </a:rPr>
              <a:t>1</a:t>
            </a:r>
          </a:p>
        </p:txBody>
      </p:sp>
      <p:sp>
        <p:nvSpPr>
          <p:cNvPr id="23" name="TextBox 22"/>
          <p:cNvSpPr txBox="1"/>
          <p:nvPr/>
        </p:nvSpPr>
        <p:spPr>
          <a:xfrm>
            <a:off x="1417320" y="3813048"/>
            <a:ext cx="2560320" cy="274320"/>
          </a:xfrm>
          <a:prstGeom prst="rect">
            <a:avLst/>
          </a:prstGeom>
          <a:noFill/>
        </p:spPr>
        <p:txBody>
          <a:bodyPr wrap="square" lIns="0" tIns="0" rIns="0" bIns="0" anchor="ctr">
            <a:spAutoFit/>
          </a:bodyPr>
          <a:lstStyle/>
          <a:p>
            <a:pPr algn="l"/>
            <a:r>
              <a:rPr b="1" i="0" spc="100" dirty="0">
                <a:solidFill>
                  <a:srgbClr val="C8791A"/>
                </a:solidFill>
                <a:latin typeface="Calibri"/>
              </a:rPr>
              <a:t>QUESTION 1 · PRICE</a:t>
            </a:r>
          </a:p>
        </p:txBody>
      </p:sp>
      <p:sp>
        <p:nvSpPr>
          <p:cNvPr id="24" name="TextBox 23"/>
          <p:cNvSpPr txBox="1"/>
          <p:nvPr/>
        </p:nvSpPr>
        <p:spPr>
          <a:xfrm>
            <a:off x="777240" y="4434840"/>
            <a:ext cx="3154680" cy="830997"/>
          </a:xfrm>
          <a:prstGeom prst="rect">
            <a:avLst/>
          </a:prstGeom>
          <a:noFill/>
        </p:spPr>
        <p:txBody>
          <a:bodyPr wrap="square" lIns="0" tIns="0" rIns="0" bIns="0" anchor="t">
            <a:spAutoFit/>
          </a:bodyPr>
          <a:lstStyle/>
          <a:p>
            <a:pPr algn="l">
              <a:lnSpc>
                <a:spcPct val="100000"/>
              </a:lnSpc>
            </a:pPr>
            <a:r>
              <a:rPr b="0" i="0" dirty="0">
                <a:solidFill>
                  <a:srgbClr val="56606B"/>
                </a:solidFill>
                <a:latin typeface="Calibri"/>
              </a:rPr>
              <a:t>Can a wind model give a fair price for a wind derivative — with a closed formula?</a:t>
            </a:r>
          </a:p>
        </p:txBody>
      </p:sp>
      <p:sp>
        <p:nvSpPr>
          <p:cNvPr id="25" name="Rounded Rectangle 24"/>
          <p:cNvSpPr/>
          <p:nvPr/>
        </p:nvSpPr>
        <p:spPr>
          <a:xfrm>
            <a:off x="4297680" y="3474720"/>
            <a:ext cx="3611880" cy="242316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6" name="Oval 25"/>
          <p:cNvSpPr/>
          <p:nvPr/>
        </p:nvSpPr>
        <p:spPr>
          <a:xfrm>
            <a:off x="4526280" y="3703320"/>
            <a:ext cx="502920" cy="502920"/>
          </a:xfrm>
          <a:prstGeom prst="ellipse">
            <a:avLst/>
          </a:prstGeom>
          <a:solidFill>
            <a:srgbClr val="1C7293"/>
          </a:solidFill>
          <a:ln>
            <a:noFill/>
          </a:ln>
        </p:spPr>
        <p:txBody>
          <a:bodyPr rtlCol="0" anchor="ctr"/>
          <a:lstStyle/>
          <a:p>
            <a:pPr algn="ctr"/>
            <a:endParaRPr/>
          </a:p>
        </p:txBody>
      </p:sp>
      <p:sp>
        <p:nvSpPr>
          <p:cNvPr id="27" name="TextBox 26"/>
          <p:cNvSpPr txBox="1"/>
          <p:nvPr/>
        </p:nvSpPr>
        <p:spPr>
          <a:xfrm>
            <a:off x="4526280" y="3703320"/>
            <a:ext cx="502920" cy="502920"/>
          </a:xfrm>
          <a:prstGeom prst="rect">
            <a:avLst/>
          </a:prstGeom>
          <a:noFill/>
        </p:spPr>
        <p:txBody>
          <a:bodyPr wrap="square" lIns="0" tIns="0" rIns="0" bIns="0" anchor="ctr">
            <a:spAutoFit/>
          </a:bodyPr>
          <a:lstStyle/>
          <a:p>
            <a:pPr algn="ctr"/>
            <a:r>
              <a:rPr sz="1500" b="1" i="0">
                <a:solidFill>
                  <a:srgbClr val="FFFFFF"/>
                </a:solidFill>
                <a:latin typeface="Calibri"/>
              </a:rPr>
              <a:t>2</a:t>
            </a:r>
          </a:p>
        </p:txBody>
      </p:sp>
      <p:sp>
        <p:nvSpPr>
          <p:cNvPr id="28" name="TextBox 27"/>
          <p:cNvSpPr txBox="1"/>
          <p:nvPr/>
        </p:nvSpPr>
        <p:spPr>
          <a:xfrm>
            <a:off x="5166360" y="3813048"/>
            <a:ext cx="2560320" cy="274320"/>
          </a:xfrm>
          <a:prstGeom prst="rect">
            <a:avLst/>
          </a:prstGeom>
          <a:noFill/>
        </p:spPr>
        <p:txBody>
          <a:bodyPr wrap="square" lIns="0" tIns="0" rIns="0" bIns="0" anchor="ctr">
            <a:spAutoFit/>
          </a:bodyPr>
          <a:lstStyle/>
          <a:p>
            <a:pPr algn="l"/>
            <a:r>
              <a:rPr b="1" i="0" spc="100" dirty="0">
                <a:solidFill>
                  <a:srgbClr val="C8791A"/>
                </a:solidFill>
                <a:latin typeface="Calibri"/>
              </a:rPr>
              <a:t>QUESTION 2 · HEDGE</a:t>
            </a:r>
          </a:p>
        </p:txBody>
      </p:sp>
      <p:sp>
        <p:nvSpPr>
          <p:cNvPr id="29" name="TextBox 28"/>
          <p:cNvSpPr txBox="1"/>
          <p:nvPr/>
        </p:nvSpPr>
        <p:spPr>
          <a:xfrm>
            <a:off x="4526280" y="4434840"/>
            <a:ext cx="3154680" cy="553998"/>
          </a:xfrm>
          <a:prstGeom prst="rect">
            <a:avLst/>
          </a:prstGeom>
          <a:noFill/>
        </p:spPr>
        <p:txBody>
          <a:bodyPr wrap="square" lIns="0" tIns="0" rIns="0" bIns="0" anchor="t">
            <a:spAutoFit/>
          </a:bodyPr>
          <a:lstStyle/>
          <a:p>
            <a:pPr algn="l">
              <a:lnSpc>
                <a:spcPct val="100000"/>
              </a:lnSpc>
            </a:pPr>
            <a:r>
              <a:rPr b="0" i="0" dirty="0">
                <a:solidFill>
                  <a:srgbClr val="56606B"/>
                </a:solidFill>
                <a:latin typeface="Calibri"/>
              </a:rPr>
              <a:t>Can a second contract protect the producer in calm years?</a:t>
            </a:r>
          </a:p>
        </p:txBody>
      </p:sp>
      <p:sp>
        <p:nvSpPr>
          <p:cNvPr id="30" name="Rounded Rectangle 29"/>
          <p:cNvSpPr/>
          <p:nvPr/>
        </p:nvSpPr>
        <p:spPr>
          <a:xfrm>
            <a:off x="8046720" y="3474720"/>
            <a:ext cx="3611880" cy="242316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31" name="Oval 30"/>
          <p:cNvSpPr/>
          <p:nvPr/>
        </p:nvSpPr>
        <p:spPr>
          <a:xfrm>
            <a:off x="8275320" y="3703320"/>
            <a:ext cx="502920" cy="502920"/>
          </a:xfrm>
          <a:prstGeom prst="ellipse">
            <a:avLst/>
          </a:prstGeom>
          <a:solidFill>
            <a:srgbClr val="C8791A"/>
          </a:solidFill>
          <a:ln>
            <a:noFill/>
          </a:ln>
        </p:spPr>
        <p:txBody>
          <a:bodyPr rtlCol="0" anchor="ctr"/>
          <a:lstStyle/>
          <a:p>
            <a:pPr algn="ctr"/>
            <a:endParaRPr/>
          </a:p>
        </p:txBody>
      </p:sp>
      <p:sp>
        <p:nvSpPr>
          <p:cNvPr id="32" name="TextBox 31"/>
          <p:cNvSpPr txBox="1"/>
          <p:nvPr/>
        </p:nvSpPr>
        <p:spPr>
          <a:xfrm>
            <a:off x="8275320" y="3703320"/>
            <a:ext cx="502920" cy="502920"/>
          </a:xfrm>
          <a:prstGeom prst="rect">
            <a:avLst/>
          </a:prstGeom>
          <a:noFill/>
        </p:spPr>
        <p:txBody>
          <a:bodyPr wrap="square" lIns="0" tIns="0" rIns="0" bIns="0" anchor="ctr">
            <a:spAutoFit/>
          </a:bodyPr>
          <a:lstStyle/>
          <a:p>
            <a:pPr algn="ctr"/>
            <a:r>
              <a:rPr sz="1500" b="1" i="0">
                <a:solidFill>
                  <a:srgbClr val="FFFFFF"/>
                </a:solidFill>
                <a:latin typeface="Calibri"/>
              </a:rPr>
              <a:t>3</a:t>
            </a:r>
          </a:p>
        </p:txBody>
      </p:sp>
      <p:sp>
        <p:nvSpPr>
          <p:cNvPr id="33" name="TextBox 32"/>
          <p:cNvSpPr txBox="1"/>
          <p:nvPr/>
        </p:nvSpPr>
        <p:spPr>
          <a:xfrm>
            <a:off x="8915400" y="3813048"/>
            <a:ext cx="2560320" cy="274320"/>
          </a:xfrm>
          <a:prstGeom prst="rect">
            <a:avLst/>
          </a:prstGeom>
          <a:noFill/>
        </p:spPr>
        <p:txBody>
          <a:bodyPr wrap="square" lIns="0" tIns="0" rIns="0" bIns="0" anchor="ctr">
            <a:spAutoFit/>
          </a:bodyPr>
          <a:lstStyle/>
          <a:p>
            <a:pPr algn="l"/>
            <a:r>
              <a:rPr b="1" i="0" spc="100" dirty="0">
                <a:solidFill>
                  <a:srgbClr val="C8791A"/>
                </a:solidFill>
                <a:latin typeface="Calibri"/>
              </a:rPr>
              <a:t>QUESTION 3 · DATA</a:t>
            </a:r>
          </a:p>
        </p:txBody>
      </p:sp>
      <p:sp>
        <p:nvSpPr>
          <p:cNvPr id="34" name="TextBox 33"/>
          <p:cNvSpPr txBox="1"/>
          <p:nvPr/>
        </p:nvSpPr>
        <p:spPr>
          <a:xfrm>
            <a:off x="8275320" y="4434840"/>
            <a:ext cx="3154680" cy="553998"/>
          </a:xfrm>
          <a:prstGeom prst="rect">
            <a:avLst/>
          </a:prstGeom>
          <a:noFill/>
        </p:spPr>
        <p:txBody>
          <a:bodyPr wrap="square" lIns="0" tIns="0" rIns="0" bIns="0" anchor="t">
            <a:spAutoFit/>
          </a:bodyPr>
          <a:lstStyle/>
          <a:p>
            <a:pPr algn="l">
              <a:lnSpc>
                <a:spcPct val="100000"/>
              </a:lnSpc>
            </a:pPr>
            <a:r>
              <a:rPr b="0" i="0" dirty="0">
                <a:solidFill>
                  <a:srgbClr val="56606B"/>
                </a:solidFill>
                <a:latin typeface="Calibri"/>
              </a:rPr>
              <a:t>Does the price change if we use the wrong wind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1295C"/>
                </a:solidFill>
                <a:effectLst/>
                <a:uLnTx/>
                <a:uFillTx/>
                <a:latin typeface="Cambria" pitchFamily="34" charset="0"/>
                <a:ea typeface="Cambria" pitchFamily="34" charset="-122"/>
                <a:cs typeface="Cambria" pitchFamily="34" charset="-120"/>
              </a:rPr>
              <a:t>Two datasets, one identical pipeline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0"/>
          <p:cNvGraphicFramePr>
            <a:graphicFrameLocks noGrp="1"/>
          </p:cNvGraphicFramePr>
          <p:nvPr>
            <p:extLst>
              <p:ext uri="{D42A27DB-BD31-4B8C-83A1-F6EECF244321}">
                <p14:modId xmlns:p14="http://schemas.microsoft.com/office/powerpoint/2010/main" val="212583737"/>
              </p:ext>
            </p:extLst>
          </p:nvPr>
        </p:nvGraphicFramePr>
        <p:xfrm>
          <a:off x="548640" y="1783080"/>
          <a:ext cx="11109960" cy="3218688"/>
        </p:xfrm>
        <a:graphic>
          <a:graphicData uri="http://schemas.openxmlformats.org/drawingml/2006/table">
            <a:tbl>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402336">
                <a:tc>
                  <a:txBody>
                    <a:bodyPr/>
                    <a:lstStyle/>
                    <a:p>
                      <a:pPr marL="0" indent="0" algn="l">
                        <a:buNone/>
                      </a:pP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Dataset A — Proxy</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Dataset B — Reference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extLst>
                  <a:ext uri="{0D108BD9-81ED-4DB2-BD59-A6C34878D82A}">
                    <a16:rowId xmlns:a16="http://schemas.microsoft.com/office/drawing/2014/main" val="10000"/>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Location</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Bologna, Italy (44.29°N, 11.20°E)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Nordfriesland, Germany (54.77°N, 8.85°E)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Height</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10 m</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100 m (hub height)</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2"/>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Source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OpenWeatherMap API</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Open-Meteo · ERA5 reanalysis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Period</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2015–2018 (4 yr)</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2015–2024 (10 yr)</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4"/>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Observations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1,462 daily</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3,653 daily</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Mean wind speed</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2.47 m/s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8.07 m/s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6"/>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Role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Build &amp; validate the methodology</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Carries all headline empirical claims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257800"/>
            <a:ext cx="11109960" cy="868680"/>
          </a:xfrm>
          <a:prstGeom prst="roundRect">
            <a:avLst>
              <a:gd name="adj" fmla="val 9474"/>
            </a:avLst>
          </a:prstGeom>
          <a:solidFill>
            <a:srgbClr val="EEF3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822960" y="5394960"/>
            <a:ext cx="10515600" cy="64008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1295C"/>
                </a:solidFill>
                <a:effectLst/>
                <a:uLnTx/>
                <a:uFillTx/>
                <a:latin typeface="Calibri"/>
                <a:ea typeface="Calibri"/>
                <a:cs typeface="Calibri"/>
              </a:rPr>
              <a:t>Why this pairing: </a:t>
            </a:r>
            <a:r>
              <a:rPr kumimoji="0" lang="en-US" sz="1600" b="0" i="0" u="none" strike="noStrike" kern="1200" cap="none" spc="0" normalizeH="0" baseline="0" noProof="0" dirty="0">
                <a:ln>
                  <a:noFill/>
                </a:ln>
                <a:solidFill>
                  <a:srgbClr val="56606B"/>
                </a:solidFill>
                <a:effectLst/>
                <a:uLnTx/>
                <a:uFillTx/>
                <a:latin typeface="Calibri"/>
                <a:ea typeface="Calibri"/>
                <a:cs typeface="Calibri"/>
              </a:rPr>
              <a:t>the same pipeline, identical in functional form, runs on both sites, so a difference in the resulting price points to the data.</a:t>
            </a:r>
          </a:p>
        </p:txBody>
      </p:sp>
      <p:sp>
        <p:nvSpPr>
          <p:cNvPr id="8" name="Text 5"/>
          <p:cNvSpPr/>
          <p:nvPr/>
        </p:nvSpPr>
        <p:spPr>
          <a:xfrm>
            <a:off x="11365992" y="6510528"/>
            <a:ext cx="36576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6606B"/>
                </a:solidFill>
                <a:effectLst/>
                <a:uLnTx/>
                <a:uFillTx/>
                <a:latin typeface="Calibri" pitchFamily="34" charset="0"/>
                <a:ea typeface="Calibri" pitchFamily="34" charset="-122"/>
                <a:cs typeface="Calibri"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846487"/>
            <a:ext cx="11109960" cy="492443"/>
          </a:xfrm>
          <a:prstGeom prst="rect">
            <a:avLst/>
          </a:prstGeom>
          <a:noFill/>
        </p:spPr>
        <p:txBody>
          <a:bodyPr wrap="square" lIns="0" tIns="0" rIns="0" bIns="0" anchor="ctr">
            <a:spAutoFit/>
          </a:bodyPr>
          <a:lstStyle/>
          <a:p>
            <a:pPr marL="0" indent="0" algn="l">
              <a:buNone/>
            </a:pPr>
            <a:r>
              <a:rPr lang="en-US" sz="3200" b="1" dirty="0">
                <a:solidFill>
                  <a:srgbClr val="21295C"/>
                </a:solidFill>
                <a:latin typeface="Cambria"/>
                <a:ea typeface="Cambria"/>
                <a:cs typeface="Cambria"/>
              </a:rPr>
              <a:t>One pipeline, five stages — two numbers carry the price</a:t>
            </a:r>
          </a:p>
        </p:txBody>
      </p:sp>
      <p:sp>
        <p:nvSpPr>
          <p:cNvPr id="4" name="Oval 3"/>
          <p:cNvSpPr/>
          <p:nvPr/>
        </p:nvSpPr>
        <p:spPr>
          <a:xfrm>
            <a:off x="1330452"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330452"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1</a:t>
            </a:r>
          </a:p>
        </p:txBody>
      </p:sp>
      <p:cxnSp>
        <p:nvCxnSpPr>
          <p:cNvPr id="6" name="Connector 5"/>
          <p:cNvCxnSpPr/>
          <p:nvPr/>
        </p:nvCxnSpPr>
        <p:spPr>
          <a:xfrm>
            <a:off x="2098548"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Deseasonalise</a:t>
            </a:r>
          </a:p>
        </p:txBody>
      </p:sp>
      <p:sp>
        <p:nvSpPr>
          <p:cNvPr id="8" name="TextBox 7"/>
          <p:cNvSpPr txBox="1"/>
          <p:nvPr/>
        </p:nvSpPr>
        <p:spPr>
          <a:xfrm>
            <a:off x="548640"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Box–Cox + Fourier</a:t>
            </a:r>
          </a:p>
        </p:txBody>
      </p:sp>
      <p:sp>
        <p:nvSpPr>
          <p:cNvPr id="9" name="TextBox 8"/>
          <p:cNvSpPr txBox="1"/>
          <p:nvPr/>
        </p:nvSpPr>
        <p:spPr>
          <a:xfrm>
            <a:off x="548640" y="2980944"/>
            <a:ext cx="2221992" cy="256032"/>
          </a:xfrm>
          <a:prstGeom prst="rect">
            <a:avLst/>
          </a:prstGeom>
          <a:noFill/>
        </p:spPr>
        <p:txBody>
          <a:bodyPr wrap="square" lIns="0" tIns="0" rIns="0" bIns="0" anchor="t">
            <a:spAutoFit/>
          </a:bodyPr>
          <a:lstStyle/>
          <a:p>
            <a:pPr marL="0" indent="0" algn="ctr">
              <a:buNone/>
            </a:pPr>
            <a:r>
              <a:rPr lang="en-US" sz="1150" b="1" dirty="0">
                <a:solidFill>
                  <a:srgbClr val="C8791A"/>
                </a:solidFill>
                <a:latin typeface="Calibri"/>
                <a:ea typeface="Calibri"/>
                <a:cs typeface="Calibri"/>
              </a:rPr>
              <a:t>→ W̃(t), C₀</a:t>
            </a:r>
          </a:p>
        </p:txBody>
      </p:sp>
      <p:sp>
        <p:nvSpPr>
          <p:cNvPr id="10" name="Oval 9"/>
          <p:cNvSpPr/>
          <p:nvPr/>
        </p:nvSpPr>
        <p:spPr>
          <a:xfrm>
            <a:off x="3552444"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52444"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2</a:t>
            </a:r>
          </a:p>
        </p:txBody>
      </p:sp>
      <p:cxnSp>
        <p:nvCxnSpPr>
          <p:cNvPr id="12" name="Connector 11"/>
          <p:cNvCxnSpPr/>
          <p:nvPr/>
        </p:nvCxnSpPr>
        <p:spPr>
          <a:xfrm>
            <a:off x="4320540"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70632"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AR(4)</a:t>
            </a:r>
          </a:p>
        </p:txBody>
      </p:sp>
      <p:sp>
        <p:nvSpPr>
          <p:cNvPr id="14" name="TextBox 13"/>
          <p:cNvSpPr txBox="1"/>
          <p:nvPr/>
        </p:nvSpPr>
        <p:spPr>
          <a:xfrm>
            <a:off x="2770632"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conditional mean</a:t>
            </a:r>
          </a:p>
        </p:txBody>
      </p:sp>
      <p:sp>
        <p:nvSpPr>
          <p:cNvPr id="15" name="TextBox 14"/>
          <p:cNvSpPr txBox="1"/>
          <p:nvPr/>
        </p:nvSpPr>
        <p:spPr>
          <a:xfrm>
            <a:off x="2770632"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β₁ … β₄</a:t>
            </a:r>
          </a:p>
        </p:txBody>
      </p:sp>
      <p:sp>
        <p:nvSpPr>
          <p:cNvPr id="16" name="Oval 15"/>
          <p:cNvSpPr/>
          <p:nvPr/>
        </p:nvSpPr>
        <p:spPr>
          <a:xfrm>
            <a:off x="5774436"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774436"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3</a:t>
            </a:r>
          </a:p>
        </p:txBody>
      </p:sp>
      <p:cxnSp>
        <p:nvCxnSpPr>
          <p:cNvPr id="18" name="Connector 17"/>
          <p:cNvCxnSpPr/>
          <p:nvPr/>
        </p:nvCxnSpPr>
        <p:spPr>
          <a:xfrm>
            <a:off x="6542532"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992624"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GARCH(1,1)</a:t>
            </a:r>
          </a:p>
        </p:txBody>
      </p:sp>
      <p:sp>
        <p:nvSpPr>
          <p:cNvPr id="20" name="TextBox 19"/>
          <p:cNvSpPr txBox="1"/>
          <p:nvPr/>
        </p:nvSpPr>
        <p:spPr>
          <a:xfrm>
            <a:off x="4992624"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conditional variance</a:t>
            </a:r>
          </a:p>
        </p:txBody>
      </p:sp>
      <p:sp>
        <p:nvSpPr>
          <p:cNvPr id="21" name="TextBox 20"/>
          <p:cNvSpPr txBox="1"/>
          <p:nvPr/>
        </p:nvSpPr>
        <p:spPr>
          <a:xfrm>
            <a:off x="4992624" y="2980944"/>
            <a:ext cx="2221992" cy="256032"/>
          </a:xfrm>
          <a:prstGeom prst="rect">
            <a:avLst/>
          </a:prstGeom>
          <a:noFill/>
        </p:spPr>
        <p:txBody>
          <a:bodyPr wrap="square" lIns="0" tIns="0" rIns="0" bIns="0" anchor="t">
            <a:spAutoFit/>
          </a:bodyPr>
          <a:lstStyle/>
          <a:p>
            <a:pPr marL="0" indent="0" algn="ctr">
              <a:buNone/>
            </a:pPr>
            <a:r>
              <a:rPr lang="en-US" sz="1150" b="1" dirty="0">
                <a:solidFill>
                  <a:srgbClr val="C8791A"/>
                </a:solidFill>
                <a:latin typeface="Calibri"/>
                <a:ea typeface="Calibri"/>
                <a:cs typeface="Calibri"/>
              </a:rPr>
              <a:t>→ h(t₀)</a:t>
            </a:r>
          </a:p>
        </p:txBody>
      </p:sp>
      <p:sp>
        <p:nvSpPr>
          <p:cNvPr id="22" name="Oval 21"/>
          <p:cNvSpPr/>
          <p:nvPr/>
        </p:nvSpPr>
        <p:spPr>
          <a:xfrm>
            <a:off x="7996428"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996428"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4</a:t>
            </a:r>
          </a:p>
        </p:txBody>
      </p:sp>
      <p:cxnSp>
        <p:nvCxnSpPr>
          <p:cNvPr id="24" name="Connector 23"/>
          <p:cNvCxnSpPr/>
          <p:nvPr/>
        </p:nvCxnSpPr>
        <p:spPr>
          <a:xfrm>
            <a:off x="8764524"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14616"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CAR(4)</a:t>
            </a:r>
          </a:p>
        </p:txBody>
      </p:sp>
      <p:sp>
        <p:nvSpPr>
          <p:cNvPr id="26" name="TextBox 25"/>
          <p:cNvSpPr txBox="1"/>
          <p:nvPr/>
        </p:nvSpPr>
        <p:spPr>
          <a:xfrm>
            <a:off x="7214616"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continuous-time embedding</a:t>
            </a:r>
          </a:p>
        </p:txBody>
      </p:sp>
      <p:sp>
        <p:nvSpPr>
          <p:cNvPr id="27" name="TextBox 26"/>
          <p:cNvSpPr txBox="1"/>
          <p:nvPr/>
        </p:nvSpPr>
        <p:spPr>
          <a:xfrm>
            <a:off x="7214616"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A, exp(Aτ)</a:t>
            </a:r>
          </a:p>
        </p:txBody>
      </p:sp>
      <p:sp>
        <p:nvSpPr>
          <p:cNvPr id="28" name="Oval 27"/>
          <p:cNvSpPr/>
          <p:nvPr/>
        </p:nvSpPr>
        <p:spPr>
          <a:xfrm>
            <a:off x="10218420"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218420"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5</a:t>
            </a:r>
          </a:p>
        </p:txBody>
      </p:sp>
      <p:sp>
        <p:nvSpPr>
          <p:cNvPr id="30" name="TextBox 29"/>
          <p:cNvSpPr txBox="1"/>
          <p:nvPr/>
        </p:nvSpPr>
        <p:spPr>
          <a:xfrm>
            <a:off x="9436608"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Stochastic vol.</a:t>
            </a:r>
          </a:p>
        </p:txBody>
      </p:sp>
      <p:sp>
        <p:nvSpPr>
          <p:cNvPr id="31" name="TextBox 30"/>
          <p:cNvSpPr txBox="1"/>
          <p:nvPr/>
        </p:nvSpPr>
        <p:spPr>
          <a:xfrm>
            <a:off x="9436608"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Heston / CIR, theoretical</a:t>
            </a:r>
          </a:p>
        </p:txBody>
      </p:sp>
      <p:sp>
        <p:nvSpPr>
          <p:cNvPr id="32" name="TextBox 31"/>
          <p:cNvSpPr txBox="1"/>
          <p:nvPr/>
        </p:nvSpPr>
        <p:spPr>
          <a:xfrm>
            <a:off x="9436608"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theory only, not in the price</a:t>
            </a:r>
          </a:p>
        </p:txBody>
      </p:sp>
      <p:sp>
        <p:nvSpPr>
          <p:cNvPr id="33" name="Rounded Rectangle 32"/>
          <p:cNvSpPr/>
          <p:nvPr/>
        </p:nvSpPr>
        <p:spPr>
          <a:xfrm>
            <a:off x="54864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68680" y="3650349"/>
            <a:ext cx="1737360" cy="553998"/>
          </a:xfrm>
          <a:prstGeom prst="rect">
            <a:avLst/>
          </a:prstGeom>
          <a:noFill/>
        </p:spPr>
        <p:txBody>
          <a:bodyPr wrap="square" lIns="0" tIns="0" rIns="0" bIns="0" anchor="ctr">
            <a:spAutoFit/>
          </a:bodyPr>
          <a:lstStyle/>
          <a:p>
            <a:pPr marL="0" indent="0" algn="l">
              <a:buNone/>
            </a:pPr>
            <a:r>
              <a:rPr lang="en-US" sz="3600" b="1" dirty="0">
                <a:solidFill>
                  <a:srgbClr val="21295C"/>
                </a:solidFill>
                <a:latin typeface="Cambria"/>
                <a:ea typeface="Cambria"/>
                <a:cs typeface="Cambria"/>
              </a:rPr>
              <a:t>C₀</a:t>
            </a:r>
          </a:p>
        </p:txBody>
      </p:sp>
      <p:sp>
        <p:nvSpPr>
          <p:cNvPr id="35" name="TextBox 34"/>
          <p:cNvSpPr txBox="1"/>
          <p:nvPr/>
        </p:nvSpPr>
        <p:spPr>
          <a:xfrm>
            <a:off x="868680" y="4315968"/>
            <a:ext cx="4663440" cy="215444"/>
          </a:xfrm>
          <a:prstGeom prst="rect">
            <a:avLst/>
          </a:prstGeom>
          <a:noFill/>
        </p:spPr>
        <p:txBody>
          <a:bodyPr wrap="square" lIns="0" tIns="0" rIns="0" bIns="0" anchor="t">
            <a:spAutoFit/>
          </a:bodyPr>
          <a:lstStyle/>
          <a:p>
            <a:pPr marL="0" indent="0" algn="l">
              <a:buNone/>
            </a:pPr>
            <a:r>
              <a:rPr lang="en-US" sz="1400" b="0" i="1" dirty="0">
                <a:solidFill>
                  <a:srgbClr val="56606B"/>
                </a:solidFill>
                <a:latin typeface="Calibri"/>
                <a:ea typeface="Calibri"/>
                <a:cs typeface="Calibri"/>
              </a:rPr>
              <a:t>How variable the wind is over the year</a:t>
            </a:r>
          </a:p>
        </p:txBody>
      </p:sp>
      <p:sp>
        <p:nvSpPr>
          <p:cNvPr id="36" name="TextBox 35"/>
          <p:cNvSpPr txBox="1"/>
          <p:nvPr/>
        </p:nvSpPr>
        <p:spPr>
          <a:xfrm>
            <a:off x="868680" y="4617720"/>
            <a:ext cx="4663440" cy="276999"/>
          </a:xfrm>
          <a:prstGeom prst="rect">
            <a:avLst/>
          </a:prstGeom>
          <a:noFill/>
        </p:spPr>
        <p:txBody>
          <a:bodyPr wrap="square" lIns="0" tIns="0" rIns="0" bIns="0" anchor="t">
            <a:spAutoFit/>
          </a:bodyPr>
          <a:lstStyle/>
          <a:p>
            <a:r>
              <a:rPr lang="en-US" dirty="0">
                <a:solidFill>
                  <a:srgbClr val="56606B"/>
                </a:solidFill>
                <a:ea typeface="Calibri"/>
                <a:cs typeface="Calibri"/>
              </a:rPr>
              <a:t>Dataset A  </a:t>
            </a:r>
            <a:r>
              <a:rPr lang="en-US" b="1" dirty="0">
                <a:solidFill>
                  <a:srgbClr val="21295C"/>
                </a:solidFill>
                <a:ea typeface="Calibri"/>
                <a:cs typeface="Calibri"/>
              </a:rPr>
              <a:t>0.1314</a:t>
            </a:r>
            <a:r>
              <a:rPr lang="en-US" dirty="0">
                <a:solidFill>
                  <a:srgbClr val="56606B"/>
                </a:solidFill>
                <a:ea typeface="Calibri"/>
                <a:cs typeface="Calibri"/>
              </a:rPr>
              <a:t>      Dataset B  </a:t>
            </a:r>
            <a:r>
              <a:rPr lang="en-US" b="1" dirty="0">
                <a:solidFill>
                  <a:srgbClr val="21295C"/>
                </a:solidFill>
                <a:ea typeface="Calibri"/>
                <a:cs typeface="Calibri"/>
              </a:rPr>
              <a:t>1.1628</a:t>
            </a:r>
          </a:p>
        </p:txBody>
      </p:sp>
      <p:sp>
        <p:nvSpPr>
          <p:cNvPr id="39" name="Rounded Rectangle 38"/>
          <p:cNvSpPr/>
          <p:nvPr/>
        </p:nvSpPr>
        <p:spPr>
          <a:xfrm>
            <a:off x="630936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629400" y="3650349"/>
            <a:ext cx="1737360" cy="553998"/>
          </a:xfrm>
          <a:prstGeom prst="rect">
            <a:avLst/>
          </a:prstGeom>
          <a:noFill/>
        </p:spPr>
        <p:txBody>
          <a:bodyPr wrap="square" lIns="0" tIns="0" rIns="0" bIns="0" anchor="ctr">
            <a:spAutoFit/>
          </a:bodyPr>
          <a:lstStyle/>
          <a:p>
            <a:pPr marL="0" indent="0" algn="l">
              <a:buNone/>
            </a:pPr>
            <a:r>
              <a:rPr lang="en-US" sz="3600" b="1" dirty="0">
                <a:solidFill>
                  <a:srgbClr val="21295C"/>
                </a:solidFill>
                <a:latin typeface="Cambria"/>
                <a:ea typeface="Cambria"/>
                <a:cs typeface="Cambria"/>
              </a:rPr>
              <a:t>h(t₀)</a:t>
            </a:r>
          </a:p>
        </p:txBody>
      </p:sp>
      <p:sp>
        <p:nvSpPr>
          <p:cNvPr id="41" name="TextBox 40"/>
          <p:cNvSpPr txBox="1"/>
          <p:nvPr/>
        </p:nvSpPr>
        <p:spPr>
          <a:xfrm>
            <a:off x="6629400" y="4315968"/>
            <a:ext cx="4663440" cy="215444"/>
          </a:xfrm>
          <a:prstGeom prst="rect">
            <a:avLst/>
          </a:prstGeom>
          <a:noFill/>
        </p:spPr>
        <p:txBody>
          <a:bodyPr wrap="square" lIns="0" tIns="0" rIns="0" bIns="0" anchor="t">
            <a:spAutoFit/>
          </a:bodyPr>
          <a:lstStyle/>
          <a:p>
            <a:pPr marL="0" indent="0" algn="l">
              <a:buNone/>
            </a:pPr>
            <a:r>
              <a:rPr lang="en-US" sz="1400" b="0" i="1" dirty="0">
                <a:solidFill>
                  <a:srgbClr val="56606B"/>
                </a:solidFill>
                <a:latin typeface="Calibri"/>
                <a:ea typeface="Calibri"/>
                <a:cs typeface="Calibri"/>
              </a:rPr>
              <a:t>How variable the wind is today</a:t>
            </a:r>
          </a:p>
        </p:txBody>
      </p:sp>
      <p:sp>
        <p:nvSpPr>
          <p:cNvPr id="42" name="TextBox 41"/>
          <p:cNvSpPr txBox="1"/>
          <p:nvPr/>
        </p:nvSpPr>
        <p:spPr>
          <a:xfrm>
            <a:off x="6629400" y="4617720"/>
            <a:ext cx="4663440" cy="276999"/>
          </a:xfrm>
          <a:prstGeom prst="rect">
            <a:avLst/>
          </a:prstGeom>
          <a:noFill/>
        </p:spPr>
        <p:txBody>
          <a:bodyPr wrap="square" lIns="0" tIns="0" rIns="0" bIns="0" anchor="t">
            <a:spAutoFit/>
          </a:bodyPr>
          <a:lstStyle/>
          <a:p>
            <a:r>
              <a:rPr lang="en-US" dirty="0">
                <a:solidFill>
                  <a:srgbClr val="56606B"/>
                </a:solidFill>
                <a:ea typeface="Calibri"/>
                <a:cs typeface="Calibri"/>
              </a:rPr>
              <a:t>Dataset A  </a:t>
            </a:r>
            <a:r>
              <a:rPr lang="en-US" b="1" dirty="0">
                <a:solidFill>
                  <a:srgbClr val="21295C"/>
                </a:solidFill>
                <a:ea typeface="Calibri"/>
                <a:cs typeface="Calibri"/>
              </a:rPr>
              <a:t>0.4137</a:t>
            </a:r>
            <a:r>
              <a:rPr lang="en-US" dirty="0">
                <a:solidFill>
                  <a:srgbClr val="56606B"/>
                </a:solidFill>
                <a:ea typeface="Calibri"/>
                <a:cs typeface="Calibri"/>
              </a:rPr>
              <a:t>      Dataset B  </a:t>
            </a:r>
            <a:r>
              <a:rPr lang="en-US" b="1" dirty="0">
                <a:solidFill>
                  <a:srgbClr val="21295C"/>
                </a:solidFill>
                <a:ea typeface="Calibri"/>
                <a:cs typeface="Calibri"/>
              </a:rPr>
              <a:t>0.7511</a:t>
            </a:r>
          </a:p>
        </p:txBody>
      </p:sp>
      <p:sp>
        <p:nvSpPr>
          <p:cNvPr id="45" name="Rounded Rectangle 44"/>
          <p:cNvSpPr/>
          <p:nvPr/>
        </p:nvSpPr>
        <p:spPr>
          <a:xfrm>
            <a:off x="548640" y="5257800"/>
            <a:ext cx="11109960" cy="1005840"/>
          </a:xfrm>
          <a:prstGeom prst="roundRect">
            <a:avLst>
              <a:gd name="adj" fmla="val 3599"/>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22960" y="5431869"/>
            <a:ext cx="10607040" cy="246221"/>
          </a:xfrm>
          <a:prstGeom prst="rect">
            <a:avLst/>
          </a:prstGeom>
          <a:noFill/>
        </p:spPr>
        <p:txBody>
          <a:bodyPr wrap="square" lIns="0" tIns="0" rIns="0" bIns="0" anchor="ctr">
            <a:spAutoFit/>
          </a:bodyPr>
          <a:lstStyle/>
          <a:p>
            <a:pPr marL="0" indent="0" algn="l">
              <a:buNone/>
            </a:pPr>
            <a:r>
              <a:rPr lang="en-US" sz="1600" b="1" dirty="0">
                <a:solidFill>
                  <a:srgbClr val="FFFFFF"/>
                </a:solidFill>
                <a:latin typeface="Cambria"/>
                <a:ea typeface="Cambria"/>
                <a:cs typeface="Cambria"/>
              </a:rPr>
              <a:t>Fair strike  K</a:t>
            </a:r>
            <a:r>
              <a:rPr lang="en-US" sz="1600" b="1" baseline="-25000" dirty="0">
                <a:solidFill>
                  <a:srgbClr val="FFFFFF"/>
                </a:solidFill>
                <a:latin typeface="Cambria"/>
                <a:ea typeface="Cambria"/>
                <a:cs typeface="Cambria"/>
              </a:rPr>
              <a:t>var</a:t>
            </a:r>
            <a:r>
              <a:rPr lang="en-US" sz="1600" b="1" dirty="0">
                <a:solidFill>
                  <a:srgbClr val="FFFFFF"/>
                </a:solidFill>
                <a:latin typeface="Cambria"/>
                <a:ea typeface="Cambria"/>
                <a:cs typeface="Cambria"/>
              </a:rPr>
              <a:t>  =  h(t₀) × C₀</a:t>
            </a:r>
            <a:r>
              <a:rPr lang="en-US" sz="1600" b="0" i="1" dirty="0">
                <a:solidFill>
                  <a:srgbClr val="CADCFC"/>
                </a:solidFill>
                <a:latin typeface="Calibri"/>
                <a:ea typeface="Calibri"/>
                <a:cs typeface="Calibri"/>
              </a:rPr>
              <a:t>     piecewise-constant h (Tol 1997), θ = 0 benchmark</a:t>
            </a:r>
          </a:p>
        </p:txBody>
      </p:sp>
      <p:sp>
        <p:nvSpPr>
          <p:cNvPr id="47" name="TextBox 46"/>
          <p:cNvSpPr txBox="1"/>
          <p:nvPr/>
        </p:nvSpPr>
        <p:spPr>
          <a:xfrm>
            <a:off x="822960" y="5847921"/>
            <a:ext cx="10607040" cy="246221"/>
          </a:xfrm>
          <a:prstGeom prst="rect">
            <a:avLst/>
          </a:prstGeom>
          <a:noFill/>
        </p:spPr>
        <p:txBody>
          <a:bodyPr wrap="square" lIns="0" tIns="0" rIns="0" bIns="0" anchor="ctr">
            <a:spAutoFit/>
          </a:bodyPr>
          <a:lstStyle/>
          <a:p>
            <a:r>
              <a:rPr lang="en-US" sz="1600" b="1" dirty="0">
                <a:solidFill>
                  <a:srgbClr val="E8A33D"/>
                </a:solidFill>
                <a:ea typeface="Calibri"/>
                <a:cs typeface="Calibri"/>
              </a:rPr>
              <a:t>0.0544 (Dataset A)</a:t>
            </a:r>
            <a:r>
              <a:rPr lang="en-US" sz="1600" dirty="0">
                <a:solidFill>
                  <a:srgbClr val="CADCFC"/>
                </a:solidFill>
                <a:ea typeface="Calibri"/>
                <a:cs typeface="Calibri"/>
              </a:rPr>
              <a:t>        vs        </a:t>
            </a:r>
            <a:r>
              <a:rPr lang="en-US" sz="1600" b="1" dirty="0">
                <a:solidFill>
                  <a:srgbClr val="E8A33D"/>
                </a:solidFill>
                <a:ea typeface="Calibri"/>
                <a:cs typeface="Calibri"/>
              </a:rPr>
              <a:t>0.8734 (Dataset B)</a:t>
            </a:r>
          </a:p>
        </p:txBody>
      </p:sp>
      <p:sp>
        <p:nvSpPr>
          <p:cNvPr id="49" name="TextBox 48"/>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Price: the model lands in the market’s range</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6</a:t>
            </a:r>
            <a:endParaRPr lang="en-US" sz="900" dirty="0"/>
          </a:p>
        </p:txBody>
      </p:sp>
      <p:sp>
        <p:nvSpPr>
          <p:cNvPr id="14" name="Rounded Rectangle 13"/>
          <p:cNvSpPr/>
          <p:nvPr/>
        </p:nvSpPr>
        <p:spPr>
          <a:xfrm>
            <a:off x="548640" y="1783080"/>
            <a:ext cx="676656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6217920" cy="274320"/>
          </a:xfrm>
          <a:prstGeom prst="rect">
            <a:avLst/>
          </a:prstGeom>
          <a:noFill/>
        </p:spPr>
        <p:txBody>
          <a:bodyPr wrap="square" lIns="0" tIns="0" rIns="0" bIns="0" anchor="ctr">
            <a:spAutoFit/>
          </a:bodyPr>
          <a:lstStyle/>
          <a:p>
            <a:pPr algn="l"/>
            <a:r>
              <a:rPr b="1" i="0" spc="100" dirty="0">
                <a:solidFill>
                  <a:srgbClr val="1C7293"/>
                </a:solidFill>
                <a:latin typeface="Calibri"/>
              </a:rPr>
              <a:t>FAIR STRIKE · MODEL vs MARKET · GERMANY, 2015–2024</a:t>
            </a:r>
          </a:p>
        </p:txBody>
      </p:sp>
      <p:graphicFrame>
        <p:nvGraphicFramePr>
          <p:cNvPr id="16" name="Chart 15"/>
          <p:cNvGraphicFramePr>
            <a:graphicFrameLocks noGrp="1"/>
          </p:cNvGraphicFramePr>
          <p:nvPr/>
        </p:nvGraphicFramePr>
        <p:xfrm>
          <a:off x="685800" y="2286000"/>
          <a:ext cx="64922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868680" y="5760720"/>
            <a:ext cx="6217920" cy="41148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Model strike h(t₀) × C₀ converted into market units (conversion in backup B2). θ = 0 benchmark.</a:t>
            </a:r>
          </a:p>
        </p:txBody>
      </p:sp>
      <p:sp>
        <p:nvSpPr>
          <p:cNvPr id="18" name="Rounded Rectangle 17"/>
          <p:cNvSpPr/>
          <p:nvPr/>
        </p:nvSpPr>
        <p:spPr>
          <a:xfrm>
            <a:off x="7543800" y="1783079"/>
            <a:ext cx="4114800" cy="1730827"/>
          </a:xfrm>
          <a:prstGeom prst="roundRect">
            <a:avLst>
              <a:gd name="adj" fmla="val 5624"/>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9" name="TextBox 18"/>
          <p:cNvSpPr txBox="1"/>
          <p:nvPr/>
        </p:nvSpPr>
        <p:spPr>
          <a:xfrm>
            <a:off x="7818120" y="1918900"/>
            <a:ext cx="3657600" cy="276999"/>
          </a:xfrm>
          <a:prstGeom prst="rect">
            <a:avLst/>
          </a:prstGeom>
          <a:noFill/>
        </p:spPr>
        <p:txBody>
          <a:bodyPr wrap="square" lIns="0" tIns="0" rIns="0" bIns="0" anchor="ctr">
            <a:spAutoFit/>
          </a:bodyPr>
          <a:lstStyle/>
          <a:p>
            <a:pPr algn="l"/>
            <a:r>
              <a:rPr b="1" i="0" spc="100" dirty="0">
                <a:solidFill>
                  <a:srgbClr val="E8A33D"/>
                </a:solidFill>
                <a:latin typeface="Calibri"/>
              </a:rPr>
              <a:t>THE CONTRACT</a:t>
            </a:r>
          </a:p>
        </p:txBody>
      </p:sp>
      <p:sp>
        <p:nvSpPr>
          <p:cNvPr id="20" name="TextBox 19"/>
          <p:cNvSpPr txBox="1"/>
          <p:nvPr/>
        </p:nvSpPr>
        <p:spPr>
          <a:xfrm>
            <a:off x="7818120" y="2240280"/>
            <a:ext cx="3657600" cy="457200"/>
          </a:xfrm>
          <a:prstGeom prst="rect">
            <a:avLst/>
          </a:prstGeom>
          <a:noFill/>
        </p:spPr>
        <p:txBody>
          <a:bodyPr wrap="square" lIns="0" tIns="0" rIns="0" bIns="0" anchor="ctr">
            <a:spAutoFit/>
          </a:bodyPr>
          <a:lstStyle/>
          <a:p>
            <a:pPr algn="l"/>
            <a:r>
              <a:rPr sz="2000" b="1" i="0" dirty="0">
                <a:solidFill>
                  <a:srgbClr val="FFFFFF"/>
                </a:solidFill>
                <a:latin typeface="Cambria"/>
              </a:rPr>
              <a:t>A variance swap</a:t>
            </a:r>
          </a:p>
        </p:txBody>
      </p:sp>
      <p:sp>
        <p:nvSpPr>
          <p:cNvPr id="21" name="TextBox 20"/>
          <p:cNvSpPr txBox="1"/>
          <p:nvPr/>
        </p:nvSpPr>
        <p:spPr>
          <a:xfrm>
            <a:off x="7818120" y="2715768"/>
            <a:ext cx="3657600" cy="646331"/>
          </a:xfrm>
          <a:prstGeom prst="rect">
            <a:avLst/>
          </a:prstGeom>
          <a:noFill/>
        </p:spPr>
        <p:txBody>
          <a:bodyPr wrap="square" lIns="0" tIns="0" rIns="0" bIns="0" anchor="t">
            <a:spAutoFit/>
          </a:bodyPr>
          <a:lstStyle/>
          <a:p>
            <a:pPr algn="l">
              <a:lnSpc>
                <a:spcPct val="100000"/>
              </a:lnSpc>
            </a:pPr>
            <a:r>
              <a:rPr sz="1400" b="0" i="0" dirty="0">
                <a:solidFill>
                  <a:srgbClr val="D9E2EA"/>
                </a:solidFill>
                <a:latin typeface="Calibri"/>
              </a:rPr>
              <a:t>Pays the </a:t>
            </a:r>
            <a:r>
              <a:rPr sz="1400" b="0" i="0" dirty="0" err="1">
                <a:solidFill>
                  <a:srgbClr val="D9E2EA"/>
                </a:solidFill>
                <a:latin typeface="Calibri"/>
              </a:rPr>
              <a:t>realised</a:t>
            </a:r>
            <a:r>
              <a:rPr sz="1400" b="0" i="0" dirty="0">
                <a:solidFill>
                  <a:srgbClr val="D9E2EA"/>
                </a:solidFill>
                <a:latin typeface="Calibri"/>
              </a:rPr>
              <a:t> variance of German wind generation minus a fixed strike. The producer sells it.</a:t>
            </a:r>
          </a:p>
        </p:txBody>
      </p:sp>
      <p:sp>
        <p:nvSpPr>
          <p:cNvPr id="22" name="Rounded Rectangle 21"/>
          <p:cNvSpPr/>
          <p:nvPr/>
        </p:nvSpPr>
        <p:spPr>
          <a:xfrm>
            <a:off x="7543800" y="3696788"/>
            <a:ext cx="4114800" cy="1058091"/>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7818120" y="3715077"/>
            <a:ext cx="3657600" cy="274320"/>
          </a:xfrm>
          <a:prstGeom prst="rect">
            <a:avLst/>
          </a:prstGeom>
          <a:noFill/>
        </p:spPr>
        <p:txBody>
          <a:bodyPr wrap="square" lIns="0" tIns="0" rIns="0" bIns="0" anchor="ctr">
            <a:spAutoFit/>
          </a:bodyPr>
          <a:lstStyle/>
          <a:p>
            <a:pPr algn="l"/>
            <a:r>
              <a:rPr b="1" i="0" spc="100" dirty="0">
                <a:solidFill>
                  <a:srgbClr val="1C7293"/>
                </a:solidFill>
                <a:latin typeface="Calibri"/>
              </a:rPr>
              <a:t>MARKET BENCHMARK</a:t>
            </a:r>
          </a:p>
        </p:txBody>
      </p:sp>
      <p:sp>
        <p:nvSpPr>
          <p:cNvPr id="24" name="TextBox 23"/>
          <p:cNvSpPr txBox="1"/>
          <p:nvPr/>
        </p:nvSpPr>
        <p:spPr>
          <a:xfrm>
            <a:off x="7818120" y="4091940"/>
            <a:ext cx="3611880" cy="443263"/>
          </a:xfrm>
          <a:prstGeom prst="rect">
            <a:avLst/>
          </a:prstGeom>
          <a:noFill/>
        </p:spPr>
        <p:txBody>
          <a:bodyPr wrap="square" lIns="0" tIns="0" rIns="0" bIns="0" anchor="t">
            <a:spAutoFit/>
          </a:bodyPr>
          <a:lstStyle/>
          <a:p>
            <a:pPr algn="l">
              <a:lnSpc>
                <a:spcPct val="105000"/>
              </a:lnSpc>
            </a:pPr>
            <a:r>
              <a:rPr sz="1400" b="0" i="0" dirty="0">
                <a:solidFill>
                  <a:srgbClr val="56606B"/>
                </a:solidFill>
                <a:latin typeface="Calibri"/>
              </a:rPr>
              <a:t>Average </a:t>
            </a:r>
            <a:r>
              <a:rPr sz="1400" b="0" i="0" dirty="0" err="1">
                <a:solidFill>
                  <a:srgbClr val="56606B"/>
                </a:solidFill>
                <a:latin typeface="Calibri"/>
              </a:rPr>
              <a:t>realised</a:t>
            </a:r>
            <a:r>
              <a:rPr sz="1400" b="0" i="0" dirty="0">
                <a:solidFill>
                  <a:srgbClr val="56606B"/>
                </a:solidFill>
                <a:latin typeface="Calibri"/>
              </a:rPr>
              <a:t> variance of German wind generation over ten years. No model involved.</a:t>
            </a:r>
          </a:p>
        </p:txBody>
      </p:sp>
      <p:sp>
        <p:nvSpPr>
          <p:cNvPr id="25" name="Rounded Rectangle 24"/>
          <p:cNvSpPr/>
          <p:nvPr/>
        </p:nvSpPr>
        <p:spPr>
          <a:xfrm>
            <a:off x="7543800" y="493776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6" name="TextBox 25"/>
          <p:cNvSpPr txBox="1"/>
          <p:nvPr/>
        </p:nvSpPr>
        <p:spPr>
          <a:xfrm>
            <a:off x="7818120" y="5056632"/>
            <a:ext cx="3657600" cy="274320"/>
          </a:xfrm>
          <a:prstGeom prst="rect">
            <a:avLst/>
          </a:prstGeom>
          <a:noFill/>
        </p:spPr>
        <p:txBody>
          <a:bodyPr wrap="square" lIns="0" tIns="0" rIns="0" bIns="0" anchor="ctr">
            <a:spAutoFit/>
          </a:bodyPr>
          <a:lstStyle/>
          <a:p>
            <a:pPr algn="l"/>
            <a:r>
              <a:rPr b="1" i="0" spc="100" dirty="0">
                <a:solidFill>
                  <a:srgbClr val="C8791A"/>
                </a:solidFill>
                <a:latin typeface="Calibri"/>
              </a:rPr>
              <a:t>WHY THE MODEL IS HIGHER</a:t>
            </a:r>
          </a:p>
        </p:txBody>
      </p:sp>
      <p:sp>
        <p:nvSpPr>
          <p:cNvPr id="27" name="TextBox 26"/>
          <p:cNvSpPr txBox="1"/>
          <p:nvPr/>
        </p:nvSpPr>
        <p:spPr>
          <a:xfrm>
            <a:off x="7818120" y="5349240"/>
            <a:ext cx="3611880" cy="669479"/>
          </a:xfrm>
          <a:prstGeom prst="rect">
            <a:avLst/>
          </a:prstGeom>
          <a:noFill/>
        </p:spPr>
        <p:txBody>
          <a:bodyPr wrap="square" lIns="0" tIns="0" rIns="0" bIns="0" anchor="t">
            <a:spAutoFit/>
          </a:bodyPr>
          <a:lstStyle/>
          <a:p>
            <a:pPr algn="l">
              <a:lnSpc>
                <a:spcPct val="105000"/>
              </a:lnSpc>
            </a:pPr>
            <a:r>
              <a:rPr sz="1400" b="0" i="0" dirty="0">
                <a:solidFill>
                  <a:srgbClr val="56606B"/>
                </a:solidFill>
                <a:latin typeface="Calibri"/>
              </a:rPr>
              <a:t>One location against a nationwide fleet: averaging over many sites makes output smoother.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Hedge: CAWS pays in the calm years</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7</a:t>
            </a:r>
            <a:endParaRPr lang="en-US" sz="900" dirty="0"/>
          </a:p>
        </p:txBody>
      </p:sp>
      <p:sp>
        <p:nvSpPr>
          <p:cNvPr id="14" name="Rounded Rectangle 13"/>
          <p:cNvSpPr/>
          <p:nvPr/>
        </p:nvSpPr>
        <p:spPr>
          <a:xfrm>
            <a:off x="548640" y="1783080"/>
            <a:ext cx="694944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52577"/>
            <a:ext cx="6400800" cy="246221"/>
          </a:xfrm>
          <a:prstGeom prst="rect">
            <a:avLst/>
          </a:prstGeom>
          <a:noFill/>
        </p:spPr>
        <p:txBody>
          <a:bodyPr wrap="square" lIns="0" tIns="0" rIns="0" bIns="0" anchor="ctr">
            <a:spAutoFit/>
          </a:bodyPr>
          <a:lstStyle/>
          <a:p>
            <a:pPr algn="l"/>
            <a:r>
              <a:rPr sz="1600" b="1" i="0" spc="100" dirty="0">
                <a:solidFill>
                  <a:srgbClr val="1C7293"/>
                </a:solidFill>
                <a:latin typeface="Calibri"/>
              </a:rPr>
              <a:t>CAWS PAYOFF PER YEAR, % OF STRIKE · GERMAN SITE, 2015–2024</a:t>
            </a:r>
          </a:p>
        </p:txBody>
      </p:sp>
      <p:graphicFrame>
        <p:nvGraphicFramePr>
          <p:cNvPr id="16" name="Chart 15"/>
          <p:cNvGraphicFramePr>
            <a:graphicFrameLocks noGrp="1"/>
          </p:cNvGraphicFramePr>
          <p:nvPr/>
        </p:nvGraphicFramePr>
        <p:xfrm>
          <a:off x="685800" y="2240280"/>
          <a:ext cx="667512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868680" y="5760720"/>
            <a:ext cx="6400800" cy="411480"/>
          </a:xfrm>
          <a:prstGeom prst="rect">
            <a:avLst/>
          </a:prstGeom>
          <a:noFill/>
        </p:spPr>
        <p:txBody>
          <a:bodyPr wrap="square" lIns="0" tIns="0" rIns="0" bIns="0" anchor="t">
            <a:spAutoFit/>
          </a:bodyPr>
          <a:lstStyle/>
          <a:p>
            <a:pPr algn="l">
              <a:lnSpc>
                <a:spcPct val="100000"/>
              </a:lnSpc>
            </a:pPr>
            <a:r>
              <a:rPr sz="1100" b="0" i="1">
                <a:solidFill>
                  <a:srgbClr val="56606B"/>
                </a:solidFill>
                <a:latin typeface="Calibri"/>
              </a:rPr>
              <a:t>Above zero: a calm year — the contract pays.  Below zero: a windy year — the producer pays the premium.</a:t>
            </a:r>
          </a:p>
        </p:txBody>
      </p:sp>
      <p:sp>
        <p:nvSpPr>
          <p:cNvPr id="18" name="Rounded Rectangle 17"/>
          <p:cNvSpPr/>
          <p:nvPr/>
        </p:nvSpPr>
        <p:spPr>
          <a:xfrm>
            <a:off x="7726679" y="1783080"/>
            <a:ext cx="3931920" cy="2606040"/>
          </a:xfrm>
          <a:prstGeom prst="roundRect">
            <a:avLst>
              <a:gd name="adj" fmla="val 3157"/>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9" name="TextBox 18"/>
          <p:cNvSpPr txBox="1"/>
          <p:nvPr/>
        </p:nvSpPr>
        <p:spPr>
          <a:xfrm>
            <a:off x="7955279" y="1934289"/>
            <a:ext cx="3566160" cy="246221"/>
          </a:xfrm>
          <a:prstGeom prst="rect">
            <a:avLst/>
          </a:prstGeom>
          <a:noFill/>
        </p:spPr>
        <p:txBody>
          <a:bodyPr wrap="square" lIns="0" tIns="0" rIns="0" bIns="0" anchor="ctr">
            <a:spAutoFit/>
          </a:bodyPr>
          <a:lstStyle/>
          <a:p>
            <a:pPr algn="l"/>
            <a:r>
              <a:rPr sz="1600" b="1" i="0" spc="100" dirty="0">
                <a:solidFill>
                  <a:srgbClr val="1C7293"/>
                </a:solidFill>
                <a:latin typeface="Calibri"/>
              </a:rPr>
              <a:t>HOW THE CONTRACT WORKS</a:t>
            </a:r>
          </a:p>
        </p:txBody>
      </p:sp>
      <p:sp>
        <p:nvSpPr>
          <p:cNvPr id="90" name="TextBox 24"/>
          <p:cNvSpPr txBox="1"/>
          <p:nvPr/>
        </p:nvSpPr>
        <p:spPr>
          <a:xfrm>
            <a:off x="7955279" y="2240280"/>
            <a:ext cx="3520440" cy="1343958"/>
          </a:xfrm>
          <a:prstGeom prst="rect">
            <a:avLst/>
          </a:prstGeom>
          <a:noFill/>
        </p:spPr>
        <p:txBody>
          <a:bodyPr wrap="square" lIns="0" tIns="0" rIns="0" bIns="0" anchor="t">
            <a:spAutoFit/>
          </a:bodyPr>
          <a:lstStyle/>
          <a:p>
            <a:pPr algn="l">
              <a:lnSpc>
                <a:spcPct val="100000"/>
              </a:lnSpc>
              <a:spcAft>
                <a:spcPts val="1440"/>
              </a:spcAft>
            </a:pPr>
            <a:r>
              <a:rPr sz="1600" b="0" i="0" dirty="0">
                <a:solidFill>
                  <a:srgbClr val="1C1C1C"/>
                </a:solidFill>
                <a:latin typeface="Calibri"/>
              </a:rPr>
              <a:t>Written on the average wind speed of the year.</a:t>
            </a:r>
          </a:p>
          <a:p>
            <a:pPr algn="l">
              <a:lnSpc>
                <a:spcPct val="100000"/>
              </a:lnSpc>
              <a:spcAft>
                <a:spcPts val="1440"/>
              </a:spcAft>
            </a:pPr>
            <a:r>
              <a:rPr sz="1600" b="0" i="0" dirty="0">
                <a:solidFill>
                  <a:srgbClr val="1C1C1C"/>
                </a:solidFill>
                <a:latin typeface="Calibri"/>
              </a:rPr>
              <a:t>Calm year → the contract pays.</a:t>
            </a:r>
          </a:p>
          <a:p>
            <a:pPr algn="l">
              <a:lnSpc>
                <a:spcPct val="100000"/>
              </a:lnSpc>
              <a:spcAft>
                <a:spcPts val="1440"/>
              </a:spcAft>
            </a:pPr>
            <a:r>
              <a:rPr sz="1600" b="0" i="0" dirty="0">
                <a:solidFill>
                  <a:srgbClr val="1C1C1C"/>
                </a:solidFill>
                <a:latin typeface="Calibri"/>
              </a:rPr>
              <a:t>Windy year → the producer pays.</a:t>
            </a:r>
          </a:p>
        </p:txBody>
      </p:sp>
      <p:sp>
        <p:nvSpPr>
          <p:cNvPr id="22" name="Rounded Rectangle 21"/>
          <p:cNvSpPr/>
          <p:nvPr/>
        </p:nvSpPr>
        <p:spPr>
          <a:xfrm>
            <a:off x="7726679" y="4526280"/>
            <a:ext cx="3931920" cy="1737360"/>
          </a:xfrm>
          <a:prstGeom prst="roundRect">
            <a:avLst>
              <a:gd name="adj" fmla="val 4736"/>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7955279" y="4631769"/>
            <a:ext cx="3566160" cy="246221"/>
          </a:xfrm>
          <a:prstGeom prst="rect">
            <a:avLst/>
          </a:prstGeom>
          <a:noFill/>
        </p:spPr>
        <p:txBody>
          <a:bodyPr wrap="square" lIns="0" tIns="0" rIns="0" bIns="0" anchor="ctr">
            <a:spAutoFit/>
          </a:bodyPr>
          <a:lstStyle/>
          <a:p>
            <a:pPr algn="l"/>
            <a:r>
              <a:rPr sz="1600" b="1" i="0" spc="100" dirty="0">
                <a:solidFill>
                  <a:srgbClr val="E8A33D"/>
                </a:solidFill>
                <a:latin typeface="Calibri"/>
              </a:rPr>
              <a:t>REVENUE AT RISK IN A CALM YEAR</a:t>
            </a:r>
          </a:p>
        </p:txBody>
      </p:sp>
      <p:sp>
        <p:nvSpPr>
          <p:cNvPr id="24" name="TextBox 23"/>
          <p:cNvSpPr txBox="1"/>
          <p:nvPr/>
        </p:nvSpPr>
        <p:spPr>
          <a:xfrm>
            <a:off x="7955279" y="4910328"/>
            <a:ext cx="3566160" cy="411480"/>
          </a:xfrm>
          <a:prstGeom prst="rect">
            <a:avLst/>
          </a:prstGeom>
          <a:noFill/>
        </p:spPr>
        <p:txBody>
          <a:bodyPr wrap="square" lIns="0" tIns="0" rIns="0" bIns="0" anchor="ctr">
            <a:spAutoFit/>
          </a:bodyPr>
          <a:lstStyle/>
          <a:p>
            <a:pPr algn="l"/>
            <a:r>
              <a:rPr sz="2600" b="1" i="0">
                <a:solidFill>
                  <a:srgbClr val="E8A33D"/>
                </a:solidFill>
                <a:latin typeface="Cambria"/>
              </a:rPr>
              <a:t>≈ €2.3m</a:t>
            </a:r>
          </a:p>
        </p:txBody>
      </p:sp>
      <p:sp>
        <p:nvSpPr>
          <p:cNvPr id="25" name="TextBox 24"/>
          <p:cNvSpPr txBox="1"/>
          <p:nvPr/>
        </p:nvSpPr>
        <p:spPr>
          <a:xfrm>
            <a:off x="7955279" y="5349240"/>
            <a:ext cx="3566160" cy="738664"/>
          </a:xfrm>
          <a:prstGeom prst="rect">
            <a:avLst/>
          </a:prstGeom>
          <a:noFill/>
        </p:spPr>
        <p:txBody>
          <a:bodyPr wrap="square" lIns="0" tIns="0" rIns="0" bIns="0" anchor="t">
            <a:spAutoFit/>
          </a:bodyPr>
          <a:lstStyle/>
          <a:p>
            <a:pPr algn="l">
              <a:lnSpc>
                <a:spcPct val="100000"/>
              </a:lnSpc>
            </a:pPr>
            <a:r>
              <a:rPr sz="1600" b="0" i="0" dirty="0">
                <a:solidFill>
                  <a:srgbClr val="E6ECF1"/>
                </a:solidFill>
                <a:latin typeface="Calibri"/>
              </a:rPr>
              <a:t>2021: wind about 5% below normal, on a 100 MW farm. Illustrative exposure, not the contract payout.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Data: on the wrong wind data, the price is 94% too low</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8</a:t>
            </a:r>
            <a:endParaRPr lang="en-US" sz="900" dirty="0"/>
          </a:p>
        </p:txBody>
      </p:sp>
      <p:sp>
        <p:nvSpPr>
          <p:cNvPr id="14" name="Rounded Rectangle 13"/>
          <p:cNvSpPr/>
          <p:nvPr/>
        </p:nvSpPr>
        <p:spPr>
          <a:xfrm>
            <a:off x="548640" y="1783080"/>
            <a:ext cx="6766560" cy="448056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4289"/>
            <a:ext cx="5029200" cy="246221"/>
          </a:xfrm>
          <a:prstGeom prst="rect">
            <a:avLst/>
          </a:prstGeom>
          <a:noFill/>
        </p:spPr>
        <p:txBody>
          <a:bodyPr wrap="square" lIns="0" tIns="0" rIns="0" bIns="0" anchor="ctr">
            <a:spAutoFit/>
          </a:bodyPr>
          <a:lstStyle/>
          <a:p>
            <a:pPr algn="l"/>
            <a:r>
              <a:rPr sz="1600" b="1" i="0" spc="100" dirty="0">
                <a:solidFill>
                  <a:srgbClr val="1C7293"/>
                </a:solidFill>
                <a:latin typeface="Calibri"/>
              </a:rPr>
              <a:t>FAIR STRIKE · SAME MODEL, DIFFERENT WIND DATA</a:t>
            </a:r>
          </a:p>
        </p:txBody>
      </p:sp>
      <p:graphicFrame>
        <p:nvGraphicFramePr>
          <p:cNvPr id="16" name="Chart 15"/>
          <p:cNvGraphicFramePr>
            <a:graphicFrameLocks noGrp="1"/>
          </p:cNvGraphicFramePr>
          <p:nvPr/>
        </p:nvGraphicFramePr>
        <p:xfrm>
          <a:off x="685800" y="2286000"/>
          <a:ext cx="64922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100" name="Rounded Rectangle 17"/>
          <p:cNvSpPr/>
          <p:nvPr/>
        </p:nvSpPr>
        <p:spPr>
          <a:xfrm>
            <a:off x="7543800" y="1783080"/>
            <a:ext cx="4114800" cy="1463040"/>
          </a:xfrm>
          <a:prstGeom prst="roundRect">
            <a:avLst>
              <a:gd name="adj" fmla="val 5624"/>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01" name="TextBox 18"/>
          <p:cNvSpPr txBox="1"/>
          <p:nvPr/>
        </p:nvSpPr>
        <p:spPr>
          <a:xfrm>
            <a:off x="7818120" y="1934289"/>
            <a:ext cx="3657600" cy="246221"/>
          </a:xfrm>
          <a:prstGeom prst="rect">
            <a:avLst/>
          </a:prstGeom>
          <a:noFill/>
        </p:spPr>
        <p:txBody>
          <a:bodyPr wrap="square" lIns="0" tIns="0" rIns="0" bIns="0" anchor="ctr">
            <a:spAutoFit/>
          </a:bodyPr>
          <a:lstStyle/>
          <a:p>
            <a:pPr algn="l"/>
            <a:r>
              <a:rPr sz="1600" b="1" i="0" spc="100" dirty="0">
                <a:solidFill>
                  <a:srgbClr val="E8A33D"/>
                </a:solidFill>
                <a:latin typeface="Calibri"/>
              </a:rPr>
              <a:t>WRONG DATA</a:t>
            </a:r>
          </a:p>
        </p:txBody>
      </p:sp>
      <p:sp>
        <p:nvSpPr>
          <p:cNvPr id="102" name="TextBox 19"/>
          <p:cNvSpPr txBox="1"/>
          <p:nvPr/>
        </p:nvSpPr>
        <p:spPr>
          <a:xfrm>
            <a:off x="7818120" y="2299603"/>
            <a:ext cx="3657600" cy="338554"/>
          </a:xfrm>
          <a:prstGeom prst="rect">
            <a:avLst/>
          </a:prstGeom>
          <a:noFill/>
        </p:spPr>
        <p:txBody>
          <a:bodyPr wrap="square" lIns="0" tIns="0" rIns="0" bIns="0" anchor="ctr">
            <a:spAutoFit/>
          </a:bodyPr>
          <a:lstStyle/>
          <a:p>
            <a:pPr algn="l"/>
            <a:r>
              <a:rPr sz="2200" b="1" i="0" dirty="0">
                <a:solidFill>
                  <a:srgbClr val="FFFFFF"/>
                </a:solidFill>
                <a:latin typeface="Cambria"/>
              </a:rPr>
              <a:t>Price 94% too low</a:t>
            </a:r>
          </a:p>
        </p:txBody>
      </p:sp>
      <p:sp>
        <p:nvSpPr>
          <p:cNvPr id="103" name="TextBox 20"/>
          <p:cNvSpPr txBox="1"/>
          <p:nvPr/>
        </p:nvSpPr>
        <p:spPr>
          <a:xfrm>
            <a:off x="7818120" y="2715768"/>
            <a:ext cx="3657600" cy="430887"/>
          </a:xfrm>
          <a:prstGeom prst="rect">
            <a:avLst/>
          </a:prstGeom>
          <a:noFill/>
        </p:spPr>
        <p:txBody>
          <a:bodyPr wrap="square" lIns="0" tIns="0" rIns="0" bIns="0" anchor="t">
            <a:spAutoFit/>
          </a:bodyPr>
          <a:lstStyle/>
          <a:p>
            <a:pPr algn="l">
              <a:lnSpc>
                <a:spcPct val="100000"/>
              </a:lnSpc>
            </a:pPr>
            <a:r>
              <a:rPr sz="1400" b="0" i="0" dirty="0">
                <a:solidFill>
                  <a:srgbClr val="D9E2EA"/>
                </a:solidFill>
                <a:latin typeface="Calibri"/>
              </a:rPr>
              <a:t>Same model, same assumptions — only the wind data changes.</a:t>
            </a:r>
          </a:p>
        </p:txBody>
      </p:sp>
      <p:sp>
        <p:nvSpPr>
          <p:cNvPr id="104" name="Rounded Rectangle 21"/>
          <p:cNvSpPr/>
          <p:nvPr/>
        </p:nvSpPr>
        <p:spPr>
          <a:xfrm>
            <a:off x="7543800" y="342900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05" name="TextBox 22"/>
          <p:cNvSpPr txBox="1"/>
          <p:nvPr/>
        </p:nvSpPr>
        <p:spPr>
          <a:xfrm>
            <a:off x="7818120" y="3561921"/>
            <a:ext cx="3657600" cy="246221"/>
          </a:xfrm>
          <a:prstGeom prst="rect">
            <a:avLst/>
          </a:prstGeom>
          <a:noFill/>
        </p:spPr>
        <p:txBody>
          <a:bodyPr wrap="square" lIns="0" tIns="0" rIns="0" bIns="0" anchor="ctr">
            <a:spAutoFit/>
          </a:bodyPr>
          <a:lstStyle/>
          <a:p>
            <a:pPr algn="l"/>
            <a:r>
              <a:rPr sz="1600" b="1" i="0" spc="100" dirty="0">
                <a:solidFill>
                  <a:srgbClr val="1C7293"/>
                </a:solidFill>
                <a:latin typeface="Calibri"/>
              </a:rPr>
              <a:t>HEIGHT IS NOT THE REASON</a:t>
            </a:r>
          </a:p>
        </p:txBody>
      </p:sp>
      <p:sp>
        <p:nvSpPr>
          <p:cNvPr id="106" name="TextBox 23"/>
          <p:cNvSpPr txBox="1"/>
          <p:nvPr/>
        </p:nvSpPr>
        <p:spPr>
          <a:xfrm>
            <a:off x="7818120" y="3840480"/>
            <a:ext cx="3611880" cy="669479"/>
          </a:xfrm>
          <a:prstGeom prst="rect">
            <a:avLst/>
          </a:prstGeom>
          <a:noFill/>
        </p:spPr>
        <p:txBody>
          <a:bodyPr wrap="square" lIns="0" tIns="0" rIns="0" bIns="0" anchor="t">
            <a:spAutoFit/>
          </a:bodyPr>
          <a:lstStyle/>
          <a:p>
            <a:pPr algn="l">
              <a:lnSpc>
                <a:spcPct val="105000"/>
              </a:lnSpc>
            </a:pPr>
            <a:r>
              <a:rPr sz="1400" b="0" i="0" dirty="0">
                <a:solidFill>
                  <a:srgbClr val="56606B"/>
                </a:solidFill>
                <a:latin typeface="Calibri"/>
              </a:rPr>
              <a:t>Correcting Bologna’s wind from 10 m to 100 m still leaves the price 88% too low — for any realistic terrain (backup B5).</a:t>
            </a:r>
          </a:p>
        </p:txBody>
      </p:sp>
      <p:sp>
        <p:nvSpPr>
          <p:cNvPr id="107" name="Rounded Rectangle 24"/>
          <p:cNvSpPr/>
          <p:nvPr/>
        </p:nvSpPr>
        <p:spPr>
          <a:xfrm>
            <a:off x="7543800" y="493776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08" name="TextBox 25"/>
          <p:cNvSpPr txBox="1"/>
          <p:nvPr/>
        </p:nvSpPr>
        <p:spPr>
          <a:xfrm>
            <a:off x="7818120" y="5070681"/>
            <a:ext cx="3657600" cy="246221"/>
          </a:xfrm>
          <a:prstGeom prst="rect">
            <a:avLst/>
          </a:prstGeom>
          <a:noFill/>
        </p:spPr>
        <p:txBody>
          <a:bodyPr wrap="square" lIns="0" tIns="0" rIns="0" bIns="0" anchor="ctr">
            <a:spAutoFit/>
          </a:bodyPr>
          <a:lstStyle/>
          <a:p>
            <a:pPr algn="l"/>
            <a:r>
              <a:rPr sz="1600" b="1" i="0" spc="100" dirty="0">
                <a:solidFill>
                  <a:srgbClr val="C8791A"/>
                </a:solidFill>
                <a:latin typeface="Calibri"/>
              </a:rPr>
              <a:t>SO WHAT IS?</a:t>
            </a:r>
          </a:p>
        </p:txBody>
      </p:sp>
      <p:sp>
        <p:nvSpPr>
          <p:cNvPr id="109" name="TextBox 26"/>
          <p:cNvSpPr txBox="1"/>
          <p:nvPr/>
        </p:nvSpPr>
        <p:spPr>
          <a:xfrm>
            <a:off x="7818120" y="5349240"/>
            <a:ext cx="3611880" cy="443263"/>
          </a:xfrm>
          <a:prstGeom prst="rect">
            <a:avLst/>
          </a:prstGeom>
          <a:noFill/>
        </p:spPr>
        <p:txBody>
          <a:bodyPr wrap="square" lIns="0" tIns="0" rIns="0" bIns="0" anchor="t">
            <a:spAutoFit/>
          </a:bodyPr>
          <a:lstStyle/>
          <a:p>
            <a:pPr algn="l">
              <a:lnSpc>
                <a:spcPct val="105000"/>
              </a:lnSpc>
            </a:pPr>
            <a:r>
              <a:rPr sz="1400" b="0" i="0" dirty="0">
                <a:solidFill>
                  <a:srgbClr val="56606B"/>
                </a:solidFill>
                <a:latin typeface="Calibri"/>
              </a:rPr>
              <a:t>Next: does the wind series move with German wind generation at all?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The proxy wind tells us nothing about German generation</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9</a:t>
            </a:r>
            <a:endParaRPr lang="en-US" sz="900" dirty="0"/>
          </a:p>
        </p:txBody>
      </p:sp>
      <p:sp>
        <p:nvSpPr>
          <p:cNvPr id="14" name="Rounded Rectangle 13"/>
          <p:cNvSpPr/>
          <p:nvPr/>
        </p:nvSpPr>
        <p:spPr>
          <a:xfrm>
            <a:off x="548640" y="1783080"/>
            <a:ext cx="8732520" cy="3291840"/>
          </a:xfrm>
          <a:prstGeom prst="roundRect">
            <a:avLst>
              <a:gd name="adj" fmla="val 2500"/>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pic>
        <p:nvPicPr>
          <p:cNvPr id="15" name="Picture 14" descr="pcA.png"/>
          <p:cNvPicPr>
            <a:picLocks noChangeAspect="1"/>
          </p:cNvPicPr>
          <p:nvPr/>
        </p:nvPicPr>
        <p:blipFill>
          <a:blip r:embed="rId3"/>
          <a:stretch>
            <a:fillRect/>
          </a:stretch>
        </p:blipFill>
        <p:spPr>
          <a:xfrm>
            <a:off x="731520" y="1965960"/>
            <a:ext cx="4425071" cy="2606040"/>
          </a:xfrm>
          <a:prstGeom prst="rect">
            <a:avLst/>
          </a:prstGeom>
        </p:spPr>
      </p:pic>
      <p:pic>
        <p:nvPicPr>
          <p:cNvPr id="16" name="Picture 15" descr="pcB.png"/>
          <p:cNvPicPr>
            <a:picLocks noChangeAspect="1"/>
          </p:cNvPicPr>
          <p:nvPr/>
        </p:nvPicPr>
        <p:blipFill>
          <a:blip r:embed="rId4"/>
          <a:stretch>
            <a:fillRect/>
          </a:stretch>
        </p:blipFill>
        <p:spPr>
          <a:xfrm>
            <a:off x="5303520" y="1965960"/>
            <a:ext cx="3831653" cy="2606040"/>
          </a:xfrm>
          <a:prstGeom prst="rect">
            <a:avLst/>
          </a:prstGeom>
        </p:spPr>
      </p:pic>
      <p:sp>
        <p:nvSpPr>
          <p:cNvPr id="17" name="TextBox 16"/>
          <p:cNvSpPr txBox="1"/>
          <p:nvPr/>
        </p:nvSpPr>
        <p:spPr>
          <a:xfrm>
            <a:off x="731520" y="4663440"/>
            <a:ext cx="4480560" cy="320040"/>
          </a:xfrm>
          <a:prstGeom prst="rect">
            <a:avLst/>
          </a:prstGeom>
          <a:noFill/>
        </p:spPr>
        <p:txBody>
          <a:bodyPr wrap="square" lIns="0" tIns="0" rIns="0" bIns="0" anchor="ctr">
            <a:spAutoFit/>
          </a:bodyPr>
          <a:lstStyle/>
          <a:p>
            <a:pPr algn="l"/>
            <a:r>
              <a:rPr sz="1200" b="1" i="0">
                <a:solidFill>
                  <a:srgbClr val="C8791A"/>
                </a:solidFill>
                <a:latin typeface="Calibri"/>
              </a:rPr>
              <a:t>A — Bologna 10 m: </a:t>
            </a:r>
            <a:r>
              <a:rPr sz="1200" b="0" i="0">
                <a:solidFill>
                  <a:srgbClr val="56606B"/>
                </a:solidFill>
                <a:latin typeface="Calibri"/>
              </a:rPr>
              <a:t>R² = 0.0001, slope p = 0.723</a:t>
            </a:r>
          </a:p>
        </p:txBody>
      </p:sp>
      <p:sp>
        <p:nvSpPr>
          <p:cNvPr id="18" name="TextBox 17"/>
          <p:cNvSpPr txBox="1"/>
          <p:nvPr/>
        </p:nvSpPr>
        <p:spPr>
          <a:xfrm>
            <a:off x="5303520" y="4663440"/>
            <a:ext cx="3840480" cy="320040"/>
          </a:xfrm>
          <a:prstGeom prst="rect">
            <a:avLst/>
          </a:prstGeom>
          <a:noFill/>
        </p:spPr>
        <p:txBody>
          <a:bodyPr wrap="square" lIns="0" tIns="0" rIns="0" bIns="0" anchor="ctr">
            <a:spAutoFit/>
          </a:bodyPr>
          <a:lstStyle/>
          <a:p>
            <a:pPr algn="l"/>
            <a:r>
              <a:rPr sz="1200" b="1" i="0">
                <a:solidFill>
                  <a:srgbClr val="1C7293"/>
                </a:solidFill>
                <a:latin typeface="Calibri"/>
              </a:rPr>
              <a:t>B — Nordfriesland 100 m: </a:t>
            </a:r>
            <a:r>
              <a:rPr sz="1200" b="0" i="0">
                <a:solidFill>
                  <a:srgbClr val="56606B"/>
                </a:solidFill>
                <a:latin typeface="Calibri"/>
              </a:rPr>
              <a:t>R² = 0.587, p &lt; 0.001</a:t>
            </a:r>
          </a:p>
        </p:txBody>
      </p:sp>
      <p:sp>
        <p:nvSpPr>
          <p:cNvPr id="19" name="Rounded Rectangle 18"/>
          <p:cNvSpPr/>
          <p:nvPr/>
        </p:nvSpPr>
        <p:spPr>
          <a:xfrm>
            <a:off x="9509760" y="1783080"/>
            <a:ext cx="2148840" cy="3291840"/>
          </a:xfrm>
          <a:prstGeom prst="roundRect">
            <a:avLst>
              <a:gd name="adj" fmla="val 3829"/>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0" name="TextBox 19"/>
          <p:cNvSpPr txBox="1"/>
          <p:nvPr/>
        </p:nvSpPr>
        <p:spPr>
          <a:xfrm>
            <a:off x="9692640" y="1780401"/>
            <a:ext cx="1828800" cy="553998"/>
          </a:xfrm>
          <a:prstGeom prst="rect">
            <a:avLst/>
          </a:prstGeom>
          <a:noFill/>
        </p:spPr>
        <p:txBody>
          <a:bodyPr wrap="square" lIns="0" tIns="0" rIns="0" bIns="0" anchor="ctr">
            <a:spAutoFit/>
          </a:bodyPr>
          <a:lstStyle/>
          <a:p>
            <a:pPr algn="l"/>
            <a:r>
              <a:rPr b="1" i="0" spc="100" dirty="0">
                <a:solidFill>
                  <a:srgbClr val="1C7293"/>
                </a:solidFill>
                <a:latin typeface="Calibri"/>
              </a:rPr>
              <a:t>GENERATION EXPLAINED</a:t>
            </a:r>
          </a:p>
        </p:txBody>
      </p:sp>
      <p:sp>
        <p:nvSpPr>
          <p:cNvPr id="21" name="TextBox 20"/>
          <p:cNvSpPr txBox="1"/>
          <p:nvPr/>
        </p:nvSpPr>
        <p:spPr>
          <a:xfrm>
            <a:off x="9692640" y="2345944"/>
            <a:ext cx="1828800" cy="594360"/>
          </a:xfrm>
          <a:prstGeom prst="rect">
            <a:avLst/>
          </a:prstGeom>
          <a:noFill/>
        </p:spPr>
        <p:txBody>
          <a:bodyPr wrap="square" lIns="0" tIns="0" rIns="0" bIns="0" anchor="ctr">
            <a:spAutoFit/>
          </a:bodyPr>
          <a:lstStyle/>
          <a:p>
            <a:pPr algn="l"/>
            <a:r>
              <a:rPr sz="3200" b="1" i="0" dirty="0">
                <a:solidFill>
                  <a:srgbClr val="1C7293"/>
                </a:solidFill>
                <a:latin typeface="Cambria"/>
              </a:rPr>
              <a:t>58.7%</a:t>
            </a:r>
          </a:p>
        </p:txBody>
      </p:sp>
      <p:sp>
        <p:nvSpPr>
          <p:cNvPr id="22" name="TextBox 21"/>
          <p:cNvSpPr txBox="1"/>
          <p:nvPr/>
        </p:nvSpPr>
        <p:spPr>
          <a:xfrm>
            <a:off x="9692640" y="2940304"/>
            <a:ext cx="1828800" cy="274320"/>
          </a:xfrm>
          <a:prstGeom prst="rect">
            <a:avLst/>
          </a:prstGeom>
          <a:noFill/>
        </p:spPr>
        <p:txBody>
          <a:bodyPr wrap="square" lIns="0" tIns="0" rIns="0" bIns="0" anchor="t">
            <a:spAutoFit/>
          </a:bodyPr>
          <a:lstStyle/>
          <a:p>
            <a:pPr algn="l"/>
            <a:r>
              <a:rPr sz="1100" b="0" i="0" dirty="0">
                <a:solidFill>
                  <a:srgbClr val="56606B"/>
                </a:solidFill>
                <a:latin typeface="Calibri"/>
              </a:rPr>
              <a:t>German site, 100 m</a:t>
            </a:r>
          </a:p>
        </p:txBody>
      </p:sp>
      <p:sp>
        <p:nvSpPr>
          <p:cNvPr id="23" name="TextBox 22"/>
          <p:cNvSpPr txBox="1"/>
          <p:nvPr/>
        </p:nvSpPr>
        <p:spPr>
          <a:xfrm>
            <a:off x="9692640" y="3291840"/>
            <a:ext cx="1828800" cy="594360"/>
          </a:xfrm>
          <a:prstGeom prst="rect">
            <a:avLst/>
          </a:prstGeom>
          <a:noFill/>
        </p:spPr>
        <p:txBody>
          <a:bodyPr wrap="square" lIns="0" tIns="0" rIns="0" bIns="0" anchor="ctr">
            <a:spAutoFit/>
          </a:bodyPr>
          <a:lstStyle/>
          <a:p>
            <a:pPr algn="l"/>
            <a:r>
              <a:rPr sz="3200" b="1" i="0">
                <a:solidFill>
                  <a:srgbClr val="C8791A"/>
                </a:solidFill>
                <a:latin typeface="Cambria"/>
              </a:rPr>
              <a:t>0.01%</a:t>
            </a:r>
          </a:p>
        </p:txBody>
      </p:sp>
      <p:sp>
        <p:nvSpPr>
          <p:cNvPr id="24" name="TextBox 23"/>
          <p:cNvSpPr txBox="1"/>
          <p:nvPr/>
        </p:nvSpPr>
        <p:spPr>
          <a:xfrm>
            <a:off x="9692640" y="3858768"/>
            <a:ext cx="1828800" cy="274320"/>
          </a:xfrm>
          <a:prstGeom prst="rect">
            <a:avLst/>
          </a:prstGeom>
          <a:noFill/>
        </p:spPr>
        <p:txBody>
          <a:bodyPr wrap="square" lIns="0" tIns="0" rIns="0" bIns="0" anchor="t">
            <a:spAutoFit/>
          </a:bodyPr>
          <a:lstStyle/>
          <a:p>
            <a:pPr algn="l"/>
            <a:r>
              <a:rPr sz="1100" b="0" i="0">
                <a:solidFill>
                  <a:srgbClr val="56606B"/>
                </a:solidFill>
                <a:latin typeface="Calibri"/>
              </a:rPr>
              <a:t>Bologna, 10 m</a:t>
            </a:r>
          </a:p>
        </p:txBody>
      </p:sp>
      <p:sp>
        <p:nvSpPr>
          <p:cNvPr id="25" name="TextBox 24"/>
          <p:cNvSpPr txBox="1"/>
          <p:nvPr/>
        </p:nvSpPr>
        <p:spPr>
          <a:xfrm>
            <a:off x="9692640" y="4251960"/>
            <a:ext cx="1828800" cy="731520"/>
          </a:xfrm>
          <a:prstGeom prst="rect">
            <a:avLst/>
          </a:prstGeom>
          <a:noFill/>
        </p:spPr>
        <p:txBody>
          <a:bodyPr wrap="square" lIns="0" tIns="0" rIns="0" bIns="0" anchor="t">
            <a:spAutoFit/>
          </a:bodyPr>
          <a:lstStyle/>
          <a:p>
            <a:pPr algn="l">
              <a:lnSpc>
                <a:spcPct val="100000"/>
              </a:lnSpc>
            </a:pPr>
            <a:r>
              <a:rPr sz="1050" b="0" i="1" dirty="0">
                <a:solidFill>
                  <a:srgbClr val="56606B"/>
                </a:solidFill>
                <a:latin typeface="Calibri"/>
              </a:rPr>
              <a:t>Daily regression of German wind generation on wind speed cubed</a:t>
            </a:r>
          </a:p>
        </p:txBody>
      </p:sp>
      <p:sp>
        <p:nvSpPr>
          <p:cNvPr id="26" name="Rounded Rectangle 25"/>
          <p:cNvSpPr/>
          <p:nvPr/>
        </p:nvSpPr>
        <p:spPr>
          <a:xfrm>
            <a:off x="548640" y="5257800"/>
            <a:ext cx="6309360" cy="1005840"/>
          </a:xfrm>
          <a:prstGeom prst="roundRect">
            <a:avLst>
              <a:gd name="adj" fmla="val 8181"/>
            </a:avLst>
          </a:prstGeom>
          <a:solidFill>
            <a:srgbClr val="EEF3F7"/>
          </a:solidFill>
          <a:ln>
            <a:noFill/>
          </a:ln>
        </p:spPr>
        <p:txBody>
          <a:bodyPr rtlCol="0" anchor="ctr"/>
          <a:lstStyle/>
          <a:p>
            <a:pPr algn="ctr"/>
            <a:endParaRPr/>
          </a:p>
        </p:txBody>
      </p:sp>
      <p:sp>
        <p:nvSpPr>
          <p:cNvPr id="27" name="TextBox 26"/>
          <p:cNvSpPr txBox="1"/>
          <p:nvPr/>
        </p:nvSpPr>
        <p:spPr>
          <a:xfrm>
            <a:off x="822960" y="5534516"/>
            <a:ext cx="5852160" cy="443263"/>
          </a:xfrm>
          <a:prstGeom prst="rect">
            <a:avLst/>
          </a:prstGeom>
          <a:noFill/>
        </p:spPr>
        <p:txBody>
          <a:bodyPr wrap="square" lIns="0" tIns="0" rIns="0" bIns="0" anchor="ctr">
            <a:spAutoFit/>
          </a:bodyPr>
          <a:lstStyle/>
          <a:p>
            <a:pPr algn="l">
              <a:lnSpc>
                <a:spcPct val="105000"/>
              </a:lnSpc>
            </a:pPr>
            <a:r>
              <a:rPr sz="1400" b="0" i="0" dirty="0">
                <a:solidFill>
                  <a:srgbClr val="56606B"/>
                </a:solidFill>
                <a:latin typeface="Calibri"/>
              </a:rPr>
              <a:t>A simple rule: </a:t>
            </a:r>
            <a:r>
              <a:rPr sz="1400" b="1" i="0" dirty="0">
                <a:solidFill>
                  <a:srgbClr val="21295C"/>
                </a:solidFill>
                <a:latin typeface="Calibri"/>
              </a:rPr>
              <a:t>before pricing, check that the wind data explains the output you hedge. It costs one regression.</a:t>
            </a:r>
          </a:p>
        </p:txBody>
      </p:sp>
      <p:sp>
        <p:nvSpPr>
          <p:cNvPr id="28" name="Rounded Rectangle 27"/>
          <p:cNvSpPr/>
          <p:nvPr/>
        </p:nvSpPr>
        <p:spPr>
          <a:xfrm>
            <a:off x="7086600" y="5257800"/>
            <a:ext cx="4572000" cy="1005840"/>
          </a:xfrm>
          <a:prstGeom prst="roundRect">
            <a:avLst>
              <a:gd name="adj" fmla="val 8181"/>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9" name="TextBox 28"/>
          <p:cNvSpPr txBox="1"/>
          <p:nvPr/>
        </p:nvSpPr>
        <p:spPr>
          <a:xfrm>
            <a:off x="7315200" y="5432982"/>
            <a:ext cx="4160520" cy="646331"/>
          </a:xfrm>
          <a:prstGeom prst="rect">
            <a:avLst/>
          </a:prstGeom>
          <a:noFill/>
        </p:spPr>
        <p:txBody>
          <a:bodyPr wrap="square" lIns="0" tIns="0" rIns="0" bIns="0" anchor="ctr">
            <a:spAutoFit/>
          </a:bodyPr>
          <a:lstStyle/>
          <a:p>
            <a:pPr algn="l">
              <a:lnSpc>
                <a:spcPct val="100000"/>
              </a:lnSpc>
            </a:pPr>
            <a:r>
              <a:rPr sz="1400" b="0" i="1" dirty="0">
                <a:solidFill>
                  <a:srgbClr val="FFFFFF"/>
                </a:solidFill>
                <a:latin typeface="Cambria"/>
              </a:rPr>
              <a:t>A proxy that quotes a plausible number while carrying no information is more dangerous than an obviously wrong one — only the second announces itself.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The question, answered</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10</a:t>
            </a:r>
            <a:endParaRPr lang="en-US" sz="900" dirty="0"/>
          </a:p>
        </p:txBody>
      </p:sp>
      <p:sp>
        <p:nvSpPr>
          <p:cNvPr id="14" name="Rounded Rectangle 13"/>
          <p:cNvSpPr/>
          <p:nvPr/>
        </p:nvSpPr>
        <p:spPr>
          <a:xfrm>
            <a:off x="548640"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Oval 14"/>
          <p:cNvSpPr/>
          <p:nvPr/>
        </p:nvSpPr>
        <p:spPr>
          <a:xfrm>
            <a:off x="841247" y="2011680"/>
            <a:ext cx="502920" cy="502920"/>
          </a:xfrm>
          <a:prstGeom prst="ellipse">
            <a:avLst/>
          </a:prstGeom>
          <a:solidFill>
            <a:srgbClr val="1C7293"/>
          </a:solidFill>
          <a:ln>
            <a:noFill/>
          </a:ln>
        </p:spPr>
        <p:txBody>
          <a:bodyPr rtlCol="0" anchor="ctr"/>
          <a:lstStyle/>
          <a:p>
            <a:pPr algn="ctr"/>
            <a:endParaRPr/>
          </a:p>
        </p:txBody>
      </p:sp>
      <p:sp>
        <p:nvSpPr>
          <p:cNvPr id="16" name="TextBox 15"/>
          <p:cNvSpPr txBox="1"/>
          <p:nvPr/>
        </p:nvSpPr>
        <p:spPr>
          <a:xfrm>
            <a:off x="841247"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1</a:t>
            </a:r>
          </a:p>
        </p:txBody>
      </p:sp>
      <p:sp>
        <p:nvSpPr>
          <p:cNvPr id="17" name="TextBox 16"/>
          <p:cNvSpPr txBox="1"/>
          <p:nvPr/>
        </p:nvSpPr>
        <p:spPr>
          <a:xfrm>
            <a:off x="1508760" y="2130552"/>
            <a:ext cx="2468880" cy="274320"/>
          </a:xfrm>
          <a:prstGeom prst="rect">
            <a:avLst/>
          </a:prstGeom>
          <a:noFill/>
        </p:spPr>
        <p:txBody>
          <a:bodyPr wrap="square" lIns="0" tIns="0" rIns="0" bIns="0" anchor="ctr">
            <a:spAutoFit/>
          </a:bodyPr>
          <a:lstStyle/>
          <a:p>
            <a:pPr algn="l"/>
            <a:r>
              <a:rPr b="1" i="0" spc="100" dirty="0">
                <a:solidFill>
                  <a:srgbClr val="C8791A"/>
                </a:solidFill>
                <a:latin typeface="Calibri"/>
              </a:rPr>
              <a:t>PRICE</a:t>
            </a:r>
          </a:p>
        </p:txBody>
      </p:sp>
      <p:sp>
        <p:nvSpPr>
          <p:cNvPr id="18" name="TextBox 17"/>
          <p:cNvSpPr txBox="1"/>
          <p:nvPr/>
        </p:nvSpPr>
        <p:spPr>
          <a:xfrm>
            <a:off x="841247" y="2741860"/>
            <a:ext cx="3017520" cy="276999"/>
          </a:xfrm>
          <a:prstGeom prst="rect">
            <a:avLst/>
          </a:prstGeom>
          <a:noFill/>
        </p:spPr>
        <p:txBody>
          <a:bodyPr wrap="square" lIns="0" tIns="0" rIns="0" bIns="0" anchor="ctr">
            <a:spAutoFit/>
          </a:bodyPr>
          <a:lstStyle/>
          <a:p>
            <a:pPr algn="l"/>
            <a:r>
              <a:rPr b="1" i="0" dirty="0">
                <a:solidFill>
                  <a:srgbClr val="21295C"/>
                </a:solidFill>
                <a:latin typeface="Cambria"/>
              </a:rPr>
              <a:t>Yes — in closed form</a:t>
            </a:r>
          </a:p>
        </p:txBody>
      </p:sp>
      <p:sp>
        <p:nvSpPr>
          <p:cNvPr id="19" name="TextBox 18"/>
          <p:cNvSpPr txBox="1"/>
          <p:nvPr/>
        </p:nvSpPr>
        <p:spPr>
          <a:xfrm>
            <a:off x="841247" y="3154680"/>
            <a:ext cx="3017520" cy="914033"/>
          </a:xfrm>
          <a:prstGeom prst="rect">
            <a:avLst/>
          </a:prstGeom>
          <a:noFill/>
        </p:spPr>
        <p:txBody>
          <a:bodyPr wrap="square" lIns="0" tIns="0" rIns="0" bIns="0" anchor="t">
            <a:spAutoFit/>
          </a:bodyPr>
          <a:lstStyle/>
          <a:p>
            <a:pPr algn="l">
              <a:lnSpc>
                <a:spcPct val="112000"/>
              </a:lnSpc>
            </a:pPr>
            <a:r>
              <a:rPr b="0" i="0" dirty="0">
                <a:solidFill>
                  <a:srgbClr val="56606B"/>
                </a:solidFill>
                <a:latin typeface="Calibri"/>
              </a:rPr>
              <a:t>Fair strike = h(t₀) × C₀ under the θ = 0 benchmark. In market units, it is in the market’s range.</a:t>
            </a:r>
          </a:p>
        </p:txBody>
      </p:sp>
      <p:sp>
        <p:nvSpPr>
          <p:cNvPr id="20" name="Rounded Rectangle 19"/>
          <p:cNvSpPr/>
          <p:nvPr/>
        </p:nvSpPr>
        <p:spPr>
          <a:xfrm>
            <a:off x="4306824"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1" name="Oval 20"/>
          <p:cNvSpPr/>
          <p:nvPr/>
        </p:nvSpPr>
        <p:spPr>
          <a:xfrm>
            <a:off x="4599432" y="2011680"/>
            <a:ext cx="502920" cy="502920"/>
          </a:xfrm>
          <a:prstGeom prst="ellipse">
            <a:avLst/>
          </a:prstGeom>
          <a:solidFill>
            <a:srgbClr val="1C7293"/>
          </a:solidFill>
          <a:ln>
            <a:noFill/>
          </a:ln>
        </p:spPr>
        <p:txBody>
          <a:bodyPr rtlCol="0" anchor="ctr"/>
          <a:lstStyle/>
          <a:p>
            <a:pPr algn="ctr"/>
            <a:endParaRPr/>
          </a:p>
        </p:txBody>
      </p:sp>
      <p:sp>
        <p:nvSpPr>
          <p:cNvPr id="22" name="TextBox 21"/>
          <p:cNvSpPr txBox="1"/>
          <p:nvPr/>
        </p:nvSpPr>
        <p:spPr>
          <a:xfrm>
            <a:off x="4599432"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2</a:t>
            </a:r>
          </a:p>
        </p:txBody>
      </p:sp>
      <p:sp>
        <p:nvSpPr>
          <p:cNvPr id="23" name="TextBox 22"/>
          <p:cNvSpPr txBox="1"/>
          <p:nvPr/>
        </p:nvSpPr>
        <p:spPr>
          <a:xfrm>
            <a:off x="5266944" y="2130552"/>
            <a:ext cx="2468880" cy="274320"/>
          </a:xfrm>
          <a:prstGeom prst="rect">
            <a:avLst/>
          </a:prstGeom>
          <a:noFill/>
        </p:spPr>
        <p:txBody>
          <a:bodyPr wrap="square" lIns="0" tIns="0" rIns="0" bIns="0" anchor="ctr">
            <a:spAutoFit/>
          </a:bodyPr>
          <a:lstStyle/>
          <a:p>
            <a:pPr algn="l"/>
            <a:r>
              <a:rPr b="1" i="0" spc="100" dirty="0">
                <a:solidFill>
                  <a:srgbClr val="C8791A"/>
                </a:solidFill>
                <a:latin typeface="Calibri"/>
              </a:rPr>
              <a:t>HEDGE</a:t>
            </a:r>
          </a:p>
        </p:txBody>
      </p:sp>
      <p:sp>
        <p:nvSpPr>
          <p:cNvPr id="24" name="TextBox 23"/>
          <p:cNvSpPr txBox="1"/>
          <p:nvPr/>
        </p:nvSpPr>
        <p:spPr>
          <a:xfrm>
            <a:off x="4599432" y="2741861"/>
            <a:ext cx="3017520" cy="276999"/>
          </a:xfrm>
          <a:prstGeom prst="rect">
            <a:avLst/>
          </a:prstGeom>
          <a:noFill/>
        </p:spPr>
        <p:txBody>
          <a:bodyPr wrap="square" lIns="0" tIns="0" rIns="0" bIns="0" anchor="ctr">
            <a:spAutoFit/>
          </a:bodyPr>
          <a:lstStyle/>
          <a:p>
            <a:pPr algn="l"/>
            <a:r>
              <a:rPr b="1" i="0" dirty="0">
                <a:solidFill>
                  <a:srgbClr val="21295C"/>
                </a:solidFill>
                <a:latin typeface="Cambria"/>
              </a:rPr>
              <a:t>CAWS covers the calm years</a:t>
            </a:r>
          </a:p>
        </p:txBody>
      </p:sp>
      <p:sp>
        <p:nvSpPr>
          <p:cNvPr id="25" name="TextBox 24"/>
          <p:cNvSpPr txBox="1"/>
          <p:nvPr/>
        </p:nvSpPr>
        <p:spPr>
          <a:xfrm>
            <a:off x="4599432" y="3154680"/>
            <a:ext cx="3017520" cy="914033"/>
          </a:xfrm>
          <a:prstGeom prst="rect">
            <a:avLst/>
          </a:prstGeom>
          <a:noFill/>
        </p:spPr>
        <p:txBody>
          <a:bodyPr wrap="square" lIns="0" tIns="0" rIns="0" bIns="0" anchor="t">
            <a:spAutoFit/>
          </a:bodyPr>
          <a:lstStyle/>
          <a:p>
            <a:pPr algn="l">
              <a:lnSpc>
                <a:spcPct val="112000"/>
              </a:lnSpc>
            </a:pPr>
            <a:r>
              <a:rPr b="0" i="0" dirty="0">
                <a:solidFill>
                  <a:srgbClr val="56606B"/>
                </a:solidFill>
                <a:latin typeface="Calibri"/>
              </a:rPr>
              <a:t>It pays when wind — and revenue — fall short: the case a variance swap cannot see.</a:t>
            </a:r>
          </a:p>
        </p:txBody>
      </p:sp>
      <p:sp>
        <p:nvSpPr>
          <p:cNvPr id="26" name="Rounded Rectangle 25"/>
          <p:cNvSpPr/>
          <p:nvPr/>
        </p:nvSpPr>
        <p:spPr>
          <a:xfrm>
            <a:off x="8065008"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7" name="Oval 26"/>
          <p:cNvSpPr/>
          <p:nvPr/>
        </p:nvSpPr>
        <p:spPr>
          <a:xfrm>
            <a:off x="8357616" y="2011680"/>
            <a:ext cx="502920" cy="502920"/>
          </a:xfrm>
          <a:prstGeom prst="ellipse">
            <a:avLst/>
          </a:prstGeom>
          <a:solidFill>
            <a:srgbClr val="C8791A"/>
          </a:solidFill>
          <a:ln>
            <a:noFill/>
          </a:ln>
        </p:spPr>
        <p:txBody>
          <a:bodyPr rtlCol="0" anchor="ctr"/>
          <a:lstStyle/>
          <a:p>
            <a:pPr algn="ctr"/>
            <a:endParaRPr/>
          </a:p>
        </p:txBody>
      </p:sp>
      <p:sp>
        <p:nvSpPr>
          <p:cNvPr id="28" name="TextBox 27"/>
          <p:cNvSpPr txBox="1"/>
          <p:nvPr/>
        </p:nvSpPr>
        <p:spPr>
          <a:xfrm>
            <a:off x="8357616"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3</a:t>
            </a:r>
          </a:p>
        </p:txBody>
      </p:sp>
      <p:sp>
        <p:nvSpPr>
          <p:cNvPr id="29" name="TextBox 28"/>
          <p:cNvSpPr txBox="1"/>
          <p:nvPr/>
        </p:nvSpPr>
        <p:spPr>
          <a:xfrm>
            <a:off x="9025128" y="2130552"/>
            <a:ext cx="2468880" cy="274320"/>
          </a:xfrm>
          <a:prstGeom prst="rect">
            <a:avLst/>
          </a:prstGeom>
          <a:noFill/>
        </p:spPr>
        <p:txBody>
          <a:bodyPr wrap="square" lIns="0" tIns="0" rIns="0" bIns="0" anchor="ctr">
            <a:spAutoFit/>
          </a:bodyPr>
          <a:lstStyle/>
          <a:p>
            <a:pPr algn="l"/>
            <a:r>
              <a:rPr b="1" i="0" spc="100" dirty="0">
                <a:solidFill>
                  <a:srgbClr val="C8791A"/>
                </a:solidFill>
                <a:latin typeface="Calibri"/>
              </a:rPr>
              <a:t>DATA</a:t>
            </a:r>
          </a:p>
        </p:txBody>
      </p:sp>
      <p:sp>
        <p:nvSpPr>
          <p:cNvPr id="30" name="TextBox 29"/>
          <p:cNvSpPr txBox="1"/>
          <p:nvPr/>
        </p:nvSpPr>
        <p:spPr>
          <a:xfrm>
            <a:off x="8357616" y="2741860"/>
            <a:ext cx="3017520" cy="276999"/>
          </a:xfrm>
          <a:prstGeom prst="rect">
            <a:avLst/>
          </a:prstGeom>
          <a:noFill/>
        </p:spPr>
        <p:txBody>
          <a:bodyPr wrap="square" lIns="0" tIns="0" rIns="0" bIns="0" anchor="ctr">
            <a:spAutoFit/>
          </a:bodyPr>
          <a:lstStyle/>
          <a:p>
            <a:pPr algn="l"/>
            <a:r>
              <a:rPr b="1" i="0" dirty="0">
                <a:solidFill>
                  <a:srgbClr val="21295C"/>
                </a:solidFill>
                <a:latin typeface="Cambria"/>
              </a:rPr>
              <a:t>The right data comes first</a:t>
            </a:r>
          </a:p>
        </p:txBody>
      </p:sp>
      <p:sp>
        <p:nvSpPr>
          <p:cNvPr id="31" name="TextBox 30"/>
          <p:cNvSpPr txBox="1"/>
          <p:nvPr/>
        </p:nvSpPr>
        <p:spPr>
          <a:xfrm>
            <a:off x="8357616" y="3154680"/>
            <a:ext cx="3017520" cy="914033"/>
          </a:xfrm>
          <a:prstGeom prst="rect">
            <a:avLst/>
          </a:prstGeom>
          <a:noFill/>
        </p:spPr>
        <p:txBody>
          <a:bodyPr wrap="square" lIns="0" tIns="0" rIns="0" bIns="0" anchor="t">
            <a:spAutoFit/>
          </a:bodyPr>
          <a:lstStyle/>
          <a:p>
            <a:pPr algn="l">
              <a:lnSpc>
                <a:spcPct val="112000"/>
              </a:lnSpc>
            </a:pPr>
            <a:r>
              <a:rPr b="0" i="0" dirty="0">
                <a:solidFill>
                  <a:srgbClr val="56606B"/>
                </a:solidFill>
                <a:latin typeface="Calibri"/>
              </a:rPr>
              <a:t>On the wrong data the price is 94% too low, with no warning. One regression detects it.</a:t>
            </a:r>
          </a:p>
        </p:txBody>
      </p:sp>
      <p:sp>
        <p:nvSpPr>
          <p:cNvPr id="32" name="Rounded Rectangle 31"/>
          <p:cNvSpPr/>
          <p:nvPr/>
        </p:nvSpPr>
        <p:spPr>
          <a:xfrm>
            <a:off x="548640" y="5257800"/>
            <a:ext cx="11109960" cy="1005840"/>
          </a:xfrm>
          <a:prstGeom prst="roundRect">
            <a:avLst>
              <a:gd name="adj" fmla="val 8181"/>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33" name="TextBox 32"/>
          <p:cNvSpPr txBox="1"/>
          <p:nvPr/>
        </p:nvSpPr>
        <p:spPr>
          <a:xfrm>
            <a:off x="868680" y="5303520"/>
            <a:ext cx="10469880" cy="914400"/>
          </a:xfrm>
          <a:prstGeom prst="rect">
            <a:avLst/>
          </a:prstGeom>
          <a:noFill/>
        </p:spPr>
        <p:txBody>
          <a:bodyPr wrap="square" lIns="0" tIns="0" rIns="0" bIns="0" anchor="ctr">
            <a:spAutoFit/>
          </a:bodyPr>
          <a:lstStyle/>
          <a:p>
            <a:pPr algn="ctr">
              <a:lnSpc>
                <a:spcPct val="105000"/>
              </a:lnSpc>
            </a:pPr>
            <a:r>
              <a:rPr sz="1700" b="0" i="1">
                <a:solidFill>
                  <a:srgbClr val="FFFFFF"/>
                </a:solidFill>
                <a:latin typeface="Cambria"/>
              </a:rPr>
              <a:t>“Data alignment is not a refinement to be added once the model works — it is a precondition for the model meaning anything.”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Looking ahead</a:t>
            </a:r>
            <a:endParaRPr lang="en-US" sz="3200" dirty="0"/>
          </a:p>
        </p:txBody>
      </p:sp>
      <p:sp>
        <p:nvSpPr>
          <p:cNvPr id="4" name="Shape 2"/>
          <p:cNvSpPr/>
          <p:nvPr/>
        </p:nvSpPr>
        <p:spPr>
          <a:xfrm>
            <a:off x="548640" y="1828800"/>
            <a:ext cx="5394960" cy="4160520"/>
          </a:xfrm>
          <a:prstGeom prst="roundRect">
            <a:avLst>
              <a:gd name="adj" fmla="val 1978"/>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57400"/>
            <a:ext cx="4754880" cy="320040"/>
          </a:xfrm>
          <a:prstGeom prst="rect">
            <a:avLst/>
          </a:prstGeom>
          <a:noFill/>
          <a:ln/>
        </p:spPr>
        <p:txBody>
          <a:bodyPr wrap="square" lIns="0" tIns="0" rIns="0" bIns="0" rtlCol="0" anchor="ctr"/>
          <a:lstStyle/>
          <a:p>
            <a:pPr marL="0" indent="0">
              <a:buNone/>
            </a:pPr>
            <a:r>
              <a:rPr lang="en-US" sz="2000" b="1" kern="0" spc="120" dirty="0">
                <a:solidFill>
                  <a:srgbClr val="1C7293"/>
                </a:solidFill>
                <a:latin typeface="Calibri" pitchFamily="34" charset="0"/>
                <a:ea typeface="Calibri" pitchFamily="34" charset="-122"/>
                <a:cs typeface="Calibri" pitchFamily="34" charset="-120"/>
              </a:rPr>
              <a:t>LIMITATIONS</a:t>
            </a:r>
            <a:endParaRPr lang="en-US" sz="2000" dirty="0"/>
          </a:p>
        </p:txBody>
      </p:sp>
      <p:sp>
        <p:nvSpPr>
          <p:cNvPr id="6" name="Text 4"/>
          <p:cNvSpPr/>
          <p:nvPr/>
        </p:nvSpPr>
        <p:spPr>
          <a:xfrm>
            <a:off x="868680" y="2450592"/>
            <a:ext cx="4754880" cy="3383280"/>
          </a:xfrm>
          <a:prstGeom prst="rect">
            <a:avLst/>
          </a:prstGeom>
          <a:noFill/>
          <a:ln/>
        </p:spPr>
        <p:txBody>
          <a:bodyPr wrap="square" lIns="0" tIns="0" rIns="0" bIns="0" rtlCol="0" anchor="t"/>
          <a:lstStyle/>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θ = 0 is adopted as a benchmark assumption in the absence of EEX option-implied data.</a:t>
            </a:r>
          </a:p>
          <a:p>
            <a:pPr marL="228600" indent="-228600">
              <a:lnSpc>
                <a:spcPct val="105000"/>
              </a:lnSpc>
              <a:spcAft>
                <a:spcPts val="2160"/>
              </a:spcAft>
              <a:buClr>
                <a:srgbClr val="1C7293"/>
              </a:buClr>
              <a:buFont typeface="Arial"/>
              <a:buChar char="•"/>
            </a:pPr>
            <a:r>
              <a:rPr lang="en-US" dirty="0">
                <a:solidFill>
                  <a:srgbClr val="56606B"/>
                </a:solidFill>
                <a:ea typeface="Calibri"/>
                <a:cs typeface="Calibri"/>
              </a:rPr>
              <a:t>Cross-dataset strikes sit on two Box–Cox scales and two pricing dates.</a:t>
            </a:r>
            <a:endParaRPr lang="en-US" sz="1800" b="0" dirty="0">
              <a:solidFill>
                <a:srgbClr val="56606B"/>
              </a:solidFill>
              <a:latin typeface="Calibri"/>
              <a:ea typeface="Calibri"/>
              <a:cs typeface="Calibri"/>
            </a:endParaRPr>
          </a:p>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One location stands in for a nationwide fleet.</a:t>
            </a:r>
          </a:p>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Short samples and daily data: some results are descriptive.</a:t>
            </a:r>
          </a:p>
        </p:txBody>
      </p:sp>
      <p:sp>
        <p:nvSpPr>
          <p:cNvPr id="7" name="Shape 5"/>
          <p:cNvSpPr/>
          <p:nvPr/>
        </p:nvSpPr>
        <p:spPr>
          <a:xfrm>
            <a:off x="6263640" y="1828800"/>
            <a:ext cx="5394960" cy="4160520"/>
          </a:xfrm>
          <a:prstGeom prst="roundRect">
            <a:avLst>
              <a:gd name="adj" fmla="val 1978"/>
            </a:avLst>
          </a:prstGeom>
          <a:solidFill>
            <a:srgbClr val="EEF3F7"/>
          </a:solidFill>
          <a:ln/>
        </p:spPr>
        <p:txBody>
          <a:bodyPr/>
          <a:lstStyle/>
          <a:p>
            <a:endParaRPr/>
          </a:p>
        </p:txBody>
      </p:sp>
      <p:sp>
        <p:nvSpPr>
          <p:cNvPr id="8" name="Text 6"/>
          <p:cNvSpPr/>
          <p:nvPr/>
        </p:nvSpPr>
        <p:spPr>
          <a:xfrm>
            <a:off x="6583680" y="2057400"/>
            <a:ext cx="4754880" cy="320040"/>
          </a:xfrm>
          <a:prstGeom prst="rect">
            <a:avLst/>
          </a:prstGeom>
          <a:noFill/>
          <a:ln/>
        </p:spPr>
        <p:txBody>
          <a:bodyPr wrap="square" lIns="0" tIns="0" rIns="0" bIns="0" rtlCol="0" anchor="ctr"/>
          <a:lstStyle/>
          <a:p>
            <a:pPr marL="0" indent="0">
              <a:buNone/>
            </a:pPr>
            <a:r>
              <a:rPr lang="en-US" sz="2000" b="1" kern="0" spc="120" dirty="0">
                <a:solidFill>
                  <a:srgbClr val="1C7293"/>
                </a:solidFill>
                <a:latin typeface="Calibri" pitchFamily="34" charset="0"/>
                <a:ea typeface="Calibri" pitchFamily="34" charset="-122"/>
                <a:cs typeface="Calibri" pitchFamily="34" charset="-120"/>
              </a:rPr>
              <a:t>FUTURE WORK</a:t>
            </a:r>
            <a:endParaRPr lang="en-US" sz="2000" dirty="0"/>
          </a:p>
        </p:txBody>
      </p:sp>
      <p:sp>
        <p:nvSpPr>
          <p:cNvPr id="9" name="Text 7"/>
          <p:cNvSpPr/>
          <p:nvPr/>
        </p:nvSpPr>
        <p:spPr>
          <a:xfrm>
            <a:off x="6583680" y="2450592"/>
            <a:ext cx="4754880" cy="3383280"/>
          </a:xfrm>
          <a:prstGeom prst="rect">
            <a:avLst/>
          </a:prstGeom>
          <a:noFill/>
          <a:ln/>
        </p:spPr>
        <p:txBody>
          <a:bodyPr wrap="square" lIns="0" tIns="0" rIns="0" bIns="0" rtlCol="0" anchor="t"/>
          <a:lstStyle/>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Estimate the risk premium from EEX power options.</a:t>
            </a:r>
          </a:p>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Use fleet-wide, hourly wind data.</a:t>
            </a:r>
          </a:p>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Test wind data against generation before pricing.</a:t>
            </a:r>
          </a:p>
        </p:txBody>
      </p:sp>
      <p:sp>
        <p:nvSpPr>
          <p:cNvPr id="11" name="Text 9"/>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lstStyle/>
          <a:p>
            <a:endParaRPr/>
          </a:p>
        </p:txBody>
      </p:sp>
      <p:sp>
        <p:nvSpPr>
          <p:cNvPr id="3" name="Shape 1"/>
          <p:cNvSpPr/>
          <p:nvPr/>
        </p:nvSpPr>
        <p:spPr>
          <a:xfrm>
            <a:off x="10634472" y="-640080"/>
            <a:ext cx="2743200" cy="2743200"/>
          </a:xfrm>
          <a:prstGeom prst="ellipse">
            <a:avLst/>
          </a:prstGeom>
          <a:solidFill>
            <a:srgbClr val="065A82">
              <a:alpha val="70000"/>
            </a:srgbClr>
          </a:solidFill>
          <a:ln/>
        </p:spPr>
        <p:txBody>
          <a:bodyPr/>
          <a:lstStyle/>
          <a:p>
            <a:endParaRPr/>
          </a:p>
        </p:txBody>
      </p:sp>
      <p:sp>
        <p:nvSpPr>
          <p:cNvPr id="5" name="Text 3"/>
          <p:cNvSpPr/>
          <p:nvPr/>
        </p:nvSpPr>
        <p:spPr>
          <a:xfrm>
            <a:off x="822960" y="2651760"/>
            <a:ext cx="9601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rPr>
              <a:t>Thank you for your attention. </a:t>
            </a:r>
            <a:endParaRPr lang="en-US" sz="4400" dirty="0"/>
          </a:p>
        </p:txBody>
      </p:sp>
      <p:sp>
        <p:nvSpPr>
          <p:cNvPr id="6" name="Text 4"/>
          <p:cNvSpPr/>
          <p:nvPr/>
        </p:nvSpPr>
        <p:spPr>
          <a:xfrm>
            <a:off x="822960" y="4160520"/>
            <a:ext cx="9601200" cy="457200"/>
          </a:xfrm>
          <a:prstGeom prst="rect">
            <a:avLst/>
          </a:prstGeom>
          <a:noFill/>
          <a:ln/>
        </p:spPr>
        <p:txBody>
          <a:bodyPr wrap="square" lIns="0" tIns="0" rIns="0" bIns="0" rtlCol="0" anchor="ctr"/>
          <a:lstStyle/>
          <a:p>
            <a:pPr marL="0" indent="0" algn="l">
              <a:buNone/>
            </a:pPr>
            <a:r>
              <a:rPr lang="en-US" sz="1300" b="0" i="1" dirty="0">
                <a:solidFill>
                  <a:srgbClr val="EEF3F7"/>
                </a:solidFill>
                <a:latin typeface="Calibri"/>
                <a:ea typeface="Calibri"/>
                <a:cs typeface="Calibri"/>
              </a:rPr>
              <a:t>Enrico Butali · Wind Speed Modelling for Derivatives Pricing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21295C"/>
        </a:solidFill>
        <a:effectLst/>
      </p:bgPr>
    </p:bg>
    <p:spTree>
      <p:nvGrpSpPr>
        <p:cNvPr id="1" name=""/>
        <p:cNvGrpSpPr/>
        <p:nvPr/>
      </p:nvGrpSpPr>
      <p:grpSpPr>
        <a:xfrm>
          <a:off x="0" y="0"/>
          <a:ext cx="0" cy="0"/>
          <a:chOff x="0" y="0"/>
          <a:chExt cx="0" cy="0"/>
        </a:xfrm>
      </p:grpSpPr>
      <p:sp>
        <p:nvSpPr>
          <p:cNvPr id="2" name="Oval 1"/>
          <p:cNvSpPr/>
          <p:nvPr/>
        </p:nvSpPr>
        <p:spPr>
          <a:xfrm>
            <a:off x="9079992" y="-2560320"/>
            <a:ext cx="5669280" cy="5669280"/>
          </a:xfrm>
          <a:prstGeom prst="ellipse">
            <a:avLst/>
          </a:prstGeom>
          <a:solidFill>
            <a:srgbClr val="1C7293">
              <a:alpha val="4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Oval 2"/>
          <p:cNvSpPr/>
          <p:nvPr/>
        </p:nvSpPr>
        <p:spPr>
          <a:xfrm>
            <a:off x="10634472" y="-640080"/>
            <a:ext cx="2743200" cy="2743200"/>
          </a:xfrm>
          <a:prstGeom prst="ellipse">
            <a:avLst/>
          </a:prstGeom>
          <a:solidFill>
            <a:srgbClr val="065A82">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1737360"/>
            <a:ext cx="9144000" cy="365760"/>
          </a:xfrm>
          <a:prstGeom prst="rect">
            <a:avLst/>
          </a:prstGeom>
          <a:noFill/>
        </p:spPr>
        <p:txBody>
          <a:bodyPr wrap="square" lIns="0" tIns="0" rIns="0" bIns="0" anchor="ctr">
            <a:spAutoFit/>
          </a:bodyPr>
          <a:lstStyle/>
          <a:p>
            <a:pPr marL="0" indent="0" algn="l">
              <a:buNone/>
            </a:pPr>
            <a:r>
              <a:rPr lang="en-US" sz="1400" b="1" kern="0" spc="250" dirty="0">
                <a:solidFill>
                  <a:srgbClr val="E8A33D"/>
                </a:solidFill>
                <a:latin typeface="Calibri"/>
                <a:ea typeface="Calibri"/>
                <a:cs typeface="Calibri"/>
              </a:rPr>
              <a:t>BACKUP</a:t>
            </a:r>
          </a:p>
        </p:txBody>
      </p:sp>
      <p:sp>
        <p:nvSpPr>
          <p:cNvPr id="5" name="TextBox 4"/>
          <p:cNvSpPr txBox="1"/>
          <p:nvPr/>
        </p:nvSpPr>
        <p:spPr>
          <a:xfrm>
            <a:off x="822960" y="2148840"/>
            <a:ext cx="9601200" cy="822960"/>
          </a:xfrm>
          <a:prstGeom prst="rect">
            <a:avLst/>
          </a:prstGeom>
          <a:noFill/>
        </p:spPr>
        <p:txBody>
          <a:bodyPr wrap="square" lIns="0" tIns="0" rIns="0" bIns="0" anchor="ctr">
            <a:spAutoFit/>
          </a:bodyPr>
          <a:lstStyle/>
          <a:p>
            <a:pPr marL="0" indent="0" algn="l">
              <a:buNone/>
            </a:pPr>
            <a:r>
              <a:rPr lang="en-US" sz="3400" b="1" dirty="0">
                <a:solidFill>
                  <a:srgbClr val="FFFFFF"/>
                </a:solidFill>
                <a:latin typeface="Cambria"/>
                <a:ea typeface="Cambria"/>
                <a:cs typeface="Cambria"/>
              </a:rPr>
              <a:t>Supporting detail, on request</a:t>
            </a:r>
          </a:p>
        </p:txBody>
      </p:sp>
      <p:sp>
        <p:nvSpPr>
          <p:cNvPr id="6" name="TextBox 5"/>
          <p:cNvSpPr txBox="1"/>
          <p:nvPr/>
        </p:nvSpPr>
        <p:spPr>
          <a:xfrm>
            <a:off x="822960" y="3291840"/>
            <a:ext cx="9601200" cy="2377440"/>
          </a:xfrm>
          <a:prstGeom prst="rect">
            <a:avLst/>
          </a:prstGeom>
          <a:noFill/>
        </p:spPr>
        <p:txBody>
          <a:bodyPr wrap="square" lIns="0" tIns="0" rIns="0" bIns="0" anchor="t">
            <a:spAutoFit/>
          </a:bodyPr>
          <a:lstStyle/>
          <a:p>
            <a:pPr marL="0" indent="0" algn="l">
              <a:spcAft>
                <a:spcPts val="1000"/>
              </a:spcAft>
              <a:buNone/>
            </a:pPr>
            <a:r>
              <a:rPr lang="en-US" sz="1500" b="1" dirty="0">
                <a:solidFill>
                  <a:srgbClr val="E8A33D"/>
                </a:solidFill>
                <a:latin typeface="Calibri"/>
                <a:ea typeface="Calibri"/>
                <a:cs typeface="Calibri"/>
              </a:rPr>
              <a:t>B1  </a:t>
            </a:r>
            <a:r>
              <a:rPr lang="en-US" sz="1500" b="0" dirty="0">
                <a:solidFill>
                  <a:srgbClr val="EEF3F7"/>
                </a:solidFill>
                <a:latin typeface="Calibri"/>
                <a:ea typeface="Calibri"/>
                <a:cs typeface="Calibri"/>
              </a:rPr>
              <a:t>Feller condition — robust for B, estimator-dependent for A</a:t>
            </a:r>
          </a:p>
          <a:p>
            <a:pPr marL="0" indent="0" algn="l">
              <a:spcAft>
                <a:spcPts val="1000"/>
              </a:spcAft>
              <a:buNone/>
            </a:pPr>
            <a:r>
              <a:rPr lang="en-US" sz="1500" b="1" dirty="0">
                <a:solidFill>
                  <a:srgbClr val="E8A33D"/>
                </a:solidFill>
                <a:latin typeface="Calibri"/>
                <a:ea typeface="Calibri"/>
                <a:cs typeface="Calibri"/>
              </a:rPr>
              <a:t>B2  </a:t>
            </a:r>
            <a:r>
              <a:rPr lang="en-US" sz="1500" b="0" dirty="0">
                <a:solidFill>
                  <a:srgbClr val="EEF3F7"/>
                </a:solidFill>
                <a:latin typeface="Calibri"/>
                <a:ea typeface="Calibri"/>
                <a:cs typeface="Calibri"/>
              </a:rPr>
              <a:t>Reconciling Track B into Track A units, both datasets</a:t>
            </a:r>
          </a:p>
          <a:p>
            <a:pPr marL="0" indent="0" algn="l">
              <a:spcAft>
                <a:spcPts val="1000"/>
              </a:spcAft>
              <a:buNone/>
            </a:pPr>
            <a:r>
              <a:rPr lang="en-US" sz="1500" b="1" dirty="0">
                <a:solidFill>
                  <a:srgbClr val="E8A33D"/>
                </a:solidFill>
                <a:latin typeface="Calibri"/>
                <a:ea typeface="Calibri"/>
                <a:cs typeface="Calibri"/>
              </a:rPr>
              <a:t>B3  </a:t>
            </a:r>
            <a:r>
              <a:rPr lang="en-US" sz="1500" b="0" dirty="0">
                <a:solidFill>
                  <a:srgbClr val="EEF3F7"/>
                </a:solidFill>
                <a:latin typeface="Calibri"/>
                <a:ea typeface="Calibri"/>
                <a:cs typeface="Calibri"/>
              </a:rPr>
              <a:t>Model validation — four specifications, one conditional mean</a:t>
            </a:r>
          </a:p>
          <a:p>
            <a:pPr marL="0" indent="0" algn="l">
              <a:spcAft>
                <a:spcPts val="1000"/>
              </a:spcAft>
              <a:buNone/>
            </a:pPr>
            <a:r>
              <a:rPr lang="en-US" sz="1500" b="1" dirty="0">
                <a:solidFill>
                  <a:srgbClr val="E8A33D"/>
                </a:solidFill>
                <a:latin typeface="Calibri"/>
                <a:ea typeface="Calibri"/>
                <a:cs typeface="Calibri"/>
              </a:rPr>
              <a:t>B4  </a:t>
            </a:r>
            <a:r>
              <a:rPr lang="en-US" sz="1500" b="0" dirty="0">
                <a:solidFill>
                  <a:srgbClr val="EEF3F7"/>
                </a:solidFill>
                <a:latin typeface="Calibri"/>
                <a:ea typeface="Calibri"/>
                <a:cs typeface="Calibri"/>
              </a:rPr>
              <a:t>The Diebold–Mariano test in Chapters 2 and 3 — why the signs differ</a:t>
            </a:r>
          </a:p>
          <a:p>
            <a:pPr marL="0" indent="0" algn="l">
              <a:spcAft>
                <a:spcPts val="1000"/>
              </a:spcAft>
              <a:buNone/>
            </a:pPr>
            <a:r>
              <a:rPr lang="en-US" sz="1500" b="1" dirty="0">
                <a:solidFill>
                  <a:srgbClr val="E8A33D"/>
                </a:solidFill>
                <a:latin typeface="Calibri"/>
                <a:ea typeface="Calibri"/>
                <a:cs typeface="Calibri"/>
              </a:rPr>
              <a:t>B5  </a:t>
            </a:r>
            <a:r>
              <a:rPr lang="en-US" sz="1500" b="0" dirty="0">
                <a:solidFill>
                  <a:srgbClr val="EEF3F7"/>
                </a:solidFill>
                <a:latin typeface="Calibri"/>
                <a:ea typeface="Calibri"/>
                <a:cs typeface="Calibri"/>
              </a:rPr>
              <a:t>Height correction: sensitivity to the profile exponent α</a:t>
            </a:r>
          </a:p>
          <a:p>
            <a:pPr marL="0" indent="0" algn="l">
              <a:spcAft>
                <a:spcPts val="1000"/>
              </a:spcAft>
              <a:buNone/>
            </a:pPr>
            <a:r>
              <a:rPr lang="en-US" sz="1500" b="1" dirty="0">
                <a:solidFill>
                  <a:srgbClr val="E8A33D"/>
                </a:solidFill>
                <a:latin typeface="Calibri"/>
                <a:ea typeface="Calibri"/>
                <a:cs typeface="Calibri"/>
              </a:rPr>
              <a:t>B6  </a:t>
            </a:r>
            <a:r>
              <a:rPr lang="en-US" sz="1500" b="0" dirty="0">
                <a:solidFill>
                  <a:srgbClr val="EEF3F7"/>
                </a:solidFill>
                <a:latin typeface="Calibri"/>
                <a:ea typeface="Calibri"/>
                <a:cs typeface="Calibri"/>
              </a:rPr>
              <a:t>Model estimates at a glance — AR(4), GARCH(1,1), CAR(4), NIG</a:t>
            </a:r>
          </a:p>
          <a:p>
            <a:pPr marL="0" indent="0" algn="l">
              <a:spcAft>
                <a:spcPts val="1000"/>
              </a:spcAft>
              <a:buNone/>
            </a:pPr>
            <a:r>
              <a:rPr lang="en-US" sz="1500" b="1" dirty="0">
                <a:solidFill>
                  <a:srgbClr val="E8A33D"/>
                </a:solidFill>
                <a:latin typeface="Calibri"/>
                <a:ea typeface="Calibri"/>
                <a:cs typeface="Calibri"/>
              </a:rPr>
              <a:t>B7  </a:t>
            </a:r>
            <a:r>
              <a:rPr lang="en-US" sz="1500" b="0" dirty="0">
                <a:solidFill>
                  <a:srgbClr val="EEF3F7"/>
                </a:solidFill>
                <a:latin typeface="Calibri"/>
                <a:ea typeface="Calibri"/>
                <a:cs typeface="Calibri"/>
              </a:rPr>
              <a:t>Value of Information on a common scale — strike ratios and reconciliation</a:t>
            </a:r>
          </a:p>
          <a:p>
            <a:pPr marL="0" indent="0" algn="l">
              <a:spcAft>
                <a:spcPts val="1000"/>
              </a:spcAft>
              <a:buNone/>
            </a:pPr>
            <a:r>
              <a:rPr lang="en-US" sz="1500" b="1" dirty="0">
                <a:solidFill>
                  <a:srgbClr val="E8A33D"/>
                </a:solidFill>
                <a:latin typeface="Calibri"/>
                <a:ea typeface="Calibri"/>
                <a:cs typeface="Calibri"/>
              </a:rPr>
              <a:t>B8  </a:t>
            </a:r>
            <a:r>
              <a:rPr lang="en-US" sz="1500" b="0" dirty="0">
                <a:solidFill>
                  <a:srgbClr val="EEF3F7"/>
                </a:solidFill>
                <a:latin typeface="Calibri"/>
                <a:ea typeface="Calibri"/>
                <a:cs typeface="Calibri"/>
              </a:rPr>
              <a:t>CAWS tail statistics on both datasets — calmest, windiest year, CVaR</a:t>
            </a:r>
          </a:p>
          <a:p>
            <a:pPr marL="0" indent="0" algn="l">
              <a:spcAft>
                <a:spcPts val="1000"/>
              </a:spcAft>
              <a:buNone/>
            </a:pPr>
            <a:r>
              <a:rPr lang="en-US" sz="1500" b="1" dirty="0">
                <a:solidFill>
                  <a:srgbClr val="E8A33D"/>
                </a:solidFill>
                <a:latin typeface="Calibri"/>
                <a:ea typeface="Calibri"/>
                <a:cs typeface="Calibri"/>
              </a:rPr>
              <a:t>B9  </a:t>
            </a:r>
            <a:r>
              <a:rPr lang="en-US" sz="1500" b="0" dirty="0">
                <a:solidFill>
                  <a:srgbClr val="EEF3F7"/>
                </a:solidFill>
                <a:latin typeface="Calibri"/>
                <a:ea typeface="Calibri"/>
                <a:cs typeface="Calibri"/>
              </a:rPr>
              <a:t>Back-test of the market strike, year by year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a:ea typeface="Calibri"/>
                <a:cs typeface="Calibri"/>
              </a:rPr>
              <a:t>BACKUP B1 · CH. 2 §2.5.3 — FELLER CONDITION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Feller condition depends on which estimator you trust</a:t>
            </a:r>
            <a:endParaRPr lang="en-US" sz="2700" dirty="0"/>
          </a:p>
        </p:txBody>
      </p:sp>
      <p:sp>
        <p:nvSpPr>
          <p:cNvPr id="4" name="Shape 2"/>
          <p:cNvSpPr/>
          <p:nvPr/>
        </p:nvSpPr>
        <p:spPr>
          <a:xfrm>
            <a:off x="548640" y="1828800"/>
            <a:ext cx="5394960" cy="4206240"/>
          </a:xfrm>
          <a:prstGeom prst="roundRect">
            <a:avLst>
              <a:gd name="adj" fmla="val 1957"/>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57400"/>
            <a:ext cx="4846320" cy="32004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DATASET B — REFERENCE</a:t>
            </a:r>
            <a:endParaRPr lang="en-US" sz="1200" dirty="0"/>
          </a:p>
        </p:txBody>
      </p:sp>
      <p:sp>
        <p:nvSpPr>
          <p:cNvPr id="6" name="Text 4"/>
          <p:cNvSpPr/>
          <p:nvPr/>
        </p:nvSpPr>
        <p:spPr>
          <a:xfrm>
            <a:off x="868680" y="2395728"/>
            <a:ext cx="484632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Holds, robustly</a:t>
            </a:r>
            <a:endParaRPr lang="en-US" sz="2400" dirty="0"/>
          </a:p>
        </p:txBody>
      </p:sp>
      <p:sp>
        <p:nvSpPr>
          <p:cNvPr id="7" name="Text 5"/>
          <p:cNvSpPr/>
          <p:nvPr/>
        </p:nvSpPr>
        <p:spPr>
          <a:xfrm>
            <a:off x="868680" y="2971800"/>
            <a:ext cx="4846320" cy="822960"/>
          </a:xfrm>
          <a:prstGeom prst="rect">
            <a:avLst/>
          </a:prstGeom>
          <a:noFill/>
          <a:ln/>
        </p:spPr>
        <p:txBody>
          <a:bodyPr wrap="square" lIns="0" tIns="0" rIns="0" bIns="0" rtlCol="0" anchor="ctr"/>
          <a:lstStyle/>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2κᵥv̄ = 0.0270 vs ξ² = 0.000959 → margin 28.1×, on every estimator considered.</a:t>
            </a:r>
            <a:endParaRPr lang="en-US" sz="1300" dirty="0"/>
          </a:p>
        </p:txBody>
      </p:sp>
      <p:sp>
        <p:nvSpPr>
          <p:cNvPr id="8" name="Shape 6"/>
          <p:cNvSpPr/>
          <p:nvPr/>
        </p:nvSpPr>
        <p:spPr>
          <a:xfrm>
            <a:off x="6263640" y="1828800"/>
            <a:ext cx="5394960" cy="4206240"/>
          </a:xfrm>
          <a:prstGeom prst="roundRect">
            <a:avLst>
              <a:gd name="adj" fmla="val 1957"/>
            </a:avLst>
          </a:prstGeom>
          <a:solidFill>
            <a:srgbClr val="EEF3F7"/>
          </a:solidFill>
          <a:ln/>
        </p:spPr>
        <p:txBody>
          <a:bodyPr/>
          <a:lstStyle/>
          <a:p>
            <a:endParaRPr/>
          </a:p>
        </p:txBody>
      </p:sp>
      <p:sp>
        <p:nvSpPr>
          <p:cNvPr id="9" name="Text 7"/>
          <p:cNvSpPr/>
          <p:nvPr/>
        </p:nvSpPr>
        <p:spPr>
          <a:xfrm>
            <a:off x="6583680" y="2057400"/>
            <a:ext cx="4846320" cy="320040"/>
          </a:xfrm>
          <a:prstGeom prst="rect">
            <a:avLst/>
          </a:prstGeom>
          <a:noFill/>
          <a:ln/>
        </p:spPr>
        <p:txBody>
          <a:bodyPr wrap="square" lIns="0" tIns="0" rIns="0" bIns="0" rtlCol="0" anchor="ctr"/>
          <a:lstStyle/>
          <a:p>
            <a:pPr marL="0" indent="0">
              <a:buNone/>
            </a:pPr>
            <a:r>
              <a:rPr lang="en-US" sz="1200" b="1" kern="0" spc="100" dirty="0">
                <a:solidFill>
                  <a:srgbClr val="C8791A"/>
                </a:solidFill>
                <a:latin typeface="Calibri" pitchFamily="34" charset="0"/>
                <a:ea typeface="Calibri" pitchFamily="34" charset="-122"/>
                <a:cs typeface="Calibri" pitchFamily="34" charset="-120"/>
              </a:rPr>
              <a:t>DATASET A — PROXY</a:t>
            </a:r>
            <a:endParaRPr lang="en-US" sz="1200" dirty="0"/>
          </a:p>
        </p:txBody>
      </p:sp>
      <p:sp>
        <p:nvSpPr>
          <p:cNvPr id="10" name="Text 8"/>
          <p:cNvSpPr/>
          <p:nvPr/>
        </p:nvSpPr>
        <p:spPr>
          <a:xfrm>
            <a:off x="6583680" y="2395728"/>
            <a:ext cx="484632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Estimator-dependent</a:t>
            </a:r>
            <a:endParaRPr lang="en-US" sz="2400" dirty="0"/>
          </a:p>
        </p:txBody>
      </p:sp>
      <p:sp>
        <p:nvSpPr>
          <p:cNvPr id="11" name="Text 9"/>
          <p:cNvSpPr/>
          <p:nvPr/>
        </p:nvSpPr>
        <p:spPr>
          <a:xfrm>
            <a:off x="6583680" y="2971800"/>
            <a:ext cx="4846320" cy="1463040"/>
          </a:xfrm>
          <a:prstGeom prst="rect">
            <a:avLst/>
          </a:prstGeom>
          <a:noFill/>
          <a:ln/>
        </p:spPr>
        <p:txBody>
          <a:bodyPr wrap="square" lIns="0" tIns="0" rIns="0" bIns="0" rtlCol="0" anchor="ctr"/>
          <a:lstStyle/>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Full-sample estimator (same one used for B): margin </a:t>
            </a:r>
            <a:r>
              <a:rPr lang="en-US" sz="1300" b="1" dirty="0">
                <a:solidFill>
                  <a:srgbClr val="C8791A"/>
                </a:solidFill>
                <a:latin typeface="Calibri" pitchFamily="34" charset="0"/>
                <a:ea typeface="Calibri" pitchFamily="34" charset="-122"/>
                <a:cs typeface="Calibri" pitchFamily="34" charset="-120"/>
              </a:rPr>
              <a:t>0.8× — violated.</a:t>
            </a:r>
            <a:endParaRPr lang="en-US" sz="1300" dirty="0"/>
          </a:p>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30-day rolling estimators: margins ≈5.1× and 3.6× — holds, but on a different estimator than B's.</a:t>
            </a:r>
            <a:endParaRPr lang="en-US" sz="1300" dirty="0"/>
          </a:p>
        </p:txBody>
      </p:sp>
      <p:sp>
        <p:nvSpPr>
          <p:cNvPr id="12" name="Shape 10"/>
          <p:cNvSpPr/>
          <p:nvPr/>
        </p:nvSpPr>
        <p:spPr>
          <a:xfrm>
            <a:off x="548640" y="5166360"/>
            <a:ext cx="11109960" cy="914400"/>
          </a:xfrm>
          <a:prstGeom prst="roundRect">
            <a:avLst>
              <a:gd name="adj" fmla="val 9000"/>
            </a:avLst>
          </a:prstGeom>
          <a:solidFill>
            <a:srgbClr val="21295C"/>
          </a:solidFill>
          <a:ln/>
          <a:effectLst>
            <a:outerShdw blurRad="88900" dist="25400" dir="5400000" algn="bl" rotWithShape="0">
              <a:srgbClr val="1C1C1C">
                <a:alpha val="16000"/>
              </a:srgbClr>
            </a:outerShdw>
          </a:effectLst>
        </p:spPr>
        <p:txBody>
          <a:bodyPr/>
          <a:lstStyle/>
          <a:p>
            <a:endParaRPr/>
          </a:p>
        </p:txBody>
      </p:sp>
      <p:sp>
        <p:nvSpPr>
          <p:cNvPr id="13" name="Text 11"/>
          <p:cNvSpPr/>
          <p:nvPr/>
        </p:nvSpPr>
        <p:spPr>
          <a:xfrm>
            <a:off x="822960" y="5321808"/>
            <a:ext cx="10515600" cy="640080"/>
          </a:xfrm>
          <a:prstGeom prst="rect">
            <a:avLst/>
          </a:prstGeom>
          <a:noFill/>
          <a:ln/>
        </p:spPr>
        <p:txBody>
          <a:bodyPr wrap="square" lIns="0" tIns="0" rIns="0" bIns="0" rtlCol="0" anchor="ctr"/>
          <a:lstStyle/>
          <a:p>
            <a:pPr marL="0" indent="0" algn="l">
              <a:lnSpc>
                <a:spcPct val="118000"/>
              </a:lnSpc>
              <a:buNone/>
            </a:pPr>
            <a:r>
              <a:rPr lang="en-US" sz="1250" b="1" dirty="0">
                <a:solidFill>
                  <a:srgbClr val="E8A33D"/>
                </a:solidFill>
                <a:latin typeface="Calibri" pitchFamily="34" charset="0"/>
                <a:ea typeface="Calibri" pitchFamily="34" charset="-122"/>
                <a:cs typeface="Calibri" pitchFamily="34" charset="-120"/>
              </a:rPr>
              <a:t>The finding is the sensitivity itself: </a:t>
            </a:r>
            <a:r>
              <a:rPr lang="en-US" sz="1250" dirty="0">
                <a:solidFill>
                  <a:srgbClr val="EEF3F7"/>
                </a:solidFill>
                <a:latin typeface="Calibri" pitchFamily="34" charset="0"/>
                <a:ea typeface="Calibri" pitchFamily="34" charset="-122"/>
                <a:cs typeface="Calibri" pitchFamily="34" charset="-120"/>
              </a:rPr>
              <a:t>ξ (vol-of-vol) is the least identified of the four CIR parameters at daily frequency — it also reverses an earlier project anchor of 27.9×, which is not reproducible under any estimator tested.</a:t>
            </a:r>
            <a:endParaRPr lang="en-US" sz="1250" dirty="0"/>
          </a:p>
        </p:txBody>
      </p:sp>
      <p:sp>
        <p:nvSpPr>
          <p:cNvPr id="14" name="Text 12"/>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5" name="Text 13"/>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B2 · CH. 3 §3.1.5 — THE FOUR CONVENTIONS</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Reconciling Track B into Track A units, step by step</a:t>
            </a:r>
          </a:p>
        </p:txBody>
      </p:sp>
      <p:graphicFrame>
        <p:nvGraphicFramePr>
          <p:cNvPr id="4" name="Table 3"/>
          <p:cNvGraphicFramePr>
            <a:graphicFrameLocks noGrp="1"/>
          </p:cNvGraphicFramePr>
          <p:nvPr/>
        </p:nvGraphicFramePr>
        <p:xfrm>
          <a:off x="548640" y="1737360"/>
          <a:ext cx="11109959" cy="3456432"/>
        </p:xfrm>
        <a:graphic>
          <a:graphicData uri="http://schemas.openxmlformats.org/drawingml/2006/table">
            <a:tbl>
              <a:tblPr/>
              <a:tblGrid>
                <a:gridCol w="3977639">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84048">
                <a:tc>
                  <a:txBody>
                    <a:bodyPr/>
                    <a:lstStyle/>
                    <a:p>
                      <a:pPr marL="0" indent="0" algn="l">
                        <a:buNone/>
                      </a:pPr>
                      <a:r>
                        <a:rPr lang="en-US" sz="1200" b="1" dirty="0">
                          <a:solidFill>
                            <a:srgbClr val="FFFFFF"/>
                          </a:solidFill>
                          <a:latin typeface="Calibri"/>
                          <a:ea typeface="Calibri"/>
                          <a:cs typeface="Calibri"/>
                        </a:rPr>
                        <a:t>Factor</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Formula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Dataset 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Dataset B</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21295C"/>
                          </a:solidFill>
                          <a:latin typeface="Calibri"/>
                          <a:ea typeface="Calibri"/>
                          <a:cs typeface="Calibri"/>
                        </a:rPr>
                        <a:t>K_var = h(t₀) × C₀ (as recorded)</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0.05435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0.87336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b="1" dirty="0">
                          <a:solidFill>
                            <a:srgbClr val="21295C"/>
                          </a:solidFill>
                          <a:latin typeface="Calibri"/>
                          <a:ea typeface="Calibri"/>
                          <a:cs typeface="Calibri"/>
                        </a:rPr>
                        <a:t>× Box–Cox scale</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W̄^(2(1−λ))</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5.088</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8.068</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2"/>
                  </a:ext>
                </a:extLst>
              </a:tr>
              <a:tr h="384048">
                <a:tc>
                  <a:txBody>
                    <a:bodyPr/>
                    <a:lstStyle/>
                    <a:p>
                      <a:pPr marL="0" indent="0" algn="l">
                        <a:buNone/>
                      </a:pPr>
                      <a:r>
                        <a:rPr lang="en-US" sz="1200" b="1" dirty="0">
                          <a:solidFill>
                            <a:srgbClr val="21295C"/>
                          </a:solidFill>
                          <a:latin typeface="Calibri"/>
                          <a:ea typeface="Calibri"/>
                          <a:cs typeface="Calibri"/>
                        </a:rPr>
                        <a:t>× innovation → first difference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(RMSE pers. / RMSE AR(4))²</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1.292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1.339</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00" b="1" dirty="0">
                          <a:solidFill>
                            <a:srgbClr val="21295C"/>
                          </a:solidFill>
                          <a:latin typeface="Calibri"/>
                          <a:ea typeface="Calibri"/>
                          <a:cs typeface="Calibri"/>
                        </a:rPr>
                        <a:t>× power curve</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9 / W̄²</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1.4764</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0.13826</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384048">
                <a:tc>
                  <a:txBody>
                    <a:bodyPr/>
                    <a:lstStyle/>
                    <a:p>
                      <a:pPr marL="0" indent="0" algn="l">
                        <a:buNone/>
                      </a:pPr>
                      <a:r>
                        <a:rPr lang="en-US" sz="1200" b="1" dirty="0">
                          <a:solidFill>
                            <a:srgbClr val="21295C"/>
                          </a:solidFill>
                          <a:latin typeface="Calibri"/>
                          <a:ea typeface="Calibri"/>
                          <a:cs typeface="Calibri"/>
                        </a:rPr>
                        <a:t>× annualisation</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00" b="1" dirty="0">
                          <a:solidFill>
                            <a:srgbClr val="21295C"/>
                          </a:solidFill>
                          <a:latin typeface="Calibri"/>
                          <a:ea typeface="Calibri"/>
                          <a:cs typeface="Calibri"/>
                        </a:rPr>
                        <a:t>Reconciled model strike (Track A units)</a:t>
                      </a:r>
                    </a:p>
                  </a:txBody>
                  <a:tcPr marT="36576" marB="36576" anchor="ctr">
                    <a:lnL w="0">
                      <a:noFill/>
                    </a:lnL>
                    <a:lnR w="0">
                      <a:noFill/>
                    </a:lnR>
                    <a:lnT w="0">
                      <a:noFill/>
                    </a:lnT>
                    <a:lnB w="0">
                      <a:noFill/>
                    </a:lnB>
                    <a:solidFill>
                      <a:srgbClr val="FBF1E4"/>
                    </a:solidFill>
                  </a:tcPr>
                </a:tc>
                <a:tc>
                  <a:txBody>
                    <a:bodyPr/>
                    <a:lstStyle/>
                    <a:p>
                      <a:pPr marL="0" indent="0" algn="ctr">
                        <a:buNone/>
                      </a:pPr>
                      <a:endParaRPr/>
                    </a:p>
                  </a:txBody>
                  <a:tcPr marT="36576" marB="36576" anchor="ctr">
                    <a:lnL w="0">
                      <a:noFill/>
                    </a:lnL>
                    <a:lnR w="0">
                      <a:noFill/>
                    </a:lnR>
                    <a:lnT w="0">
                      <a:noFill/>
                    </a:lnT>
                    <a:lnB w="0">
                      <a:noFill/>
                    </a:lnB>
                    <a:solidFill>
                      <a:srgbClr val="FBF1E4"/>
                    </a:solidFill>
                  </a:tcPr>
                </a:tc>
                <a:tc>
                  <a:txBody>
                    <a:bodyPr/>
                    <a:lstStyle/>
                    <a:p>
                      <a:pPr marL="0" indent="0" algn="ctr">
                        <a:buNone/>
                      </a:pPr>
                      <a:r>
                        <a:rPr lang="en-US" sz="1200" b="1" dirty="0">
                          <a:solidFill>
                            <a:srgbClr val="21295C"/>
                          </a:solidFill>
                          <a:latin typeface="Calibri"/>
                          <a:ea typeface="Calibri"/>
                          <a:cs typeface="Calibri"/>
                        </a:rPr>
                        <a:t>132.9</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00" b="1" dirty="0">
                          <a:solidFill>
                            <a:srgbClr val="21295C"/>
                          </a:solidFill>
                          <a:latin typeface="Calibri"/>
                          <a:ea typeface="Calibri"/>
                          <a:cs typeface="Calibri"/>
                        </a:rPr>
                        <a:t>328.8</a:t>
                      </a:r>
                    </a:p>
                  </a:txBody>
                  <a:tcPr marT="36576" marB="36576" anchor="ctr">
                    <a:lnL w="0">
                      <a:noFill/>
                    </a:lnL>
                    <a:lnR w="0">
                      <a:noFill/>
                    </a:lnR>
                    <a:lnT w="0">
                      <a:noFill/>
                    </a:lnT>
                    <a:lnB w="0">
                      <a:noFill/>
                    </a:lnB>
                    <a:solidFill>
                      <a:srgbClr val="FBF1E4"/>
                    </a:solidFill>
                  </a:tcPr>
                </a:tc>
                <a:extLst>
                  <a:ext uri="{0D108BD9-81ED-4DB2-BD59-A6C34878D82A}">
                    <a16:rowId xmlns:a16="http://schemas.microsoft.com/office/drawing/2014/main" val="10006"/>
                  </a:ext>
                </a:extLst>
              </a:tr>
              <a:tr h="384048">
                <a:tc>
                  <a:txBody>
                    <a:bodyPr/>
                    <a:lstStyle/>
                    <a:p>
                      <a:pPr marL="0" indent="0" algn="l">
                        <a:buNone/>
                      </a:pPr>
                      <a:r>
                        <a:rPr lang="en-US" sz="1200" b="1" dirty="0">
                          <a:solidFill>
                            <a:srgbClr val="21295C"/>
                          </a:solidFill>
                          <a:latin typeface="Calibri"/>
                          <a:ea typeface="Calibri"/>
                          <a:cs typeface="Calibri"/>
                        </a:rPr>
                        <a:t>Track A strike, same sample</a:t>
                      </a:r>
                    </a:p>
                  </a:txBody>
                  <a:tcPr marT="36576" marB="36576" anchor="ctr">
                    <a:lnL w="0">
                      <a:noFill/>
                    </a:lnL>
                    <a:lnR w="0">
                      <a:noFill/>
                    </a:lnR>
                    <a:lnT w="0">
                      <a:noFill/>
                    </a:lnT>
                    <a:lnB w="0">
                      <a:noFill/>
                    </a:lnB>
                    <a:solidFill>
                      <a:srgbClr val="FFFFFF"/>
                    </a:solidFill>
                  </a:tcPr>
                </a:tc>
                <a:tc>
                  <a:txBody>
                    <a:bodyPr/>
                    <a:lstStyle/>
                    <a:p>
                      <a:pPr marL="0" indent="0" algn="ctr">
                        <a:buNone/>
                      </a:pPr>
                      <a:endParaRP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113.999</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113.145</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200" b="1" dirty="0">
                          <a:solidFill>
                            <a:srgbClr val="21295C"/>
                          </a:solidFill>
                          <a:latin typeface="Calibri"/>
                          <a:ea typeface="Calibri"/>
                          <a:cs typeface="Calibri"/>
                        </a:rPr>
                        <a:t>Ratio model / market  (at h = 1)</a:t>
                      </a:r>
                    </a:p>
                  </a:txBody>
                  <a:tcPr marT="36576" marB="36576" anchor="ctr">
                    <a:lnL w="0">
                      <a:noFill/>
                    </a:lnL>
                    <a:lnR w="0">
                      <a:noFill/>
                    </a:lnR>
                    <a:lnT w="0">
                      <a:noFill/>
                    </a:lnT>
                    <a:lnB w="0">
                      <a:noFill/>
                    </a:lnB>
                    <a:solidFill>
                      <a:srgbClr val="EEF3F7"/>
                    </a:solidFill>
                  </a:tcPr>
                </a:tc>
                <a:tc>
                  <a:txBody>
                    <a:bodyPr/>
                    <a:lstStyle/>
                    <a:p>
                      <a:pPr marL="0" indent="0" algn="ctr">
                        <a:buNone/>
                      </a:pPr>
                      <a:endParaRP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1.17  (2.82)</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2.91  (3.87)</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548640" y="5349240"/>
            <a:ext cx="11109960" cy="91440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22960" y="5413248"/>
            <a:ext cx="10561320" cy="786384"/>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Arithmetic reconciliation, not a frozen phase output. </a:t>
            </a:r>
            <a:r>
              <a:rPr lang="en-US" sz="1200" b="0" dirty="0">
                <a:solidFill>
                  <a:srgbClr val="56606B"/>
                </a:solidFill>
                <a:latin typeface="Calibri"/>
                <a:ea typeface="Calibri"/>
                <a:cs typeface="Calibri"/>
              </a:rPr>
              <a:t>Each step is a first-order delta-method approximation at the sample mean, so the figures are order-of-magnitude statements. Both models overstate the market — the expected effect of calibrating on one grid point against a spatially averaged national fleet.</a:t>
            </a:r>
          </a:p>
        </p:txBody>
      </p:sp>
      <p:sp>
        <p:nvSpPr>
          <p:cNvPr id="7" name="TextBox 6"/>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8" name="TextBox 7"/>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a:ea typeface="Calibri"/>
                <a:cs typeface="Calibri"/>
              </a:rPr>
              <a:t>BACKUP B3 · CH. 2–3 — MODEL VALIDATION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Four specifications, one conditional mean</a:t>
            </a:r>
            <a:endParaRPr lang="en-US" sz="2700" dirty="0"/>
          </a:p>
        </p:txBody>
      </p:sp>
      <p:sp>
        <p:nvSpPr>
          <p:cNvPr id="4" name="Shape 2"/>
          <p:cNvSpPr/>
          <p:nvPr/>
        </p:nvSpPr>
        <p:spPr>
          <a:xfrm>
            <a:off x="548640" y="1783080"/>
            <a:ext cx="11109960" cy="1554480"/>
          </a:xfrm>
          <a:prstGeom prst="roundRect">
            <a:avLst>
              <a:gd name="adj" fmla="val 5294"/>
            </a:avLst>
          </a:prstGeom>
          <a:solidFill>
            <a:srgbClr val="EEF3F7"/>
          </a:solidFill>
          <a:ln/>
        </p:spPr>
        <p:txBody>
          <a:bodyPr/>
          <a:lstStyle/>
          <a:p>
            <a:endParaRPr/>
          </a:p>
        </p:txBody>
      </p:sp>
      <p:sp>
        <p:nvSpPr>
          <p:cNvPr id="5" name="Text 3"/>
          <p:cNvSpPr/>
          <p:nvPr/>
        </p:nvSpPr>
        <p:spPr>
          <a:xfrm>
            <a:off x="868680" y="1965960"/>
            <a:ext cx="10424160" cy="41148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AR(4)  •  AR(4)+GARCH  •  CAR(4)+Gaussian  •  CAR(4)+NIG</a:t>
            </a:r>
            <a:endParaRPr lang="en-US" sz="1800" dirty="0"/>
          </a:p>
        </p:txBody>
      </p:sp>
      <p:sp>
        <p:nvSpPr>
          <p:cNvPr id="6" name="Text 4"/>
          <p:cNvSpPr/>
          <p:nvPr/>
        </p:nvSpPr>
        <p:spPr>
          <a:xfrm>
            <a:off x="868680" y="2423160"/>
            <a:ext cx="10424160" cy="822960"/>
          </a:xfrm>
          <a:prstGeom prst="rect">
            <a:avLst/>
          </a:prstGeom>
          <a:noFill/>
          <a:ln/>
        </p:spPr>
        <p:txBody>
          <a:bodyPr wrap="square" lIns="0" tIns="0" rIns="0" bIns="0" rtlCol="0" anchor="ctr"/>
          <a:lstStyle/>
          <a:p>
            <a:pPr marL="0" indent="0">
              <a:lnSpc>
                <a:spcPct val="120000"/>
              </a:lnSpc>
              <a:buNone/>
            </a:pPr>
            <a:r>
              <a:rPr lang="en-US" sz="1350" dirty="0">
                <a:solidFill>
                  <a:srgbClr val="56606B"/>
                </a:solidFill>
                <a:latin typeface="Calibri" pitchFamily="34" charset="0"/>
                <a:ea typeface="Calibri" pitchFamily="34" charset="-122"/>
                <a:cs typeface="Calibri" pitchFamily="34" charset="-120"/>
              </a:rPr>
              <a:t>share one conditional mean by construction → indistinguishable on one-day-ahead forecast accuracy. They separate only on pricing and hedging criteria — which is why Chapter 3 does not rank them by RMSE alone.</a:t>
            </a:r>
            <a:endParaRPr lang="en-US" sz="1350" dirty="0"/>
          </a:p>
        </p:txBody>
      </p:sp>
      <p:sp>
        <p:nvSpPr>
          <p:cNvPr id="7" name="Text 5"/>
          <p:cNvSpPr/>
          <p:nvPr/>
        </p:nvSpPr>
        <p:spPr>
          <a:xfrm>
            <a:off x="548640" y="3611880"/>
            <a:ext cx="11109960" cy="320040"/>
          </a:xfrm>
          <a:prstGeom prst="rect">
            <a:avLst/>
          </a:prstGeom>
          <a:noFill/>
          <a:ln/>
        </p:spPr>
        <p:txBody>
          <a:bodyPr wrap="square" lIns="0" tIns="0" rIns="0" bIns="0" rtlCol="0" anchor="ctr"/>
          <a:lstStyle/>
          <a:p>
            <a:pPr marL="0" indent="0">
              <a:buNone/>
            </a:pPr>
            <a:r>
              <a:rPr lang="en-US" sz="1250" b="1" kern="0" spc="150" dirty="0">
                <a:solidFill>
                  <a:srgbClr val="1C7293"/>
                </a:solidFill>
                <a:latin typeface="Calibri" pitchFamily="34" charset="0"/>
                <a:ea typeface="Calibri" pitchFamily="34" charset="-122"/>
                <a:cs typeface="Calibri" pitchFamily="34" charset="-120"/>
              </a:rPr>
              <a:t>ALL FOUR STILL REJECT PERSISTENCE, DECISIVELY</a:t>
            </a:r>
            <a:endParaRPr lang="en-US" sz="1250" dirty="0"/>
          </a:p>
        </p:txBody>
      </p:sp>
      <p:sp>
        <p:nvSpPr>
          <p:cNvPr id="8" name="Shape 6"/>
          <p:cNvSpPr/>
          <p:nvPr/>
        </p:nvSpPr>
        <p:spPr>
          <a:xfrm>
            <a:off x="548640" y="4023360"/>
            <a:ext cx="5349240" cy="2057400"/>
          </a:xfrm>
          <a:prstGeom prst="roundRect">
            <a:avLst>
              <a:gd name="adj" fmla="val 4000"/>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9" name="Text 7"/>
          <p:cNvSpPr/>
          <p:nvPr/>
        </p:nvSpPr>
        <p:spPr>
          <a:xfrm>
            <a:off x="914400" y="4297680"/>
            <a:ext cx="4617720" cy="365760"/>
          </a:xfrm>
          <a:prstGeom prst="rect">
            <a:avLst/>
          </a:prstGeom>
          <a:noFill/>
          <a:ln/>
        </p:spPr>
        <p:txBody>
          <a:bodyPr wrap="square" lIns="0" tIns="0" rIns="0" bIns="0" rtlCol="0" anchor="ctr"/>
          <a:lstStyle/>
          <a:p>
            <a:pPr marL="0" indent="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0" name="Text 8"/>
          <p:cNvSpPr/>
          <p:nvPr/>
        </p:nvSpPr>
        <p:spPr>
          <a:xfrm>
            <a:off x="914400" y="4617720"/>
            <a:ext cx="4617720" cy="914400"/>
          </a:xfrm>
          <a:prstGeom prst="rect">
            <a:avLst/>
          </a:prstGeom>
          <a:noFill/>
          <a:ln/>
        </p:spPr>
        <p:txBody>
          <a:bodyPr wrap="square" lIns="0" tIns="0" rIns="0" bIns="0" rtlCol="0" anchor="ctr"/>
          <a:lstStyle/>
          <a:p>
            <a:pPr marL="0" indent="0">
              <a:buNone/>
            </a:pPr>
            <a:r>
              <a:rPr lang="en-US" sz="4600" b="1" dirty="0">
                <a:solidFill>
                  <a:srgbClr val="C8791A"/>
                </a:solidFill>
                <a:latin typeface="Cambria" pitchFamily="34" charset="0"/>
                <a:ea typeface="Cambria" pitchFamily="34" charset="-122"/>
                <a:cs typeface="Cambria" pitchFamily="34" charset="-120"/>
              </a:rPr>
              <a:t>+8.27</a:t>
            </a:r>
            <a:endParaRPr lang="en-US" sz="4600" dirty="0"/>
          </a:p>
        </p:txBody>
      </p:sp>
      <p:sp>
        <p:nvSpPr>
          <p:cNvPr id="11" name="Text 9"/>
          <p:cNvSpPr/>
          <p:nvPr/>
        </p:nvSpPr>
        <p:spPr>
          <a:xfrm>
            <a:off x="914400" y="5532120"/>
            <a:ext cx="4617720" cy="457200"/>
          </a:xfrm>
          <a:prstGeom prst="rect">
            <a:avLst/>
          </a:prstGeom>
          <a:noFill/>
          <a:ln/>
        </p:spPr>
        <p:txBody>
          <a:bodyPr wrap="square" lIns="0" tIns="0" rIns="0" bIns="0" rtlCol="0" anchor="ctr"/>
          <a:lstStyle/>
          <a:p>
            <a:pPr marL="0" indent="0" algn="l">
              <a:buNone/>
            </a:pPr>
            <a:r>
              <a:rPr lang="en-US" sz="1250" b="1" dirty="0">
                <a:solidFill>
                  <a:srgbClr val="21295C"/>
                </a:solidFill>
                <a:latin typeface="Calibri"/>
                <a:ea typeface="Calibri"/>
                <a:cs typeface="Calibri"/>
              </a:rPr>
              <a:t>Dataset A — RMSE 0.8868 → 0.7802 (12.0% better than persistence)</a:t>
            </a:r>
          </a:p>
        </p:txBody>
      </p:sp>
      <p:sp>
        <p:nvSpPr>
          <p:cNvPr id="12" name="Shape 10"/>
          <p:cNvSpPr/>
          <p:nvPr/>
        </p:nvSpPr>
        <p:spPr>
          <a:xfrm>
            <a:off x="6309360" y="4023360"/>
            <a:ext cx="5349240" cy="2057400"/>
          </a:xfrm>
          <a:prstGeom prst="roundRect">
            <a:avLst>
              <a:gd name="adj" fmla="val 4000"/>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13" name="Text 11"/>
          <p:cNvSpPr/>
          <p:nvPr/>
        </p:nvSpPr>
        <p:spPr>
          <a:xfrm>
            <a:off x="6675120" y="4297680"/>
            <a:ext cx="4617720" cy="365760"/>
          </a:xfrm>
          <a:prstGeom prst="rect">
            <a:avLst/>
          </a:prstGeom>
          <a:noFill/>
          <a:ln/>
        </p:spPr>
        <p:txBody>
          <a:bodyPr wrap="square" lIns="0" tIns="0" rIns="0" bIns="0" rtlCol="0" anchor="ctr"/>
          <a:lstStyle/>
          <a:p>
            <a:pPr marL="0" indent="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4" name="Text 12"/>
          <p:cNvSpPr/>
          <p:nvPr/>
        </p:nvSpPr>
        <p:spPr>
          <a:xfrm>
            <a:off x="6675120" y="4617720"/>
            <a:ext cx="4617720" cy="914400"/>
          </a:xfrm>
          <a:prstGeom prst="rect">
            <a:avLst/>
          </a:prstGeom>
          <a:noFill/>
          <a:ln/>
        </p:spPr>
        <p:txBody>
          <a:bodyPr wrap="square" lIns="0" tIns="0" rIns="0" bIns="0" rtlCol="0" anchor="ctr"/>
          <a:lstStyle/>
          <a:p>
            <a:pPr marL="0" indent="0">
              <a:buNone/>
            </a:pPr>
            <a:r>
              <a:rPr lang="en-US" sz="4600" b="1" dirty="0">
                <a:solidFill>
                  <a:srgbClr val="C8791A"/>
                </a:solidFill>
                <a:latin typeface="Cambria" pitchFamily="34" charset="0"/>
                <a:ea typeface="Cambria" pitchFamily="34" charset="-122"/>
                <a:cs typeface="Cambria" pitchFamily="34" charset="-120"/>
              </a:rPr>
              <a:t>+16.76</a:t>
            </a:r>
            <a:endParaRPr lang="en-US" sz="4600" dirty="0"/>
          </a:p>
        </p:txBody>
      </p:sp>
      <p:sp>
        <p:nvSpPr>
          <p:cNvPr id="15" name="Text 13"/>
          <p:cNvSpPr/>
          <p:nvPr/>
        </p:nvSpPr>
        <p:spPr>
          <a:xfrm>
            <a:off x="6675120" y="5532120"/>
            <a:ext cx="4617720" cy="457200"/>
          </a:xfrm>
          <a:prstGeom prst="rect">
            <a:avLst/>
          </a:prstGeom>
          <a:noFill/>
          <a:ln/>
        </p:spPr>
        <p:txBody>
          <a:bodyPr wrap="square" lIns="0" tIns="0" rIns="0" bIns="0" rtlCol="0" anchor="ctr"/>
          <a:lstStyle/>
          <a:p>
            <a:pPr marL="0" indent="0" algn="l">
              <a:buNone/>
            </a:pPr>
            <a:r>
              <a:rPr lang="en-US" sz="1250" b="1" dirty="0">
                <a:solidFill>
                  <a:srgbClr val="21295C"/>
                </a:solidFill>
                <a:latin typeface="Calibri"/>
                <a:ea typeface="Calibri"/>
                <a:cs typeface="Calibri"/>
              </a:rPr>
              <a:t>Dataset B — RMSE 1.0046 → 0.8681 (13.6% better than persistence)</a:t>
            </a:r>
          </a:p>
        </p:txBody>
      </p:sp>
      <p:sp>
        <p:nvSpPr>
          <p:cNvPr id="16" name="Text 14"/>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7" name="Text 15"/>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16</a:t>
            </a:r>
            <a:endParaRPr lang="en-US" sz="900" dirty="0"/>
          </a:p>
        </p:txBody>
      </p:sp>
      <p:sp>
        <p:nvSpPr>
          <p:cNvPr id="18" name="TextBox 17"/>
          <p:cNvSpPr txBox="1"/>
          <p:nvPr/>
        </p:nvSpPr>
        <p:spPr>
          <a:xfrm>
            <a:off x="548640" y="6144768"/>
            <a:ext cx="11109960" cy="292608"/>
          </a:xfrm>
          <a:prstGeom prst="rect">
            <a:avLst/>
          </a:prstGeom>
          <a:noFill/>
        </p:spPr>
        <p:txBody>
          <a:bodyPr wrap="square" lIns="0" tIns="0" rIns="0" bIns="0" anchor="t">
            <a:spAutoFit/>
          </a:bodyPr>
          <a:lstStyle/>
          <a:p>
            <a:pPr marL="0" indent="0" algn="l">
              <a:buNone/>
            </a:pPr>
            <a:r>
              <a:rPr lang="en-US" sz="1000" b="0" i="1" dirty="0">
                <a:solidFill>
                  <a:srgbClr val="5A6470"/>
                </a:solidFill>
                <a:latin typeface="Calibri"/>
                <a:ea typeface="Calibri"/>
                <a:cs typeface="Calibri"/>
              </a:rPr>
              <a:t>Full standardised series, dₜ = e²(persistence) − e²(model), §3.2. Chapter 2's held-out split reports −3.681 / −7.019 under the reversed sign convention — same test, same conclusion (B4).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B4 · CH. 2 §2.2.4 &amp; CH. 3 §3.2.1 — DIEBOLD–MARIANO</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The same test, twice — why the signs differ</a:t>
            </a:r>
          </a:p>
        </p:txBody>
      </p:sp>
      <p:graphicFrame>
        <p:nvGraphicFramePr>
          <p:cNvPr id="4" name="Table 3"/>
          <p:cNvGraphicFramePr>
            <a:graphicFrameLocks noGrp="1"/>
          </p:cNvGraphicFramePr>
          <p:nvPr/>
        </p:nvGraphicFramePr>
        <p:xfrm>
          <a:off x="548640" y="1691640"/>
          <a:ext cx="11109960" cy="2926080"/>
        </p:xfrm>
        <a:graphic>
          <a:graphicData uri="http://schemas.openxmlformats.org/drawingml/2006/table">
            <a:tbl>
              <a:tblPr/>
              <a:tblGrid>
                <a:gridCol w="30632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pPr marL="0" indent="0" algn="l">
                        <a:buNone/>
                      </a:pPr>
                      <a:endParaRP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Chapter 2, §2.2.4</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Chapter 3, §3.2.1</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21295C"/>
                          </a:solidFill>
                          <a:latin typeface="Calibri"/>
                          <a:ea typeface="Calibri"/>
                          <a:cs typeface="Calibri"/>
                        </a:rPr>
                        <a:t>Loss differential</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dₜ = e²AR(4) − e²persistence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dₜ = e²persistence − e²model</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21295C"/>
                          </a:solidFill>
                          <a:latin typeface="Calibri"/>
                          <a:ea typeface="Calibri"/>
                          <a:cs typeface="Calibri"/>
                        </a:rPr>
                        <a:t>A winning model gives</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a negative statistic</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a positive statistic</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21295C"/>
                          </a:solidFill>
                          <a:latin typeface="Calibri"/>
                          <a:ea typeface="Calibri"/>
                          <a:cs typeface="Calibri"/>
                        </a:rPr>
                        <a:t>Evaluation sample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held-out partition (220 / 548 obs.)</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full series (1,461 / 3,652 errors)</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21295C"/>
                          </a:solidFill>
                          <a:latin typeface="Calibri"/>
                          <a:ea typeface="Calibri"/>
                          <a:cs typeface="Calibri"/>
                        </a:rPr>
                        <a:t>DM statistic (A / B)</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−3.681 / −7.019</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+8.265 / +16.758</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365760">
                <a:tc>
                  <a:txBody>
                    <a:bodyPr/>
                    <a:lstStyle/>
                    <a:p>
                      <a:pPr marL="0" indent="0" algn="l">
                        <a:buNone/>
                      </a:pPr>
                      <a:r>
                        <a:rPr lang="en-US" sz="1200" b="1" dirty="0">
                          <a:solidFill>
                            <a:srgbClr val="21295C"/>
                          </a:solidFill>
                          <a:latin typeface="Calibri"/>
                          <a:ea typeface="Calibri"/>
                          <a:cs typeface="Calibri"/>
                        </a:rPr>
                        <a:t>RMSE persistence (A / B)</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0.6856 / 0.9955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0.8868 / 1.0046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b="1" dirty="0">
                          <a:solidFill>
                            <a:srgbClr val="21295C"/>
                          </a:solidFill>
                          <a:latin typeface="Calibri"/>
                          <a:ea typeface="Calibri"/>
                          <a:cs typeface="Calibri"/>
                        </a:rPr>
                        <a:t>RMSE AR(4) (A / B)</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0.6017 / 0.8580</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0.7802 / 0.8681</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6"/>
                  </a:ext>
                </a:extLst>
              </a:tr>
              <a:tr h="365760">
                <a:tc>
                  <a:txBody>
                    <a:bodyPr/>
                    <a:lstStyle/>
                    <a:p>
                      <a:pPr marL="0" indent="0" algn="l">
                        <a:buNone/>
                      </a:pPr>
                      <a:r>
                        <a:rPr lang="en-US" sz="1200" b="1" dirty="0">
                          <a:solidFill>
                            <a:srgbClr val="21295C"/>
                          </a:solidFill>
                          <a:latin typeface="Calibri"/>
                          <a:ea typeface="Calibri"/>
                          <a:cs typeface="Calibri"/>
                        </a:rPr>
                        <a:t>Improvement (A / B)</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12.2% / 13.8%</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12.0% / 13.6%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548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4892040"/>
            <a:ext cx="4937760" cy="1280160"/>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The sign is a convention, not a result. </a:t>
            </a:r>
            <a:r>
              <a:rPr lang="en-US" sz="1200" b="0" dirty="0">
                <a:solidFill>
                  <a:srgbClr val="56606B"/>
                </a:solidFill>
                <a:latin typeface="Calibri"/>
                <a:ea typeface="Calibri"/>
                <a:cs typeface="Calibri"/>
              </a:rPr>
              <a:t>Same test, same conclusion: every fitted specification rejects equal accuracy with persistence at any conventional level, on either convention and either sample. Magnitudes scale with √n.</a:t>
            </a:r>
          </a:p>
        </p:txBody>
      </p:sp>
      <p:sp>
        <p:nvSpPr>
          <p:cNvPr id="7" name="Rounded Rectangle 6"/>
          <p:cNvSpPr/>
          <p:nvPr/>
        </p:nvSpPr>
        <p:spPr>
          <a:xfrm>
            <a:off x="6263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92240" y="4892040"/>
            <a:ext cx="4937760" cy="1280160"/>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Why A's RMSEs move by 23%, B's by under 1%. </a:t>
            </a:r>
            <a:r>
              <a:rPr lang="en-US" sz="1200" b="0" dirty="0">
                <a:solidFill>
                  <a:srgbClr val="56606B"/>
                </a:solidFill>
                <a:latin typeface="Calibri"/>
                <a:ea typeface="Calibri"/>
                <a:cs typeface="Calibri"/>
              </a:rPr>
              <a:t>A's hold-out ends in a calm spell: √(0.4137/0.608) = 0.825 vs an observed 0.773. B's h(t₀) = 0.7511 sits at its unconditional 0.7522, predicting one vs an observed 0.991.</a:t>
            </a:r>
          </a:p>
        </p:txBody>
      </p:sp>
      <p:sp>
        <p:nvSpPr>
          <p:cNvPr id="9" name="TextBox 8"/>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10" name="TextBox 9"/>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B5 · CH. 3 §3.3.1 — HEIGHT CORRECTION</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No admissible profile exponent turns the gap into a height effect</a:t>
            </a:r>
          </a:p>
        </p:txBody>
      </p:sp>
      <p:graphicFrame>
        <p:nvGraphicFramePr>
          <p:cNvPr id="4" name="Table 3"/>
          <p:cNvGraphicFramePr>
            <a:graphicFrameLocks noGrp="1"/>
          </p:cNvGraphicFramePr>
          <p:nvPr/>
        </p:nvGraphicFramePr>
        <p:xfrm>
          <a:off x="548640" y="1783080"/>
          <a:ext cx="8412480" cy="2468880"/>
        </p:xfrm>
        <a:graphic>
          <a:graphicData uri="http://schemas.openxmlformats.org/drawingml/2006/table">
            <a:tbl>
              <a:tblPr/>
              <a:tblGrid>
                <a:gridCol w="32918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11480">
                <a:tc>
                  <a:txBody>
                    <a:bodyPr/>
                    <a:lstStyle/>
                    <a:p>
                      <a:pPr marL="0" indent="0" algn="l">
                        <a:buNone/>
                      </a:pPr>
                      <a:r>
                        <a:rPr lang="en-US" sz="1250" b="1" dirty="0">
                          <a:solidFill>
                            <a:srgbClr val="FFFFFF"/>
                          </a:solidFill>
                          <a:latin typeface="Calibri"/>
                          <a:ea typeface="Calibri"/>
                          <a:cs typeface="Calibri"/>
                        </a:rPr>
                        <a:t>Profile exponent α</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Factor 10^(2α)</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Corrected K, 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Mispricing</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411480">
                <a:tc>
                  <a:txBody>
                    <a:bodyPr/>
                    <a:lstStyle/>
                    <a:p>
                      <a:pPr marL="0" indent="0" algn="l">
                        <a:buNone/>
                      </a:pPr>
                      <a:r>
                        <a:rPr lang="en-US" sz="1250" b="1" dirty="0">
                          <a:solidFill>
                            <a:srgbClr val="21295C"/>
                          </a:solidFill>
                          <a:latin typeface="Calibri"/>
                          <a:ea typeface="Calibri"/>
                          <a:cs typeface="Calibri"/>
                        </a:rPr>
                        <a:t>1/10 (open water)</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1.585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0.0861</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90.1%</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50" b="1" dirty="0">
                          <a:solidFill>
                            <a:srgbClr val="21295C"/>
                          </a:solidFill>
                          <a:latin typeface="Calibri"/>
                          <a:ea typeface="Calibri"/>
                          <a:cs typeface="Calibri"/>
                        </a:rPr>
                        <a:t>1/7 (adopted)</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1.931</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0.1049</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88.0%</a:t>
                      </a:r>
                    </a:p>
                  </a:txBody>
                  <a:tcPr marT="36576" marB="36576" anchor="ctr">
                    <a:lnL w="0">
                      <a:noFill/>
                    </a:lnL>
                    <a:lnR w="0">
                      <a:noFill/>
                    </a:lnR>
                    <a:lnT w="0">
                      <a:noFill/>
                    </a:lnT>
                    <a:lnB w="0">
                      <a:noFill/>
                    </a:lnB>
                    <a:solidFill>
                      <a:srgbClr val="FBF1E4"/>
                    </a:solidFill>
                  </a:tcPr>
                </a:tc>
                <a:extLst>
                  <a:ext uri="{0D108BD9-81ED-4DB2-BD59-A6C34878D82A}">
                    <a16:rowId xmlns:a16="http://schemas.microsoft.com/office/drawing/2014/main" val="10002"/>
                  </a:ext>
                </a:extLst>
              </a:tr>
              <a:tr h="411480">
                <a:tc>
                  <a:txBody>
                    <a:bodyPr/>
                    <a:lstStyle/>
                    <a:p>
                      <a:pPr marL="0" indent="0" algn="l">
                        <a:buNone/>
                      </a:pPr>
                      <a:r>
                        <a:rPr lang="en-US" sz="1250" b="1" dirty="0">
                          <a:solidFill>
                            <a:srgbClr val="21295C"/>
                          </a:solidFill>
                          <a:latin typeface="Calibri"/>
                          <a:ea typeface="Calibri"/>
                          <a:cs typeface="Calibri"/>
                        </a:rPr>
                        <a:t>0.168 (ERA5 coastal, lower bound)</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2.166</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0.1177</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86.5%</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50" b="1" dirty="0">
                          <a:solidFill>
                            <a:srgbClr val="21295C"/>
                          </a:solidFill>
                          <a:latin typeface="Calibri"/>
                          <a:ea typeface="Calibri"/>
                          <a:cs typeface="Calibri"/>
                        </a:rPr>
                        <a:t>0.20 (rough inland)</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2.512</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0.1365</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84.4%</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411480">
                <a:tc>
                  <a:txBody>
                    <a:bodyPr/>
                    <a:lstStyle/>
                    <a:p>
                      <a:pPr marL="0" indent="0" algn="l">
                        <a:buNone/>
                      </a:pPr>
                      <a:r>
                        <a:rPr lang="en-US" sz="1250" b="1" dirty="0">
                          <a:solidFill>
                            <a:srgbClr val="21295C"/>
                          </a:solidFill>
                          <a:latin typeface="Calibri"/>
                          <a:ea typeface="Calibri"/>
                          <a:cs typeface="Calibri"/>
                        </a:rPr>
                        <a:t>0.25 (very rough terrain)</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3.162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0.1719</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80.3%</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9235440" y="1783080"/>
            <a:ext cx="2423160" cy="246888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418320" y="1920240"/>
            <a:ext cx="2103120" cy="274320"/>
          </a:xfrm>
          <a:prstGeom prst="rect">
            <a:avLst/>
          </a:prstGeom>
          <a:noFill/>
        </p:spPr>
        <p:txBody>
          <a:bodyPr wrap="square" lIns="0" tIns="0" rIns="0" bIns="0" anchor="t">
            <a:spAutoFit/>
          </a:bodyPr>
          <a:lstStyle/>
          <a:p>
            <a:pPr marL="0" indent="0" algn="l">
              <a:buNone/>
            </a:pPr>
            <a:r>
              <a:rPr lang="en-US" sz="1100" b="1" kern="0" spc="100" dirty="0">
                <a:solidFill>
                  <a:srgbClr val="1C7293"/>
                </a:solidFill>
                <a:latin typeface="Calibri"/>
                <a:ea typeface="Calibri"/>
                <a:cs typeface="Calibri"/>
              </a:rPr>
              <a:t>TO CLOSE 16.07×</a:t>
            </a:r>
          </a:p>
        </p:txBody>
      </p:sp>
      <p:sp>
        <p:nvSpPr>
          <p:cNvPr id="7" name="TextBox 6"/>
          <p:cNvSpPr txBox="1"/>
          <p:nvPr/>
        </p:nvSpPr>
        <p:spPr>
          <a:xfrm>
            <a:off x="9418320" y="2240280"/>
            <a:ext cx="2103120" cy="777240"/>
          </a:xfrm>
          <a:prstGeom prst="rect">
            <a:avLst/>
          </a:prstGeom>
          <a:noFill/>
        </p:spPr>
        <p:txBody>
          <a:bodyPr wrap="square" lIns="0" tIns="0" rIns="0" bIns="0" anchor="ctr">
            <a:spAutoFit/>
          </a:bodyPr>
          <a:lstStyle/>
          <a:p>
            <a:pPr marL="0" indent="0" algn="l">
              <a:buNone/>
            </a:pPr>
            <a:r>
              <a:rPr lang="en-US" sz="3200" b="1" dirty="0">
                <a:solidFill>
                  <a:srgbClr val="C8791A"/>
                </a:solidFill>
                <a:latin typeface="Cambria"/>
                <a:ea typeface="Cambria"/>
                <a:cs typeface="Cambria"/>
              </a:rPr>
              <a:t>α = 0.60</a:t>
            </a:r>
          </a:p>
        </p:txBody>
      </p:sp>
      <p:sp>
        <p:nvSpPr>
          <p:cNvPr id="8" name="TextBox 7"/>
          <p:cNvSpPr txBox="1"/>
          <p:nvPr/>
        </p:nvSpPr>
        <p:spPr>
          <a:xfrm>
            <a:off x="9418320" y="3063240"/>
            <a:ext cx="2103120" cy="1097280"/>
          </a:xfrm>
          <a:prstGeom prst="rect">
            <a:avLst/>
          </a:prstGeom>
          <a:noFill/>
        </p:spPr>
        <p:txBody>
          <a:bodyPr wrap="square" lIns="0" tIns="0" rIns="0" bIns="0" anchor="t">
            <a:spAutoFit/>
          </a:bodyPr>
          <a:lstStyle/>
          <a:p>
            <a:pPr marL="0" indent="0" algn="l">
              <a:lnSpc>
                <a:spcPct val="110000"/>
              </a:lnSpc>
              <a:buNone/>
            </a:pPr>
            <a:r>
              <a:rPr lang="en-US" sz="1100" b="0" i="1" dirty="0">
                <a:solidFill>
                  <a:srgbClr val="56606B"/>
                </a:solidFill>
                <a:latin typeface="Calibri"/>
                <a:ea typeface="Calibri"/>
                <a:cs typeface="Calibri"/>
              </a:rPr>
              <a:t>four times the Hellmann value, outside any surface in Peterson &amp; Hennessey (1978).</a:t>
            </a:r>
          </a:p>
        </p:txBody>
      </p:sp>
      <p:sp>
        <p:nvSpPr>
          <p:cNvPr id="9" name="Rounded Rectangle 8"/>
          <p:cNvSpPr/>
          <p:nvPr/>
        </p:nvSpPr>
        <p:spPr>
          <a:xfrm>
            <a:off x="548640" y="4526280"/>
            <a:ext cx="11109960" cy="16916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4617720"/>
            <a:ext cx="10561320" cy="1508760"/>
          </a:xfrm>
          <a:prstGeom prst="rect">
            <a:avLst/>
          </a:prstGeom>
          <a:noFill/>
        </p:spPr>
        <p:txBody>
          <a:bodyPr wrap="square" lIns="0" tIns="0" rIns="0" bIns="0" anchor="ctr">
            <a:spAutoFit/>
          </a:bodyPr>
          <a:lstStyle/>
          <a:p>
            <a:pPr marL="0" indent="0" algn="l">
              <a:lnSpc>
                <a:spcPct val="108000"/>
              </a:lnSpc>
              <a:spcAft>
                <a:spcPts val="600"/>
              </a:spcAft>
              <a:buNone/>
            </a:pPr>
            <a:r>
              <a:rPr lang="en-US" sz="1200" b="1" dirty="0">
                <a:solidFill>
                  <a:srgbClr val="21295C"/>
                </a:solidFill>
                <a:latin typeface="Calibri"/>
                <a:ea typeface="Calibri"/>
                <a:cs typeface="Calibri"/>
              </a:rPr>
              <a:t>Only the 1/7 row is a frozen phase output; </a:t>
            </a:r>
            <a:r>
              <a:rPr lang="en-US" sz="1200" b="0" dirty="0">
                <a:solidFill>
                  <a:srgbClr val="56606B"/>
                </a:solidFill>
                <a:latin typeface="Calibri"/>
                <a:ea typeface="Calibri"/>
                <a:cs typeface="Calibri"/>
              </a:rPr>
              <a:t>the other four are an arithmetic sensitivity computed for Chapter 3.</a:t>
            </a:r>
          </a:p>
          <a:p>
            <a:pPr marL="0" indent="0" algn="l">
              <a:lnSpc>
                <a:spcPct val="108000"/>
              </a:lnSpc>
              <a:spcAft>
                <a:spcPts val="600"/>
              </a:spcAft>
              <a:buNone/>
            </a:pPr>
            <a:r>
              <a:rPr lang="en-US" sz="1200" b="0" dirty="0">
                <a:solidFill>
                  <a:srgbClr val="56606B"/>
                </a:solidFill>
                <a:latin typeface="Calibri"/>
                <a:ea typeface="Calibri"/>
                <a:cs typeface="Calibri"/>
              </a:rPr>
              <a:t>0.168 is measured at Nordfriesland (ERA5 10 m vs 100 m means, 5.4825 vs 8.0682 m/s) and is a lower bound for Bologna's sheltered Po-Valley site. A larger α means a smaller residual, so 88.0% is an upper bound on the share attributable to geography — the operative result is the 80.3% floor.</a:t>
            </a:r>
          </a:p>
        </p:txBody>
      </p:sp>
      <p:sp>
        <p:nvSpPr>
          <p:cNvPr id="11" name="TextBox 10"/>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12" name="TextBox 11"/>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BACKUP B6 · CH. 2 — MODEL ESTIMATES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pipeline’s fitted parameters, both datasets</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19</a:t>
            </a:r>
            <a:endParaRPr lang="en-US" sz="900" dirty="0"/>
          </a:p>
        </p:txBody>
      </p:sp>
      <p:graphicFrame>
        <p:nvGraphicFramePr>
          <p:cNvPr id="14" name="Table 13"/>
          <p:cNvGraphicFramePr>
            <a:graphicFrameLocks noGrp="1"/>
          </p:cNvGraphicFramePr>
          <p:nvPr/>
        </p:nvGraphicFramePr>
        <p:xfrm>
          <a:off x="548640" y="1737360"/>
          <a:ext cx="11109960" cy="4023360"/>
        </p:xfrm>
        <a:graphic>
          <a:graphicData uri="http://schemas.openxmlformats.org/drawingml/2006/table">
            <a:tbl>
              <a:tblPr>
                <a:tableStyleId>{5C22544A-7EE6-4342-B048-85BDC9FD1C3A}</a:tableStyleId>
              </a:tblPr>
              <a:tblGrid>
                <a:gridCol w="37947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algn="l"/>
                      <a:r>
                        <a:rPr sz="1200" b="1">
                          <a:solidFill>
                            <a:srgbClr val="FFFFFF"/>
                          </a:solidFill>
                          <a:latin typeface="Calibri"/>
                        </a:rPr>
                        <a:t>Quantity</a:t>
                      </a:r>
                    </a:p>
                  </a:txBody>
                  <a:tcPr marT="36576" marB="36576" anchor="ctr">
                    <a:lnB w="0">
                      <a:noFill/>
                    </a:lnB>
                    <a:solidFill>
                      <a:srgbClr val="21295C"/>
                    </a:solidFill>
                  </a:tcPr>
                </a:tc>
                <a:tc>
                  <a:txBody>
                    <a:bodyPr/>
                    <a:lstStyle/>
                    <a:p>
                      <a:pPr algn="ctr"/>
                      <a:r>
                        <a:rPr sz="1200" b="1">
                          <a:solidFill>
                            <a:srgbClr val="FFFFFF"/>
                          </a:solidFill>
                          <a:latin typeface="Calibri"/>
                        </a:rPr>
                        <a:t>Dataset A — Bologna 10 m</a:t>
                      </a:r>
                    </a:p>
                  </a:txBody>
                  <a:tcPr marT="36576" marB="36576" anchor="ctr">
                    <a:lnB w="0">
                      <a:noFill/>
                    </a:lnB>
                    <a:solidFill>
                      <a:srgbClr val="21295C"/>
                    </a:solidFill>
                  </a:tcPr>
                </a:tc>
                <a:tc>
                  <a:txBody>
                    <a:bodyPr/>
                    <a:lstStyle/>
                    <a:p>
                      <a:pPr algn="ctr"/>
                      <a:r>
                        <a:rPr sz="1200" b="1">
                          <a:solidFill>
                            <a:srgbClr val="FFFFFF"/>
                          </a:solidFill>
                          <a:latin typeface="Calibri"/>
                        </a:rPr>
                        <a:t>Dataset B — Nordfriesland 100 m</a:t>
                      </a:r>
                    </a:p>
                  </a:txBody>
                  <a:tcPr marT="36576" marB="36576" anchor="ctr">
                    <a:lnB w="0">
                      <a:noFill/>
                    </a:lnB>
                    <a:solidFill>
                      <a:srgbClr val="21295C"/>
                    </a:solidFill>
                  </a:tcPr>
                </a:tc>
                <a:extLst>
                  <a:ext uri="{0D108BD9-81ED-4DB2-BD59-A6C34878D82A}">
                    <a16:rowId xmlns:a16="http://schemas.microsoft.com/office/drawing/2014/main" val="10000"/>
                  </a:ext>
                </a:extLst>
              </a:tr>
              <a:tr h="365760">
                <a:tc>
                  <a:txBody>
                    <a:bodyPr/>
                    <a:lstStyle/>
                    <a:p>
                      <a:pPr algn="l"/>
                      <a:r>
                        <a:rPr sz="1200" b="1">
                          <a:solidFill>
                            <a:srgbClr val="21295C"/>
                          </a:solidFill>
                          <a:latin typeface="Calibri"/>
                        </a:rPr>
                        <a:t>Box–Cox λ (optimum → adopted, 1/λ ∈ ℤ⁺)</a:t>
                      </a:r>
                    </a:p>
                  </a:txBody>
                  <a:tcPr marT="36576" marB="36576" anchor="ctr">
                    <a:lnT>
                      <a:noFill/>
                    </a:lnT>
                    <a:lnB w="0">
                      <a:noFill/>
                    </a:lnB>
                    <a:solidFill>
                      <a:srgbClr val="FFFFFF"/>
                    </a:solidFill>
                  </a:tcPr>
                </a:tc>
                <a:tc>
                  <a:txBody>
                    <a:bodyPr/>
                    <a:lstStyle/>
                    <a:p>
                      <a:pPr algn="ctr"/>
                      <a:r>
                        <a:rPr sz="1200">
                          <a:solidFill>
                            <a:srgbClr val="56606B"/>
                          </a:solidFill>
                          <a:latin typeface="Calibri"/>
                        </a:rPr>
                        <a:t>−0.450 → 0.1</a:t>
                      </a:r>
                    </a:p>
                  </a:txBody>
                  <a:tcPr marT="36576" marB="36576" anchor="ctr">
                    <a:lnT>
                      <a:noFill/>
                    </a:lnT>
                    <a:lnB w="0">
                      <a:noFill/>
                    </a:lnB>
                    <a:solidFill>
                      <a:srgbClr val="FFFFFF"/>
                    </a:solidFill>
                  </a:tcPr>
                </a:tc>
                <a:tc>
                  <a:txBody>
                    <a:bodyPr/>
                    <a:lstStyle/>
                    <a:p>
                      <a:pPr algn="ctr"/>
                      <a:r>
                        <a:rPr sz="1200">
                          <a:solidFill>
                            <a:srgbClr val="56606B"/>
                          </a:solidFill>
                          <a:latin typeface="Calibri"/>
                        </a:rPr>
                        <a:t>0.404 → 0.5</a:t>
                      </a:r>
                    </a:p>
                  </a:txBody>
                  <a:tcPr marT="36576" marB="36576" anchor="ctr">
                    <a:lnT>
                      <a:noFill/>
                    </a:lnT>
                    <a:lnB w="0">
                      <a:noFill/>
                    </a:lnB>
                    <a:solidFill>
                      <a:srgbClr val="FFFFFF"/>
                    </a:solidFill>
                  </a:tcPr>
                </a:tc>
                <a:extLst>
                  <a:ext uri="{0D108BD9-81ED-4DB2-BD59-A6C34878D82A}">
                    <a16:rowId xmlns:a16="http://schemas.microsoft.com/office/drawing/2014/main" val="10001"/>
                  </a:ext>
                </a:extLst>
              </a:tr>
              <a:tr h="365760">
                <a:tc>
                  <a:txBody>
                    <a:bodyPr/>
                    <a:lstStyle/>
                    <a:p>
                      <a:pPr algn="l"/>
                      <a:r>
                        <a:rPr sz="1200" b="1">
                          <a:solidFill>
                            <a:srgbClr val="21295C"/>
                          </a:solidFill>
                          <a:latin typeface="Calibri"/>
                        </a:rPr>
                        <a:t>AR(4) β₁, β₂, β₃, β₄</a:t>
                      </a:r>
                    </a:p>
                  </a:txBody>
                  <a:tcPr marT="36576" marB="36576" anchor="ctr">
                    <a:lnT>
                      <a:noFill/>
                    </a:lnT>
                    <a:lnB w="0">
                      <a:noFill/>
                    </a:lnB>
                    <a:solidFill>
                      <a:srgbClr val="EEF3F7"/>
                    </a:solidFill>
                  </a:tcPr>
                </a:tc>
                <a:tc>
                  <a:txBody>
                    <a:bodyPr/>
                    <a:lstStyle/>
                    <a:p>
                      <a:pPr algn="ctr"/>
                      <a:r>
                        <a:rPr sz="1200">
                          <a:solidFill>
                            <a:srgbClr val="56606B"/>
                          </a:solidFill>
                          <a:latin typeface="Calibri"/>
                        </a:rPr>
                        <a:t>0.6299, −0.1443, 0.0926, 0.0310</a:t>
                      </a:r>
                    </a:p>
                  </a:txBody>
                  <a:tcPr marT="36576" marB="36576" anchor="ctr">
                    <a:lnT>
                      <a:noFill/>
                    </a:lnT>
                    <a:lnB w="0">
                      <a:noFill/>
                    </a:lnB>
                    <a:solidFill>
                      <a:srgbClr val="EEF3F7"/>
                    </a:solidFill>
                  </a:tcPr>
                </a:tc>
                <a:tc>
                  <a:txBody>
                    <a:bodyPr/>
                    <a:lstStyle/>
                    <a:p>
                      <a:pPr algn="ctr"/>
                      <a:r>
                        <a:rPr sz="1200">
                          <a:solidFill>
                            <a:srgbClr val="56606B"/>
                          </a:solidFill>
                          <a:latin typeface="Calibri"/>
                        </a:rPr>
                        <a:t>0.5324, −0.0763, 0.0324, −0.0074</a:t>
                      </a:r>
                    </a:p>
                  </a:txBody>
                  <a:tcPr marT="36576" marB="36576" anchor="ctr">
                    <a:lnT>
                      <a:noFill/>
                    </a:lnT>
                    <a:lnB w="0">
                      <a:noFill/>
                    </a:lnB>
                    <a:solidFill>
                      <a:srgbClr val="EEF3F7"/>
                    </a:solidFill>
                  </a:tcPr>
                </a:tc>
                <a:extLst>
                  <a:ext uri="{0D108BD9-81ED-4DB2-BD59-A6C34878D82A}">
                    <a16:rowId xmlns:a16="http://schemas.microsoft.com/office/drawing/2014/main" val="10002"/>
                  </a:ext>
                </a:extLst>
              </a:tr>
              <a:tr h="365760">
                <a:tc>
                  <a:txBody>
                    <a:bodyPr/>
                    <a:lstStyle/>
                    <a:p>
                      <a:pPr algn="l"/>
                      <a:r>
                        <a:rPr sz="1200" b="1">
                          <a:solidFill>
                            <a:srgbClr val="21295C"/>
                          </a:solidFill>
                          <a:latin typeface="Calibri"/>
                        </a:rPr>
                        <a:t>AIC advantage of AR(3) over AR(4)</a:t>
                      </a:r>
                    </a:p>
                  </a:txBody>
                  <a:tcPr marT="36576" marB="36576" anchor="ctr">
                    <a:lnT>
                      <a:noFill/>
                    </a:lnT>
                    <a:lnB w="0">
                      <a:noFill/>
                    </a:lnB>
                    <a:solidFill>
                      <a:srgbClr val="FFFFFF"/>
                    </a:solidFill>
                  </a:tcPr>
                </a:tc>
                <a:tc>
                  <a:txBody>
                    <a:bodyPr/>
                    <a:lstStyle/>
                    <a:p>
                      <a:pPr algn="ctr"/>
                      <a:r>
                        <a:rPr sz="1200">
                          <a:solidFill>
                            <a:srgbClr val="56606B"/>
                          </a:solidFill>
                          <a:latin typeface="Calibri"/>
                        </a:rPr>
                        <a:t>0.59</a:t>
                      </a:r>
                    </a:p>
                  </a:txBody>
                  <a:tcPr marT="36576" marB="36576" anchor="ctr">
                    <a:lnT>
                      <a:noFill/>
                    </a:lnT>
                    <a:lnB w="0">
                      <a:noFill/>
                    </a:lnB>
                    <a:solidFill>
                      <a:srgbClr val="FFFFFF"/>
                    </a:solidFill>
                  </a:tcPr>
                </a:tc>
                <a:tc>
                  <a:txBody>
                    <a:bodyPr/>
                    <a:lstStyle/>
                    <a:p>
                      <a:pPr algn="ctr"/>
                      <a:r>
                        <a:rPr sz="1200">
                          <a:solidFill>
                            <a:srgbClr val="56606B"/>
                          </a:solidFill>
                          <a:latin typeface="Calibri"/>
                        </a:rPr>
                        <a:t>1.8</a:t>
                      </a:r>
                    </a:p>
                  </a:txBody>
                  <a:tcPr marT="36576" marB="36576" anchor="ctr">
                    <a:lnT>
                      <a:noFill/>
                    </a:lnT>
                    <a:lnB w="0">
                      <a:noFill/>
                    </a:lnB>
                    <a:solidFill>
                      <a:srgbClr val="FFFFFF"/>
                    </a:solidFill>
                  </a:tcPr>
                </a:tc>
                <a:extLst>
                  <a:ext uri="{0D108BD9-81ED-4DB2-BD59-A6C34878D82A}">
                    <a16:rowId xmlns:a16="http://schemas.microsoft.com/office/drawing/2014/main" val="10003"/>
                  </a:ext>
                </a:extLst>
              </a:tr>
              <a:tr h="365760">
                <a:tc>
                  <a:txBody>
                    <a:bodyPr/>
                    <a:lstStyle/>
                    <a:p>
                      <a:pPr algn="l"/>
                      <a:r>
                        <a:rPr sz="1200" b="1">
                          <a:solidFill>
                            <a:srgbClr val="21295C"/>
                          </a:solidFill>
                          <a:latin typeface="Calibri"/>
                        </a:rPr>
                        <a:t>GARCH ω, α, β</a:t>
                      </a:r>
                    </a:p>
                  </a:txBody>
                  <a:tcPr marT="36576" marB="36576" anchor="ctr">
                    <a:lnT>
                      <a:noFill/>
                    </a:lnT>
                    <a:lnB w="0">
                      <a:noFill/>
                    </a:lnB>
                    <a:solidFill>
                      <a:srgbClr val="EEF3F7"/>
                    </a:solidFill>
                  </a:tcPr>
                </a:tc>
                <a:tc>
                  <a:txBody>
                    <a:bodyPr/>
                    <a:lstStyle/>
                    <a:p>
                      <a:pPr algn="ctr"/>
                      <a:r>
                        <a:rPr sz="1200">
                          <a:solidFill>
                            <a:srgbClr val="56606B"/>
                          </a:solidFill>
                          <a:latin typeface="Calibri"/>
                        </a:rPr>
                        <a:t>0.01004, 0.03105, 0.95242</a:t>
                      </a:r>
                    </a:p>
                  </a:txBody>
                  <a:tcPr marT="36576" marB="36576" anchor="ctr">
                    <a:lnT>
                      <a:noFill/>
                    </a:lnT>
                    <a:lnB w="0">
                      <a:noFill/>
                    </a:lnB>
                    <a:solidFill>
                      <a:srgbClr val="EEF3F7"/>
                    </a:solidFill>
                  </a:tcPr>
                </a:tc>
                <a:tc>
                  <a:txBody>
                    <a:bodyPr/>
                    <a:lstStyle/>
                    <a:p>
                      <a:pPr algn="ctr"/>
                      <a:r>
                        <a:rPr sz="1200">
                          <a:solidFill>
                            <a:srgbClr val="56606B"/>
                          </a:solidFill>
                          <a:latin typeface="Calibri"/>
                        </a:rPr>
                        <a:t>0.01348, 0.00590, 0.97618</a:t>
                      </a:r>
                    </a:p>
                  </a:txBody>
                  <a:tcPr marT="36576" marB="36576" anchor="ctr">
                    <a:lnT>
                      <a:noFill/>
                    </a:lnT>
                    <a:lnB w="0">
                      <a:noFill/>
                    </a:lnB>
                    <a:solidFill>
                      <a:srgbClr val="EEF3F7"/>
                    </a:solidFill>
                  </a:tcPr>
                </a:tc>
                <a:extLst>
                  <a:ext uri="{0D108BD9-81ED-4DB2-BD59-A6C34878D82A}">
                    <a16:rowId xmlns:a16="http://schemas.microsoft.com/office/drawing/2014/main" val="10004"/>
                  </a:ext>
                </a:extLst>
              </a:tr>
              <a:tr h="365760">
                <a:tc>
                  <a:txBody>
                    <a:bodyPr/>
                    <a:lstStyle/>
                    <a:p>
                      <a:pPr algn="l"/>
                      <a:r>
                        <a:rPr sz="1200" b="1">
                          <a:solidFill>
                            <a:srgbClr val="21295C"/>
                          </a:solidFill>
                          <a:latin typeface="Calibri"/>
                        </a:rPr>
                        <a:t>Persistence α + β · volatility half-life</a:t>
                      </a:r>
                    </a:p>
                  </a:txBody>
                  <a:tcPr marT="36576" marB="36576" anchor="ctr">
                    <a:lnT>
                      <a:noFill/>
                    </a:lnT>
                    <a:lnB w="0">
                      <a:noFill/>
                    </a:lnB>
                    <a:solidFill>
                      <a:srgbClr val="FFFFFF"/>
                    </a:solidFill>
                  </a:tcPr>
                </a:tc>
                <a:tc>
                  <a:txBody>
                    <a:bodyPr/>
                    <a:lstStyle/>
                    <a:p>
                      <a:pPr algn="ctr"/>
                      <a:r>
                        <a:rPr sz="1200">
                          <a:solidFill>
                            <a:srgbClr val="56606B"/>
                          </a:solidFill>
                          <a:latin typeface="Calibri"/>
                        </a:rPr>
                        <a:t>0.9835 · 41.6 days</a:t>
                      </a:r>
                    </a:p>
                  </a:txBody>
                  <a:tcPr marT="36576" marB="36576" anchor="ctr">
                    <a:lnT>
                      <a:noFill/>
                    </a:lnT>
                    <a:lnB w="0">
                      <a:noFill/>
                    </a:lnB>
                    <a:solidFill>
                      <a:srgbClr val="FFFFFF"/>
                    </a:solidFill>
                  </a:tcPr>
                </a:tc>
                <a:tc>
                  <a:txBody>
                    <a:bodyPr/>
                    <a:lstStyle/>
                    <a:p>
                      <a:pPr algn="ctr"/>
                      <a:r>
                        <a:rPr sz="1200">
                          <a:solidFill>
                            <a:srgbClr val="56606B"/>
                          </a:solidFill>
                          <a:latin typeface="Calibri"/>
                        </a:rPr>
                        <a:t>0.9821 · 38.3 days</a:t>
                      </a:r>
                    </a:p>
                  </a:txBody>
                  <a:tcPr marT="36576" marB="36576" anchor="ctr">
                    <a:lnT>
                      <a:noFill/>
                    </a:lnT>
                    <a:lnB w="0">
                      <a:noFill/>
                    </a:lnB>
                    <a:solidFill>
                      <a:srgbClr val="FFFFFF"/>
                    </a:solidFill>
                  </a:tcPr>
                </a:tc>
                <a:extLst>
                  <a:ext uri="{0D108BD9-81ED-4DB2-BD59-A6C34878D82A}">
                    <a16:rowId xmlns:a16="http://schemas.microsoft.com/office/drawing/2014/main" val="10005"/>
                  </a:ext>
                </a:extLst>
              </a:tr>
              <a:tr h="365760">
                <a:tc>
                  <a:txBody>
                    <a:bodyPr/>
                    <a:lstStyle/>
                    <a:p>
                      <a:pPr algn="l"/>
                      <a:r>
                        <a:rPr sz="1200" b="1">
                          <a:solidFill>
                            <a:srgbClr val="21295C"/>
                          </a:solidFill>
                          <a:latin typeface="Calibri"/>
                        </a:rPr>
                        <a:t>CAR(4) α₁, α₂, α₃, α₄</a:t>
                      </a:r>
                    </a:p>
                  </a:txBody>
                  <a:tcPr marT="36576" marB="36576" anchor="ctr">
                    <a:lnT>
                      <a:noFill/>
                    </a:lnT>
                    <a:lnB w="0">
                      <a:noFill/>
                    </a:lnB>
                    <a:solidFill>
                      <a:srgbClr val="EEF3F7"/>
                    </a:solidFill>
                  </a:tcPr>
                </a:tc>
                <a:tc>
                  <a:txBody>
                    <a:bodyPr/>
                    <a:lstStyle/>
                    <a:p>
                      <a:pPr algn="ctr"/>
                      <a:r>
                        <a:rPr sz="1200">
                          <a:solidFill>
                            <a:srgbClr val="56606B"/>
                          </a:solidFill>
                          <a:latin typeface="Calibri"/>
                        </a:rPr>
                        <a:t>3.3701, 4.2546, 2.3063, 0.3908</a:t>
                      </a:r>
                    </a:p>
                  </a:txBody>
                  <a:tcPr marT="36576" marB="36576" anchor="ctr">
                    <a:lnT>
                      <a:noFill/>
                    </a:lnT>
                    <a:lnB w="0">
                      <a:noFill/>
                    </a:lnB>
                    <a:solidFill>
                      <a:srgbClr val="EEF3F7"/>
                    </a:solidFill>
                  </a:tcPr>
                </a:tc>
                <a:tc>
                  <a:txBody>
                    <a:bodyPr/>
                    <a:lstStyle/>
                    <a:p>
                      <a:pPr algn="ctr"/>
                      <a:r>
                        <a:rPr sz="1200">
                          <a:solidFill>
                            <a:srgbClr val="56606B"/>
                          </a:solidFill>
                          <a:latin typeface="Calibri"/>
                        </a:rPr>
                        <a:t>3.4676, 4.4789, 2.5228, 0.5188</a:t>
                      </a:r>
                    </a:p>
                  </a:txBody>
                  <a:tcPr marT="36576" marB="36576" anchor="ctr">
                    <a:lnT>
                      <a:noFill/>
                    </a:lnT>
                    <a:lnB w="0">
                      <a:noFill/>
                    </a:lnB>
                    <a:solidFill>
                      <a:srgbClr val="EEF3F7"/>
                    </a:solidFill>
                  </a:tcPr>
                </a:tc>
                <a:extLst>
                  <a:ext uri="{0D108BD9-81ED-4DB2-BD59-A6C34878D82A}">
                    <a16:rowId xmlns:a16="http://schemas.microsoft.com/office/drawing/2014/main" val="10006"/>
                  </a:ext>
                </a:extLst>
              </a:tr>
              <a:tr h="365760">
                <a:tc>
                  <a:txBody>
                    <a:bodyPr/>
                    <a:lstStyle/>
                    <a:p>
                      <a:pPr algn="l"/>
                      <a:r>
                        <a:rPr sz="1200" b="1">
                          <a:solidFill>
                            <a:srgbClr val="21295C"/>
                          </a:solidFill>
                          <a:latin typeface="Calibri"/>
                        </a:rPr>
                        <a:t>Eigenvalues of A</a:t>
                      </a:r>
                    </a:p>
                  </a:txBody>
                  <a:tcPr marT="36576" marB="36576" anchor="ctr">
                    <a:lnT>
                      <a:noFill/>
                    </a:lnT>
                    <a:lnB w="0">
                      <a:noFill/>
                    </a:lnB>
                    <a:solidFill>
                      <a:srgbClr val="FFFFFF"/>
                    </a:solidFill>
                  </a:tcPr>
                </a:tc>
                <a:tc>
                  <a:txBody>
                    <a:bodyPr/>
                    <a:lstStyle/>
                    <a:p>
                      <a:pPr algn="ctr"/>
                      <a:r>
                        <a:rPr sz="1200">
                          <a:solidFill>
                            <a:srgbClr val="56606B"/>
                          </a:solidFill>
                          <a:latin typeface="Calibri"/>
                        </a:rPr>
                        <a:t>−0.9358 ± 0.4653i, −1.2004, −0.2980</a:t>
                      </a:r>
                    </a:p>
                  </a:txBody>
                  <a:tcPr marT="36576" marB="36576" anchor="ctr">
                    <a:lnT>
                      <a:noFill/>
                    </a:lnT>
                    <a:lnB w="0">
                      <a:noFill/>
                    </a:lnB>
                    <a:solidFill>
                      <a:srgbClr val="FFFFFF"/>
                    </a:solidFill>
                  </a:tcPr>
                </a:tc>
                <a:tc>
                  <a:txBody>
                    <a:bodyPr/>
                    <a:lstStyle/>
                    <a:p>
                      <a:pPr algn="ctr"/>
                      <a:r>
                        <a:rPr sz="1200">
                          <a:solidFill>
                            <a:srgbClr val="56606B"/>
                          </a:solidFill>
                          <a:latin typeface="Calibri"/>
                        </a:rPr>
                        <a:t>−1.0730 ± 0.2550i, −0.7614, −0.5602</a:t>
                      </a:r>
                    </a:p>
                  </a:txBody>
                  <a:tcPr marT="36576" marB="36576" anchor="ctr">
                    <a:lnT>
                      <a:noFill/>
                    </a:lnT>
                    <a:lnB w="0">
                      <a:noFill/>
                    </a:lnB>
                    <a:solidFill>
                      <a:srgbClr val="FFFFFF"/>
                    </a:solidFill>
                  </a:tcPr>
                </a:tc>
                <a:extLst>
                  <a:ext uri="{0D108BD9-81ED-4DB2-BD59-A6C34878D82A}">
                    <a16:rowId xmlns:a16="http://schemas.microsoft.com/office/drawing/2014/main" val="10007"/>
                  </a:ext>
                </a:extLst>
              </a:tr>
              <a:tr h="365760">
                <a:tc>
                  <a:txBody>
                    <a:bodyPr/>
                    <a:lstStyle/>
                    <a:p>
                      <a:pPr algn="l"/>
                      <a:r>
                        <a:rPr sz="1200" b="1">
                          <a:solidFill>
                            <a:srgbClr val="21295C"/>
                          </a:solidFill>
                          <a:latin typeface="Calibri"/>
                        </a:rPr>
                        <a:t>Oscillatory period · mean-reversion half-life</a:t>
                      </a:r>
                    </a:p>
                  </a:txBody>
                  <a:tcPr marT="36576" marB="36576" anchor="ctr">
                    <a:lnT>
                      <a:noFill/>
                    </a:lnT>
                    <a:lnB w="0">
                      <a:noFill/>
                    </a:lnB>
                    <a:solidFill>
                      <a:srgbClr val="EEF3F7"/>
                    </a:solidFill>
                  </a:tcPr>
                </a:tc>
                <a:tc>
                  <a:txBody>
                    <a:bodyPr/>
                    <a:lstStyle/>
                    <a:p>
                      <a:pPr algn="ctr"/>
                      <a:r>
                        <a:rPr sz="1200">
                          <a:solidFill>
                            <a:srgbClr val="56606B"/>
                          </a:solidFill>
                          <a:latin typeface="Calibri"/>
                        </a:rPr>
                        <a:t>13.5 days · 2.33 days</a:t>
                      </a:r>
                    </a:p>
                  </a:txBody>
                  <a:tcPr marT="36576" marB="36576" anchor="ctr">
                    <a:lnT>
                      <a:noFill/>
                    </a:lnT>
                    <a:lnB w="0">
                      <a:noFill/>
                    </a:lnB>
                    <a:solidFill>
                      <a:srgbClr val="EEF3F7"/>
                    </a:solidFill>
                  </a:tcPr>
                </a:tc>
                <a:tc>
                  <a:txBody>
                    <a:bodyPr/>
                    <a:lstStyle/>
                    <a:p>
                      <a:pPr algn="ctr"/>
                      <a:r>
                        <a:rPr sz="1200">
                          <a:solidFill>
                            <a:srgbClr val="56606B"/>
                          </a:solidFill>
                          <a:latin typeface="Calibri"/>
                        </a:rPr>
                        <a:t>24.6 days · 1.24 days</a:t>
                      </a:r>
                    </a:p>
                  </a:txBody>
                  <a:tcPr marT="36576" marB="36576" anchor="ctr">
                    <a:lnT>
                      <a:noFill/>
                    </a:lnT>
                    <a:lnB w="0">
                      <a:noFill/>
                    </a:lnB>
                    <a:solidFill>
                      <a:srgbClr val="EEF3F7"/>
                    </a:solidFill>
                  </a:tcPr>
                </a:tc>
                <a:extLst>
                  <a:ext uri="{0D108BD9-81ED-4DB2-BD59-A6C34878D82A}">
                    <a16:rowId xmlns:a16="http://schemas.microsoft.com/office/drawing/2014/main" val="10008"/>
                  </a:ext>
                </a:extLst>
              </a:tr>
              <a:tr h="365760">
                <a:tc>
                  <a:txBody>
                    <a:bodyPr/>
                    <a:lstStyle/>
                    <a:p>
                      <a:pPr algn="l"/>
                      <a:r>
                        <a:rPr sz="1200" b="1">
                          <a:solidFill>
                            <a:srgbClr val="21295C"/>
                          </a:solidFill>
                          <a:latin typeface="Calibri"/>
                        </a:rPr>
                        <a:t>NIG α̂ · KS p (NIG / Gaussian)</a:t>
                      </a:r>
                    </a:p>
                  </a:txBody>
                  <a:tcPr marT="36576" marB="36576" anchor="ctr">
                    <a:lnT>
                      <a:noFill/>
                    </a:lnT>
                    <a:lnB w="0">
                      <a:noFill/>
                    </a:lnB>
                    <a:solidFill>
                      <a:srgbClr val="FFFFFF"/>
                    </a:solidFill>
                  </a:tcPr>
                </a:tc>
                <a:tc>
                  <a:txBody>
                    <a:bodyPr/>
                    <a:lstStyle/>
                    <a:p>
                      <a:pPr algn="ctr"/>
                      <a:r>
                        <a:rPr sz="1200">
                          <a:solidFill>
                            <a:srgbClr val="56606B"/>
                          </a:solidFill>
                          <a:latin typeface="Calibri"/>
                        </a:rPr>
                        <a:t>4.374 · 0.120 / 0.079</a:t>
                      </a:r>
                    </a:p>
                  </a:txBody>
                  <a:tcPr marT="36576" marB="36576" anchor="ctr">
                    <a:lnT>
                      <a:noFill/>
                    </a:lnT>
                    <a:lnB w="0">
                      <a:noFill/>
                    </a:lnB>
                    <a:solidFill>
                      <a:srgbClr val="FFFFFF"/>
                    </a:solidFill>
                  </a:tcPr>
                </a:tc>
                <a:tc>
                  <a:txBody>
                    <a:bodyPr/>
                    <a:lstStyle/>
                    <a:p>
                      <a:pPr algn="ctr"/>
                      <a:r>
                        <a:rPr sz="1200">
                          <a:solidFill>
                            <a:srgbClr val="56606B"/>
                          </a:solidFill>
                          <a:latin typeface="Calibri"/>
                        </a:rPr>
                        <a:t>2,649.57 · 0.0275 / 0.0269</a:t>
                      </a:r>
                    </a:p>
                  </a:txBody>
                  <a:tcPr marT="36576" marB="36576" anchor="ctr">
                    <a:lnT>
                      <a:noFill/>
                    </a:lnT>
                    <a:lnB w="0">
                      <a:noFill/>
                    </a:lnB>
                    <a:solidFill>
                      <a:srgbClr val="FFFFFF"/>
                    </a:solidFill>
                  </a:tcPr>
                </a:tc>
                <a:extLst>
                  <a:ext uri="{0D108BD9-81ED-4DB2-BD59-A6C34878D82A}">
                    <a16:rowId xmlns:a16="http://schemas.microsoft.com/office/drawing/2014/main" val="10009"/>
                  </a:ext>
                </a:extLst>
              </a:tr>
              <a:tr h="365760">
                <a:tc>
                  <a:txBody>
                    <a:bodyPr/>
                    <a:lstStyle/>
                    <a:p>
                      <a:pPr algn="l"/>
                      <a:r>
                        <a:rPr sz="1200" b="1">
                          <a:solidFill>
                            <a:srgbClr val="21295C"/>
                          </a:solidFill>
                          <a:latin typeface="Calibri"/>
                        </a:rPr>
                        <a:t>GARCH standardised residuals</a:t>
                      </a:r>
                    </a:p>
                  </a:txBody>
                  <a:tcPr marT="36576" marB="36576" anchor="ctr">
                    <a:lnT>
                      <a:noFill/>
                    </a:lnT>
                    <a:lnB w="0">
                      <a:noFill/>
                    </a:lnB>
                    <a:solidFill>
                      <a:srgbClr val="EEF3F7"/>
                    </a:solidFill>
                  </a:tcPr>
                </a:tc>
                <a:tc>
                  <a:txBody>
                    <a:bodyPr/>
                    <a:lstStyle/>
                    <a:p>
                      <a:pPr algn="ctr"/>
                      <a:r>
                        <a:rPr sz="1200">
                          <a:solidFill>
                            <a:srgbClr val="56606B"/>
                          </a:solidFill>
                          <a:latin typeface="Calibri"/>
                        </a:rPr>
                        <a:t>all diagnostics pass</a:t>
                      </a:r>
                    </a:p>
                  </a:txBody>
                  <a:tcPr marT="36576" marB="36576" anchor="ctr">
                    <a:lnT>
                      <a:noFill/>
                    </a:lnT>
                    <a:lnB w="0">
                      <a:noFill/>
                    </a:lnB>
                    <a:solidFill>
                      <a:srgbClr val="EEF3F7"/>
                    </a:solidFill>
                  </a:tcPr>
                </a:tc>
                <a:tc>
                  <a:txBody>
                    <a:bodyPr/>
                    <a:lstStyle/>
                    <a:p>
                      <a:pPr algn="ctr"/>
                      <a:r>
                        <a:rPr sz="1200">
                          <a:solidFill>
                            <a:srgbClr val="56606B"/>
                          </a:solidFill>
                          <a:latin typeface="Calibri"/>
                        </a:rPr>
                        <a:t>z² lag 5 p = 0.0167; ARCH-LM p = 0.0185</a:t>
                      </a:r>
                    </a:p>
                  </a:txBody>
                  <a:tcPr marT="36576" marB="36576" anchor="ctr">
                    <a:lnT>
                      <a:noFill/>
                    </a:lnT>
                    <a:lnB w="0">
                      <a:noFill/>
                    </a:lnB>
                    <a:solidFill>
                      <a:srgbClr val="EEF3F7"/>
                    </a:solidFill>
                  </a:tcPr>
                </a:tc>
                <a:extLst>
                  <a:ext uri="{0D108BD9-81ED-4DB2-BD59-A6C34878D82A}">
                    <a16:rowId xmlns:a16="http://schemas.microsoft.com/office/drawing/2014/main" val="10010"/>
                  </a:ext>
                </a:extLst>
              </a:tr>
            </a:tbl>
          </a:graphicData>
        </a:graphic>
      </p:graphicFrame>
      <p:sp>
        <p:nvSpPr>
          <p:cNvPr id="15" name="Rounded Rectangle 14"/>
          <p:cNvSpPr/>
          <p:nvPr/>
        </p:nvSpPr>
        <p:spPr>
          <a:xfrm>
            <a:off x="548640" y="5852160"/>
            <a:ext cx="11109960" cy="457200"/>
          </a:xfrm>
          <a:prstGeom prst="roundRect">
            <a:avLst>
              <a:gd name="adj" fmla="val 18000"/>
            </a:avLst>
          </a:prstGeom>
          <a:solidFill>
            <a:srgbClr val="EEF3F7"/>
          </a:solidFill>
          <a:ln>
            <a:noFill/>
          </a:ln>
        </p:spPr>
        <p:txBody>
          <a:bodyPr rtlCol="0" anchor="ctr"/>
          <a:lstStyle/>
          <a:p>
            <a:pPr algn="ctr"/>
            <a:endParaRPr/>
          </a:p>
        </p:txBody>
      </p:sp>
      <p:sp>
        <p:nvSpPr>
          <p:cNvPr id="16" name="TextBox 15"/>
          <p:cNvSpPr txBox="1"/>
          <p:nvPr/>
        </p:nvSpPr>
        <p:spPr>
          <a:xfrm>
            <a:off x="822960" y="5870448"/>
            <a:ext cx="10607040" cy="411480"/>
          </a:xfrm>
          <a:prstGeom prst="rect">
            <a:avLst/>
          </a:prstGeom>
          <a:noFill/>
        </p:spPr>
        <p:txBody>
          <a:bodyPr wrap="square" lIns="0" tIns="0" rIns="0" bIns="0" anchor="ctr">
            <a:spAutoFit/>
          </a:bodyPr>
          <a:lstStyle/>
          <a:p>
            <a:pPr algn="l"/>
            <a:r>
              <a:rPr sz="1150" b="1" i="0">
                <a:solidFill>
                  <a:srgbClr val="21295C"/>
                </a:solidFill>
                <a:latin typeface="Calibri"/>
              </a:rPr>
              <a:t>Frozen phase outputs (thesis Tables 5, 7, 10, 13, 14, 16, 24). </a:t>
            </a:r>
            <a:r>
              <a:rPr sz="1150" b="0" i="0">
                <a:solidFill>
                  <a:srgbClr val="56606B"/>
                </a:solidFill>
                <a:latin typeface="Calibri"/>
              </a:rPr>
              <a:t>AR(4) is retained on structural grounds: CAR(4) needs a four-dimensional companion matrix.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BACKUP B7 · CH. 3 §3.3 — VALUE OF INFORMATION ON A COMMON SCALE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On a common scale, the two sites look alike</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20</a:t>
            </a:r>
            <a:endParaRPr lang="en-US" sz="900" dirty="0"/>
          </a:p>
        </p:txBody>
      </p:sp>
      <p:sp>
        <p:nvSpPr>
          <p:cNvPr id="14" name="Rounded Rectangle 13"/>
          <p:cNvSpPr/>
          <p:nvPr/>
        </p:nvSpPr>
        <p:spPr>
          <a:xfrm>
            <a:off x="548640" y="1783080"/>
            <a:ext cx="548640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20240"/>
            <a:ext cx="5029200" cy="274320"/>
          </a:xfrm>
          <a:prstGeom prst="rect">
            <a:avLst/>
          </a:prstGeom>
          <a:noFill/>
        </p:spPr>
        <p:txBody>
          <a:bodyPr wrap="square" lIns="0" tIns="0" rIns="0" bIns="0" anchor="ctr">
            <a:spAutoFit/>
          </a:bodyPr>
          <a:lstStyle/>
          <a:p>
            <a:pPr algn="l"/>
            <a:r>
              <a:rPr sz="1200" b="1" i="0" spc="100">
                <a:solidFill>
                  <a:srgbClr val="1C7293"/>
                </a:solidFill>
                <a:latin typeface="Calibri"/>
              </a:rPr>
              <a:t>STRIKE RATIO  B / A</a:t>
            </a:r>
          </a:p>
        </p:txBody>
      </p:sp>
      <p:graphicFrame>
        <p:nvGraphicFramePr>
          <p:cNvPr id="16" name="Chart 15"/>
          <p:cNvGraphicFramePr>
            <a:graphicFrameLocks noGrp="1"/>
          </p:cNvGraphicFramePr>
          <p:nvPr/>
        </p:nvGraphicFramePr>
        <p:xfrm>
          <a:off x="685800" y="2194560"/>
          <a:ext cx="52120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Rounded Rectangle 16"/>
          <p:cNvSpPr/>
          <p:nvPr/>
        </p:nvSpPr>
        <p:spPr>
          <a:xfrm>
            <a:off x="6263640" y="1783080"/>
            <a:ext cx="539496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8" name="TextBox 17"/>
          <p:cNvSpPr txBox="1"/>
          <p:nvPr/>
        </p:nvSpPr>
        <p:spPr>
          <a:xfrm>
            <a:off x="6537960" y="1920240"/>
            <a:ext cx="4937760" cy="274320"/>
          </a:xfrm>
          <a:prstGeom prst="rect">
            <a:avLst/>
          </a:prstGeom>
          <a:noFill/>
        </p:spPr>
        <p:txBody>
          <a:bodyPr wrap="square" lIns="0" tIns="0" rIns="0" bIns="0" anchor="ctr">
            <a:spAutoFit/>
          </a:bodyPr>
          <a:lstStyle/>
          <a:p>
            <a:pPr algn="l"/>
            <a:r>
              <a:rPr sz="1200" b="1" i="0" spc="100">
                <a:solidFill>
                  <a:srgbClr val="1C7293"/>
                </a:solidFill>
                <a:latin typeface="Calibri"/>
              </a:rPr>
              <a:t>RECONCILED MODEL STRIKE ÷ MARKET STRIKE</a:t>
            </a:r>
          </a:p>
        </p:txBody>
      </p:sp>
      <p:graphicFrame>
        <p:nvGraphicFramePr>
          <p:cNvPr id="19" name="Chart 18"/>
          <p:cNvGraphicFramePr>
            <a:graphicFrameLocks noGrp="1"/>
          </p:cNvGraphicFramePr>
          <p:nvPr/>
        </p:nvGraphicFramePr>
        <p:xfrm>
          <a:off x="6400800" y="2194560"/>
          <a:ext cx="512064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8778240" y="1920240"/>
            <a:ext cx="2743200" cy="274320"/>
          </a:xfrm>
          <a:prstGeom prst="rect">
            <a:avLst/>
          </a:prstGeom>
          <a:noFill/>
        </p:spPr>
        <p:txBody>
          <a:bodyPr wrap="square" lIns="0" tIns="0" rIns="0" bIns="0" anchor="ctr">
            <a:spAutoFit/>
          </a:bodyPr>
          <a:lstStyle/>
          <a:p>
            <a:pPr algn="r"/>
            <a:r>
              <a:rPr sz="1100" b="0" i="1">
                <a:solidFill>
                  <a:srgbClr val="56606B"/>
                </a:solidFill>
                <a:latin typeface="Calibri"/>
              </a:rPr>
              <a:t>1.0× = market</a:t>
            </a:r>
          </a:p>
        </p:txBody>
      </p:sp>
      <p:sp>
        <p:nvSpPr>
          <p:cNvPr id="21" name="Rounded Rectangle 20"/>
          <p:cNvSpPr/>
          <p:nvPr/>
        </p:nvSpPr>
        <p:spPr>
          <a:xfrm>
            <a:off x="548640"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2" name="TextBox 21"/>
          <p:cNvSpPr txBox="1"/>
          <p:nvPr/>
        </p:nvSpPr>
        <p:spPr>
          <a:xfrm>
            <a:off x="777240"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TWO MEASUREMENT SCALES</a:t>
            </a:r>
          </a:p>
        </p:txBody>
      </p:sp>
      <p:sp>
        <p:nvSpPr>
          <p:cNvPr id="23" name="TextBox 22"/>
          <p:cNvSpPr txBox="1"/>
          <p:nvPr/>
        </p:nvSpPr>
        <p:spPr>
          <a:xfrm>
            <a:off x="777240"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C₀ is a variance in Box–Cox units: λ = 0.1 (A) vs λ = 0.5 (B).</a:t>
            </a:r>
          </a:p>
        </p:txBody>
      </p:sp>
      <p:sp>
        <p:nvSpPr>
          <p:cNvPr id="24" name="Rounded Rectangle 23"/>
          <p:cNvSpPr/>
          <p:nvPr/>
        </p:nvSpPr>
        <p:spPr>
          <a:xfrm>
            <a:off x="4325112"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5" name="TextBox 24"/>
          <p:cNvSpPr txBox="1"/>
          <p:nvPr/>
        </p:nvSpPr>
        <p:spPr>
          <a:xfrm>
            <a:off x="4553712"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TWO PRICING DATES</a:t>
            </a:r>
          </a:p>
        </p:txBody>
      </p:sp>
      <p:sp>
        <p:nvSpPr>
          <p:cNvPr id="26" name="TextBox 25"/>
          <p:cNvSpPr txBox="1"/>
          <p:nvPr/>
        </p:nvSpPr>
        <p:spPr>
          <a:xfrm>
            <a:off x="4553712"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h(t₀) on 31 Dec 2018 vs 31 Dec 2024: the 1.82× compares dates, not sites.</a:t>
            </a:r>
          </a:p>
        </p:txBody>
      </p:sp>
      <p:sp>
        <p:nvSpPr>
          <p:cNvPr id="27" name="Rounded Rectangle 26"/>
          <p:cNvSpPr/>
          <p:nvPr/>
        </p:nvSpPr>
        <p:spPr>
          <a:xfrm>
            <a:off x="8101583"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8" name="TextBox 27"/>
          <p:cNvSpPr txBox="1"/>
          <p:nvPr/>
        </p:nvSpPr>
        <p:spPr>
          <a:xfrm>
            <a:off x="8330183"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SAME RELATIVE VARIABILITY</a:t>
            </a:r>
          </a:p>
        </p:txBody>
      </p:sp>
      <p:sp>
        <p:nvSpPr>
          <p:cNvPr id="29" name="TextBox 28"/>
          <p:cNvSpPr txBox="1"/>
          <p:nvPr/>
        </p:nvSpPr>
        <p:spPr>
          <a:xfrm>
            <a:off x="8330183"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Coefficient of variation 0.384 (Bologna) vs 0.401 (Nordfriesland).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B8 · CH. 3 — CAWS TAIL STATISTICS</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CAWS on both datasets: calmest year, windiest year, CVaR₅%</a:t>
            </a:r>
          </a:p>
        </p:txBody>
      </p:sp>
      <p:sp>
        <p:nvSpPr>
          <p:cNvPr id="7" name="TextBox 6"/>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8" name="TextBox 7"/>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21</a:t>
            </a:r>
          </a:p>
        </p:txBody>
      </p:sp>
      <p:graphicFrame>
        <p:nvGraphicFramePr>
          <p:cNvPr id="50" name="Table 19"/>
          <p:cNvGraphicFramePr>
            <a:graphicFrameLocks noGrp="1"/>
          </p:cNvGraphicFramePr>
          <p:nvPr/>
        </p:nvGraphicFramePr>
        <p:xfrm>
          <a:off x="548640" y="1783080"/>
          <a:ext cx="7040880" cy="2020820"/>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404164">
                <a:tc>
                  <a:txBody>
                    <a:bodyPr/>
                    <a:lstStyle/>
                    <a:p>
                      <a:pPr algn="l"/>
                      <a:endParaRPr/>
                    </a:p>
                  </a:txBody>
                  <a:tcPr marT="36576" marB="36576" anchor="ctr">
                    <a:lnB w="0">
                      <a:noFill/>
                    </a:lnB>
                    <a:solidFill>
                      <a:srgbClr val="21295C"/>
                    </a:solidFill>
                  </a:tcPr>
                </a:tc>
                <a:tc>
                  <a:txBody>
                    <a:bodyPr/>
                    <a:lstStyle/>
                    <a:p>
                      <a:pPr algn="ctr"/>
                      <a:r>
                        <a:rPr sz="1400" b="1">
                          <a:solidFill>
                            <a:srgbClr val="FFFFFF"/>
                          </a:solidFill>
                          <a:latin typeface="Calibri"/>
                        </a:rPr>
                        <a:t>A · Bologna</a:t>
                      </a:r>
                    </a:p>
                  </a:txBody>
                  <a:tcPr marT="36576" marB="36576" anchor="ctr">
                    <a:lnB w="0">
                      <a:noFill/>
                    </a:lnB>
                    <a:solidFill>
                      <a:srgbClr val="21295C"/>
                    </a:solidFill>
                  </a:tcPr>
                </a:tc>
                <a:tc>
                  <a:txBody>
                    <a:bodyPr/>
                    <a:lstStyle/>
                    <a:p>
                      <a:pPr algn="ctr"/>
                      <a:r>
                        <a:rPr sz="1400" b="1">
                          <a:solidFill>
                            <a:srgbClr val="FFFFFF"/>
                          </a:solidFill>
                          <a:latin typeface="Calibri"/>
                        </a:rPr>
                        <a:t>B · Nordfr.</a:t>
                      </a:r>
                    </a:p>
                  </a:txBody>
                  <a:tcPr marT="36576" marB="36576" anchor="ctr">
                    <a:lnB w="0">
                      <a:noFill/>
                    </a:lnB>
                    <a:solidFill>
                      <a:srgbClr val="21295C"/>
                    </a:solidFill>
                  </a:tcPr>
                </a:tc>
                <a:extLst>
                  <a:ext uri="{0D108BD9-81ED-4DB2-BD59-A6C34878D82A}">
                    <a16:rowId xmlns:a16="http://schemas.microsoft.com/office/drawing/2014/main" val="10000"/>
                  </a:ext>
                </a:extLst>
              </a:tr>
              <a:tr h="404164">
                <a:tc>
                  <a:txBody>
                    <a:bodyPr/>
                    <a:lstStyle/>
                    <a:p>
                      <a:pPr algn="l"/>
                      <a:r>
                        <a:rPr sz="1400" b="1">
                          <a:solidFill>
                            <a:srgbClr val="21295C"/>
                          </a:solidFill>
                          <a:latin typeface="Calibri"/>
                        </a:rPr>
                        <a:t>Strike K</a:t>
                      </a:r>
                    </a:p>
                  </a:txBody>
                  <a:tcPr marT="36576" marB="36576" anchor="ctr">
                    <a:lnT>
                      <a:noFill/>
                    </a:lnT>
                    <a:lnB w="0">
                      <a:noFill/>
                    </a:lnB>
                    <a:solidFill>
                      <a:srgbClr val="FFFFFF"/>
                    </a:solidFill>
                  </a:tcPr>
                </a:tc>
                <a:tc>
                  <a:txBody>
                    <a:bodyPr/>
                    <a:lstStyle/>
                    <a:p>
                      <a:pPr algn="ctr"/>
                      <a:r>
                        <a:rPr sz="1400">
                          <a:solidFill>
                            <a:srgbClr val="56606B"/>
                          </a:solidFill>
                          <a:latin typeface="Calibri"/>
                        </a:rPr>
                        <a:t>2.4644 m/s</a:t>
                      </a:r>
                    </a:p>
                  </a:txBody>
                  <a:tcPr marT="36576" marB="36576" anchor="ctr">
                    <a:lnT>
                      <a:noFill/>
                    </a:lnT>
                    <a:lnB w="0">
                      <a:noFill/>
                    </a:lnB>
                    <a:solidFill>
                      <a:srgbClr val="FFFFFF"/>
                    </a:solidFill>
                  </a:tcPr>
                </a:tc>
                <a:tc>
                  <a:txBody>
                    <a:bodyPr/>
                    <a:lstStyle/>
                    <a:p>
                      <a:pPr algn="ctr"/>
                      <a:r>
                        <a:rPr sz="1400">
                          <a:solidFill>
                            <a:srgbClr val="56606B"/>
                          </a:solidFill>
                          <a:latin typeface="Calibri"/>
                        </a:rPr>
                        <a:t>8.0531 m/s</a:t>
                      </a:r>
                    </a:p>
                  </a:txBody>
                  <a:tcPr marT="36576" marB="36576" anchor="ctr">
                    <a:lnT>
                      <a:noFill/>
                    </a:lnT>
                    <a:lnB w="0">
                      <a:noFill/>
                    </a:lnB>
                    <a:solidFill>
                      <a:srgbClr val="FFFFFF"/>
                    </a:solidFill>
                  </a:tcPr>
                </a:tc>
                <a:extLst>
                  <a:ext uri="{0D108BD9-81ED-4DB2-BD59-A6C34878D82A}">
                    <a16:rowId xmlns:a16="http://schemas.microsoft.com/office/drawing/2014/main" val="10001"/>
                  </a:ext>
                </a:extLst>
              </a:tr>
              <a:tr h="404164">
                <a:tc>
                  <a:txBody>
                    <a:bodyPr/>
                    <a:lstStyle/>
                    <a:p>
                      <a:pPr algn="l"/>
                      <a:r>
                        <a:rPr sz="1400" b="1">
                          <a:solidFill>
                            <a:srgbClr val="21295C"/>
                          </a:solidFill>
                          <a:latin typeface="Calibri"/>
                        </a:rPr>
                        <a:t>Calmest year</a:t>
                      </a:r>
                    </a:p>
                  </a:txBody>
                  <a:tcPr marT="36576" marB="36576" anchor="ctr">
                    <a:lnT>
                      <a:noFill/>
                    </a:lnT>
                    <a:lnB w="0">
                      <a:noFill/>
                    </a:lnB>
                    <a:solidFill>
                      <a:srgbClr val="FBF1E4"/>
                    </a:solidFill>
                  </a:tcPr>
                </a:tc>
                <a:tc>
                  <a:txBody>
                    <a:bodyPr/>
                    <a:lstStyle/>
                    <a:p>
                      <a:pPr algn="ctr"/>
                      <a:r>
                        <a:rPr sz="1400">
                          <a:solidFill>
                            <a:srgbClr val="56606B"/>
                          </a:solidFill>
                          <a:latin typeface="Calibri"/>
                        </a:rPr>
                        <a:t>+6.70% (2017)</a:t>
                      </a:r>
                    </a:p>
                  </a:txBody>
                  <a:tcPr marT="36576" marB="36576" anchor="ctr">
                    <a:lnT>
                      <a:noFill/>
                    </a:lnT>
                    <a:lnB w="0">
                      <a:noFill/>
                    </a:lnB>
                    <a:solidFill>
                      <a:srgbClr val="FBF1E4"/>
                    </a:solidFill>
                  </a:tcPr>
                </a:tc>
                <a:tc>
                  <a:txBody>
                    <a:bodyPr/>
                    <a:lstStyle/>
                    <a:p>
                      <a:pPr algn="ctr"/>
                      <a:r>
                        <a:rPr sz="1400">
                          <a:solidFill>
                            <a:srgbClr val="56606B"/>
                          </a:solidFill>
                          <a:latin typeface="Calibri"/>
                        </a:rPr>
                        <a:t>+4.99% (2021)</a:t>
                      </a:r>
                    </a:p>
                  </a:txBody>
                  <a:tcPr marT="36576" marB="36576" anchor="ctr">
                    <a:lnT>
                      <a:noFill/>
                    </a:lnT>
                    <a:lnB w="0">
                      <a:noFill/>
                    </a:lnB>
                    <a:solidFill>
                      <a:srgbClr val="FBF1E4"/>
                    </a:solidFill>
                  </a:tcPr>
                </a:tc>
                <a:extLst>
                  <a:ext uri="{0D108BD9-81ED-4DB2-BD59-A6C34878D82A}">
                    <a16:rowId xmlns:a16="http://schemas.microsoft.com/office/drawing/2014/main" val="10002"/>
                  </a:ext>
                </a:extLst>
              </a:tr>
              <a:tr h="404164">
                <a:tc>
                  <a:txBody>
                    <a:bodyPr/>
                    <a:lstStyle/>
                    <a:p>
                      <a:pPr algn="l"/>
                      <a:r>
                        <a:rPr sz="1400" b="1">
                          <a:solidFill>
                            <a:srgbClr val="21295C"/>
                          </a:solidFill>
                          <a:latin typeface="Calibri"/>
                        </a:rPr>
                        <a:t>Windiest = CVaR₅%</a:t>
                      </a:r>
                    </a:p>
                  </a:txBody>
                  <a:tcPr marT="36576" marB="36576" anchor="ctr">
                    <a:lnT>
                      <a:noFill/>
                    </a:lnT>
                    <a:lnB w="0">
                      <a:noFill/>
                    </a:lnB>
                    <a:solidFill>
                      <a:srgbClr val="FFFFFF"/>
                    </a:solidFill>
                  </a:tcPr>
                </a:tc>
                <a:tc>
                  <a:txBody>
                    <a:bodyPr/>
                    <a:lstStyle/>
                    <a:p>
                      <a:pPr algn="ctr"/>
                      <a:r>
                        <a:rPr sz="1400">
                          <a:solidFill>
                            <a:srgbClr val="56606B"/>
                          </a:solidFill>
                          <a:latin typeface="Calibri"/>
                        </a:rPr>
                        <a:t>−4.91% (2018)</a:t>
                      </a:r>
                    </a:p>
                  </a:txBody>
                  <a:tcPr marT="36576" marB="36576" anchor="ctr">
                    <a:lnT>
                      <a:noFill/>
                    </a:lnT>
                    <a:lnB w="0">
                      <a:noFill/>
                    </a:lnB>
                    <a:solidFill>
                      <a:srgbClr val="FFFFFF"/>
                    </a:solidFill>
                  </a:tcPr>
                </a:tc>
                <a:tc>
                  <a:txBody>
                    <a:bodyPr/>
                    <a:lstStyle/>
                    <a:p>
                      <a:pPr algn="ctr"/>
                      <a:r>
                        <a:rPr sz="1400">
                          <a:solidFill>
                            <a:srgbClr val="56606B"/>
                          </a:solidFill>
                          <a:latin typeface="Calibri"/>
                        </a:rPr>
                        <a:t>−6.33% (2015)</a:t>
                      </a:r>
                    </a:p>
                  </a:txBody>
                  <a:tcPr marT="36576" marB="36576" anchor="ctr">
                    <a:lnT>
                      <a:noFill/>
                    </a:lnT>
                    <a:lnB w="0">
                      <a:noFill/>
                    </a:lnB>
                    <a:solidFill>
                      <a:srgbClr val="FFFFFF"/>
                    </a:solidFill>
                  </a:tcPr>
                </a:tc>
                <a:extLst>
                  <a:ext uri="{0D108BD9-81ED-4DB2-BD59-A6C34878D82A}">
                    <a16:rowId xmlns:a16="http://schemas.microsoft.com/office/drawing/2014/main" val="10003"/>
                  </a:ext>
                </a:extLst>
              </a:tr>
              <a:tr h="404164">
                <a:tc>
                  <a:txBody>
                    <a:bodyPr/>
                    <a:lstStyle/>
                    <a:p>
                      <a:pPr algn="l"/>
                      <a:r>
                        <a:rPr sz="1400" b="1">
                          <a:solidFill>
                            <a:srgbClr val="21295C"/>
                          </a:solidFill>
                          <a:latin typeface="Calibri"/>
                        </a:rPr>
                        <a:t>Annual obs.</a:t>
                      </a:r>
                    </a:p>
                  </a:txBody>
                  <a:tcPr marT="36576" marB="36576" anchor="ctr">
                    <a:lnT>
                      <a:noFill/>
                    </a:lnT>
                    <a:lnB w="0">
                      <a:noFill/>
                    </a:lnB>
                    <a:solidFill>
                      <a:srgbClr val="EEF3F7"/>
                    </a:solidFill>
                  </a:tcPr>
                </a:tc>
                <a:tc>
                  <a:txBody>
                    <a:bodyPr/>
                    <a:lstStyle/>
                    <a:p>
                      <a:pPr algn="ctr"/>
                      <a:r>
                        <a:rPr sz="1400">
                          <a:solidFill>
                            <a:srgbClr val="56606B"/>
                          </a:solidFill>
                          <a:latin typeface="Calibri"/>
                        </a:rPr>
                        <a:t>4</a:t>
                      </a:r>
                    </a:p>
                  </a:txBody>
                  <a:tcPr marT="36576" marB="36576" anchor="ctr">
                    <a:lnT>
                      <a:noFill/>
                    </a:lnT>
                    <a:lnB w="0">
                      <a:noFill/>
                    </a:lnB>
                    <a:solidFill>
                      <a:srgbClr val="EEF3F7"/>
                    </a:solidFill>
                  </a:tcPr>
                </a:tc>
                <a:tc>
                  <a:txBody>
                    <a:bodyPr/>
                    <a:lstStyle/>
                    <a:p>
                      <a:pPr algn="ctr"/>
                      <a:r>
                        <a:rPr sz="1400">
                          <a:solidFill>
                            <a:srgbClr val="56606B"/>
                          </a:solidFill>
                          <a:latin typeface="Calibri"/>
                        </a:rPr>
                        <a:t>10</a:t>
                      </a:r>
                    </a:p>
                  </a:txBody>
                  <a:tcPr marT="36576" marB="36576" anchor="ctr">
                    <a:lnT>
                      <a:noFill/>
                    </a:lnT>
                    <a:lnB w="0">
                      <a:noFill/>
                    </a:lnB>
                    <a:solidFill>
                      <a:srgbClr val="EEF3F7"/>
                    </a:solidFill>
                  </a:tcPr>
                </a:tc>
                <a:extLst>
                  <a:ext uri="{0D108BD9-81ED-4DB2-BD59-A6C34878D82A}">
                    <a16:rowId xmlns:a16="http://schemas.microsoft.com/office/drawing/2014/main" val="10004"/>
                  </a:ext>
                </a:extLst>
              </a:tr>
            </a:tbl>
          </a:graphicData>
        </a:graphic>
      </p:graphicFrame>
      <p:sp>
        <p:nvSpPr>
          <p:cNvPr id="51" name="TextBox 20"/>
          <p:cNvSpPr txBox="1"/>
          <p:nvPr/>
        </p:nvSpPr>
        <p:spPr>
          <a:xfrm>
            <a:off x="548640" y="4451452"/>
            <a:ext cx="7040880" cy="50292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CVaR₅% is the premium leg, and on 4 and 10 points a sample minimum: descriptive, not inferential.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BACKUP B9 · CH. 3 §3.1 — BACK-TEST OF THE MARKET STRIKE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instrument: a variance swap on German wind generation</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22</a:t>
            </a:r>
            <a:endParaRPr lang="en-US" sz="900" dirty="0"/>
          </a:p>
        </p:txBody>
      </p:sp>
      <p:sp>
        <p:nvSpPr>
          <p:cNvPr id="14" name="Rounded Rectangle 13"/>
          <p:cNvSpPr/>
          <p:nvPr/>
        </p:nvSpPr>
        <p:spPr>
          <a:xfrm>
            <a:off x="548640" y="1783080"/>
            <a:ext cx="457200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4023360" cy="274320"/>
          </a:xfrm>
          <a:prstGeom prst="rect">
            <a:avLst/>
          </a:prstGeom>
          <a:noFill/>
        </p:spPr>
        <p:txBody>
          <a:bodyPr wrap="square" lIns="0" tIns="0" rIns="0" bIns="0" anchor="ctr">
            <a:spAutoFit/>
          </a:bodyPr>
          <a:lstStyle/>
          <a:p>
            <a:pPr algn="l"/>
            <a:r>
              <a:rPr sz="1200" b="1" i="0" spc="100">
                <a:solidFill>
                  <a:srgbClr val="1C7293"/>
                </a:solidFill>
                <a:latin typeface="Calibri"/>
              </a:rPr>
              <a:t>THE CONTRACT</a:t>
            </a:r>
          </a:p>
        </p:txBody>
      </p:sp>
      <p:sp>
        <p:nvSpPr>
          <p:cNvPr id="16" name="TextBox 15"/>
          <p:cNvSpPr txBox="1"/>
          <p:nvPr/>
        </p:nvSpPr>
        <p:spPr>
          <a:xfrm>
            <a:off x="868680" y="2286000"/>
            <a:ext cx="4023360" cy="777240"/>
          </a:xfrm>
          <a:prstGeom prst="rect">
            <a:avLst/>
          </a:prstGeom>
          <a:noFill/>
        </p:spPr>
        <p:txBody>
          <a:bodyPr wrap="square" lIns="0" tIns="0" rIns="0" bIns="0" anchor="t">
            <a:spAutoFit/>
          </a:bodyPr>
          <a:lstStyle/>
          <a:p>
            <a:pPr algn="l">
              <a:spcAft>
                <a:spcPts val="200"/>
              </a:spcAft>
            </a:pPr>
            <a:r>
              <a:rPr sz="2000" b="1" i="0">
                <a:solidFill>
                  <a:srgbClr val="21295C"/>
                </a:solidFill>
                <a:latin typeface="Cambria"/>
              </a:rPr>
              <a:t>Π = RV[t,T] − K</a:t>
            </a:r>
          </a:p>
          <a:p>
            <a:pPr algn="l"/>
            <a:r>
              <a:rPr sz="1700" b="0" i="0">
                <a:solidFill>
                  <a:srgbClr val="21295C"/>
                </a:solidFill>
                <a:latin typeface="Cambria"/>
              </a:rPr>
              <a:t>RV = (252 / N) · Σ rₛ²</a:t>
            </a:r>
          </a:p>
        </p:txBody>
      </p:sp>
      <p:sp>
        <p:nvSpPr>
          <p:cNvPr id="17" name="TextBox 16"/>
          <p:cNvSpPr txBox="1"/>
          <p:nvPr/>
        </p:nvSpPr>
        <p:spPr>
          <a:xfrm>
            <a:off x="868680" y="3154680"/>
            <a:ext cx="3977639" cy="1600200"/>
          </a:xfrm>
          <a:prstGeom prst="rect">
            <a:avLst/>
          </a:prstGeom>
          <a:noFill/>
        </p:spPr>
        <p:txBody>
          <a:bodyPr wrap="square" lIns="0" tIns="0" rIns="0" bIns="0" anchor="t">
            <a:spAutoFit/>
          </a:bodyPr>
          <a:lstStyle/>
          <a:p>
            <a:pPr algn="l">
              <a:lnSpc>
                <a:spcPct val="108000"/>
              </a:lnSpc>
              <a:spcAft>
                <a:spcPts val="500"/>
              </a:spcAft>
            </a:pPr>
            <a:r>
              <a:rPr sz="1250" b="0" i="0">
                <a:solidFill>
                  <a:srgbClr val="56606B"/>
                </a:solidFill>
                <a:latin typeface="Calibri"/>
              </a:rPr>
              <a:t>rₛ: daily log-return of SMARD German onshore wind generation.</a:t>
            </a:r>
          </a:p>
          <a:p>
            <a:pPr algn="l">
              <a:lnSpc>
                <a:spcPct val="108000"/>
              </a:lnSpc>
              <a:spcAft>
                <a:spcPts val="500"/>
              </a:spcAft>
            </a:pPr>
            <a:r>
              <a:rPr sz="1250" b="0" i="0">
                <a:solidFill>
                  <a:srgbClr val="56606B"/>
                </a:solidFill>
                <a:latin typeface="Calibri"/>
              </a:rPr>
              <a:t>The long side receives realised variance; the producer (long volume, short its stability) sells it and receives K − RV.</a:t>
            </a:r>
          </a:p>
          <a:p>
            <a:pPr algn="l">
              <a:lnSpc>
                <a:spcPct val="108000"/>
              </a:lnSpc>
            </a:pPr>
            <a:r>
              <a:rPr sz="1250" b="0" i="0">
                <a:solidFill>
                  <a:srgbClr val="56606B"/>
                </a:solidFill>
                <a:latin typeface="Calibri"/>
              </a:rPr>
              <a:t>Linear in RV: no gamma, no path-dependent convexity.</a:t>
            </a:r>
          </a:p>
        </p:txBody>
      </p:sp>
      <p:sp>
        <p:nvSpPr>
          <p:cNvPr id="18" name="Rectangle 17"/>
          <p:cNvSpPr/>
          <p:nvPr/>
        </p:nvSpPr>
        <p:spPr>
          <a:xfrm>
            <a:off x="868680" y="4846320"/>
            <a:ext cx="3931920" cy="13716"/>
          </a:xfrm>
          <a:prstGeom prst="rect">
            <a:avLst/>
          </a:prstGeom>
          <a:solidFill>
            <a:srgbClr val="D5DEE6"/>
          </a:solidFill>
          <a:ln>
            <a:noFill/>
          </a:ln>
        </p:spPr>
        <p:txBody>
          <a:bodyPr rtlCol="0" anchor="ctr"/>
          <a:lstStyle/>
          <a:p>
            <a:pPr algn="ctr"/>
            <a:endParaRPr/>
          </a:p>
        </p:txBody>
      </p:sp>
      <p:sp>
        <p:nvSpPr>
          <p:cNvPr id="19" name="TextBox 18"/>
          <p:cNvSpPr txBox="1"/>
          <p:nvPr/>
        </p:nvSpPr>
        <p:spPr>
          <a:xfrm>
            <a:off x="868680" y="4919472"/>
            <a:ext cx="4023360" cy="274320"/>
          </a:xfrm>
          <a:prstGeom prst="rect">
            <a:avLst/>
          </a:prstGeom>
          <a:noFill/>
        </p:spPr>
        <p:txBody>
          <a:bodyPr wrap="square" lIns="0" tIns="0" rIns="0" bIns="0" anchor="ctr">
            <a:spAutoFit/>
          </a:bodyPr>
          <a:lstStyle/>
          <a:p>
            <a:pPr algn="l"/>
            <a:r>
              <a:rPr sz="1200" b="1" i="0" spc="100">
                <a:solidFill>
                  <a:srgbClr val="1C7293"/>
                </a:solidFill>
                <a:latin typeface="Calibri"/>
              </a:rPr>
              <a:t>TRACK A — EMPIRICAL FAIR STRIKE</a:t>
            </a:r>
          </a:p>
        </p:txBody>
      </p:sp>
      <p:sp>
        <p:nvSpPr>
          <p:cNvPr id="20" name="TextBox 19"/>
          <p:cNvSpPr txBox="1"/>
          <p:nvPr/>
        </p:nvSpPr>
        <p:spPr>
          <a:xfrm>
            <a:off x="868680" y="5230368"/>
            <a:ext cx="1463040" cy="640080"/>
          </a:xfrm>
          <a:prstGeom prst="rect">
            <a:avLst/>
          </a:prstGeom>
          <a:noFill/>
        </p:spPr>
        <p:txBody>
          <a:bodyPr wrap="square" lIns="0" tIns="0" rIns="0" bIns="0" anchor="ctr">
            <a:spAutoFit/>
          </a:bodyPr>
          <a:lstStyle/>
          <a:p>
            <a:pPr algn="l"/>
            <a:r>
              <a:rPr sz="3200" b="1" i="0">
                <a:solidFill>
                  <a:srgbClr val="C8791A"/>
                </a:solidFill>
                <a:latin typeface="Cambria"/>
              </a:rPr>
              <a:t>113.1</a:t>
            </a:r>
          </a:p>
        </p:txBody>
      </p:sp>
      <p:sp>
        <p:nvSpPr>
          <p:cNvPr id="21" name="TextBox 20"/>
          <p:cNvSpPr txBox="1"/>
          <p:nvPr/>
        </p:nvSpPr>
        <p:spPr>
          <a:xfrm>
            <a:off x="2331720" y="5166360"/>
            <a:ext cx="2560320" cy="914400"/>
          </a:xfrm>
          <a:prstGeom prst="rect">
            <a:avLst/>
          </a:prstGeom>
          <a:noFill/>
        </p:spPr>
        <p:txBody>
          <a:bodyPr wrap="square" lIns="0" tIns="0" rIns="0" bIns="0" anchor="ctr">
            <a:spAutoFit/>
          </a:bodyPr>
          <a:lstStyle/>
          <a:p>
            <a:pPr algn="l">
              <a:lnSpc>
                <a:spcPct val="105000"/>
              </a:lnSpc>
            </a:pPr>
            <a:r>
              <a:rPr sz="1150" b="0" i="0">
                <a:solidFill>
                  <a:srgbClr val="56606B"/>
                </a:solidFill>
                <a:latin typeface="Calibri"/>
              </a:rPr>
              <a:t>252× rolling mean realised variance, 2015–2024. A realised quantity — nothing is backed out of a traded price.</a:t>
            </a:r>
          </a:p>
        </p:txBody>
      </p:sp>
      <p:sp>
        <p:nvSpPr>
          <p:cNvPr id="22" name="Rounded Rectangle 21"/>
          <p:cNvSpPr/>
          <p:nvPr/>
        </p:nvSpPr>
        <p:spPr>
          <a:xfrm>
            <a:off x="5349240" y="1783080"/>
            <a:ext cx="630936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5623560" y="1938528"/>
            <a:ext cx="5852160" cy="274320"/>
          </a:xfrm>
          <a:prstGeom prst="rect">
            <a:avLst/>
          </a:prstGeom>
          <a:noFill/>
        </p:spPr>
        <p:txBody>
          <a:bodyPr wrap="square" lIns="0" tIns="0" rIns="0" bIns="0" anchor="ctr">
            <a:spAutoFit/>
          </a:bodyPr>
          <a:lstStyle/>
          <a:p>
            <a:pPr algn="l"/>
            <a:r>
              <a:rPr sz="1200" b="1" i="0" spc="100">
                <a:solidFill>
                  <a:srgbClr val="1C7293"/>
                </a:solidFill>
                <a:latin typeface="Calibri"/>
              </a:rPr>
              <a:t>ANNUAL PAYOFF OF A LONG UNIT-NOTIONAL SWAP STRUCK AT K = 113.1</a:t>
            </a:r>
          </a:p>
        </p:txBody>
      </p:sp>
      <p:graphicFrame>
        <p:nvGraphicFramePr>
          <p:cNvPr id="24" name="Chart 23"/>
          <p:cNvGraphicFramePr>
            <a:graphicFrameLocks noGrp="1"/>
          </p:cNvGraphicFramePr>
          <p:nvPr/>
        </p:nvGraphicFramePr>
        <p:xfrm>
          <a:off x="5486400" y="2240280"/>
          <a:ext cx="60350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p:cNvSpPr txBox="1"/>
          <p:nvPr/>
        </p:nvSpPr>
        <p:spPr>
          <a:xfrm>
            <a:off x="5623560"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95.5 – 132.0</a:t>
            </a:r>
          </a:p>
        </p:txBody>
      </p:sp>
      <p:sp>
        <p:nvSpPr>
          <p:cNvPr id="26" name="TextBox 25"/>
          <p:cNvSpPr txBox="1"/>
          <p:nvPr/>
        </p:nvSpPr>
        <p:spPr>
          <a:xfrm>
            <a:off x="5623560"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annual realised variance, 2019 – 2024</a:t>
            </a:r>
          </a:p>
        </p:txBody>
      </p:sp>
      <p:sp>
        <p:nvSpPr>
          <p:cNvPr id="27" name="TextBox 26"/>
          <p:cNvSpPr txBox="1"/>
          <p:nvPr/>
        </p:nvSpPr>
        <p:spPr>
          <a:xfrm>
            <a:off x="7607808"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+2.34</a:t>
            </a:r>
          </a:p>
        </p:txBody>
      </p:sp>
      <p:sp>
        <p:nvSpPr>
          <p:cNvPr id="28" name="TextBox 27"/>
          <p:cNvSpPr txBox="1"/>
          <p:nvPr/>
        </p:nvSpPr>
        <p:spPr>
          <a:xfrm>
            <a:off x="7607808"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mean payoff: the strike was close to fair</a:t>
            </a:r>
          </a:p>
        </p:txBody>
      </p:sp>
      <p:sp>
        <p:nvSpPr>
          <p:cNvPr id="29" name="TextBox 28"/>
          <p:cNvSpPr txBox="1"/>
          <p:nvPr/>
        </p:nvSpPr>
        <p:spPr>
          <a:xfrm>
            <a:off x="9592056"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−14.8</a:t>
            </a:r>
          </a:p>
        </p:txBody>
      </p:sp>
      <p:sp>
        <p:nvSpPr>
          <p:cNvPr id="30" name="TextBox 29"/>
          <p:cNvSpPr txBox="1"/>
          <p:nvPr/>
        </p:nvSpPr>
        <p:spPr>
          <a:xfrm>
            <a:off x="9592056"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5th-percentile year, ≈13% of strike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5002</Words>
  <Application>Microsoft Office PowerPoint</Application>
  <PresentationFormat>Widescreen</PresentationFormat>
  <Paragraphs>494</Paragraphs>
  <Slides>22</Slides>
  <Notes>17</Notes>
  <HiddenSlides>10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22</vt:i4>
      </vt:variant>
    </vt:vector>
  </HeadingPairs>
  <TitlesOfParts>
    <vt:vector size="27" baseType="lpstr">
      <vt:lpstr>Aptos</vt:lpstr>
      <vt:lpstr>Arial</vt:lpstr>
      <vt:lpstr>Calibri</vt:lpstr>
      <vt:lpstr>Cambria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Enrico Butali - enrico.butali@studio.unibo.it</cp:lastModifiedBy>
  <cp:revision>9</cp:revision>
  <dcterms:created xsi:type="dcterms:W3CDTF">2026-09-24T10:39:50Z</dcterms:created>
  <dcterms:modified xsi:type="dcterms:W3CDTF">2026-10-20T18:12:39Z</dcterms:modified>
</cp:coreProperties>
</file>